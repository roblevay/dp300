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528" r:id="rId4"/>
  </p:sldMasterIdLst>
  <p:notesMasterIdLst>
    <p:notesMasterId r:id="rId76"/>
  </p:notesMasterIdLst>
  <p:handoutMasterIdLst>
    <p:handoutMasterId r:id="rId77"/>
  </p:handoutMasterIdLst>
  <p:sldIdLst>
    <p:sldId id="2076138279" r:id="rId5"/>
    <p:sldId id="2076138537" r:id="rId6"/>
    <p:sldId id="2076138339" r:id="rId7"/>
    <p:sldId id="2076138552" r:id="rId8"/>
    <p:sldId id="2076138462" r:id="rId9"/>
    <p:sldId id="2076138550" r:id="rId10"/>
    <p:sldId id="2147479696" r:id="rId11"/>
    <p:sldId id="2076138595" r:id="rId12"/>
    <p:sldId id="2076138596" r:id="rId13"/>
    <p:sldId id="2076138676" r:id="rId14"/>
    <p:sldId id="2076138598" r:id="rId15"/>
    <p:sldId id="2076138551" r:id="rId16"/>
    <p:sldId id="2076138599" r:id="rId17"/>
    <p:sldId id="2076138600" r:id="rId18"/>
    <p:sldId id="2076138601" r:id="rId19"/>
    <p:sldId id="2076138603" r:id="rId20"/>
    <p:sldId id="2076138672" r:id="rId21"/>
    <p:sldId id="2076138606" r:id="rId22"/>
    <p:sldId id="2076138607" r:id="rId23"/>
    <p:sldId id="2076138608" r:id="rId24"/>
    <p:sldId id="2076138609" r:id="rId25"/>
    <p:sldId id="2076138611" r:id="rId26"/>
    <p:sldId id="2076138677" r:id="rId27"/>
    <p:sldId id="2076138612" r:id="rId28"/>
    <p:sldId id="2076138613" r:id="rId29"/>
    <p:sldId id="2076138614" r:id="rId30"/>
    <p:sldId id="2076138615" r:id="rId31"/>
    <p:sldId id="2076138678" r:id="rId32"/>
    <p:sldId id="2076138618" r:id="rId33"/>
    <p:sldId id="2076138619" r:id="rId34"/>
    <p:sldId id="2076138620" r:id="rId35"/>
    <p:sldId id="2076138622" r:id="rId36"/>
    <p:sldId id="2076138625" r:id="rId37"/>
    <p:sldId id="2076138627" r:id="rId38"/>
    <p:sldId id="2076138628" r:id="rId39"/>
    <p:sldId id="2076138629" r:id="rId40"/>
    <p:sldId id="2076138630" r:id="rId41"/>
    <p:sldId id="2076138631" r:id="rId42"/>
    <p:sldId id="2076138632" r:id="rId43"/>
    <p:sldId id="2076138674" r:id="rId44"/>
    <p:sldId id="2076138634" r:id="rId45"/>
    <p:sldId id="2076138636" r:id="rId46"/>
    <p:sldId id="2076138679" r:id="rId47"/>
    <p:sldId id="2076138638" r:id="rId48"/>
    <p:sldId id="2076138639" r:id="rId49"/>
    <p:sldId id="2076138640" r:id="rId50"/>
    <p:sldId id="2076138641" r:id="rId51"/>
    <p:sldId id="2076138680" r:id="rId52"/>
    <p:sldId id="2076138648" r:id="rId53"/>
    <p:sldId id="2076138649" r:id="rId54"/>
    <p:sldId id="2076138642" r:id="rId55"/>
    <p:sldId id="2076138643" r:id="rId56"/>
    <p:sldId id="2076138644" r:id="rId57"/>
    <p:sldId id="2076138645" r:id="rId58"/>
    <p:sldId id="2076138650" r:id="rId59"/>
    <p:sldId id="2076138651" r:id="rId60"/>
    <p:sldId id="2076138652" r:id="rId61"/>
    <p:sldId id="2076138654" r:id="rId62"/>
    <p:sldId id="2076138655" r:id="rId63"/>
    <p:sldId id="2076138657" r:id="rId64"/>
    <p:sldId id="2076138658" r:id="rId65"/>
    <p:sldId id="2076138660" r:id="rId66"/>
    <p:sldId id="2076138661" r:id="rId67"/>
    <p:sldId id="2076138662" r:id="rId68"/>
    <p:sldId id="2076138663" r:id="rId69"/>
    <p:sldId id="2076138664" r:id="rId70"/>
    <p:sldId id="2076138665" r:id="rId71"/>
    <p:sldId id="2076138681" r:id="rId72"/>
    <p:sldId id="2076138594" r:id="rId73"/>
    <p:sldId id="2147479695" r:id="rId74"/>
    <p:sldId id="2076138549" r:id="rId75"/>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id="{14D70C25-0413-A24B-B22A-8EE89C82326F}">
          <p14:sldIdLst>
            <p14:sldId id="2076138279"/>
            <p14:sldId id="2076138537"/>
            <p14:sldId id="2076138339"/>
          </p14:sldIdLst>
        </p14:section>
        <p14:section name="Configure database authentication and authorization" id="{5F2CC0DC-28E8-4675-9F93-F2E675C28938}">
          <p14:sldIdLst>
            <p14:sldId id="2076138552"/>
            <p14:sldId id="2076138462"/>
            <p14:sldId id="2076138550"/>
            <p14:sldId id="2147479696"/>
            <p14:sldId id="2076138595"/>
            <p14:sldId id="2076138596"/>
            <p14:sldId id="2076138676"/>
            <p14:sldId id="2076138598"/>
            <p14:sldId id="2076138551"/>
            <p14:sldId id="2076138599"/>
            <p14:sldId id="2076138600"/>
            <p14:sldId id="2076138601"/>
            <p14:sldId id="2076138603"/>
            <p14:sldId id="2076138672"/>
            <p14:sldId id="2076138606"/>
            <p14:sldId id="2076138607"/>
            <p14:sldId id="2076138608"/>
            <p14:sldId id="2076138609"/>
            <p14:sldId id="2076138611"/>
            <p14:sldId id="2076138677"/>
            <p14:sldId id="2076138612"/>
            <p14:sldId id="2076138613"/>
            <p14:sldId id="2076138614"/>
            <p14:sldId id="2076138615"/>
            <p14:sldId id="2076138678"/>
          </p14:sldIdLst>
        </p14:section>
        <p14:section name="Protect data in-transit and at rest" id="{43DFAB6B-AA5D-4EEC-B5E7-CA1F85468A2D}">
          <p14:sldIdLst>
            <p14:sldId id="2076138618"/>
            <p14:sldId id="2076138619"/>
            <p14:sldId id="2076138620"/>
            <p14:sldId id="2076138622"/>
            <p14:sldId id="2076138625"/>
            <p14:sldId id="2076138627"/>
            <p14:sldId id="2076138628"/>
            <p14:sldId id="2076138629"/>
            <p14:sldId id="2076138630"/>
            <p14:sldId id="2076138631"/>
            <p14:sldId id="2076138632"/>
            <p14:sldId id="2076138674"/>
            <p14:sldId id="2076138634"/>
            <p14:sldId id="2076138636"/>
            <p14:sldId id="2076138679"/>
            <p14:sldId id="2076138638"/>
            <p14:sldId id="2076138639"/>
            <p14:sldId id="2076138640"/>
            <p14:sldId id="2076138641"/>
            <p14:sldId id="2076138680"/>
          </p14:sldIdLst>
        </p14:section>
        <p14:section name="Implement compliance controls for sensitive data" id="{A04AD408-DFA1-4D57-9B1B-CD6A454832C3}">
          <p14:sldIdLst>
            <p14:sldId id="2076138648"/>
            <p14:sldId id="2076138649"/>
            <p14:sldId id="2076138642"/>
            <p14:sldId id="2076138643"/>
            <p14:sldId id="2076138644"/>
            <p14:sldId id="2076138645"/>
            <p14:sldId id="2076138650"/>
            <p14:sldId id="2076138651"/>
            <p14:sldId id="2076138652"/>
            <p14:sldId id="2076138654"/>
            <p14:sldId id="2076138655"/>
            <p14:sldId id="2076138657"/>
            <p14:sldId id="2076138658"/>
            <p14:sldId id="2076138660"/>
            <p14:sldId id="2076138661"/>
            <p14:sldId id="2076138662"/>
            <p14:sldId id="2076138663"/>
            <p14:sldId id="2076138664"/>
            <p14:sldId id="2076138665"/>
            <p14:sldId id="2076138681"/>
            <p14:sldId id="2076138594"/>
            <p14:sldId id="2147479695"/>
            <p14:sldId id="207613854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FFA38B"/>
    <a:srgbClr val="FFB3BB"/>
    <a:srgbClr val="8DC8E8"/>
    <a:srgbClr val="CD9BCF"/>
    <a:srgbClr val="313330"/>
    <a:srgbClr val="C73ECC"/>
    <a:srgbClr val="FE9D88"/>
    <a:srgbClr val="F4364C"/>
    <a:srgbClr val="FF5C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BC3C4E-06B3-4B7A-9489-95B5C2F28506}" v="18" dt="2026-01-28T10:30:55.4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83" autoAdjust="0"/>
    <p:restoredTop sz="75879" autoAdjust="0"/>
  </p:normalViewPr>
  <p:slideViewPr>
    <p:cSldViewPr snapToGrid="0">
      <p:cViewPr varScale="1">
        <p:scale>
          <a:sx n="84" d="100"/>
          <a:sy n="84" d="100"/>
        </p:scale>
        <p:origin x="1380" y="84"/>
      </p:cViewPr>
      <p:guideLst/>
    </p:cSldViewPr>
  </p:slideViewPr>
  <p:outlineViewPr>
    <p:cViewPr>
      <p:scale>
        <a:sx n="33" d="100"/>
        <a:sy n="33" d="100"/>
      </p:scale>
      <p:origin x="0" y="-24360"/>
    </p:cViewPr>
  </p:outlin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85"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Levay" userId="fb5c7f8b8caa2fb7" providerId="LiveId" clId="{6202CDAF-14E8-4933-969C-87BC329FBA37}"/>
    <pc:docChg chg="custSel mod addSld delSld modSld modSection">
      <pc:chgData name="Robert Levay" userId="fb5c7f8b8caa2fb7" providerId="LiveId" clId="{6202CDAF-14E8-4933-969C-87BC329FBA37}" dt="2026-01-28T10:31:06.428" v="42" actId="6549"/>
      <pc:docMkLst>
        <pc:docMk/>
      </pc:docMkLst>
      <pc:sldChg chg="del">
        <pc:chgData name="Robert Levay" userId="fb5c7f8b8caa2fb7" providerId="LiveId" clId="{6202CDAF-14E8-4933-969C-87BC329FBA37}" dt="2026-01-28T10:02:06.685" v="6" actId="47"/>
        <pc:sldMkLst>
          <pc:docMk/>
          <pc:sldMk cId="2821514260" sldId="2076138380"/>
        </pc:sldMkLst>
      </pc:sldChg>
      <pc:sldChg chg="modNotesTx">
        <pc:chgData name="Robert Levay" userId="fb5c7f8b8caa2fb7" providerId="LiveId" clId="{6202CDAF-14E8-4933-969C-87BC329FBA37}" dt="2026-01-28T10:01:19.863" v="4" actId="20577"/>
        <pc:sldMkLst>
          <pc:docMk/>
          <pc:sldMk cId="3543052029" sldId="2076138550"/>
        </pc:sldMkLst>
      </pc:sldChg>
      <pc:sldChg chg="modNotesTx">
        <pc:chgData name="Robert Levay" userId="fb5c7f8b8caa2fb7" providerId="LiveId" clId="{6202CDAF-14E8-4933-969C-87BC329FBA37}" dt="2026-01-28T10:07:17.171" v="14" actId="20577"/>
        <pc:sldMkLst>
          <pc:docMk/>
          <pc:sldMk cId="3878819194" sldId="2076138612"/>
        </pc:sldMkLst>
      </pc:sldChg>
      <pc:sldChg chg="modNotesTx">
        <pc:chgData name="Robert Levay" userId="fb5c7f8b8caa2fb7" providerId="LiveId" clId="{6202CDAF-14E8-4933-969C-87BC329FBA37}" dt="2026-01-28T10:10:43.098" v="18" actId="6549"/>
        <pc:sldMkLst>
          <pc:docMk/>
          <pc:sldMk cId="2681551956" sldId="2076138615"/>
        </pc:sldMkLst>
      </pc:sldChg>
      <pc:sldChg chg="modNotesTx">
        <pc:chgData name="Robert Levay" userId="fb5c7f8b8caa2fb7" providerId="LiveId" clId="{6202CDAF-14E8-4933-969C-87BC329FBA37}" dt="2026-01-28T10:12:13.355" v="20" actId="20577"/>
        <pc:sldMkLst>
          <pc:docMk/>
          <pc:sldMk cId="3224580344" sldId="2076138620"/>
        </pc:sldMkLst>
      </pc:sldChg>
      <pc:sldChg chg="modNotesTx">
        <pc:chgData name="Robert Levay" userId="fb5c7f8b8caa2fb7" providerId="LiveId" clId="{6202CDAF-14E8-4933-969C-87BC329FBA37}" dt="2026-01-28T10:18:09.627" v="29" actId="313"/>
        <pc:sldMkLst>
          <pc:docMk/>
          <pc:sldMk cId="7843064" sldId="2076138629"/>
        </pc:sldMkLst>
      </pc:sldChg>
      <pc:sldChg chg="modNotesTx">
        <pc:chgData name="Robert Levay" userId="fb5c7f8b8caa2fb7" providerId="LiveId" clId="{6202CDAF-14E8-4933-969C-87BC329FBA37}" dt="2026-01-28T10:23:47.087" v="35" actId="20577"/>
        <pc:sldMkLst>
          <pc:docMk/>
          <pc:sldMk cId="3721556751" sldId="2076138630"/>
        </pc:sldMkLst>
      </pc:sldChg>
      <pc:sldChg chg="modNotesTx">
        <pc:chgData name="Robert Levay" userId="fb5c7f8b8caa2fb7" providerId="LiveId" clId="{6202CDAF-14E8-4933-969C-87BC329FBA37}" dt="2026-01-28T10:23:07.726" v="34" actId="20577"/>
        <pc:sldMkLst>
          <pc:docMk/>
          <pc:sldMk cId="3538836419" sldId="2076138631"/>
        </pc:sldMkLst>
      </pc:sldChg>
      <pc:sldChg chg="modNotesTx">
        <pc:chgData name="Robert Levay" userId="fb5c7f8b8caa2fb7" providerId="LiveId" clId="{6202CDAF-14E8-4933-969C-87BC329FBA37}" dt="2026-01-28T10:27:05.501" v="37" actId="20577"/>
        <pc:sldMkLst>
          <pc:docMk/>
          <pc:sldMk cId="1608724749" sldId="2076138640"/>
        </pc:sldMkLst>
      </pc:sldChg>
      <pc:sldChg chg="modNotesTx">
        <pc:chgData name="Robert Levay" userId="fb5c7f8b8caa2fb7" providerId="LiveId" clId="{6202CDAF-14E8-4933-969C-87BC329FBA37}" dt="2026-01-28T10:31:06.428" v="42" actId="6549"/>
        <pc:sldMkLst>
          <pc:docMk/>
          <pc:sldMk cId="3047740120" sldId="2076138665"/>
        </pc:sldMkLst>
      </pc:sldChg>
      <pc:sldChg chg="modNotesTx">
        <pc:chgData name="Robert Levay" userId="fb5c7f8b8caa2fb7" providerId="LiveId" clId="{6202CDAF-14E8-4933-969C-87BC329FBA37}" dt="2026-01-28T10:28:26.677" v="40" actId="6549"/>
        <pc:sldMkLst>
          <pc:docMk/>
          <pc:sldMk cId="3153341078" sldId="2076138680"/>
        </pc:sldMkLst>
      </pc:sldChg>
      <pc:sldChg chg="add modNotesTx">
        <pc:chgData name="Robert Levay" userId="fb5c7f8b8caa2fb7" providerId="LiveId" clId="{6202CDAF-14E8-4933-969C-87BC329FBA37}" dt="2026-01-28T10:02:58.533" v="11" actId="20577"/>
        <pc:sldMkLst>
          <pc:docMk/>
          <pc:sldMk cId="23883584" sldId="214747969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80C506-F999-4B68-8E00-23790E70389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A161F969-0706-4FB9-8B0E-9EEF0C44FDC7}">
      <dgm:prSet phldrT="[Text]" custT="1"/>
      <dgm:spPr>
        <a:solidFill>
          <a:srgbClr val="FFA38B"/>
        </a:solidFill>
      </dgm:spPr>
      <dgm:t>
        <a:bodyPr/>
        <a:lstStyle/>
        <a:p>
          <a:pPr algn="ctr"/>
          <a:r>
            <a:rPr lang="en-US" sz="1600" dirty="0">
              <a:solidFill>
                <a:schemeClr val="tx1"/>
              </a:solidFill>
            </a:rPr>
            <a:t>Client and data on-premises</a:t>
          </a:r>
        </a:p>
      </dgm:t>
    </dgm:pt>
    <dgm:pt modelId="{B44EC70F-D121-4D58-8AE8-AE10F3C2FA34}" type="parTrans" cxnId="{B41333F2-46C1-4F5C-8FE4-77DA4B81825F}">
      <dgm:prSet/>
      <dgm:spPr/>
      <dgm:t>
        <a:bodyPr/>
        <a:lstStyle/>
        <a:p>
          <a:endParaRPr lang="en-US"/>
        </a:p>
      </dgm:t>
    </dgm:pt>
    <dgm:pt modelId="{B74CD82B-3643-4B6F-BCA9-B6BEFA8EE158}" type="sibTrans" cxnId="{B41333F2-46C1-4F5C-8FE4-77DA4B81825F}">
      <dgm:prSet/>
      <dgm:spPr/>
      <dgm:t>
        <a:bodyPr/>
        <a:lstStyle/>
        <a:p>
          <a:endParaRPr lang="en-US"/>
        </a:p>
      </dgm:t>
    </dgm:pt>
    <dgm:pt modelId="{7251CB1C-4B7C-4E7C-9848-44818C61A439}">
      <dgm:prSet phldrT="[Text]" custT="1"/>
      <dgm:spPr>
        <a:solidFill>
          <a:srgbClr val="8DC8E8"/>
        </a:solidFill>
        <a:ln>
          <a:noFill/>
        </a:ln>
      </dgm:spPr>
      <dgm:t>
        <a:bodyPr lIns="216000"/>
        <a:lstStyle/>
        <a:p>
          <a:pPr marL="0" indent="0">
            <a:lnSpc>
              <a:spcPct val="100000"/>
            </a:lnSpc>
            <a:buNone/>
          </a:pPr>
          <a:r>
            <a:rPr lang="en-US" sz="1600" dirty="0">
              <a:solidFill>
                <a:schemeClr val="tx1"/>
              </a:solidFill>
            </a:rPr>
            <a:t>Protect your on-premises database from high-privileged users, such as external SQL Server vendors.</a:t>
          </a:r>
        </a:p>
      </dgm:t>
    </dgm:pt>
    <dgm:pt modelId="{E1948404-AA87-487E-9F9B-EF949EDE39D6}" type="parTrans" cxnId="{DAD59A86-310F-435E-ABE2-9496937865F3}">
      <dgm:prSet/>
      <dgm:spPr/>
      <dgm:t>
        <a:bodyPr/>
        <a:lstStyle/>
        <a:p>
          <a:endParaRPr lang="en-US"/>
        </a:p>
      </dgm:t>
    </dgm:pt>
    <dgm:pt modelId="{99507B7F-5933-41F0-B86A-CA7F61BF3828}" type="sibTrans" cxnId="{DAD59A86-310F-435E-ABE2-9496937865F3}">
      <dgm:prSet/>
      <dgm:spPr/>
      <dgm:t>
        <a:bodyPr/>
        <a:lstStyle/>
        <a:p>
          <a:endParaRPr lang="en-US"/>
        </a:p>
      </dgm:t>
    </dgm:pt>
    <dgm:pt modelId="{BDB0DE2F-B7EF-40E7-AD57-16D06EA05E60}">
      <dgm:prSet phldrT="[Text]" custT="1"/>
      <dgm:spPr>
        <a:solidFill>
          <a:srgbClr val="FFA38B"/>
        </a:solidFill>
      </dgm:spPr>
      <dgm:t>
        <a:bodyPr/>
        <a:lstStyle/>
        <a:p>
          <a:pPr algn="ctr"/>
          <a:r>
            <a:rPr lang="en-US" sz="1600" dirty="0">
              <a:solidFill>
                <a:schemeClr val="tx1"/>
              </a:solidFill>
            </a:rPr>
            <a:t>Client on-premises with data in Azure</a:t>
          </a:r>
        </a:p>
      </dgm:t>
    </dgm:pt>
    <dgm:pt modelId="{9C6D6823-CF47-4FCC-A58A-970EB2FE2357}" type="parTrans" cxnId="{2D4B43DC-C15D-4660-B2D2-52658711BEC6}">
      <dgm:prSet/>
      <dgm:spPr/>
      <dgm:t>
        <a:bodyPr/>
        <a:lstStyle/>
        <a:p>
          <a:endParaRPr lang="en-US"/>
        </a:p>
      </dgm:t>
    </dgm:pt>
    <dgm:pt modelId="{15C63278-87BE-4B37-BA39-FAD3F9BBD1F3}" type="sibTrans" cxnId="{2D4B43DC-C15D-4660-B2D2-52658711BEC6}">
      <dgm:prSet/>
      <dgm:spPr/>
      <dgm:t>
        <a:bodyPr/>
        <a:lstStyle/>
        <a:p>
          <a:endParaRPr lang="en-US"/>
        </a:p>
      </dgm:t>
    </dgm:pt>
    <dgm:pt modelId="{F2216E4E-D838-4C0A-A736-BDA6EB6DAAC7}">
      <dgm:prSet phldrT="[Text]" custT="1"/>
      <dgm:spPr>
        <a:solidFill>
          <a:srgbClr val="8DC8E8"/>
        </a:solidFill>
        <a:ln>
          <a:noFill/>
        </a:ln>
      </dgm:spPr>
      <dgm:t>
        <a:bodyPr lIns="216000"/>
        <a:lstStyle/>
        <a:p>
          <a:pPr marL="0" indent="0">
            <a:lnSpc>
              <a:spcPct val="100000"/>
            </a:lnSpc>
            <a:buNone/>
          </a:pPr>
          <a:r>
            <a:rPr lang="en-US" sz="1600" dirty="0">
              <a:solidFill>
                <a:schemeClr val="tx1"/>
              </a:solidFill>
            </a:rPr>
            <a:t>To prevent Microsoft cloud administrators from accessing data, store Always Encrypted keys on-premises for SQL Database or SQL Server in an Azure VM.</a:t>
          </a:r>
        </a:p>
      </dgm:t>
    </dgm:pt>
    <dgm:pt modelId="{DB4B4164-BA85-440B-890D-DDB2A328DFE9}" type="parTrans" cxnId="{5951D57A-7166-453B-A2C6-2DB9B247AB8F}">
      <dgm:prSet/>
      <dgm:spPr/>
      <dgm:t>
        <a:bodyPr/>
        <a:lstStyle/>
        <a:p>
          <a:endParaRPr lang="en-US"/>
        </a:p>
      </dgm:t>
    </dgm:pt>
    <dgm:pt modelId="{77F70A16-FEEE-4BDE-827E-411BA612D34A}" type="sibTrans" cxnId="{5951D57A-7166-453B-A2C6-2DB9B247AB8F}">
      <dgm:prSet/>
      <dgm:spPr/>
      <dgm:t>
        <a:bodyPr/>
        <a:lstStyle/>
        <a:p>
          <a:endParaRPr lang="en-US"/>
        </a:p>
      </dgm:t>
    </dgm:pt>
    <dgm:pt modelId="{E5E0D062-9E16-4A7F-BD4D-0A6853BD91BA}">
      <dgm:prSet phldrT="[Text]" custT="1"/>
      <dgm:spPr>
        <a:solidFill>
          <a:srgbClr val="FFA38B"/>
        </a:solidFill>
      </dgm:spPr>
      <dgm:t>
        <a:bodyPr/>
        <a:lstStyle/>
        <a:p>
          <a:pPr algn="ctr"/>
          <a:r>
            <a:rPr lang="en-US" sz="1600" dirty="0">
              <a:solidFill>
                <a:schemeClr val="tx1"/>
              </a:solidFill>
            </a:rPr>
            <a:t>Client and data </a:t>
          </a:r>
          <a:br>
            <a:rPr lang="en-US" sz="1600" dirty="0">
              <a:solidFill>
                <a:schemeClr val="tx1"/>
              </a:solidFill>
            </a:rPr>
          </a:br>
          <a:r>
            <a:rPr lang="en-US" sz="1600" dirty="0">
              <a:solidFill>
                <a:schemeClr val="tx1"/>
              </a:solidFill>
            </a:rPr>
            <a:t>in Azure</a:t>
          </a:r>
        </a:p>
      </dgm:t>
    </dgm:pt>
    <dgm:pt modelId="{17A534C3-93C1-4D91-BF7A-7ACCC5E29616}" type="parTrans" cxnId="{5935B801-D1BF-42E1-8FC0-774827021235}">
      <dgm:prSet/>
      <dgm:spPr/>
      <dgm:t>
        <a:bodyPr/>
        <a:lstStyle/>
        <a:p>
          <a:endParaRPr lang="en-US"/>
        </a:p>
      </dgm:t>
    </dgm:pt>
    <dgm:pt modelId="{10378148-F11B-44B6-93F4-CCFDE8D07CE5}" type="sibTrans" cxnId="{5935B801-D1BF-42E1-8FC0-774827021235}">
      <dgm:prSet/>
      <dgm:spPr/>
      <dgm:t>
        <a:bodyPr/>
        <a:lstStyle/>
        <a:p>
          <a:endParaRPr lang="en-US"/>
        </a:p>
      </dgm:t>
    </dgm:pt>
    <dgm:pt modelId="{9F1251D3-2ADF-4E9D-A029-DF3F31D40B7C}">
      <dgm:prSet phldrT="[Text]" custT="1"/>
      <dgm:spPr>
        <a:solidFill>
          <a:srgbClr val="8DC8E8"/>
        </a:solidFill>
        <a:ln>
          <a:noFill/>
        </a:ln>
      </dgm:spPr>
      <dgm:t>
        <a:bodyPr lIns="216000"/>
        <a:lstStyle/>
        <a:p>
          <a:pPr>
            <a:buNone/>
          </a:pPr>
          <a:r>
            <a:rPr lang="en-US" sz="1600" dirty="0">
              <a:solidFill>
                <a:schemeClr val="tx1"/>
              </a:solidFill>
            </a:rPr>
            <a:t>Data is encrypted in the database</a:t>
          </a:r>
        </a:p>
      </dgm:t>
    </dgm:pt>
    <dgm:pt modelId="{11DAB041-3134-45F0-888C-9826114F1EBA}" type="parTrans" cxnId="{E9AACF83-9152-443E-BBA5-855867CD0285}">
      <dgm:prSet/>
      <dgm:spPr/>
      <dgm:t>
        <a:bodyPr/>
        <a:lstStyle/>
        <a:p>
          <a:endParaRPr lang="en-US"/>
        </a:p>
      </dgm:t>
    </dgm:pt>
    <dgm:pt modelId="{992C8905-80BC-4894-913B-23E2F50AD5B7}" type="sibTrans" cxnId="{E9AACF83-9152-443E-BBA5-855867CD0285}">
      <dgm:prSet/>
      <dgm:spPr/>
      <dgm:t>
        <a:bodyPr/>
        <a:lstStyle/>
        <a:p>
          <a:endParaRPr lang="en-US"/>
        </a:p>
      </dgm:t>
    </dgm:pt>
    <dgm:pt modelId="{B7ACA297-F10D-4993-943B-B304AD22EEB9}" type="pres">
      <dgm:prSet presAssocID="{1580C506-F999-4B68-8E00-23790E703897}" presName="Name0" presStyleCnt="0">
        <dgm:presLayoutVars>
          <dgm:dir/>
          <dgm:animLvl val="lvl"/>
          <dgm:resizeHandles val="exact"/>
        </dgm:presLayoutVars>
      </dgm:prSet>
      <dgm:spPr/>
    </dgm:pt>
    <dgm:pt modelId="{017A5D3C-DF0C-40D7-AF4B-2097F200474B}" type="pres">
      <dgm:prSet presAssocID="{A161F969-0706-4FB9-8B0E-9EEF0C44FDC7}" presName="linNode" presStyleCnt="0"/>
      <dgm:spPr/>
    </dgm:pt>
    <dgm:pt modelId="{2C3D2D08-05CA-4EA7-BA69-146DE12CD515}" type="pres">
      <dgm:prSet presAssocID="{A161F969-0706-4FB9-8B0E-9EEF0C44FDC7}" presName="parentText" presStyleLbl="node1" presStyleIdx="0" presStyleCnt="3" custScaleX="47203">
        <dgm:presLayoutVars>
          <dgm:chMax val="1"/>
          <dgm:bulletEnabled val="1"/>
        </dgm:presLayoutVars>
      </dgm:prSet>
      <dgm:spPr/>
    </dgm:pt>
    <dgm:pt modelId="{50E1F007-A1C6-4307-9815-3BC7D38FE523}" type="pres">
      <dgm:prSet presAssocID="{A161F969-0706-4FB9-8B0E-9EEF0C44FDC7}" presName="descendantText" presStyleLbl="alignAccFollowNode1" presStyleIdx="0" presStyleCnt="3" custScaleX="119158">
        <dgm:presLayoutVars>
          <dgm:bulletEnabled val="1"/>
        </dgm:presLayoutVars>
      </dgm:prSet>
      <dgm:spPr/>
    </dgm:pt>
    <dgm:pt modelId="{9282134D-8EA5-4B3C-82B7-CBC45144D9FE}" type="pres">
      <dgm:prSet presAssocID="{B74CD82B-3643-4B6F-BCA9-B6BEFA8EE158}" presName="sp" presStyleCnt="0"/>
      <dgm:spPr/>
    </dgm:pt>
    <dgm:pt modelId="{DAF5A5B7-5D2B-41AF-B5D3-406297C89363}" type="pres">
      <dgm:prSet presAssocID="{BDB0DE2F-B7EF-40E7-AD57-16D06EA05E60}" presName="linNode" presStyleCnt="0"/>
      <dgm:spPr/>
    </dgm:pt>
    <dgm:pt modelId="{3B93E126-EC24-48F1-92B7-524E44265067}" type="pres">
      <dgm:prSet presAssocID="{BDB0DE2F-B7EF-40E7-AD57-16D06EA05E60}" presName="parentText" presStyleLbl="node1" presStyleIdx="1" presStyleCnt="3" custScaleX="47203">
        <dgm:presLayoutVars>
          <dgm:chMax val="1"/>
          <dgm:bulletEnabled val="1"/>
        </dgm:presLayoutVars>
      </dgm:prSet>
      <dgm:spPr/>
    </dgm:pt>
    <dgm:pt modelId="{81FCF2B9-6A62-4F7E-927A-9508CBD5CBD2}" type="pres">
      <dgm:prSet presAssocID="{BDB0DE2F-B7EF-40E7-AD57-16D06EA05E60}" presName="descendantText" presStyleLbl="alignAccFollowNode1" presStyleIdx="1" presStyleCnt="3" custScaleX="119158">
        <dgm:presLayoutVars>
          <dgm:bulletEnabled val="1"/>
        </dgm:presLayoutVars>
      </dgm:prSet>
      <dgm:spPr/>
    </dgm:pt>
    <dgm:pt modelId="{18EB3581-A2AE-418C-BD34-FFAAF5B7A84E}" type="pres">
      <dgm:prSet presAssocID="{15C63278-87BE-4B37-BA39-FAD3F9BBD1F3}" presName="sp" presStyleCnt="0"/>
      <dgm:spPr/>
    </dgm:pt>
    <dgm:pt modelId="{C6E9C30C-A6FB-4989-AF5B-AC02424C0B2D}" type="pres">
      <dgm:prSet presAssocID="{E5E0D062-9E16-4A7F-BD4D-0A6853BD91BA}" presName="linNode" presStyleCnt="0"/>
      <dgm:spPr/>
    </dgm:pt>
    <dgm:pt modelId="{3215DCC3-47EF-46D0-A8AB-7319CF5000AC}" type="pres">
      <dgm:prSet presAssocID="{E5E0D062-9E16-4A7F-BD4D-0A6853BD91BA}" presName="parentText" presStyleLbl="node1" presStyleIdx="2" presStyleCnt="3" custScaleX="47203">
        <dgm:presLayoutVars>
          <dgm:chMax val="1"/>
          <dgm:bulletEnabled val="1"/>
        </dgm:presLayoutVars>
      </dgm:prSet>
      <dgm:spPr/>
    </dgm:pt>
    <dgm:pt modelId="{C026845A-B086-468F-BA32-603AE2156684}" type="pres">
      <dgm:prSet presAssocID="{E5E0D062-9E16-4A7F-BD4D-0A6853BD91BA}" presName="descendantText" presStyleLbl="alignAccFollowNode1" presStyleIdx="2" presStyleCnt="3" custScaleX="119158">
        <dgm:presLayoutVars>
          <dgm:bulletEnabled val="1"/>
        </dgm:presLayoutVars>
      </dgm:prSet>
      <dgm:spPr/>
    </dgm:pt>
  </dgm:ptLst>
  <dgm:cxnLst>
    <dgm:cxn modelId="{5935B801-D1BF-42E1-8FC0-774827021235}" srcId="{1580C506-F999-4B68-8E00-23790E703897}" destId="{E5E0D062-9E16-4A7F-BD4D-0A6853BD91BA}" srcOrd="2" destOrd="0" parTransId="{17A534C3-93C1-4D91-BF7A-7ACCC5E29616}" sibTransId="{10378148-F11B-44B6-93F4-CCFDE8D07CE5}"/>
    <dgm:cxn modelId="{AFE7C82D-96D1-4FCE-99D7-80335070A81B}" type="presOf" srcId="{E5E0D062-9E16-4A7F-BD4D-0A6853BD91BA}" destId="{3215DCC3-47EF-46D0-A8AB-7319CF5000AC}" srcOrd="0" destOrd="0" presId="urn:microsoft.com/office/officeart/2005/8/layout/vList5"/>
    <dgm:cxn modelId="{A68FF042-7B1B-4C36-823F-2AB222C9B856}" type="presOf" srcId="{1580C506-F999-4B68-8E00-23790E703897}" destId="{B7ACA297-F10D-4993-943B-B304AD22EEB9}" srcOrd="0" destOrd="0" presId="urn:microsoft.com/office/officeart/2005/8/layout/vList5"/>
    <dgm:cxn modelId="{6B7D9A74-1F45-420C-8891-81FC805C0C21}" type="presOf" srcId="{9F1251D3-2ADF-4E9D-A029-DF3F31D40B7C}" destId="{C026845A-B086-468F-BA32-603AE2156684}" srcOrd="0" destOrd="0" presId="urn:microsoft.com/office/officeart/2005/8/layout/vList5"/>
    <dgm:cxn modelId="{5951D57A-7166-453B-A2C6-2DB9B247AB8F}" srcId="{BDB0DE2F-B7EF-40E7-AD57-16D06EA05E60}" destId="{F2216E4E-D838-4C0A-A736-BDA6EB6DAAC7}" srcOrd="0" destOrd="0" parTransId="{DB4B4164-BA85-440B-890D-DDB2A328DFE9}" sibTransId="{77F70A16-FEEE-4BDE-827E-411BA612D34A}"/>
    <dgm:cxn modelId="{E9AACF83-9152-443E-BBA5-855867CD0285}" srcId="{E5E0D062-9E16-4A7F-BD4D-0A6853BD91BA}" destId="{9F1251D3-2ADF-4E9D-A029-DF3F31D40B7C}" srcOrd="0" destOrd="0" parTransId="{11DAB041-3134-45F0-888C-9826114F1EBA}" sibTransId="{992C8905-80BC-4894-913B-23E2F50AD5B7}"/>
    <dgm:cxn modelId="{DAD59A86-310F-435E-ABE2-9496937865F3}" srcId="{A161F969-0706-4FB9-8B0E-9EEF0C44FDC7}" destId="{7251CB1C-4B7C-4E7C-9848-44818C61A439}" srcOrd="0" destOrd="0" parTransId="{E1948404-AA87-487E-9F9B-EF949EDE39D6}" sibTransId="{99507B7F-5933-41F0-B86A-CA7F61BF3828}"/>
    <dgm:cxn modelId="{B2E148BA-33D6-4F87-9999-3B04DFBAEE70}" type="presOf" srcId="{7251CB1C-4B7C-4E7C-9848-44818C61A439}" destId="{50E1F007-A1C6-4307-9815-3BC7D38FE523}" srcOrd="0" destOrd="0" presId="urn:microsoft.com/office/officeart/2005/8/layout/vList5"/>
    <dgm:cxn modelId="{C653E8BD-FD2B-4653-BC1C-E6C6EE0265E1}" type="presOf" srcId="{BDB0DE2F-B7EF-40E7-AD57-16D06EA05E60}" destId="{3B93E126-EC24-48F1-92B7-524E44265067}" srcOrd="0" destOrd="0" presId="urn:microsoft.com/office/officeart/2005/8/layout/vList5"/>
    <dgm:cxn modelId="{3D28A7D2-D4AA-45B9-922B-DFDA3F3FDC0B}" type="presOf" srcId="{A161F969-0706-4FB9-8B0E-9EEF0C44FDC7}" destId="{2C3D2D08-05CA-4EA7-BA69-146DE12CD515}" srcOrd="0" destOrd="0" presId="urn:microsoft.com/office/officeart/2005/8/layout/vList5"/>
    <dgm:cxn modelId="{2D4B43DC-C15D-4660-B2D2-52658711BEC6}" srcId="{1580C506-F999-4B68-8E00-23790E703897}" destId="{BDB0DE2F-B7EF-40E7-AD57-16D06EA05E60}" srcOrd="1" destOrd="0" parTransId="{9C6D6823-CF47-4FCC-A58A-970EB2FE2357}" sibTransId="{15C63278-87BE-4B37-BA39-FAD3F9BBD1F3}"/>
    <dgm:cxn modelId="{B41333F2-46C1-4F5C-8FE4-77DA4B81825F}" srcId="{1580C506-F999-4B68-8E00-23790E703897}" destId="{A161F969-0706-4FB9-8B0E-9EEF0C44FDC7}" srcOrd="0" destOrd="0" parTransId="{B44EC70F-D121-4D58-8AE8-AE10F3C2FA34}" sibTransId="{B74CD82B-3643-4B6F-BCA9-B6BEFA8EE158}"/>
    <dgm:cxn modelId="{50CB21FD-53ED-4238-B7D8-8D410938B924}" type="presOf" srcId="{F2216E4E-D838-4C0A-A736-BDA6EB6DAAC7}" destId="{81FCF2B9-6A62-4F7E-927A-9508CBD5CBD2}" srcOrd="0" destOrd="0" presId="urn:microsoft.com/office/officeart/2005/8/layout/vList5"/>
    <dgm:cxn modelId="{0DB40D86-65E5-4971-A317-54AA2307805C}" type="presParOf" srcId="{B7ACA297-F10D-4993-943B-B304AD22EEB9}" destId="{017A5D3C-DF0C-40D7-AF4B-2097F200474B}" srcOrd="0" destOrd="0" presId="urn:microsoft.com/office/officeart/2005/8/layout/vList5"/>
    <dgm:cxn modelId="{1B386960-03EA-40B9-926C-9E3C79EC7659}" type="presParOf" srcId="{017A5D3C-DF0C-40D7-AF4B-2097F200474B}" destId="{2C3D2D08-05CA-4EA7-BA69-146DE12CD515}" srcOrd="0" destOrd="0" presId="urn:microsoft.com/office/officeart/2005/8/layout/vList5"/>
    <dgm:cxn modelId="{B4EB09CA-66DE-4048-906D-07E7928C7B03}" type="presParOf" srcId="{017A5D3C-DF0C-40D7-AF4B-2097F200474B}" destId="{50E1F007-A1C6-4307-9815-3BC7D38FE523}" srcOrd="1" destOrd="0" presId="urn:microsoft.com/office/officeart/2005/8/layout/vList5"/>
    <dgm:cxn modelId="{523E6F59-0870-435E-BE79-CD0A81F384A2}" type="presParOf" srcId="{B7ACA297-F10D-4993-943B-B304AD22EEB9}" destId="{9282134D-8EA5-4B3C-82B7-CBC45144D9FE}" srcOrd="1" destOrd="0" presId="urn:microsoft.com/office/officeart/2005/8/layout/vList5"/>
    <dgm:cxn modelId="{D57331AE-54C7-4CEB-BDCB-882FBC334D58}" type="presParOf" srcId="{B7ACA297-F10D-4993-943B-B304AD22EEB9}" destId="{DAF5A5B7-5D2B-41AF-B5D3-406297C89363}" srcOrd="2" destOrd="0" presId="urn:microsoft.com/office/officeart/2005/8/layout/vList5"/>
    <dgm:cxn modelId="{C53C0AA8-1CF1-4543-833D-468DBF107A0A}" type="presParOf" srcId="{DAF5A5B7-5D2B-41AF-B5D3-406297C89363}" destId="{3B93E126-EC24-48F1-92B7-524E44265067}" srcOrd="0" destOrd="0" presId="urn:microsoft.com/office/officeart/2005/8/layout/vList5"/>
    <dgm:cxn modelId="{4F7CB94C-7955-4789-A47F-F689B8CBD494}" type="presParOf" srcId="{DAF5A5B7-5D2B-41AF-B5D3-406297C89363}" destId="{81FCF2B9-6A62-4F7E-927A-9508CBD5CBD2}" srcOrd="1" destOrd="0" presId="urn:microsoft.com/office/officeart/2005/8/layout/vList5"/>
    <dgm:cxn modelId="{0173B038-FCB6-4F59-99A2-6D7C045FFA1A}" type="presParOf" srcId="{B7ACA297-F10D-4993-943B-B304AD22EEB9}" destId="{18EB3581-A2AE-418C-BD34-FFAAF5B7A84E}" srcOrd="3" destOrd="0" presId="urn:microsoft.com/office/officeart/2005/8/layout/vList5"/>
    <dgm:cxn modelId="{128AEE4D-25F0-4EAB-A071-D7C90BF4B8E2}" type="presParOf" srcId="{B7ACA297-F10D-4993-943B-B304AD22EEB9}" destId="{C6E9C30C-A6FB-4989-AF5B-AC02424C0B2D}" srcOrd="4" destOrd="0" presId="urn:microsoft.com/office/officeart/2005/8/layout/vList5"/>
    <dgm:cxn modelId="{1D631BB9-8123-41AE-A8AF-EF8C86DCE6B7}" type="presParOf" srcId="{C6E9C30C-A6FB-4989-AF5B-AC02424C0B2D}" destId="{3215DCC3-47EF-46D0-A8AB-7319CF5000AC}" srcOrd="0" destOrd="0" presId="urn:microsoft.com/office/officeart/2005/8/layout/vList5"/>
    <dgm:cxn modelId="{84DE044B-8D4F-4A39-BB80-C7890732268D}" type="presParOf" srcId="{C6E9C30C-A6FB-4989-AF5B-AC02424C0B2D}" destId="{C026845A-B086-468F-BA32-603AE215668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1F007-A1C6-4307-9815-3BC7D38FE523}">
      <dsp:nvSpPr>
        <dsp:cNvPr id="0" name=""/>
        <dsp:cNvSpPr/>
      </dsp:nvSpPr>
      <dsp:spPr>
        <a:xfrm rot="5400000">
          <a:off x="4746938" y="-2839089"/>
          <a:ext cx="847816" cy="6741160"/>
        </a:xfrm>
        <a:prstGeom prst="round2SameRect">
          <a:avLst/>
        </a:prstGeom>
        <a:solidFill>
          <a:srgbClr val="8DC8E8"/>
        </a:solidFill>
        <a:ln w="1079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16000" tIns="123825" rIns="247650" bIns="123825" numCol="1" spcCol="1270" anchor="ctr" anchorCtr="0">
          <a:noAutofit/>
        </a:bodyPr>
        <a:lstStyle/>
        <a:p>
          <a:pPr marL="0" lvl="1" indent="0" algn="l" defTabSz="711200">
            <a:lnSpc>
              <a:spcPct val="100000"/>
            </a:lnSpc>
            <a:spcBef>
              <a:spcPct val="0"/>
            </a:spcBef>
            <a:spcAft>
              <a:spcPct val="15000"/>
            </a:spcAft>
            <a:buNone/>
          </a:pPr>
          <a:r>
            <a:rPr lang="en-US" sz="1600" kern="1200" dirty="0">
              <a:solidFill>
                <a:schemeClr val="tx1"/>
              </a:solidFill>
            </a:rPr>
            <a:t>Protect your on-premises database from high-privileged users, such as external SQL Server vendors.</a:t>
          </a:r>
        </a:p>
      </dsp:txBody>
      <dsp:txXfrm rot="-5400000">
        <a:off x="1800267" y="148969"/>
        <a:ext cx="6699773" cy="765042"/>
      </dsp:txXfrm>
    </dsp:sp>
    <dsp:sp modelId="{2C3D2D08-05CA-4EA7-BA69-146DE12CD515}">
      <dsp:nvSpPr>
        <dsp:cNvPr id="0" name=""/>
        <dsp:cNvSpPr/>
      </dsp:nvSpPr>
      <dsp:spPr>
        <a:xfrm>
          <a:off x="298150" y="1605"/>
          <a:ext cx="1502116" cy="1059770"/>
        </a:xfrm>
        <a:prstGeom prst="roundRect">
          <a:avLst/>
        </a:prstGeom>
        <a:solidFill>
          <a:srgbClr val="FFA38B"/>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Client and data on-premises</a:t>
          </a:r>
        </a:p>
      </dsp:txBody>
      <dsp:txXfrm>
        <a:off x="349884" y="53339"/>
        <a:ext cx="1398648" cy="956302"/>
      </dsp:txXfrm>
    </dsp:sp>
    <dsp:sp modelId="{81FCF2B9-6A62-4F7E-927A-9508CBD5CBD2}">
      <dsp:nvSpPr>
        <dsp:cNvPr id="0" name=""/>
        <dsp:cNvSpPr/>
      </dsp:nvSpPr>
      <dsp:spPr>
        <a:xfrm rot="5400000">
          <a:off x="4746938" y="-1726329"/>
          <a:ext cx="847816" cy="6741160"/>
        </a:xfrm>
        <a:prstGeom prst="round2SameRect">
          <a:avLst/>
        </a:prstGeom>
        <a:solidFill>
          <a:srgbClr val="8DC8E8"/>
        </a:solidFill>
        <a:ln w="1079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16000" tIns="123825" rIns="247650" bIns="123825" numCol="1" spcCol="1270" anchor="ctr" anchorCtr="0">
          <a:noAutofit/>
        </a:bodyPr>
        <a:lstStyle/>
        <a:p>
          <a:pPr marL="0" lvl="1" indent="0" algn="l" defTabSz="711200">
            <a:lnSpc>
              <a:spcPct val="100000"/>
            </a:lnSpc>
            <a:spcBef>
              <a:spcPct val="0"/>
            </a:spcBef>
            <a:spcAft>
              <a:spcPct val="15000"/>
            </a:spcAft>
            <a:buNone/>
          </a:pPr>
          <a:r>
            <a:rPr lang="en-US" sz="1600" kern="1200" dirty="0">
              <a:solidFill>
                <a:schemeClr val="tx1"/>
              </a:solidFill>
            </a:rPr>
            <a:t>To prevent Microsoft cloud administrators from accessing data, store Always Encrypted keys on-premises for SQL Database or SQL Server in an Azure VM.</a:t>
          </a:r>
        </a:p>
      </dsp:txBody>
      <dsp:txXfrm rot="-5400000">
        <a:off x="1800267" y="1261729"/>
        <a:ext cx="6699773" cy="765042"/>
      </dsp:txXfrm>
    </dsp:sp>
    <dsp:sp modelId="{3B93E126-EC24-48F1-92B7-524E44265067}">
      <dsp:nvSpPr>
        <dsp:cNvPr id="0" name=""/>
        <dsp:cNvSpPr/>
      </dsp:nvSpPr>
      <dsp:spPr>
        <a:xfrm>
          <a:off x="298150" y="1114365"/>
          <a:ext cx="1502116" cy="1059770"/>
        </a:xfrm>
        <a:prstGeom prst="roundRect">
          <a:avLst/>
        </a:prstGeom>
        <a:solidFill>
          <a:srgbClr val="FFA38B"/>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Client on-premises with data in Azure</a:t>
          </a:r>
        </a:p>
      </dsp:txBody>
      <dsp:txXfrm>
        <a:off x="349884" y="1166099"/>
        <a:ext cx="1398648" cy="956302"/>
      </dsp:txXfrm>
    </dsp:sp>
    <dsp:sp modelId="{C026845A-B086-468F-BA32-603AE2156684}">
      <dsp:nvSpPr>
        <dsp:cNvPr id="0" name=""/>
        <dsp:cNvSpPr/>
      </dsp:nvSpPr>
      <dsp:spPr>
        <a:xfrm rot="5400000">
          <a:off x="4746938" y="-613570"/>
          <a:ext cx="847816" cy="6741160"/>
        </a:xfrm>
        <a:prstGeom prst="round2SameRect">
          <a:avLst/>
        </a:prstGeom>
        <a:solidFill>
          <a:srgbClr val="8DC8E8"/>
        </a:solidFill>
        <a:ln w="1079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16000" tIns="123825" rIns="247650" bIns="123825" numCol="1" spcCol="1270" anchor="ctr" anchorCtr="0">
          <a:noAutofit/>
        </a:bodyPr>
        <a:lstStyle/>
        <a:p>
          <a:pPr marL="171450" lvl="1" indent="-171450" algn="l" defTabSz="711200">
            <a:lnSpc>
              <a:spcPct val="90000"/>
            </a:lnSpc>
            <a:spcBef>
              <a:spcPct val="0"/>
            </a:spcBef>
            <a:spcAft>
              <a:spcPct val="15000"/>
            </a:spcAft>
            <a:buNone/>
          </a:pPr>
          <a:r>
            <a:rPr lang="en-US" sz="1600" kern="1200" dirty="0">
              <a:solidFill>
                <a:schemeClr val="tx1"/>
              </a:solidFill>
            </a:rPr>
            <a:t>Data is encrypted in the database</a:t>
          </a:r>
        </a:p>
      </dsp:txBody>
      <dsp:txXfrm rot="-5400000">
        <a:off x="1800267" y="2374488"/>
        <a:ext cx="6699773" cy="765042"/>
      </dsp:txXfrm>
    </dsp:sp>
    <dsp:sp modelId="{3215DCC3-47EF-46D0-A8AB-7319CF5000AC}">
      <dsp:nvSpPr>
        <dsp:cNvPr id="0" name=""/>
        <dsp:cNvSpPr/>
      </dsp:nvSpPr>
      <dsp:spPr>
        <a:xfrm>
          <a:off x="298150" y="2227124"/>
          <a:ext cx="1502116" cy="1059770"/>
        </a:xfrm>
        <a:prstGeom prst="roundRect">
          <a:avLst/>
        </a:prstGeom>
        <a:solidFill>
          <a:srgbClr val="FFA38B"/>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Client and data </a:t>
          </a:r>
          <a:br>
            <a:rPr lang="en-US" sz="1600" kern="1200" dirty="0">
              <a:solidFill>
                <a:schemeClr val="tx1"/>
              </a:solidFill>
            </a:rPr>
          </a:br>
          <a:r>
            <a:rPr lang="en-US" sz="1600" kern="1200" dirty="0">
              <a:solidFill>
                <a:schemeClr val="tx1"/>
              </a:solidFill>
            </a:rPr>
            <a:t>in Azure</a:t>
          </a:r>
        </a:p>
      </dsp:txBody>
      <dsp:txXfrm>
        <a:off x="349884" y="2278858"/>
        <a:ext cx="1398648" cy="95630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D4367E-7E8C-49F0-A2D6-1B374B52131B}" type="datetime8">
              <a:rPr lang="en-US" smtClean="0">
                <a:latin typeface="Segoe UI" pitchFamily="34" charset="0"/>
              </a:rPr>
              <a:t>2/9/2026 8:25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B7AFD488-69C6-44F4-B9F6-1CFC35E35FF2}" type="datetime8">
              <a:rPr lang="en-US" smtClean="0"/>
              <a:t>2/9/2026 8:13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microsoft.com/en-us/sql/relational-databases/security/authentication-access/server-level-roles?view=sql-server-ver15"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ocs.microsoft.com/en-us/sql/relational-databases/security/permissions-database-engine?view=sql-server-ver15"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ocs.microsoft.com/en-us/azure/azure-sql/database/troubleshoot-common-errors-issues"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docs.microsoft.com/en-us/azure/purview/overview#data-map" TargetMode="External"/><Relationship Id="rId2" Type="http://schemas.openxmlformats.org/officeDocument/2006/relationships/slide" Target="../slides/slide64.xml"/><Relationship Id="rId1" Type="http://schemas.openxmlformats.org/officeDocument/2006/relationships/notesMaster" Target="../notesMasters/notesMaster1.xml"/><Relationship Id="rId5" Type="http://schemas.openxmlformats.org/officeDocument/2006/relationships/hyperlink" Target="https://docs.microsoft.com/en-us/azure/purview/overview#data-estate-insights" TargetMode="External"/><Relationship Id="rId4" Type="http://schemas.openxmlformats.org/officeDocument/2006/relationships/hyperlink" Target="https://docs.microsoft.com/en-us/azure/purview/overview#data-catalog" TargetMode="Externa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docs.microsoft.com/en-us/azure/purview/overview#data-map" TargetMode="External"/><Relationship Id="rId2" Type="http://schemas.openxmlformats.org/officeDocument/2006/relationships/slide" Target="../slides/slide65.xml"/><Relationship Id="rId1" Type="http://schemas.openxmlformats.org/officeDocument/2006/relationships/notesMaster" Target="../notesMasters/notesMaster1.xml"/><Relationship Id="rId5" Type="http://schemas.openxmlformats.org/officeDocument/2006/relationships/hyperlink" Target="https://docs.microsoft.com/en-us/azure/purview/overview#data-estate-insights" TargetMode="External"/><Relationship Id="rId4" Type="http://schemas.openxmlformats.org/officeDocument/2006/relationships/hyperlink" Target="https://docs.microsoft.com/en-us/azure/purview/overview#data-catalog" TargetMode="Externa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BA19F673-FC81-47E2-A79C-9FE276F7DF90}" type="datetime8">
              <a:rPr lang="en-US" smtClean="0"/>
              <a:t>2/9/2026 8:13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318583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800" kern="1200" dirty="0">
                <a:solidFill>
                  <a:schemeClr val="tx1"/>
                </a:solidFill>
                <a:effectLst/>
                <a:latin typeface="Segoe UI" panose="020B0502040204020203" pitchFamily="34" charset="0"/>
                <a:ea typeface="+mn-ea"/>
                <a:cs typeface="Segoe UI" panose="020B0502040204020203" pitchFamily="34" charset="0"/>
              </a:rPr>
              <a:t>This Learning Path explores the practices of securing your SQL Server Database as well as an Azure SQL database. This includes a review of the various SQL Server-based options as well as the various Azure options for securing Azure SQL Database as well as the databases with reside within Azure SQL Database. Students will lean why security is crucial when working with databases. </a:t>
            </a:r>
          </a:p>
          <a:p>
            <a:pPr fontAlgn="base"/>
            <a:endParaRPr lang="en-US" sz="800" kern="1200" dirty="0">
              <a:solidFill>
                <a:schemeClr val="tx1"/>
              </a:solidFill>
              <a:effectLst/>
              <a:latin typeface="Segoe UI" panose="020B0502040204020203" pitchFamily="34" charset="0"/>
              <a:ea typeface="+mn-ea"/>
              <a:cs typeface="Segoe UI" panose="020B0502040204020203" pitchFamily="34" charset="0"/>
            </a:endParaRPr>
          </a:p>
          <a:p>
            <a:pPr algn="l"/>
            <a:r>
              <a:rPr lang="en-US" sz="800" dirty="0">
                <a:solidFill>
                  <a:schemeClr val="accent2"/>
                </a:solidFill>
              </a:rPr>
              <a:t>https://learn.microsoft.com/training/paths/implement-secure-environment-database-service/</a:t>
            </a:r>
          </a:p>
          <a:p>
            <a:endParaRPr lang="en-US"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AFA77464-C731-4EC5-ADBE-984C68021C9B}"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10460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8A9DF6D-1FB5-421F-8B71-FAC7DE93101D}"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2158498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GB" sz="800" kern="1200" dirty="0">
                <a:solidFill>
                  <a:schemeClr val="tx1"/>
                </a:solidFill>
                <a:effectLst/>
                <a:latin typeface="Segoe UI" panose="020B0502040204020203" pitchFamily="34" charset="0"/>
                <a:ea typeface="+mn-ea"/>
                <a:cs typeface="Segoe UI" panose="020B0502040204020203" pitchFamily="34" charset="0"/>
              </a:rPr>
              <a:t>Azure SQL Database has several authentication options which are different from the authentication options of SQL Server. You’ll learn about the differences between those authentication mechanisms.</a:t>
            </a:r>
            <a:endParaRPr lang="en-US" sz="800" kern="1200" dirty="0">
              <a:solidFill>
                <a:schemeClr val="tx1"/>
              </a:solidFill>
              <a:effectLst/>
              <a:latin typeface="Segoe UI" panose="020B0502040204020203" pitchFamily="34" charset="0"/>
              <a:ea typeface="+mn-ea"/>
              <a:cs typeface="Segoe UI" panose="020B0502040204020203" pitchFamily="34" charset="0"/>
            </a:endParaRPr>
          </a:p>
          <a:p>
            <a:endParaRPr lang="en-US"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F534B0AA-C42F-4996-93F9-D299CF611528}"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337975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E4493755-60C2-4308-AC5A-FFBF24989655}"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47096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Bilden sammanfattar autentiseringsalternativ för SQL Server i olika miljöer och visar tydligt att alternativen skiljer sig åt beroende på om databasen körs lokalt/on-</a:t>
            </a:r>
            <a:r>
              <a:rPr lang="sv-SE" dirty="0" err="1"/>
              <a:t>prem</a:t>
            </a:r>
            <a:r>
              <a:rPr lang="sv-SE" dirty="0"/>
              <a:t> eller som en </a:t>
            </a:r>
            <a:r>
              <a:rPr lang="sv-SE" dirty="0" err="1"/>
              <a:t>Azure</a:t>
            </a:r>
            <a:r>
              <a:rPr lang="sv-SE" dirty="0"/>
              <a:t>-tjänst. För en traditionell SQL Server finns två </a:t>
            </a:r>
            <a:r>
              <a:rPr lang="sv-SE" dirty="0" err="1"/>
              <a:t>huvudval</a:t>
            </a:r>
            <a:r>
              <a:rPr lang="sv-SE" dirty="0"/>
              <a:t>: </a:t>
            </a:r>
            <a:r>
              <a:rPr lang="sv-SE" b="1" dirty="0"/>
              <a:t>Windows </a:t>
            </a:r>
            <a:r>
              <a:rPr lang="sv-SE" b="1" dirty="0" err="1"/>
              <a:t>Authentication</a:t>
            </a:r>
            <a:r>
              <a:rPr lang="sv-SE" dirty="0"/>
              <a:t> och </a:t>
            </a:r>
            <a:r>
              <a:rPr lang="sv-SE" b="1" dirty="0"/>
              <a:t>SQL Server </a:t>
            </a:r>
            <a:r>
              <a:rPr lang="sv-SE" b="1" dirty="0" err="1"/>
              <a:t>Authentication</a:t>
            </a:r>
            <a:r>
              <a:rPr lang="sv-SE" dirty="0"/>
              <a:t>. Vid Windows </a:t>
            </a:r>
            <a:r>
              <a:rPr lang="sv-SE" dirty="0" err="1"/>
              <a:t>Authentication</a:t>
            </a:r>
            <a:r>
              <a:rPr lang="sv-SE" dirty="0"/>
              <a:t> hanteras inloggningsinformationen via katalogtjänsten – i sammanhanget kopplat till </a:t>
            </a:r>
            <a:r>
              <a:rPr lang="sv-SE" b="1" dirty="0"/>
              <a:t>Microsoft Entra ID</a:t>
            </a:r>
            <a:r>
              <a:rPr lang="sv-SE" dirty="0"/>
              <a:t> – vilket ger central identitetshantering och ofta bättre kontroll, exempelvis genom </a:t>
            </a:r>
            <a:r>
              <a:rPr lang="sv-SE" dirty="0" err="1"/>
              <a:t>policies</a:t>
            </a:r>
            <a:r>
              <a:rPr lang="sv-SE" dirty="0"/>
              <a:t> och </a:t>
            </a:r>
            <a:r>
              <a:rPr lang="sv-SE" dirty="0" err="1"/>
              <a:t>Single</a:t>
            </a:r>
            <a:r>
              <a:rPr lang="sv-SE" dirty="0"/>
              <a:t> Sign-On. Vid SQL Server </a:t>
            </a:r>
            <a:r>
              <a:rPr lang="sv-SE" dirty="0" err="1"/>
              <a:t>Authentication</a:t>
            </a:r>
            <a:r>
              <a:rPr lang="sv-SE" dirty="0"/>
              <a:t> lagras istället konton och lösenord i SQL Server (i master eller respektive användardatabas), vilket kan vara praktiskt men kräver mer aktiv hantering av säkerhet och lösenord.</a:t>
            </a:r>
          </a:p>
          <a:p>
            <a:endParaRPr lang="sv-SE" dirty="0"/>
          </a:p>
          <a:p>
            <a:r>
              <a:rPr lang="sv-SE" dirty="0"/>
              <a:t>För </a:t>
            </a:r>
            <a:r>
              <a:rPr lang="sv-SE" b="1" dirty="0" err="1"/>
              <a:t>Azure</a:t>
            </a:r>
            <a:r>
              <a:rPr lang="sv-SE" b="1" dirty="0"/>
              <a:t> SQL </a:t>
            </a:r>
            <a:r>
              <a:rPr lang="sv-SE" b="1" dirty="0" err="1"/>
              <a:t>Database</a:t>
            </a:r>
            <a:r>
              <a:rPr lang="sv-SE" dirty="0"/>
              <a:t> och </a:t>
            </a:r>
            <a:r>
              <a:rPr lang="sv-SE" b="1" dirty="0" err="1"/>
              <a:t>Azure</a:t>
            </a:r>
            <a:r>
              <a:rPr lang="sv-SE" b="1" dirty="0"/>
              <a:t> SQL </a:t>
            </a:r>
            <a:r>
              <a:rPr lang="sv-SE" b="1" dirty="0" err="1"/>
              <a:t>Managed</a:t>
            </a:r>
            <a:r>
              <a:rPr lang="sv-SE" b="1" dirty="0"/>
              <a:t> </a:t>
            </a:r>
            <a:r>
              <a:rPr lang="sv-SE" b="1" dirty="0" err="1"/>
              <a:t>Instance</a:t>
            </a:r>
            <a:r>
              <a:rPr lang="sv-SE" dirty="0"/>
              <a:t> finns också två huvudalternativ. Det ena är </a:t>
            </a:r>
            <a:r>
              <a:rPr lang="sv-SE" b="1" dirty="0"/>
              <a:t>Microsoft Entra </a:t>
            </a:r>
            <a:r>
              <a:rPr lang="sv-SE" b="1" dirty="0" err="1"/>
              <a:t>Authentication</a:t>
            </a:r>
            <a:r>
              <a:rPr lang="sv-SE" dirty="0"/>
              <a:t>, där användare och grupper hämtas från Entra ID och autentiseringen sker via moderna identitetsfunktioner. Det andra är </a:t>
            </a:r>
            <a:r>
              <a:rPr lang="sv-SE" b="1" dirty="0"/>
              <a:t>SQL Server </a:t>
            </a:r>
            <a:r>
              <a:rPr lang="sv-SE" b="1" dirty="0" err="1"/>
              <a:t>Authentication</a:t>
            </a:r>
            <a:r>
              <a:rPr lang="sv-SE" dirty="0"/>
              <a:t>, som fortfarande stöds och fungerar på liknande sätt som i klassisk SQL Server.</a:t>
            </a:r>
          </a:p>
          <a:p>
            <a:endParaRPr lang="sv-SE" dirty="0"/>
          </a:p>
          <a:p>
            <a:r>
              <a:rPr lang="sv-SE" dirty="0"/>
              <a:t>Budskapet är att Entra/AD-baserad autentisering ger en mer centraliserad och modern säkerhetsmodell, medan SQL Server </a:t>
            </a:r>
            <a:r>
              <a:rPr lang="sv-SE" dirty="0" err="1"/>
              <a:t>Authentication</a:t>
            </a:r>
            <a:r>
              <a:rPr lang="sv-SE" dirty="0"/>
              <a:t> är mer fristående och kompatibel men ofta kräver mer administration.</a:t>
            </a:r>
          </a:p>
          <a:p>
            <a:endParaRPr lang="en-US" sz="880" kern="1200" dirty="0">
              <a:solidFill>
                <a:schemeClr val="tx1"/>
              </a:solidFill>
              <a:effectLst/>
              <a:latin typeface="Segoe UI" panose="020B0502040204020203" pitchFamily="34" charset="0"/>
              <a:ea typeface="+mn-ea"/>
              <a:cs typeface="Segoe UI" panose="020B0502040204020203" pitchFamily="34" charset="0"/>
            </a:endParaRPr>
          </a:p>
          <a:p>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US" sz="880" kern="1200" dirty="0">
                <a:solidFill>
                  <a:schemeClr val="tx1"/>
                </a:solidFill>
                <a:effectLst/>
                <a:latin typeface="Segoe UI" panose="020B0502040204020203" pitchFamily="34" charset="0"/>
                <a:ea typeface="+mn-ea"/>
                <a:cs typeface="Segoe UI" panose="020B0502040204020203" pitchFamily="34" charset="0"/>
              </a:rPr>
              <a:t>Azure SQL Database similarly supports two different methods for authentication, SQL Server authentication and Microsoft Entra authentication. SQL Server authentication is the same authentication method that has been supported in SQL Server since it was first introduced, where user credentials are stored within either within the master database, or within the user database.. Authentication via Microsoft </a:t>
            </a:r>
            <a:r>
              <a:rPr lang="en-US" sz="880" kern="1200" dirty="0" err="1">
                <a:solidFill>
                  <a:schemeClr val="tx1"/>
                </a:solidFill>
                <a:effectLst/>
                <a:latin typeface="Segoe UI" panose="020B0502040204020203" pitchFamily="34" charset="0"/>
                <a:ea typeface="+mn-ea"/>
                <a:cs typeface="Segoe UI" panose="020B0502040204020203" pitchFamily="34" charset="0"/>
              </a:rPr>
              <a:t>Entra</a:t>
            </a:r>
            <a:r>
              <a:rPr lang="en-US" sz="880" kern="1200" dirty="0">
                <a:solidFill>
                  <a:schemeClr val="tx1"/>
                </a:solidFill>
                <a:effectLst/>
                <a:latin typeface="Segoe UI" panose="020B0502040204020203" pitchFamily="34" charset="0"/>
                <a:ea typeface="+mn-ea"/>
                <a:cs typeface="Segoe UI" panose="020B0502040204020203" pitchFamily="34" charset="0"/>
              </a:rPr>
              <a:t> ID allows the user to entire the same username and password which is used to access other resources such as the Azure portal or Microsoft 365.</a:t>
            </a: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944F325-D56B-41C1-AC0A-6D9482261B9D}"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997186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Bilden jämför </a:t>
            </a:r>
            <a:r>
              <a:rPr lang="sv-SE" b="1" dirty="0"/>
              <a:t>Active Directory </a:t>
            </a:r>
            <a:r>
              <a:rPr lang="sv-SE" b="1" dirty="0" err="1"/>
              <a:t>Domain</a:t>
            </a:r>
            <a:r>
              <a:rPr lang="sv-SE" b="1" dirty="0"/>
              <a:t> Services (AD DS)</a:t>
            </a:r>
            <a:r>
              <a:rPr lang="sv-SE" dirty="0"/>
              <a:t> med </a:t>
            </a:r>
            <a:r>
              <a:rPr lang="sv-SE" b="1" dirty="0"/>
              <a:t>Microsoft Entra ID</a:t>
            </a:r>
            <a:r>
              <a:rPr lang="sv-SE" dirty="0"/>
              <a:t> och visar att båda är katalogtjänster – men byggda för olika världar. AD DS är den klassiska, lokala (on-</a:t>
            </a:r>
            <a:r>
              <a:rPr lang="sv-SE" dirty="0" err="1"/>
              <a:t>prem</a:t>
            </a:r>
            <a:r>
              <a:rPr lang="sv-SE" dirty="0"/>
              <a:t>) katalogtjänsten som traditionellt används i Windows-domäner. Microsoft Entra ID (tidigare </a:t>
            </a:r>
            <a:r>
              <a:rPr lang="sv-SE" dirty="0" err="1"/>
              <a:t>Azure</a:t>
            </a:r>
            <a:r>
              <a:rPr lang="sv-SE" dirty="0"/>
              <a:t> AD) är istället en molnbaserad identitetsplattform för moderna applikationer och tjänster.</a:t>
            </a:r>
          </a:p>
          <a:p>
            <a:endParaRPr lang="sv-SE" dirty="0"/>
          </a:p>
          <a:p>
            <a:r>
              <a:rPr lang="sv-SE" dirty="0"/>
              <a:t>I tabellen ser man att båda stödjer </a:t>
            </a:r>
            <a:r>
              <a:rPr lang="sv-SE" b="1" dirty="0"/>
              <a:t>användarhantering</a:t>
            </a:r>
            <a:r>
              <a:rPr lang="sv-SE" dirty="0"/>
              <a:t>, </a:t>
            </a:r>
            <a:r>
              <a:rPr lang="sv-SE" b="1" dirty="0"/>
              <a:t>grupper</a:t>
            </a:r>
            <a:r>
              <a:rPr lang="sv-SE" dirty="0"/>
              <a:t> och </a:t>
            </a:r>
            <a:r>
              <a:rPr lang="sv-SE" b="1" dirty="0"/>
              <a:t>service principals</a:t>
            </a:r>
            <a:r>
              <a:rPr lang="sv-SE" dirty="0"/>
              <a:t> (konton för applikationer/tjänster). Den stora skillnaden ligger i autentisering och struktur. AD DS använder främst </a:t>
            </a:r>
            <a:r>
              <a:rPr lang="sv-SE" b="1" dirty="0"/>
              <a:t>NTLM och </a:t>
            </a:r>
            <a:r>
              <a:rPr lang="sv-SE" b="1" dirty="0" err="1"/>
              <a:t>Kerberos</a:t>
            </a:r>
            <a:r>
              <a:rPr lang="sv-SE" dirty="0"/>
              <a:t>, vilket passar för Windows-inloggning och domänmiljöer. Entra ID använder moderna protokoll som </a:t>
            </a:r>
            <a:r>
              <a:rPr lang="sv-SE" b="1" dirty="0" err="1"/>
              <a:t>OpenID</a:t>
            </a:r>
            <a:r>
              <a:rPr lang="sv-SE" b="1" dirty="0"/>
              <a:t> </a:t>
            </a:r>
            <a:r>
              <a:rPr lang="sv-SE" b="1" dirty="0" err="1"/>
              <a:t>Connect</a:t>
            </a:r>
            <a:r>
              <a:rPr lang="sv-SE" b="1" dirty="0"/>
              <a:t>, SAML och </a:t>
            </a:r>
            <a:r>
              <a:rPr lang="sv-SE" b="1" dirty="0" err="1"/>
              <a:t>OAuth</a:t>
            </a:r>
            <a:r>
              <a:rPr lang="sv-SE" dirty="0"/>
              <a:t>, vilket är standard för </a:t>
            </a:r>
            <a:r>
              <a:rPr lang="sv-SE" dirty="0" err="1"/>
              <a:t>molnappar</a:t>
            </a:r>
            <a:r>
              <a:rPr lang="sv-SE" dirty="0"/>
              <a:t>, </a:t>
            </a:r>
            <a:r>
              <a:rPr lang="sv-SE" dirty="0" err="1"/>
              <a:t>API:er</a:t>
            </a:r>
            <a:r>
              <a:rPr lang="sv-SE" dirty="0"/>
              <a:t> och </a:t>
            </a:r>
            <a:r>
              <a:rPr lang="sv-SE" dirty="0" err="1"/>
              <a:t>Single</a:t>
            </a:r>
            <a:r>
              <a:rPr lang="sv-SE" dirty="0"/>
              <a:t> Sign-On.</a:t>
            </a:r>
          </a:p>
          <a:p>
            <a:endParaRPr lang="sv-SE" dirty="0"/>
          </a:p>
          <a:p>
            <a:r>
              <a:rPr lang="sv-SE" dirty="0"/>
              <a:t>En annan viktig skillnad är </a:t>
            </a:r>
            <a:r>
              <a:rPr lang="sv-SE" b="1" dirty="0"/>
              <a:t>objekthierarki</a:t>
            </a:r>
            <a:r>
              <a:rPr lang="sv-SE" dirty="0"/>
              <a:t>. AD DS har en tydlig hierarkisk struktur med domäner, </a:t>
            </a:r>
            <a:r>
              <a:rPr lang="sv-SE" dirty="0" err="1"/>
              <a:t>OU:er</a:t>
            </a:r>
            <a:r>
              <a:rPr lang="sv-SE" dirty="0"/>
              <a:t> och </a:t>
            </a:r>
            <a:r>
              <a:rPr lang="sv-SE" dirty="0" err="1"/>
              <a:t>GPO:er</a:t>
            </a:r>
            <a:r>
              <a:rPr lang="sv-SE" dirty="0"/>
              <a:t>, medan Entra ID inte bygger på samma hierarkiska modell. Slutligen skiljer sig även hur man frågar katalogen programmässigt: AD DS använder </a:t>
            </a:r>
            <a:r>
              <a:rPr lang="sv-SE" b="1" dirty="0"/>
              <a:t>LDAP</a:t>
            </a:r>
            <a:r>
              <a:rPr lang="sv-SE" dirty="0"/>
              <a:t>, medan Entra ID nås via </a:t>
            </a:r>
            <a:r>
              <a:rPr lang="sv-SE" b="1" dirty="0"/>
              <a:t>Graph/REST-API</a:t>
            </a:r>
            <a:r>
              <a:rPr lang="sv-SE" dirty="0"/>
              <a:t>.</a:t>
            </a:r>
          </a:p>
          <a:p>
            <a:endParaRPr lang="sv-SE" dirty="0"/>
          </a:p>
          <a:p>
            <a:r>
              <a:rPr lang="sv-SE" dirty="0"/>
              <a:t>Sammanfattningsvis: AD DS är domän- och nätverkscentrerat, Entra ID är moln- och </a:t>
            </a:r>
            <a:r>
              <a:rPr lang="sv-SE" dirty="0" err="1"/>
              <a:t>appcentrerat</a:t>
            </a:r>
            <a:r>
              <a:rPr lang="sv-SE" dirty="0"/>
              <a:t>.</a:t>
            </a:r>
          </a:p>
          <a:p>
            <a:endParaRPr lang="en-GB" sz="880" kern="1200" dirty="0">
              <a:solidFill>
                <a:schemeClr val="tx1"/>
              </a:solidFill>
              <a:effectLst/>
              <a:latin typeface="Segoe UI" panose="020B0502040204020203" pitchFamily="34" charset="0"/>
              <a:ea typeface="+mn-ea"/>
              <a:cs typeface="Segoe UI" panose="020B0502040204020203" pitchFamily="34" charset="0"/>
            </a:endParaRPr>
          </a:p>
          <a:p>
            <a:endParaRPr lang="en-GB"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A common question is what is the difference between Microsoft Entra ID and Windows Server Active Directory. This is especially confusing for new admins, because Microsoft </a:t>
            </a:r>
            <a:r>
              <a:rPr lang="en-GB" sz="880" kern="1200" dirty="0" err="1">
                <a:solidFill>
                  <a:schemeClr val="tx1"/>
                </a:solidFill>
                <a:effectLst/>
                <a:latin typeface="Segoe UI" panose="020B0502040204020203" pitchFamily="34" charset="0"/>
                <a:ea typeface="+mn-ea"/>
                <a:cs typeface="Segoe UI" panose="020B0502040204020203" pitchFamily="34" charset="0"/>
              </a:rPr>
              <a:t>Entra</a:t>
            </a:r>
            <a:r>
              <a:rPr lang="en-GB" sz="880" kern="1200" dirty="0">
                <a:solidFill>
                  <a:schemeClr val="tx1"/>
                </a:solidFill>
                <a:effectLst/>
                <a:latin typeface="Segoe UI" panose="020B0502040204020203" pitchFamily="34" charset="0"/>
                <a:ea typeface="+mn-ea"/>
                <a:cs typeface="Segoe UI" panose="020B0502040204020203" pitchFamily="34" charset="0"/>
              </a:rPr>
              <a:t> ID interacts with Active Directory. Both solutions provide authentication services and identity management, but in different was—Active Directory uses a protocol called Kerberos to provide authentication using tickets, and it is queried by the Lightweight Directory Access Protocol (LDAP). Microsoft </a:t>
            </a:r>
            <a:r>
              <a:rPr lang="en-GB" sz="880" kern="1200" dirty="0" err="1">
                <a:solidFill>
                  <a:schemeClr val="tx1"/>
                </a:solidFill>
                <a:effectLst/>
                <a:latin typeface="Segoe UI" panose="020B0502040204020203" pitchFamily="34" charset="0"/>
                <a:ea typeface="+mn-ea"/>
                <a:cs typeface="Segoe UI" panose="020B0502040204020203" pitchFamily="34" charset="0"/>
              </a:rPr>
              <a:t>Entra</a:t>
            </a:r>
            <a:r>
              <a:rPr lang="en-GB" sz="880" kern="1200" dirty="0">
                <a:solidFill>
                  <a:schemeClr val="tx1"/>
                </a:solidFill>
                <a:effectLst/>
                <a:latin typeface="Segoe UI" panose="020B0502040204020203" pitchFamily="34" charset="0"/>
                <a:ea typeface="+mn-ea"/>
                <a:cs typeface="Segoe UI" panose="020B0502040204020203" pitchFamily="34" charset="0"/>
              </a:rPr>
              <a:t> ID uses HTTPS protocols for authentication like SAML and OpenID Connect for authentication and uses OAuth for authorization. </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two services have different use cases—for example, you cannot join a Windows Server to an Microsoft </a:t>
            </a:r>
            <a:r>
              <a:rPr lang="en-GB" sz="880" kern="1200" dirty="0" err="1">
                <a:solidFill>
                  <a:schemeClr val="tx1"/>
                </a:solidFill>
                <a:effectLst/>
                <a:latin typeface="Segoe UI" panose="020B0502040204020203" pitchFamily="34" charset="0"/>
                <a:ea typeface="+mn-ea"/>
                <a:cs typeface="Segoe UI" panose="020B0502040204020203" pitchFamily="34" charset="0"/>
              </a:rPr>
              <a:t>Entra</a:t>
            </a:r>
            <a:r>
              <a:rPr lang="en-GB" sz="880" kern="1200" dirty="0">
                <a:solidFill>
                  <a:schemeClr val="tx1"/>
                </a:solidFill>
                <a:effectLst/>
                <a:latin typeface="Segoe UI" panose="020B0502040204020203" pitchFamily="34" charset="0"/>
                <a:ea typeface="+mn-ea"/>
                <a:cs typeface="Segoe UI" panose="020B0502040204020203" pitchFamily="34" charset="0"/>
              </a:rPr>
              <a:t> ID domain and work together in most organizations to provide a single set of user identities. A service called Microsoft </a:t>
            </a:r>
            <a:r>
              <a:rPr lang="en-GB" sz="880" kern="1200" dirty="0" err="1">
                <a:solidFill>
                  <a:schemeClr val="tx1"/>
                </a:solidFill>
                <a:effectLst/>
                <a:latin typeface="Segoe UI" panose="020B0502040204020203" pitchFamily="34" charset="0"/>
                <a:ea typeface="+mn-ea"/>
                <a:cs typeface="Segoe UI" panose="020B0502040204020203" pitchFamily="34" charset="0"/>
              </a:rPr>
              <a:t>Entra</a:t>
            </a:r>
            <a:r>
              <a:rPr lang="en-GB" sz="880" kern="1200" dirty="0">
                <a:solidFill>
                  <a:schemeClr val="tx1"/>
                </a:solidFill>
                <a:effectLst/>
                <a:latin typeface="Segoe UI" panose="020B0502040204020203" pitchFamily="34" charset="0"/>
                <a:ea typeface="+mn-ea"/>
                <a:cs typeface="Segoe UI" panose="020B0502040204020203" pitchFamily="34" charset="0"/>
              </a:rPr>
              <a:t> Connect, connects your Active Directory identities with your Microsoft </a:t>
            </a:r>
            <a:r>
              <a:rPr lang="en-GB" sz="880" kern="1200" dirty="0" err="1">
                <a:solidFill>
                  <a:schemeClr val="tx1"/>
                </a:solidFill>
                <a:effectLst/>
                <a:latin typeface="Segoe UI" panose="020B0502040204020203" pitchFamily="34" charset="0"/>
                <a:ea typeface="+mn-ea"/>
                <a:cs typeface="Segoe UI" panose="020B0502040204020203" pitchFamily="34" charset="0"/>
              </a:rPr>
              <a:t>Entra</a:t>
            </a:r>
            <a:r>
              <a:rPr lang="en-GB" sz="880" kern="1200" dirty="0">
                <a:solidFill>
                  <a:schemeClr val="tx1"/>
                </a:solidFill>
                <a:effectLst/>
                <a:latin typeface="Segoe UI" panose="020B0502040204020203" pitchFamily="34" charset="0"/>
                <a:ea typeface="+mn-ea"/>
                <a:cs typeface="Segoe UI" panose="020B0502040204020203" pitchFamily="34" charset="0"/>
              </a:rPr>
              <a:t> ID. </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4E708AF0-ADA5-476E-A81D-02E6D72C557A}"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930811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Both on-premises SQL Server installations as well as SQL Server installations within Azure Virtual Machines support two modes of authentication: SQL Server authentication and Windows Authentication. When using SQL Server authentication, SQL Server-specific login name and password information is stored within SQL Server, either in the master database, or in the case of contained users, within the user database. Using Windows Authentication, users to connect to the SQL Server using the same Active Directory account they use to log into their computer (as well as accessing file shares and applications.) </a:t>
            </a:r>
            <a:endParaRPr lang="en-US" sz="880" dirty="0">
              <a:effectLst/>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DD3372FD-6A02-4CCC-B85B-2CE77D924D24}"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2110381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Microsoft Entra authentication </a:t>
            </a:r>
            <a:r>
              <a:rPr lang="en-US" sz="900" dirty="0">
                <a:solidFill>
                  <a:schemeClr val="tx1"/>
                </a:solidFill>
              </a:rPr>
              <a:t>allows integrated authentication into cloud native databases – like Windows Authentication in traditional deployment of SQL Server. Multi-factor authentication is fully supported.</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dirty="0">
                <a:solidFill>
                  <a:schemeClr val="tx1"/>
                </a:solidFill>
              </a:rPr>
              <a:t>To add users with Microsoft Entra authentication, you must first configure the Microsoft Entra admin.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solidFill>
                <a:schemeClr val="tx1"/>
              </a:solidFill>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dirty="0">
                <a:solidFill>
                  <a:schemeClr val="tx1"/>
                </a:solidFill>
              </a:rPr>
              <a:t>https://learn.microsoft.com/en-us/azure/azure-sql/database/authentication-aad-configure</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solidFill>
                <a:schemeClr val="tx1"/>
              </a:solidFill>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solidFill>
                <a:schemeClr val="tx1"/>
              </a:solidFill>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solidFill>
                <a:schemeClr val="tx1"/>
              </a:solidFill>
            </a:endParaRPr>
          </a:p>
          <a:p>
            <a:endParaRPr lang="en-US" sz="880" kern="1200" dirty="0">
              <a:solidFill>
                <a:schemeClr val="tx1"/>
              </a:solidFill>
              <a:effectLst/>
              <a:latin typeface="Segoe UI" panose="020B0502040204020203" pitchFamily="34" charset="0"/>
              <a:ea typeface="+mn-ea"/>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D6BAD7A3-EC64-4EDC-8600-B720D85D1C51}"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1667060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en-US" dirty="0"/>
              <a:t>Create a group in </a:t>
            </a:r>
            <a:r>
              <a:rPr lang="en-GB" sz="880" kern="1200" dirty="0">
                <a:solidFill>
                  <a:schemeClr val="tx1"/>
                </a:solidFill>
                <a:effectLst/>
                <a:latin typeface="Segoe UI" panose="020B0502040204020203" pitchFamily="34" charset="0"/>
                <a:ea typeface="+mn-ea"/>
                <a:cs typeface="Segoe UI" panose="020B0502040204020203" pitchFamily="34" charset="0"/>
              </a:rPr>
              <a:t>Microsoft </a:t>
            </a:r>
            <a:r>
              <a:rPr lang="en-GB" sz="880" kern="1200" dirty="0" err="1">
                <a:solidFill>
                  <a:schemeClr val="tx1"/>
                </a:solidFill>
                <a:effectLst/>
                <a:latin typeface="Segoe UI" panose="020B0502040204020203" pitchFamily="34" charset="0"/>
                <a:ea typeface="+mn-ea"/>
                <a:cs typeface="Segoe UI" panose="020B0502040204020203" pitchFamily="34" charset="0"/>
              </a:rPr>
              <a:t>Entra</a:t>
            </a:r>
            <a:r>
              <a:rPr lang="en-GB" sz="880" kern="1200" dirty="0">
                <a:solidFill>
                  <a:schemeClr val="tx1"/>
                </a:solidFill>
                <a:effectLst/>
                <a:latin typeface="Segoe UI" panose="020B0502040204020203" pitchFamily="34" charset="0"/>
                <a:ea typeface="+mn-ea"/>
                <a:cs typeface="Segoe UI" panose="020B0502040204020203" pitchFamily="34" charset="0"/>
              </a:rPr>
              <a:t> ID</a:t>
            </a:r>
            <a:r>
              <a:rPr lang="en-US" dirty="0"/>
              <a:t> and yourself and another user to it, and then navigate to the Azure SQL server and configure the Azure AD admin to that group. Then login to the Azure SQL DB either using the Query Editor in the portal or SQL Server Management Studio or Azure Data Studio.</a:t>
            </a:r>
          </a:p>
          <a:p>
            <a:pPr lvl="0"/>
            <a:endParaRPr lang="en-US" dirty="0"/>
          </a:p>
          <a:p>
            <a:r>
              <a:rPr lang="en-US" dirty="0"/>
              <a:t>--</a:t>
            </a:r>
            <a:r>
              <a:rPr lang="en-US" dirty="0" err="1"/>
              <a:t>Använd</a:t>
            </a:r>
            <a:r>
              <a:rPr lang="en-US" dirty="0"/>
              <a:t> </a:t>
            </a:r>
            <a:br>
              <a:rPr lang="en-US" dirty="0"/>
            </a:br>
            <a:br>
              <a:rPr lang="en-US" dirty="0"/>
            </a:br>
            <a:r>
              <a:rPr lang="sv-SE" b="1" dirty="0"/>
              <a:t>Microsoft Entra </a:t>
            </a:r>
            <a:r>
              <a:rPr lang="sv-SE" b="1" dirty="0" err="1"/>
              <a:t>Password</a:t>
            </a:r>
            <a:endParaRPr lang="sv-SE" b="1" dirty="0"/>
          </a:p>
          <a:p>
            <a:r>
              <a:rPr lang="sv-SE" dirty="0"/>
              <a:t>du skriver in användarnamn + lösenord</a:t>
            </a:r>
          </a:p>
          <a:p>
            <a:r>
              <a:rPr lang="sv-SE" dirty="0"/>
              <a:t>Bra om </a:t>
            </a:r>
            <a:r>
              <a:rPr lang="sv-SE" dirty="0" err="1"/>
              <a:t>Integrated</a:t>
            </a:r>
            <a:r>
              <a:rPr lang="sv-SE" dirty="0"/>
              <a:t> inte fungerar.</a:t>
            </a:r>
          </a:p>
          <a:p>
            <a:pPr lvl="0"/>
            <a:endParaRPr lang="en-US" dirty="0"/>
          </a:p>
          <a:p>
            <a:pPr lvl="0"/>
            <a:endParaRPr lang="en-US" dirty="0"/>
          </a:p>
        </p:txBody>
      </p:sp>
      <p:sp>
        <p:nvSpPr>
          <p:cNvPr id="4" name="页眉占位符 3"/>
          <p:cNvSpPr>
            <a:spLocks noGrp="1"/>
          </p:cNvSpPr>
          <p:nvPr>
            <p:ph type="hdr" sz="quarter"/>
          </p:nvPr>
        </p:nvSpPr>
        <p:spPr/>
        <p:txBody>
          <a:bodyPr/>
          <a:lstStyle/>
          <a:p>
            <a:endParaRPr lang="en-US"/>
          </a:p>
        </p:txBody>
      </p:sp>
      <p:sp>
        <p:nvSpPr>
          <p:cNvPr id="5" name="页脚占位符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日期占位符 5"/>
          <p:cNvSpPr>
            <a:spLocks noGrp="1"/>
          </p:cNvSpPr>
          <p:nvPr>
            <p:ph type="dt" idx="1"/>
          </p:nvPr>
        </p:nvSpPr>
        <p:spPr/>
        <p:txBody>
          <a:bodyPr/>
          <a:lstStyle/>
          <a:p>
            <a:fld id="{7A4468A6-C7C8-4331-B263-F58521AFA64A}" type="datetime8">
              <a:rPr lang="en-US" smtClean="0"/>
              <a:t>2/9/2026 8:13 PM</a:t>
            </a:fld>
            <a:endParaRPr lang="en-US"/>
          </a:p>
        </p:txBody>
      </p:sp>
      <p:sp>
        <p:nvSpPr>
          <p:cNvPr id="7" name="灯片编号占位符 6"/>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795300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None/>
            </a:pPr>
            <a:r>
              <a:rPr lang="en-US" b="0" i="0" dirty="0">
                <a:solidFill>
                  <a:srgbClr val="000000"/>
                </a:solidFill>
                <a:effectLst/>
                <a:latin typeface="Segoe UI Semibold" panose="020B0702040204020203" pitchFamily="34" charset="0"/>
              </a:rPr>
              <a:t>What Are Principals?</a:t>
            </a:r>
            <a:endParaRPr lang="en-US" b="0" i="0" u="none" strike="noStrike"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b="0" i="0" u="none" strike="noStrike" dirty="0">
                <a:solidFill>
                  <a:srgbClr val="000000"/>
                </a:solidFill>
                <a:effectLst/>
                <a:latin typeface="Segoe UI" panose="020B0502040204020203" pitchFamily="34" charset="0"/>
              </a:rPr>
              <a:t>Windows On-Prem Principals: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4250" lvl="1" indent="-171450" algn="l" rtl="0" fontAlgn="base">
              <a:buFont typeface="Courier New" panose="02070309020205020404" pitchFamily="49" charset="0"/>
              <a:buChar char="o"/>
            </a:pPr>
            <a:r>
              <a:rPr lang="en-US" b="0" i="0" u="none" strike="noStrike" dirty="0">
                <a:solidFill>
                  <a:srgbClr val="000000"/>
                </a:solidFill>
                <a:effectLst/>
                <a:latin typeface="Segoe UI" panose="020B0502040204020203" pitchFamily="34" charset="0"/>
              </a:rPr>
              <a:t>Domain user account</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4250" lvl="1" indent="-171450" algn="l" rtl="0" fontAlgn="base">
              <a:buFont typeface="Courier New" panose="02070309020205020404" pitchFamily="49" charset="0"/>
              <a:buChar char="o"/>
            </a:pPr>
            <a:r>
              <a:rPr lang="en-US" b="0" i="0" u="none" strike="noStrike" dirty="0">
                <a:solidFill>
                  <a:srgbClr val="000000"/>
                </a:solidFill>
                <a:effectLst/>
                <a:latin typeface="Segoe UI" panose="020B0502040204020203" pitchFamily="34" charset="0"/>
              </a:rPr>
              <a:t>Local user account</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4250" lvl="1" indent="-171450" algn="l" rtl="0" fontAlgn="base">
              <a:buFont typeface="Courier New" panose="02070309020205020404" pitchFamily="49" charset="0"/>
              <a:buChar char="o"/>
            </a:pPr>
            <a:r>
              <a:rPr lang="en-US" b="0" i="0" u="none" strike="noStrike" dirty="0">
                <a:solidFill>
                  <a:srgbClr val="000000"/>
                </a:solidFill>
                <a:effectLst/>
                <a:latin typeface="Segoe UI" panose="020B0502040204020203" pitchFamily="34" charset="0"/>
              </a:rPr>
              <a:t>Windows group</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171450" indent="-171450" algn="l" rtl="0" fontAlgn="base">
              <a:buFont typeface="Arial" panose="020B0604020202020204" pitchFamily="34" charset="0"/>
              <a:buChar char="•"/>
            </a:pPr>
            <a:r>
              <a:rPr lang="en-US" b="0" i="0" u="none" strike="noStrike" dirty="0">
                <a:solidFill>
                  <a:srgbClr val="000000"/>
                </a:solidFill>
                <a:effectLst/>
                <a:latin typeface="Segoe UI" panose="020B0502040204020203" pitchFamily="34" charset="0"/>
              </a:rPr>
              <a:t>Microsoft </a:t>
            </a:r>
            <a:r>
              <a:rPr lang="en-US" b="0" i="0" u="none" strike="noStrike" dirty="0" err="1">
                <a:solidFill>
                  <a:srgbClr val="000000"/>
                </a:solidFill>
                <a:effectLst/>
                <a:latin typeface="Segoe UI" panose="020B0502040204020203" pitchFamily="34" charset="0"/>
              </a:rPr>
              <a:t>Entra</a:t>
            </a:r>
            <a:r>
              <a:rPr lang="en-US" b="0" i="0" u="none" strike="noStrike" dirty="0">
                <a:solidFill>
                  <a:srgbClr val="000000"/>
                </a:solidFill>
                <a:effectLst/>
                <a:latin typeface="Segoe UI" panose="020B0502040204020203" pitchFamily="34" charset="0"/>
              </a:rPr>
              <a:t> principals: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4250" lvl="1" indent="-171450" algn="l" defTabSz="914367" rtl="0" eaLnBrk="1" fontAlgn="base" latinLnBrk="0" hangingPunct="1">
              <a:lnSpc>
                <a:spcPct val="90000"/>
              </a:lnSpc>
              <a:spcAft>
                <a:spcPts val="333"/>
              </a:spcAft>
              <a:buFont typeface="Courier New" panose="02070309020205020404" pitchFamily="49" charset="0"/>
              <a:buChar char="o"/>
            </a:pPr>
            <a:r>
              <a:rPr lang="en-US" sz="882" b="0" i="0" u="none" strike="noStrike" kern="1200" dirty="0">
                <a:solidFill>
                  <a:srgbClr val="000000"/>
                </a:solidFill>
                <a:effectLst/>
                <a:latin typeface="Segoe UI" panose="020B0502040204020203" pitchFamily="34" charset="0"/>
                <a:ea typeface="+mn-ea"/>
                <a:cs typeface="+mn-cs"/>
              </a:rPr>
              <a:t>Users​</a:t>
            </a:r>
          </a:p>
          <a:p>
            <a:pPr marL="344250" lvl="1" indent="-171450" algn="l" defTabSz="914367" rtl="0" eaLnBrk="1" fontAlgn="base" latinLnBrk="0" hangingPunct="1">
              <a:lnSpc>
                <a:spcPct val="90000"/>
              </a:lnSpc>
              <a:spcAft>
                <a:spcPts val="333"/>
              </a:spcAft>
              <a:buFont typeface="Courier New" panose="02070309020205020404" pitchFamily="49" charset="0"/>
              <a:buChar char="o"/>
            </a:pPr>
            <a:r>
              <a:rPr lang="en-US" sz="882" b="0" i="0" u="none" strike="noStrike" kern="1200" dirty="0">
                <a:solidFill>
                  <a:srgbClr val="000000"/>
                </a:solidFill>
                <a:effectLst/>
                <a:latin typeface="Segoe UI" panose="020B0502040204020203" pitchFamily="34" charset="0"/>
                <a:ea typeface="+mn-ea"/>
                <a:cs typeface="+mn-cs"/>
              </a:rPr>
              <a:t>Groups​</a:t>
            </a:r>
          </a:p>
          <a:p>
            <a:pPr marL="171450" lvl="0" indent="-171450" algn="l" rtl="0" fontAlgn="base">
              <a:buFont typeface="Arial" panose="020B0604020202020204" pitchFamily="34" charset="0"/>
              <a:buChar char="•"/>
            </a:pPr>
            <a:r>
              <a:rPr lang="en-US" b="0" i="0" u="none" strike="noStrike" dirty="0">
                <a:solidFill>
                  <a:srgbClr val="000000"/>
                </a:solidFill>
                <a:effectLst/>
                <a:latin typeface="Segoe UI" panose="020B0502040204020203" pitchFamily="34" charset="0"/>
              </a:rPr>
              <a:t>SQL Server Principals: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4250" lvl="1" indent="-171450" algn="l" defTabSz="914367" rtl="0" eaLnBrk="1" fontAlgn="base" latinLnBrk="0" hangingPunct="1">
              <a:lnSpc>
                <a:spcPct val="90000"/>
              </a:lnSpc>
              <a:spcAft>
                <a:spcPts val="333"/>
              </a:spcAft>
              <a:buFont typeface="Courier New" panose="02070309020205020404" pitchFamily="49" charset="0"/>
              <a:buChar char="o"/>
            </a:pPr>
            <a:r>
              <a:rPr lang="en-US" sz="882" b="0" i="0" u="none" strike="noStrike" kern="1200" dirty="0">
                <a:solidFill>
                  <a:srgbClr val="000000"/>
                </a:solidFill>
                <a:effectLst/>
                <a:latin typeface="Segoe UI" panose="020B0502040204020203" pitchFamily="34" charset="0"/>
                <a:ea typeface="+mn-ea"/>
                <a:cs typeface="+mn-cs"/>
              </a:rPr>
              <a:t>SQL Server login (an individual account in the master database/users)​</a:t>
            </a:r>
          </a:p>
          <a:p>
            <a:pPr marL="344250" lvl="1" indent="-171450" algn="l" defTabSz="914367" rtl="0" eaLnBrk="1" fontAlgn="base" latinLnBrk="0" hangingPunct="1">
              <a:lnSpc>
                <a:spcPct val="90000"/>
              </a:lnSpc>
              <a:spcAft>
                <a:spcPts val="333"/>
              </a:spcAft>
              <a:buFont typeface="Courier New" panose="02070309020205020404" pitchFamily="49" charset="0"/>
              <a:buChar char="o"/>
            </a:pPr>
            <a:r>
              <a:rPr lang="en-US" sz="882" b="0" i="0" u="none" strike="noStrike" kern="1200" dirty="0">
                <a:solidFill>
                  <a:srgbClr val="000000"/>
                </a:solidFill>
                <a:effectLst/>
                <a:latin typeface="Segoe UI" panose="020B0502040204020203" pitchFamily="34" charset="0"/>
                <a:ea typeface="+mn-ea"/>
                <a:cs typeface="+mn-cs"/>
              </a:rPr>
              <a:t>Server role​</a:t>
            </a:r>
          </a:p>
          <a:p>
            <a:pPr marL="171450" indent="-171450" algn="l" rtl="0" fontAlgn="base">
              <a:buFont typeface="Arial" panose="020B0604020202020204" pitchFamily="34" charset="0"/>
              <a:buChar char="•"/>
            </a:pPr>
            <a:r>
              <a:rPr lang="en-US" b="0" i="0" u="none" strike="noStrike" dirty="0">
                <a:solidFill>
                  <a:srgbClr val="000000"/>
                </a:solidFill>
                <a:effectLst/>
                <a:latin typeface="Segoe UI" panose="020B0502040204020203" pitchFamily="34" charset="0"/>
              </a:rPr>
              <a:t>Database Principals: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4250" lvl="1" indent="-171450" algn="l" defTabSz="914367" rtl="0" eaLnBrk="1" fontAlgn="base" latinLnBrk="0" hangingPunct="1">
              <a:lnSpc>
                <a:spcPct val="90000"/>
              </a:lnSpc>
              <a:spcAft>
                <a:spcPts val="333"/>
              </a:spcAft>
              <a:buFont typeface="Courier New" panose="02070309020205020404" pitchFamily="49" charset="0"/>
              <a:buChar char="o"/>
            </a:pPr>
            <a:r>
              <a:rPr lang="en-US" sz="882" b="0" i="0" u="none" strike="noStrike" kern="1200" dirty="0">
                <a:solidFill>
                  <a:srgbClr val="000000"/>
                </a:solidFill>
                <a:effectLst/>
                <a:latin typeface="Segoe UI" panose="020B0502040204020203" pitchFamily="34" charset="0"/>
                <a:ea typeface="+mn-ea"/>
                <a:cs typeface="+mn-cs"/>
              </a:rPr>
              <a:t>User​</a:t>
            </a:r>
          </a:p>
          <a:p>
            <a:pPr marL="344250" lvl="1" indent="-171450" algn="l" defTabSz="914367" rtl="0" eaLnBrk="1" fontAlgn="base" latinLnBrk="0" hangingPunct="1">
              <a:lnSpc>
                <a:spcPct val="90000"/>
              </a:lnSpc>
              <a:spcAft>
                <a:spcPts val="333"/>
              </a:spcAft>
              <a:buFont typeface="Courier New" panose="02070309020205020404" pitchFamily="49" charset="0"/>
              <a:buChar char="o"/>
            </a:pPr>
            <a:r>
              <a:rPr lang="en-US" sz="882" b="0" i="0" u="none" strike="noStrike" kern="1200" dirty="0">
                <a:solidFill>
                  <a:srgbClr val="000000"/>
                </a:solidFill>
                <a:effectLst/>
                <a:latin typeface="Segoe UI" panose="020B0502040204020203" pitchFamily="34" charset="0"/>
                <a:ea typeface="+mn-ea"/>
                <a:cs typeface="+mn-cs"/>
              </a:rPr>
              <a:t>Database role​</a:t>
            </a:r>
          </a:p>
          <a:p>
            <a:pPr marL="344250" lvl="1" indent="-171450" algn="l" defTabSz="914367" rtl="0" eaLnBrk="1" fontAlgn="base" latinLnBrk="0" hangingPunct="1">
              <a:lnSpc>
                <a:spcPct val="90000"/>
              </a:lnSpc>
              <a:spcAft>
                <a:spcPts val="333"/>
              </a:spcAft>
              <a:buFont typeface="Courier New" panose="02070309020205020404" pitchFamily="49" charset="0"/>
              <a:buChar char="o"/>
            </a:pPr>
            <a:r>
              <a:rPr lang="en-US" sz="882" b="0" i="0" u="none" strike="noStrike" kern="1200" dirty="0">
                <a:solidFill>
                  <a:srgbClr val="000000"/>
                </a:solidFill>
                <a:effectLst/>
                <a:latin typeface="Segoe UI" panose="020B0502040204020203" pitchFamily="34" charset="0"/>
                <a:ea typeface="+mn-ea"/>
                <a:cs typeface="+mn-cs"/>
              </a:rPr>
              <a:t>Application role​</a:t>
            </a:r>
            <a:endParaRPr lang="en-GB" sz="900" kern="0" dirty="0">
              <a:solidFill>
                <a:srgbClr val="000000"/>
              </a:solidFill>
            </a:endParaRP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A16D6E3-E56A-4234-8FF0-8EEFBD79879C}"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819292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9C017C8D-A182-47FB-95EF-8B30A09C34DD}"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367220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900" dirty="0" err="1">
                <a:solidFill>
                  <a:schemeClr val="tx1"/>
                </a:solidFill>
              </a:rPr>
              <a:t>Securables</a:t>
            </a:r>
            <a:r>
              <a:rPr lang="en-US" sz="900" dirty="0">
                <a:solidFill>
                  <a:schemeClr val="tx1"/>
                </a:solidFill>
              </a:rPr>
              <a:t> in Azure SQL Database only have the </a:t>
            </a:r>
            <a:r>
              <a:rPr lang="en-US" sz="900" u="sng" dirty="0">
                <a:solidFill>
                  <a:schemeClr val="tx1"/>
                </a:solidFill>
              </a:rPr>
              <a:t>database</a:t>
            </a:r>
            <a:r>
              <a:rPr lang="en-US" sz="900" dirty="0">
                <a:solidFill>
                  <a:schemeClr val="tx1"/>
                </a:solidFill>
              </a:rPr>
              <a:t> and </a:t>
            </a:r>
            <a:r>
              <a:rPr lang="en-US" sz="900" u="sng" dirty="0">
                <a:solidFill>
                  <a:schemeClr val="tx1"/>
                </a:solidFill>
              </a:rPr>
              <a:t>schema</a:t>
            </a:r>
            <a:r>
              <a:rPr lang="en-US" sz="900" dirty="0">
                <a:solidFill>
                  <a:schemeClr val="tx1"/>
                </a:solidFill>
              </a:rPr>
              <a:t> scopes.</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FCB7B868-875E-4BD0-9064-5A40670ABADF}"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73622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No matter the mode of authentication that is used, a login name used to access your SQL database is setup as a login within the instance. Those logins are setup at the instance level of SQL Server and stored in the master database. However, you can configure contained users which are added at the database level. These users can be configured as SQL Server Authentication users as well as either Windows Authentication users or </a:t>
            </a:r>
            <a:r>
              <a:rPr lang="en-GB" sz="880" kern="1200" dirty="0">
                <a:solidFill>
                  <a:schemeClr val="tx1"/>
                </a:solidFill>
                <a:effectLst/>
                <a:latin typeface="Segoe UI" panose="020B0502040204020203" pitchFamily="34" charset="0"/>
                <a:ea typeface="+mn-ea"/>
                <a:cs typeface="Segoe UI" panose="020B0502040204020203" pitchFamily="34" charset="0"/>
              </a:rPr>
              <a:t>Microsoft </a:t>
            </a:r>
            <a:r>
              <a:rPr lang="en-GB" sz="880" kern="1200" dirty="0" err="1">
                <a:solidFill>
                  <a:schemeClr val="tx1"/>
                </a:solidFill>
                <a:effectLst/>
                <a:latin typeface="Segoe UI" panose="020B0502040204020203" pitchFamily="34" charset="0"/>
                <a:ea typeface="+mn-ea"/>
                <a:cs typeface="Segoe UI" panose="020B0502040204020203" pitchFamily="34" charset="0"/>
              </a:rPr>
              <a:t>Entra</a:t>
            </a:r>
            <a:r>
              <a:rPr lang="en-US" sz="880" kern="1200" dirty="0">
                <a:solidFill>
                  <a:schemeClr val="tx1"/>
                </a:solidFill>
                <a:effectLst/>
                <a:latin typeface="Segoe UI" panose="020B0502040204020203" pitchFamily="34" charset="0"/>
                <a:ea typeface="+mn-ea"/>
                <a:cs typeface="Segoe UI" panose="020B0502040204020203" pitchFamily="34" charset="0"/>
              </a:rPr>
              <a:t> users (depending on which platform you are using). In order to create these users, the database must be configured for partial containment, which is configured by default in Azure SQL Database, and optionally configurable in SQL Server.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pPr algn="l" rtl="0" fontAlgn="base">
              <a:buFont typeface="Arial" panose="020B0604020202020204" pitchFamily="34" charset="0"/>
              <a:buNone/>
            </a:pPr>
            <a:r>
              <a:rPr lang="en-US" sz="880" b="0" i="0" u="none" strike="noStrike" dirty="0">
                <a:solidFill>
                  <a:srgbClr val="000000"/>
                </a:solidFill>
                <a:effectLst/>
                <a:latin typeface="Segoe UI" panose="020B0502040204020203" pitchFamily="34" charset="0"/>
                <a:cs typeface="Segoe UI" panose="020B0502040204020203" pitchFamily="34" charset="0"/>
              </a:rPr>
              <a:t>If logins are created at the instance level in SQL Server, a user should then be created within the user database to map the user to the server-based login </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buFont typeface="Arial" panose="020B0604020202020204" pitchFamily="34" charset="0"/>
              <a:buNone/>
            </a:pP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USE Master </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GO </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CREATE LOGIN demo WITH PASSWORD = 'Pa55.w.rd’ –-server level</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GO </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USE </a:t>
            </a:r>
            <a:r>
              <a:rPr lang="en-US" sz="880" b="0" i="0" u="none" strike="noStrike" dirty="0" err="1">
                <a:solidFill>
                  <a:srgbClr val="000000"/>
                </a:solidFill>
                <a:effectLst/>
                <a:latin typeface="Segoe UI" panose="020B0502040204020203" pitchFamily="34" charset="0"/>
                <a:cs typeface="Segoe UI" panose="020B0502040204020203" pitchFamily="34" charset="0"/>
              </a:rPr>
              <a:t>WideWorldImporters</a:t>
            </a:r>
            <a:r>
              <a:rPr lang="en-US" sz="880" b="0" i="0" u="none" strike="noStrike" dirty="0">
                <a:solidFill>
                  <a:srgbClr val="000000"/>
                </a:solidFill>
                <a:effectLst/>
                <a:latin typeface="Segoe UI" panose="020B0502040204020203" pitchFamily="34" charset="0"/>
                <a:cs typeface="Segoe UI" panose="020B0502040204020203" pitchFamily="34" charset="0"/>
              </a:rPr>
              <a:t> </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GO </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CREATE USER demo FROM LOGIN demo –database level</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GO </a:t>
            </a:r>
          </a:p>
          <a:p>
            <a:pPr algn="l" rtl="0" fontAlgn="base"/>
            <a:endParaRPr lang="en-US" sz="880" b="0" i="0" u="none" strike="noStrike" dirty="0">
              <a:solidFill>
                <a:srgbClr val="000000"/>
              </a:solidFill>
              <a:effectLst/>
              <a:latin typeface="Segoe UI" panose="020B0502040204020203" pitchFamily="34" charset="0"/>
              <a:cs typeface="Segoe UI" panose="020B0502040204020203" pitchFamily="34" charset="0"/>
            </a:endParaRPr>
          </a:p>
          <a:p>
            <a:pPr marL="0" marR="0" lvl="0" indent="0" algn="l" defTabSz="932742" rtl="0" eaLnBrk="1" fontAlgn="base" latinLnBrk="0" hangingPunct="1">
              <a:lnSpc>
                <a:spcPct val="90000"/>
              </a:lnSpc>
              <a:spcBef>
                <a:spcPts val="0"/>
              </a:spcBef>
              <a:spcAft>
                <a:spcPts val="340"/>
              </a:spcAft>
              <a:buClrTx/>
              <a:buSzTx/>
              <a:buFontTx/>
              <a:buNone/>
              <a:tabLst/>
              <a:defRPr/>
            </a:pPr>
            <a:r>
              <a:rPr lang="en-US" sz="880" b="0" i="0" u="none" strike="noStrike" dirty="0">
                <a:solidFill>
                  <a:srgbClr val="000000"/>
                </a:solidFill>
                <a:effectLst/>
                <a:latin typeface="Segoe UI" panose="020B0502040204020203" pitchFamily="34" charset="0"/>
                <a:cs typeface="Segoe UI" panose="020B0502040204020203" pitchFamily="34" charset="0"/>
              </a:rPr>
              <a:t>The user is an </a:t>
            </a:r>
            <a:r>
              <a:rPr lang="en-GB" sz="880" kern="1200" dirty="0">
                <a:solidFill>
                  <a:schemeClr val="tx1"/>
                </a:solidFill>
                <a:effectLst/>
                <a:latin typeface="Segoe UI" panose="020B0502040204020203" pitchFamily="34" charset="0"/>
                <a:ea typeface="+mn-ea"/>
                <a:cs typeface="Segoe UI" panose="020B0502040204020203" pitchFamily="34" charset="0"/>
              </a:rPr>
              <a:t>Microsoft </a:t>
            </a:r>
            <a:r>
              <a:rPr lang="en-GB" sz="880" kern="1200" dirty="0" err="1">
                <a:solidFill>
                  <a:schemeClr val="tx1"/>
                </a:solidFill>
                <a:effectLst/>
                <a:latin typeface="Segoe UI" panose="020B0502040204020203" pitchFamily="34" charset="0"/>
                <a:ea typeface="+mn-ea"/>
                <a:cs typeface="Segoe UI" panose="020B0502040204020203" pitchFamily="34" charset="0"/>
              </a:rPr>
              <a:t>Entra</a:t>
            </a:r>
            <a:r>
              <a:rPr lang="en-GB" sz="880" kern="1200" dirty="0">
                <a:solidFill>
                  <a:schemeClr val="tx1"/>
                </a:solidFill>
                <a:effectLst/>
                <a:latin typeface="Segoe UI" panose="020B0502040204020203" pitchFamily="34" charset="0"/>
                <a:ea typeface="+mn-ea"/>
                <a:cs typeface="Segoe UI" panose="020B0502040204020203" pitchFamily="34" charset="0"/>
              </a:rPr>
              <a:t> u</a:t>
            </a:r>
            <a:r>
              <a:rPr lang="en-US" sz="880" b="0" i="0" u="none" strike="noStrike" dirty="0">
                <a:solidFill>
                  <a:srgbClr val="000000"/>
                </a:solidFill>
                <a:effectLst/>
                <a:latin typeface="Segoe UI" panose="020B0502040204020203" pitchFamily="34" charset="0"/>
                <a:cs typeface="Segoe UI" panose="020B0502040204020203" pitchFamily="34" charset="0"/>
              </a:rPr>
              <a:t>ser as indicated with the FROM EXTERNAL PROVIDER syntax. </a:t>
            </a:r>
            <a:endParaRPr lang="en-US" sz="880" b="0" i="0" dirty="0">
              <a:solidFill>
                <a:srgbClr val="000000"/>
              </a:solidFill>
              <a:effectLst/>
              <a:latin typeface="Segoe UI" panose="020B0502040204020203" pitchFamily="34" charset="0"/>
              <a:cs typeface="Segoe UI" panose="020B0502040204020203" pitchFamily="34" charset="0"/>
            </a:endParaRPr>
          </a:p>
          <a:p>
            <a:pPr algn="l" rtl="0" fontAlgn="base"/>
            <a:endParaRPr lang="en-US" sz="880" b="0" i="0" u="none" strike="noStrike" dirty="0">
              <a:solidFill>
                <a:srgbClr val="000000"/>
              </a:solidFill>
              <a:effectLst/>
              <a:latin typeface="Segoe UI" panose="020B0502040204020203" pitchFamily="34" charset="0"/>
              <a:cs typeface="Segoe UI" panose="020B0502040204020203" pitchFamily="34" charset="0"/>
            </a:endParaRPr>
          </a:p>
          <a:p>
            <a:pPr algn="l" rtl="0" fontAlgn="base">
              <a:buFont typeface="Arial" panose="020B0604020202020204" pitchFamily="34" charset="0"/>
              <a:buNone/>
            </a:pPr>
            <a:r>
              <a:rPr lang="en-US" sz="880" b="0" i="0" u="none" strike="noStrike" dirty="0">
                <a:solidFill>
                  <a:srgbClr val="000000"/>
                </a:solidFill>
                <a:effectLst/>
                <a:latin typeface="Segoe UI" panose="020B0502040204020203" pitchFamily="34" charset="0"/>
                <a:cs typeface="Segoe UI" panose="020B0502040204020203" pitchFamily="34" charset="0"/>
              </a:rPr>
              <a:t>CREATE USER [dba@contoso.com] FROM EXTERNAL PROVIDER; GO </a:t>
            </a:r>
            <a:r>
              <a:rPr lang="en-US" sz="880" b="0" i="0" dirty="0">
                <a:solidFill>
                  <a:srgbClr val="000000"/>
                </a:solidFill>
                <a:effectLst/>
                <a:latin typeface="Segoe UI" panose="020B0502040204020203" pitchFamily="34" charset="0"/>
                <a:cs typeface="Segoe UI" panose="020B0502040204020203" pitchFamily="34" charset="0"/>
              </a:rPr>
              <a:t>​​</a:t>
            </a:r>
          </a:p>
          <a:p>
            <a:pPr algn="l" rtl="0" fontAlgn="base"/>
            <a:endParaRPr lang="en-US" sz="880" b="0" i="1" dirty="0">
              <a:solidFill>
                <a:srgbClr val="000000"/>
              </a:solidFill>
              <a:effectLst/>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7CA5B423-1CE0-487B-8081-74105AD6B98C}"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2783218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880" b="0" i="0" u="sng" strike="noStrike" dirty="0">
                <a:solidFill>
                  <a:srgbClr val="0078D4"/>
                </a:solidFill>
                <a:effectLst/>
                <a:latin typeface="Segoe UI" panose="020B0502040204020203" pitchFamily="34" charset="0"/>
                <a:cs typeface="Segoe UI" panose="020B0502040204020203" pitchFamily="34" charset="0"/>
                <a:hlinkClick r:id="rId3"/>
              </a:rPr>
              <a:t>Server-Level Roles - SQL Server | Microsoft Docs</a:t>
            </a:r>
            <a:r>
              <a:rPr lang="en-US" sz="880" b="0" i="0" u="none" strike="noStrike" dirty="0">
                <a:solidFill>
                  <a:srgbClr val="000000"/>
                </a:solidFill>
                <a:effectLst/>
                <a:latin typeface="Segoe UI" panose="020B0502040204020203" pitchFamily="34" charset="0"/>
                <a:cs typeface="Segoe UI" panose="020B0502040204020203" pitchFamily="34" charset="0"/>
              </a:rPr>
              <a:t>: https://</a:t>
            </a:r>
            <a:r>
              <a:rPr lang="en-US" altLang="zh-CN" sz="880" dirty="0"/>
              <a:t>learn.microsoft.com</a:t>
            </a:r>
            <a:r>
              <a:rPr lang="en-US" sz="880" b="0" i="0" u="none" strike="noStrike" dirty="0">
                <a:solidFill>
                  <a:srgbClr val="000000"/>
                </a:solidFill>
                <a:effectLst/>
                <a:latin typeface="Segoe UI" panose="020B0502040204020203" pitchFamily="34" charset="0"/>
                <a:cs typeface="Segoe UI" panose="020B0502040204020203" pitchFamily="34" charset="0"/>
              </a:rPr>
              <a:t>/sql/relational-databases/security/authentication-access/server-level-roles</a:t>
            </a:r>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0" i="0" dirty="0">
                <a:solidFill>
                  <a:srgbClr val="444444"/>
                </a:solidFill>
                <a:effectLst/>
                <a:latin typeface="Segoe UI" panose="020B0502040204020203" pitchFamily="34" charset="0"/>
                <a:cs typeface="Segoe UI" panose="020B0502040204020203" pitchFamily="34" charset="0"/>
              </a:rPr>
              <a:t>​</a:t>
            </a:r>
          </a:p>
          <a:p>
            <a:pPr algn="l" rtl="0" fontAlgn="base"/>
            <a:r>
              <a:rPr lang="en-US" sz="880" b="1" i="0" dirty="0" err="1">
                <a:solidFill>
                  <a:srgbClr val="444444"/>
                </a:solidFill>
                <a:effectLst/>
                <a:latin typeface="Segoe UI" panose="020B0502040204020203" pitchFamily="34" charset="0"/>
                <a:cs typeface="Segoe UI" panose="020B0502040204020203" pitchFamily="34" charset="0"/>
              </a:rPr>
              <a:t>Bulkadmin</a:t>
            </a:r>
            <a:r>
              <a:rPr lang="en-US" sz="880" b="1" i="0" dirty="0">
                <a:solidFill>
                  <a:srgbClr val="444444"/>
                </a:solidFill>
                <a:effectLst/>
                <a:latin typeface="Segoe UI" panose="020B0502040204020203" pitchFamily="34" charset="0"/>
                <a:cs typeface="Segoe UI" panose="020B0502040204020203" pitchFamily="34" charset="0"/>
              </a:rPr>
              <a:t>: </a:t>
            </a:r>
            <a:r>
              <a:rPr lang="en-US" sz="880" b="0" i="0" dirty="0">
                <a:solidFill>
                  <a:srgbClr val="444444"/>
                </a:solidFill>
                <a:effectLst/>
                <a:latin typeface="Segoe UI" panose="020B0502040204020203" pitchFamily="34" charset="0"/>
                <a:cs typeface="Segoe UI" panose="020B0502040204020203" pitchFamily="34" charset="0"/>
              </a:rPr>
              <a:t>Can run the BULK INSERT T-SQL statement</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1" i="0" dirty="0" err="1">
                <a:solidFill>
                  <a:srgbClr val="444444"/>
                </a:solidFill>
                <a:effectLst/>
                <a:latin typeface="Segoe UI" panose="020B0502040204020203" pitchFamily="34" charset="0"/>
                <a:cs typeface="Segoe UI" panose="020B0502040204020203" pitchFamily="34" charset="0"/>
              </a:rPr>
              <a:t>Dbcreator</a:t>
            </a:r>
            <a:r>
              <a:rPr lang="en-US" sz="880" b="1" i="0" dirty="0">
                <a:solidFill>
                  <a:srgbClr val="444444"/>
                </a:solidFill>
                <a:effectLst/>
                <a:latin typeface="Segoe UI" panose="020B0502040204020203" pitchFamily="34" charset="0"/>
                <a:cs typeface="Segoe UI" panose="020B0502040204020203" pitchFamily="34" charset="0"/>
              </a:rPr>
              <a:t>: </a:t>
            </a:r>
            <a:r>
              <a:rPr lang="en-US" sz="880" b="0" i="0" dirty="0">
                <a:solidFill>
                  <a:srgbClr val="444444"/>
                </a:solidFill>
                <a:effectLst/>
                <a:latin typeface="Segoe UI" panose="020B0502040204020203" pitchFamily="34" charset="0"/>
                <a:cs typeface="Segoe UI" panose="020B0502040204020203" pitchFamily="34" charset="0"/>
              </a:rPr>
              <a:t>Can create, restore, alter, and drop any database</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1" i="0" dirty="0" err="1">
                <a:solidFill>
                  <a:srgbClr val="444444"/>
                </a:solidFill>
                <a:effectLst/>
                <a:latin typeface="Segoe UI" panose="020B0502040204020203" pitchFamily="34" charset="0"/>
                <a:cs typeface="Segoe UI" panose="020B0502040204020203" pitchFamily="34" charset="0"/>
              </a:rPr>
              <a:t>Diskadmin</a:t>
            </a:r>
            <a:r>
              <a:rPr lang="en-US" sz="880" b="1" i="0" dirty="0">
                <a:solidFill>
                  <a:srgbClr val="444444"/>
                </a:solidFill>
                <a:effectLst/>
                <a:latin typeface="Segoe UI" panose="020B0502040204020203" pitchFamily="34" charset="0"/>
                <a:cs typeface="Segoe UI" panose="020B0502040204020203" pitchFamily="34" charset="0"/>
              </a:rPr>
              <a:t>: </a:t>
            </a:r>
            <a:r>
              <a:rPr lang="en-US" sz="880" b="0" i="0" dirty="0">
                <a:solidFill>
                  <a:srgbClr val="444444"/>
                </a:solidFill>
                <a:effectLst/>
                <a:latin typeface="Segoe UI" panose="020B0502040204020203" pitchFamily="34" charset="0"/>
                <a:cs typeface="Segoe UI" panose="020B0502040204020203" pitchFamily="34" charset="0"/>
              </a:rPr>
              <a:t>Can manage backup devices in SQL Server</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1" i="0" dirty="0" err="1">
                <a:solidFill>
                  <a:srgbClr val="444444"/>
                </a:solidFill>
                <a:effectLst/>
                <a:latin typeface="Segoe UI" panose="020B0502040204020203" pitchFamily="34" charset="0"/>
                <a:cs typeface="Segoe UI" panose="020B0502040204020203" pitchFamily="34" charset="0"/>
              </a:rPr>
              <a:t>Processadmin</a:t>
            </a:r>
            <a:r>
              <a:rPr lang="en-US" sz="880" b="1" i="0" dirty="0">
                <a:solidFill>
                  <a:srgbClr val="444444"/>
                </a:solidFill>
                <a:effectLst/>
                <a:latin typeface="Segoe UI" panose="020B0502040204020203" pitchFamily="34" charset="0"/>
                <a:cs typeface="Segoe UI" panose="020B0502040204020203" pitchFamily="34" charset="0"/>
              </a:rPr>
              <a:t>: </a:t>
            </a:r>
            <a:r>
              <a:rPr lang="en-US" sz="880" b="0" i="0" dirty="0">
                <a:solidFill>
                  <a:srgbClr val="444444"/>
                </a:solidFill>
                <a:effectLst/>
                <a:latin typeface="Segoe UI" panose="020B0502040204020203" pitchFamily="34" charset="0"/>
                <a:cs typeface="Segoe UI" panose="020B0502040204020203" pitchFamily="34" charset="0"/>
              </a:rPr>
              <a:t>Can kill processes running inside of SQL Server</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1" i="0" dirty="0">
                <a:solidFill>
                  <a:srgbClr val="444444"/>
                </a:solidFill>
                <a:effectLst/>
                <a:latin typeface="Segoe UI" panose="020B0502040204020203" pitchFamily="34" charset="0"/>
                <a:cs typeface="Segoe UI" panose="020B0502040204020203" pitchFamily="34" charset="0"/>
              </a:rPr>
              <a:t>Public: </a:t>
            </a:r>
            <a:r>
              <a:rPr lang="en-US" sz="880" b="0" i="0" dirty="0">
                <a:solidFill>
                  <a:srgbClr val="444444"/>
                </a:solidFill>
                <a:effectLst/>
                <a:latin typeface="Segoe UI" panose="020B0502040204020203" pitchFamily="34" charset="0"/>
                <a:cs typeface="Segoe UI" panose="020B0502040204020203" pitchFamily="34" charset="0"/>
              </a:rPr>
              <a:t>Every SQL Server login belongs to the public user role. Unlike the other fixed server roles, permissions can be granted, denied, or revoked from the public role</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1" i="0" dirty="0" err="1">
                <a:solidFill>
                  <a:srgbClr val="444444"/>
                </a:solidFill>
                <a:effectLst/>
                <a:latin typeface="Segoe UI" panose="020B0502040204020203" pitchFamily="34" charset="0"/>
                <a:cs typeface="Segoe UI" panose="020B0502040204020203" pitchFamily="34" charset="0"/>
              </a:rPr>
              <a:t>Securityadmin</a:t>
            </a:r>
            <a:r>
              <a:rPr lang="en-US" sz="880" b="1" i="0" dirty="0">
                <a:solidFill>
                  <a:srgbClr val="444444"/>
                </a:solidFill>
                <a:effectLst/>
                <a:latin typeface="Segoe UI" panose="020B0502040204020203" pitchFamily="34" charset="0"/>
                <a:cs typeface="Segoe UI" panose="020B0502040204020203" pitchFamily="34" charset="0"/>
              </a:rPr>
              <a:t>: </a:t>
            </a:r>
            <a:r>
              <a:rPr lang="en-US" sz="880" b="0" i="0" dirty="0">
                <a:solidFill>
                  <a:srgbClr val="444444"/>
                </a:solidFill>
                <a:effectLst/>
                <a:latin typeface="Segoe UI" panose="020B0502040204020203" pitchFamily="34" charset="0"/>
                <a:cs typeface="Segoe UI" panose="020B0502040204020203" pitchFamily="34" charset="0"/>
              </a:rPr>
              <a:t>Can manage logins and their properties (for example, changing the password of a login). This role should be treated as being equivalent to the sysadmin role</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1" i="0" dirty="0" err="1">
                <a:solidFill>
                  <a:srgbClr val="444444"/>
                </a:solidFill>
                <a:effectLst/>
                <a:latin typeface="Segoe UI" panose="020B0502040204020203" pitchFamily="34" charset="0"/>
                <a:cs typeface="Segoe UI" panose="020B0502040204020203" pitchFamily="34" charset="0"/>
              </a:rPr>
              <a:t>Serveradmin</a:t>
            </a:r>
            <a:r>
              <a:rPr lang="en-US" sz="880" b="1" i="0" dirty="0">
                <a:solidFill>
                  <a:srgbClr val="444444"/>
                </a:solidFill>
                <a:effectLst/>
                <a:latin typeface="Segoe UI" panose="020B0502040204020203" pitchFamily="34" charset="0"/>
                <a:cs typeface="Segoe UI" panose="020B0502040204020203" pitchFamily="34" charset="0"/>
              </a:rPr>
              <a:t>: </a:t>
            </a:r>
            <a:r>
              <a:rPr lang="en-US" sz="880" b="0" i="0" dirty="0">
                <a:solidFill>
                  <a:srgbClr val="444444"/>
                </a:solidFill>
                <a:effectLst/>
                <a:latin typeface="Segoe UI" panose="020B0502040204020203" pitchFamily="34" charset="0"/>
                <a:cs typeface="Segoe UI" panose="020B0502040204020203" pitchFamily="34" charset="0"/>
              </a:rPr>
              <a:t>Can change server-wide configuration settings (for example Max Server Memory) and can shutdown the server</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1" i="0" dirty="0" err="1">
                <a:solidFill>
                  <a:srgbClr val="444444"/>
                </a:solidFill>
                <a:effectLst/>
                <a:latin typeface="Segoe UI" panose="020B0502040204020203" pitchFamily="34" charset="0"/>
                <a:cs typeface="Segoe UI" panose="020B0502040204020203" pitchFamily="34" charset="0"/>
              </a:rPr>
              <a:t>Setupadmin</a:t>
            </a:r>
            <a:r>
              <a:rPr lang="en-US" sz="880" b="1" i="0" dirty="0">
                <a:solidFill>
                  <a:srgbClr val="444444"/>
                </a:solidFill>
                <a:effectLst/>
                <a:latin typeface="Segoe UI" panose="020B0502040204020203" pitchFamily="34" charset="0"/>
                <a:cs typeface="Segoe UI" panose="020B0502040204020203" pitchFamily="34" charset="0"/>
              </a:rPr>
              <a:t>: </a:t>
            </a:r>
            <a:r>
              <a:rPr lang="en-US" sz="880" b="0" i="0" dirty="0">
                <a:solidFill>
                  <a:srgbClr val="444444"/>
                </a:solidFill>
                <a:effectLst/>
                <a:latin typeface="Segoe UI" panose="020B0502040204020203" pitchFamily="34" charset="0"/>
                <a:cs typeface="Segoe UI" panose="020B0502040204020203" pitchFamily="34" charset="0"/>
              </a:rPr>
              <a:t>Can add and remove linked servers using T-SQL</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1" i="0" dirty="0">
                <a:solidFill>
                  <a:srgbClr val="444444"/>
                </a:solidFill>
                <a:effectLst/>
                <a:latin typeface="Segoe UI" panose="020B0502040204020203" pitchFamily="34" charset="0"/>
                <a:cs typeface="Segoe UI" panose="020B0502040204020203" pitchFamily="34" charset="0"/>
              </a:rPr>
              <a:t>Sysadmin: </a:t>
            </a:r>
            <a:r>
              <a:rPr lang="en-US" sz="880" b="0" i="0" dirty="0">
                <a:solidFill>
                  <a:srgbClr val="444444"/>
                </a:solidFill>
                <a:effectLst/>
                <a:latin typeface="Segoe UI" panose="020B0502040204020203" pitchFamily="34" charset="0"/>
                <a:cs typeface="Segoe UI" panose="020B0502040204020203" pitchFamily="34" charset="0"/>
              </a:rPr>
              <a:t>Can perform any activity on the server</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In addition to database roles, SQL Server and Azure SQL Managed Instance both provide several fixed server roles. These roles assign permissions at the scope of the entire server. Server level principals, which include SQL Server logins, Windows accounts, and Windows group can be added into fixed server roles. The permissions for fixed server roles are predefined, and no new server roles can be added. The fixed server roles are: </a:t>
            </a:r>
            <a:r>
              <a:rPr lang="en-US" sz="880" b="0" i="0" dirty="0">
                <a:solidFill>
                  <a:srgbClr val="444444"/>
                </a:solidFill>
                <a:effectLst/>
                <a:latin typeface="Segoe UI" panose="020B0502040204020203" pitchFamily="34" charset="0"/>
                <a:cs typeface="Segoe UI" panose="020B0502040204020203" pitchFamily="34" charset="0"/>
              </a:rPr>
              <a:t>​</a:t>
            </a: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C2581037-9C69-4FCF-B85D-522A548C6869}"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0" kern="1200" dirty="0">
                <a:solidFill>
                  <a:schemeClr val="tx1"/>
                </a:solidFill>
                <a:effectLst/>
                <a:latin typeface="Segoe UI" panose="020B0502040204020203" pitchFamily="34" charset="0"/>
                <a:ea typeface="+mn-ea"/>
                <a:cs typeface="Segoe UI" panose="020B0502040204020203" pitchFamily="34" charset="0"/>
              </a:rPr>
              <a:t>As you can imagine, database security can get quite complicated for applications with many users and trying to manage permissions on a per user level. In order to make this easier for both administrators and auditors, most database applications use role-based security. Roles are effectively security groups that share a common set of permissions. This allows a set of roles to be created for a given application. Some examples of roles would be administrators who had full access to all of the databases and servers, reporting users who only read the database, and an application account that had access to write data into the database. The roles can be defined when the application is designed, and then users can be assigned to those roles as they need access to the database. Role based access control or RBAC is a common architecture across computer systems and is how authorization is managed in Azure Resource Manager.</a:t>
            </a:r>
          </a:p>
          <a:p>
            <a:r>
              <a:rPr lang="en-US" sz="880" kern="1200" dirty="0">
                <a:solidFill>
                  <a:schemeClr val="tx1"/>
                </a:solidFill>
                <a:effectLst/>
                <a:latin typeface="Segoe UI" panose="020B0502040204020203" pitchFamily="34" charset="0"/>
                <a:ea typeface="+mn-ea"/>
                <a:cs typeface="Segoe UI" panose="020B0502040204020203" pitchFamily="34" charset="0"/>
              </a:rPr>
              <a:t>SQL Server and Azure SQL Database both include built-in roles that are defined by Microsoft, and the option to create custom roles. Custom roles can be created at the server or database level, however server roles cannot be granted access to objects within a database directly. Server roles are only available in SQL Server and Azure SQL Managed Instance.</a:t>
            </a: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A7043644-BB46-4102-92EF-0288D724DDDC}"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0" b="1" dirty="0" err="1">
                <a:latin typeface="Segoe UI" panose="020B0502040204020203" pitchFamily="34" charset="0"/>
                <a:cs typeface="Segoe UI" panose="020B0502040204020203" pitchFamily="34" charset="0"/>
              </a:rPr>
              <a:t>db_owner</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 perform all configuration and maintenance activities on the database, and can also drop the database in SQL Server. (In SQL Database and Azure Synapse, some maintenance activities require server-level permissions and cannot be performed by </a:t>
            </a:r>
            <a:r>
              <a:rPr lang="en-US" sz="880" dirty="0" err="1">
                <a:latin typeface="Segoe UI" panose="020B0502040204020203" pitchFamily="34" charset="0"/>
                <a:cs typeface="Segoe UI" panose="020B0502040204020203" pitchFamily="34" charset="0"/>
              </a:rPr>
              <a:t>db_owners</a:t>
            </a:r>
            <a:r>
              <a:rPr lang="en-US" sz="880" dirty="0">
                <a:latin typeface="Segoe UI" panose="020B0502040204020203" pitchFamily="34" charset="0"/>
                <a:cs typeface="Segoe UI" panose="020B0502040204020203" pitchFamily="34" charset="0"/>
              </a:rPr>
              <a:t>.)</a:t>
            </a:r>
          </a:p>
          <a:p>
            <a:endParaRPr lang="en-US" sz="880" dirty="0">
              <a:latin typeface="Segoe UI" panose="020B0502040204020203" pitchFamily="34" charset="0"/>
              <a:cs typeface="Segoe UI" panose="020B0502040204020203" pitchFamily="34" charset="0"/>
            </a:endParaRPr>
          </a:p>
          <a:p>
            <a:r>
              <a:rPr lang="en-US" sz="880" b="1" dirty="0" err="1">
                <a:latin typeface="Segoe UI" panose="020B0502040204020203" pitchFamily="34" charset="0"/>
                <a:cs typeface="Segoe UI" panose="020B0502040204020203" pitchFamily="34" charset="0"/>
              </a:rPr>
              <a:t>db_securityadmin</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 modify role membership for custom roles only and manage permissions. Members of this role can potentially elevate their privileges and their actions should be monitored.</a:t>
            </a:r>
          </a:p>
          <a:p>
            <a:endParaRPr lang="en-US" sz="880" dirty="0">
              <a:latin typeface="Segoe UI" panose="020B0502040204020203" pitchFamily="34" charset="0"/>
              <a:cs typeface="Segoe UI" panose="020B0502040204020203" pitchFamily="34" charset="0"/>
            </a:endParaRPr>
          </a:p>
          <a:p>
            <a:r>
              <a:rPr lang="en-US" sz="880" b="1" dirty="0" err="1">
                <a:latin typeface="Segoe UI" panose="020B0502040204020203" pitchFamily="34" charset="0"/>
                <a:cs typeface="Segoe UI" panose="020B0502040204020203" pitchFamily="34" charset="0"/>
              </a:rPr>
              <a:t>db_accessadmin</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 add or remove access to the database for Windows logins, Windows groups, and SQL Server logins.</a:t>
            </a:r>
          </a:p>
          <a:p>
            <a:endParaRPr lang="en-US" sz="880" dirty="0">
              <a:latin typeface="Segoe UI" panose="020B0502040204020203" pitchFamily="34" charset="0"/>
              <a:cs typeface="Segoe UI" panose="020B0502040204020203" pitchFamily="34" charset="0"/>
            </a:endParaRPr>
          </a:p>
          <a:p>
            <a:r>
              <a:rPr lang="en-US" sz="880" b="1" dirty="0" err="1">
                <a:latin typeface="Segoe UI" panose="020B0502040204020203" pitchFamily="34" charset="0"/>
                <a:cs typeface="Segoe UI" panose="020B0502040204020203" pitchFamily="34" charset="0"/>
              </a:rPr>
              <a:t>db_backupoperator</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 back up the database.</a:t>
            </a:r>
          </a:p>
          <a:p>
            <a:endParaRPr lang="en-US" sz="880" dirty="0">
              <a:latin typeface="Segoe UI" panose="020B0502040204020203" pitchFamily="34" charset="0"/>
              <a:cs typeface="Segoe UI" panose="020B0502040204020203" pitchFamily="34" charset="0"/>
            </a:endParaRPr>
          </a:p>
          <a:p>
            <a:r>
              <a:rPr lang="en-US" sz="880" b="1" dirty="0" err="1">
                <a:latin typeface="Segoe UI" panose="020B0502040204020203" pitchFamily="34" charset="0"/>
                <a:cs typeface="Segoe UI" panose="020B0502040204020203" pitchFamily="34" charset="0"/>
              </a:rPr>
              <a:t>db_ddladmin</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 run any Data Definition Language (DDL) command in a database.</a:t>
            </a:r>
          </a:p>
          <a:p>
            <a:endParaRPr lang="en-US" sz="880" dirty="0">
              <a:latin typeface="Segoe UI" panose="020B0502040204020203" pitchFamily="34" charset="0"/>
              <a:cs typeface="Segoe UI" panose="020B0502040204020203" pitchFamily="34" charset="0"/>
            </a:endParaRPr>
          </a:p>
          <a:p>
            <a:r>
              <a:rPr lang="en-US" sz="880" b="1" dirty="0" err="1">
                <a:latin typeface="Segoe UI" panose="020B0502040204020203" pitchFamily="34" charset="0"/>
                <a:cs typeface="Segoe UI" panose="020B0502040204020203" pitchFamily="34" charset="0"/>
              </a:rPr>
              <a:t>db_datawriter</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 add, delete, or change data in all user tables.</a:t>
            </a:r>
          </a:p>
          <a:p>
            <a:endParaRPr lang="en-US" sz="880" dirty="0">
              <a:latin typeface="Segoe UI" panose="020B0502040204020203" pitchFamily="34" charset="0"/>
              <a:cs typeface="Segoe UI" panose="020B0502040204020203" pitchFamily="34" charset="0"/>
            </a:endParaRPr>
          </a:p>
          <a:p>
            <a:r>
              <a:rPr lang="en-US" sz="880" b="1" dirty="0" err="1">
                <a:latin typeface="Segoe UI" panose="020B0502040204020203" pitchFamily="34" charset="0"/>
                <a:cs typeface="Segoe UI" panose="020B0502040204020203" pitchFamily="34" charset="0"/>
              </a:rPr>
              <a:t>db_datareader</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 read all data from all user tables.</a:t>
            </a:r>
          </a:p>
          <a:p>
            <a:endParaRPr lang="en-US" sz="880" dirty="0">
              <a:latin typeface="Segoe UI" panose="020B0502040204020203" pitchFamily="34" charset="0"/>
              <a:cs typeface="Segoe UI" panose="020B0502040204020203" pitchFamily="34" charset="0"/>
            </a:endParaRPr>
          </a:p>
          <a:p>
            <a:r>
              <a:rPr lang="en-US" sz="880" b="1" dirty="0" err="1">
                <a:latin typeface="Segoe UI" panose="020B0502040204020203" pitchFamily="34" charset="0"/>
                <a:cs typeface="Segoe UI" panose="020B0502040204020203" pitchFamily="34" charset="0"/>
              </a:rPr>
              <a:t>db_denydatawriter</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Cannot add, modify, or delete any data in the user tables within a database.</a:t>
            </a:r>
          </a:p>
          <a:p>
            <a:endParaRPr lang="en-US" sz="880" dirty="0">
              <a:latin typeface="Segoe UI" panose="020B0502040204020203" pitchFamily="34" charset="0"/>
              <a:cs typeface="Segoe UI" panose="020B0502040204020203" pitchFamily="34" charset="0"/>
            </a:endParaRPr>
          </a:p>
          <a:p>
            <a:r>
              <a:rPr lang="en-US" sz="880" b="1" dirty="0" err="1">
                <a:latin typeface="Segoe UI" panose="020B0502040204020203" pitchFamily="34" charset="0"/>
                <a:cs typeface="Segoe UI" panose="020B0502040204020203" pitchFamily="34" charset="0"/>
              </a:rPr>
              <a:t>db_denydatareader</a:t>
            </a:r>
            <a:endParaRPr lang="en-US" sz="880" b="1" dirty="0">
              <a:latin typeface="Segoe UI" panose="020B0502040204020203" pitchFamily="34" charset="0"/>
              <a:cs typeface="Segoe UI" panose="020B0502040204020203" pitchFamily="34" charset="0"/>
            </a:endParaRPr>
          </a:p>
          <a:p>
            <a:r>
              <a:rPr lang="en-US" sz="880" dirty="0">
                <a:latin typeface="Segoe UI" panose="020B0502040204020203" pitchFamily="34" charset="0"/>
                <a:cs typeface="Segoe UI" panose="020B0502040204020203" pitchFamily="34" charset="0"/>
              </a:rPr>
              <a:t>Cannot read any data in the user tables within a database.</a:t>
            </a:r>
          </a:p>
          <a:p>
            <a:endParaRPr lang="en-US" sz="880" dirty="0">
              <a:latin typeface="Segoe UI" panose="020B0502040204020203" pitchFamily="34" charset="0"/>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0" dirty="0">
                <a:latin typeface="Segoe UI" panose="020B0502040204020203" pitchFamily="34" charset="0"/>
                <a:cs typeface="Segoe UI" panose="020B0502040204020203" pitchFamily="34" charset="0"/>
              </a:rPr>
              <a:t>Special roles for Azure SQL Database: </a:t>
            </a:r>
            <a:r>
              <a:rPr lang="en-US" b="0" i="0" dirty="0">
                <a:solidFill>
                  <a:srgbClr val="161616"/>
                </a:solidFill>
                <a:effectLst/>
                <a:latin typeface="Segoe UI" panose="020B0502040204020203" pitchFamily="34" charset="0"/>
              </a:rPr>
              <a:t>These database roles exist only in the virtual </a:t>
            </a:r>
            <a:r>
              <a:rPr lang="en-US" dirty="0"/>
              <a:t>master</a:t>
            </a:r>
            <a:r>
              <a:rPr lang="en-US" b="0" i="0" dirty="0">
                <a:solidFill>
                  <a:srgbClr val="161616"/>
                </a:solidFill>
                <a:effectLst/>
                <a:latin typeface="Segoe UI" panose="020B0502040204020203" pitchFamily="34" charset="0"/>
              </a:rPr>
              <a:t> database. Their permissions are restricted to actions performed in </a:t>
            </a:r>
            <a:r>
              <a:rPr lang="en-US" dirty="0"/>
              <a:t>master</a:t>
            </a:r>
            <a:r>
              <a:rPr lang="en-US" b="0" i="0" dirty="0">
                <a:solidFill>
                  <a:srgbClr val="161616"/>
                </a:solidFill>
                <a:effectLst/>
                <a:latin typeface="Segoe UI" panose="020B0502040204020203" pitchFamily="34" charset="0"/>
              </a:rPr>
              <a:t>. Only database users in </a:t>
            </a:r>
            <a:r>
              <a:rPr lang="en-US" dirty="0"/>
              <a:t>master</a:t>
            </a:r>
            <a:r>
              <a:rPr lang="en-US" b="0" i="0" dirty="0">
                <a:solidFill>
                  <a:srgbClr val="161616"/>
                </a:solidFill>
                <a:effectLst/>
                <a:latin typeface="Segoe UI" panose="020B0502040204020203" pitchFamily="34" charset="0"/>
              </a:rPr>
              <a:t> can be added to these roles. </a:t>
            </a:r>
            <a:endParaRPr lang="en-US"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dirty="0" err="1">
                <a:solidFill>
                  <a:schemeClr val="tx1"/>
                </a:solidFill>
              </a:rPr>
              <a:t>dbmanager</a:t>
            </a:r>
            <a:r>
              <a:rPr lang="en-US" sz="900" dirty="0">
                <a:solidFill>
                  <a:schemeClr val="tx1"/>
                </a:solidFill>
              </a:rPr>
              <a:t> – create and delete databases. Like </a:t>
            </a:r>
            <a:r>
              <a:rPr lang="en-US" sz="900" b="1" dirty="0" err="1">
                <a:solidFill>
                  <a:schemeClr val="tx1"/>
                </a:solidFill>
              </a:rPr>
              <a:t>dbcreator</a:t>
            </a:r>
            <a:r>
              <a:rPr lang="en-US" sz="900" dirty="0">
                <a:solidFill>
                  <a:schemeClr val="tx1"/>
                </a:solidFill>
              </a:rPr>
              <a:t> fixed server role.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dirty="0" err="1">
                <a:solidFill>
                  <a:schemeClr val="tx1"/>
                </a:solidFill>
              </a:rPr>
              <a:t>loginmanager</a:t>
            </a:r>
            <a:r>
              <a:rPr lang="en-US" sz="900" dirty="0">
                <a:solidFill>
                  <a:schemeClr val="tx1"/>
                </a:solidFill>
              </a:rPr>
              <a:t> – create and delete logins in the virtual </a:t>
            </a:r>
            <a:r>
              <a:rPr lang="en-US" sz="900" i="1" dirty="0">
                <a:solidFill>
                  <a:schemeClr val="tx1"/>
                </a:solidFill>
              </a:rPr>
              <a:t>master</a:t>
            </a:r>
            <a:r>
              <a:rPr lang="en-US" sz="900" dirty="0">
                <a:solidFill>
                  <a:schemeClr val="tx1"/>
                </a:solidFill>
              </a:rPr>
              <a:t> database. Like </a:t>
            </a:r>
            <a:r>
              <a:rPr lang="en-US" sz="900" b="1" dirty="0" err="1">
                <a:solidFill>
                  <a:schemeClr val="tx1"/>
                </a:solidFill>
              </a:rPr>
              <a:t>securityadmin</a:t>
            </a:r>
            <a:r>
              <a:rPr lang="en-US" sz="900" dirty="0">
                <a:solidFill>
                  <a:schemeClr val="tx1"/>
                </a:solidFill>
              </a:rPr>
              <a:t> fixed server role. </a:t>
            </a: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6BFD490-518A-451C-8D76-03CE31CE7CA7}"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4047014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880" b="0" i="0" u="sng" strike="noStrike" dirty="0">
                <a:solidFill>
                  <a:srgbClr val="0078D4"/>
                </a:solidFill>
                <a:effectLst/>
                <a:latin typeface="Segoe UI" panose="020B0502040204020203" pitchFamily="34" charset="0"/>
                <a:cs typeface="Segoe UI" panose="020B0502040204020203" pitchFamily="34" charset="0"/>
                <a:hlinkClick r:id="rId3"/>
              </a:rPr>
              <a:t>Permissions (Database Engine) - SQL Server | Microsoft Docs</a:t>
            </a:r>
            <a:r>
              <a:rPr lang="en-US" sz="880" b="0" i="0" u="none" strike="noStrike" dirty="0">
                <a:solidFill>
                  <a:srgbClr val="000000"/>
                </a:solidFill>
                <a:effectLst/>
                <a:latin typeface="Segoe UI" panose="020B0502040204020203" pitchFamily="34" charset="0"/>
                <a:cs typeface="Segoe UI" panose="020B0502040204020203" pitchFamily="34" charset="0"/>
              </a:rPr>
              <a:t>: https://</a:t>
            </a:r>
            <a:r>
              <a:rPr lang="en-US" altLang="zh-CN" sz="880" dirty="0"/>
              <a:t>learn.microsoft.com</a:t>
            </a:r>
            <a:r>
              <a:rPr lang="en-US" sz="880" b="0" i="0" u="none" strike="noStrike" dirty="0">
                <a:solidFill>
                  <a:srgbClr val="000000"/>
                </a:solidFill>
                <a:effectLst/>
                <a:latin typeface="Segoe UI" panose="020B0502040204020203" pitchFamily="34" charset="0"/>
                <a:cs typeface="Segoe UI" panose="020B0502040204020203" pitchFamily="34" charset="0"/>
              </a:rPr>
              <a:t>/sql/relational-databases/security/permissions-database-engine</a:t>
            </a:r>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Right click Database to properties to permissions</a:t>
            </a:r>
            <a:r>
              <a:rPr lang="en-US" sz="880" b="0" i="0" dirty="0">
                <a:solidFill>
                  <a:srgbClr val="444444"/>
                </a:solidFill>
                <a:effectLst/>
                <a:latin typeface="Segoe UI" panose="020B0502040204020203" pitchFamily="34" charset="0"/>
                <a:cs typeface="Segoe UI" panose="020B0502040204020203" pitchFamily="34" charset="0"/>
              </a:rPr>
              <a:t>​</a:t>
            </a:r>
          </a:p>
          <a:p>
            <a:pPr algn="l" rtl="0" fontAlgn="base"/>
            <a:r>
              <a:rPr lang="en-US" sz="880" b="0" i="0" u="none" strike="noStrike" dirty="0">
                <a:solidFill>
                  <a:srgbClr val="000000"/>
                </a:solidFill>
                <a:effectLst/>
                <a:latin typeface="Segoe UI" panose="020B0502040204020203" pitchFamily="34" charset="0"/>
                <a:cs typeface="Segoe UI" panose="020B0502040204020203" pitchFamily="34" charset="0"/>
              </a:rPr>
              <a:t>Right click a Table to properties to permissions</a:t>
            </a:r>
            <a:endParaRPr lang="en-US" sz="880" b="0" i="0" dirty="0">
              <a:solidFill>
                <a:srgbClr val="444444"/>
              </a:solidFill>
              <a:effectLst/>
              <a:latin typeface="Segoe UI" panose="020B0502040204020203" pitchFamily="34" charset="0"/>
              <a:cs typeface="Segoe UI" panose="020B0502040204020203" pitchFamily="34" charset="0"/>
            </a:endParaRPr>
          </a:p>
          <a:p>
            <a:endParaRPr lang="en-GB" sz="880" kern="1200" dirty="0">
              <a:solidFill>
                <a:schemeClr val="tx1"/>
              </a:solidFill>
              <a:effectLst/>
              <a:latin typeface="Segoe UI" panose="020B0502040204020203" pitchFamily="34" charset="0"/>
              <a:ea typeface="+mn-ea"/>
              <a:cs typeface="Segoe UI" panose="020B0502040204020203" pitchFamily="34" charset="0"/>
            </a:endParaRPr>
          </a:p>
          <a:p>
            <a:endParaRPr lang="en-GB"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Tables and views represent the objects where permissions can be granted within a database. Within those tables and views, you can additionally restrict the columns that are accessible to a given security principal (user or login). SQL Server and Azure SQL Database also include row-level security which can be used to further restrict access.</a:t>
            </a:r>
          </a:p>
          <a:p>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SELECT permission when granted will allow the user to view the data within the object (table or view). When denied the user will be prevented from viewing the data within the object.</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INSERT permission when granted will allow the user to insert data within the object. When denied the user will be prevented from inserting data into the object.</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UPDATE permission when granted will allow the user the update data within the object. When denied the user will be prevented from updating data in the object.</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DELETE permission when granted will allow the user to delete data within the object. When denied the user will be prevented from deleting data from the object.</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Azure SQL Database and Microsoft SQL Server have additional permissions which can be granted, revoked or denied as needed.</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CONTROL permission grants all rights to the objects. This allows the user who has this permission to perform any action they wish against the object, including deleting the object.</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REFERENCES permission grants the user the ability to view the foreign keys on the object. </a:t>
            </a:r>
          </a:p>
          <a:p>
            <a:r>
              <a:rPr lang="en-GB" sz="880" kern="1200" dirty="0">
                <a:solidFill>
                  <a:schemeClr val="tx1"/>
                </a:solidFill>
                <a:effectLst/>
                <a:latin typeface="Segoe UI" panose="020B0502040204020203" pitchFamily="34" charset="0"/>
                <a:ea typeface="+mn-ea"/>
                <a:cs typeface="Segoe UI" panose="020B0502040204020203" pitchFamily="34" charset="0"/>
              </a:rPr>
              <a:t>The TAKE OWNERSHIP permission allows the user the ability to take ownership of the object.</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a:t>
            </a:r>
            <a:r>
              <a:rPr lang="en-US" sz="880" kern="1200" dirty="0">
                <a:solidFill>
                  <a:schemeClr val="tx1"/>
                </a:solidFill>
                <a:effectLst/>
                <a:latin typeface="Segoe UI" panose="020B0502040204020203" pitchFamily="34" charset="0"/>
                <a:ea typeface="+mn-ea"/>
                <a:cs typeface="Segoe UI" panose="020B0502040204020203" pitchFamily="34" charset="0"/>
              </a:rPr>
              <a:t>VIEW CHANGE TRACKING permission allows the user the ability to view the change tracking setting for the object.</a:t>
            </a:r>
          </a:p>
          <a:p>
            <a:r>
              <a:rPr lang="en-US" sz="880" kern="1200" dirty="0">
                <a:solidFill>
                  <a:schemeClr val="tx1"/>
                </a:solidFill>
                <a:effectLst/>
                <a:latin typeface="Segoe UI" panose="020B0502040204020203" pitchFamily="34" charset="0"/>
                <a:ea typeface="+mn-ea"/>
                <a:cs typeface="Segoe UI" panose="020B0502040204020203" pitchFamily="34" charset="0"/>
              </a:rPr>
              <a:t>The VIEW DEFINITION permission allows the user the ability to view the definition of the object.</a:t>
            </a:r>
          </a:p>
          <a:p>
            <a:endParaRPr lang="en-US" sz="880" dirty="0">
              <a:latin typeface="Segoe UI" panose="020B0502040204020203" pitchFamily="34" charset="0"/>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Like tables and views, functions and stored procedures there are a variety of permissions which can be granted or denied.</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ALTER permission grants the user the ability to change the schema of the object.</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CONTROL permission grants the user the ability to have all rights to the object.</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GB" sz="880" kern="1200" dirty="0">
                <a:solidFill>
                  <a:schemeClr val="tx1"/>
                </a:solidFill>
                <a:effectLst/>
                <a:latin typeface="Segoe UI" panose="020B0502040204020203" pitchFamily="34" charset="0"/>
                <a:ea typeface="+mn-ea"/>
                <a:cs typeface="Segoe UI" panose="020B0502040204020203" pitchFamily="34" charset="0"/>
              </a:rPr>
              <a:t>The EXECUTE permission grants the user the ability to execute the object.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DB945D2-5F8E-4F86-A8D1-A00BCA1EF11B}"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02EBC6E-E47C-4A24-9B0A-F7DCF38FB7E0}"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701AFF43-1F7C-4AA6-9D4F-5B1CDF3F5E6D}"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0" kern="1200" dirty="0">
                <a:solidFill>
                  <a:schemeClr val="tx1"/>
                </a:solidFill>
                <a:effectLst/>
                <a:latin typeface="Segoe UI" panose="020B0502040204020203" pitchFamily="34" charset="0"/>
                <a:ea typeface="+mn-ea"/>
                <a:cs typeface="Segoe UI" panose="020B0502040204020203" pitchFamily="34" charset="0"/>
              </a:rPr>
              <a:t>The EXECUTE AS [user], or EXECUTE AS [login] (only availably in SQL Server and Azure SQL Managed Instance) commands allow for the user context to be changed. As subsequent commands and statements will be executed using the new context with the permissions granted to that context. </a:t>
            </a:r>
            <a:endParaRPr lang="en-US" sz="880" dirty="0">
              <a:latin typeface="Segoe UI" panose="020B0502040204020203" pitchFamily="34" charset="0"/>
              <a:cs typeface="Segoe UI" panose="020B0502040204020203" pitchFamily="34" charset="0"/>
            </a:endParaRPr>
          </a:p>
          <a:p>
            <a:r>
              <a:rPr lang="en-US" sz="880" kern="1200" dirty="0">
                <a:solidFill>
                  <a:schemeClr val="tx1"/>
                </a:solidFill>
                <a:effectLst/>
                <a:latin typeface="Segoe UI" panose="020B0502040204020203" pitchFamily="34" charset="0"/>
                <a:ea typeface="+mn-ea"/>
                <a:cs typeface="Segoe UI" panose="020B0502040204020203" pitchFamily="34" charset="0"/>
              </a:rPr>
              <a:t>If a user has a permission and the user no longer needs to have that permission, permissions can be removed (either grants or denies) using the REVOKE command. The revoke command will remove any GRANT or DENY permissions for the right specified to the user specified.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EAA71278-06B9-49F0-8EFA-4CA92B355CBA}"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sz="880" b="0" i="0" u="none" strike="noStrike" dirty="0">
                <a:solidFill>
                  <a:srgbClr val="000000"/>
                </a:solidFill>
                <a:effectLst/>
                <a:latin typeface="Segoe UI" panose="020B0502040204020203" pitchFamily="34" charset="0"/>
                <a:cs typeface="Segoe UI" panose="020B0502040204020203" pitchFamily="34" charset="0"/>
              </a:rPr>
              <a:t>Explain to students how ownership chains affect stored procedures and views. Mention that it also applies to functions.</a:t>
            </a:r>
            <a:r>
              <a:rPr lang="en-US" sz="880" b="0" i="0" dirty="0">
                <a:solidFill>
                  <a:srgbClr val="444444"/>
                </a:solidFill>
                <a:effectLst/>
                <a:latin typeface="Segoe UI" panose="020B0502040204020203" pitchFamily="34" charset="0"/>
                <a:cs typeface="Segoe UI" panose="020B0502040204020203" pitchFamily="34" charset="0"/>
              </a:rPr>
              <a:t>​</a:t>
            </a:r>
          </a:p>
          <a:p>
            <a:pPr algn="l" rtl="0" fontAlgn="base"/>
            <a:endParaRPr lang="en-US" sz="880" b="0" i="0" dirty="0">
              <a:solidFill>
                <a:srgbClr val="444444"/>
              </a:solidFill>
              <a:effectLst/>
              <a:latin typeface="Segoe UI" panose="020B0502040204020203" pitchFamily="34" charset="0"/>
              <a:cs typeface="Segoe UI" panose="020B0502040204020203" pitchFamily="34" charset="0"/>
            </a:endParaRPr>
          </a:p>
          <a:p>
            <a:pPr algn="l" rtl="0" fontAlgn="base"/>
            <a:r>
              <a:rPr lang="en-GB" sz="880" b="0" i="0" u="none" strike="noStrike" dirty="0">
                <a:solidFill>
                  <a:srgbClr val="000000"/>
                </a:solidFill>
                <a:effectLst/>
                <a:latin typeface="Segoe UI" panose="020B0502040204020203" pitchFamily="34" charset="0"/>
                <a:cs typeface="Segoe UI" panose="020B0502040204020203" pitchFamily="34" charset="0"/>
              </a:rPr>
              <a:t>Use the graphic on the slide to explain that, with an unbroken ownership chain, User1 only needs permission to access the view. In the upper part of the graphic, because the owner of the view and table are the same user, no further permissions are required. In the lower part of the graphic, the view and table have different owners, so User1 needs explicit permissions on both the view and the table.</a:t>
            </a:r>
            <a:endParaRPr lang="en-US" sz="880" b="0" i="0" dirty="0">
              <a:solidFill>
                <a:srgbClr val="444444"/>
              </a:solidFill>
              <a:effectLst/>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A00DCBA8-72A1-46CB-BD81-D7ED1FFF17EF}"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en-US" b="1" dirty="0"/>
              <a:t>Note: </a:t>
            </a:r>
            <a:r>
              <a:rPr lang="en-US" dirty="0"/>
              <a:t>This demo is written to be run in the </a:t>
            </a:r>
            <a:r>
              <a:rPr lang="en-US" dirty="0" err="1"/>
              <a:t>AdventureWorksLT</a:t>
            </a:r>
            <a:r>
              <a:rPr lang="en-US" dirty="0"/>
              <a:t> sample database, either in Azure SQL Database or SQL Server. However, if you run it on SQL Server ensure that containment is set ON the database as the users are contained.</a:t>
            </a:r>
          </a:p>
          <a:p>
            <a:pPr lvl="0"/>
            <a:endParaRPr lang="en-US" dirty="0"/>
          </a:p>
          <a:p>
            <a:pPr lvl="0"/>
            <a:r>
              <a:rPr lang="en-US" dirty="0"/>
              <a:t>Walk through configuring the following T-SQL</a:t>
            </a:r>
          </a:p>
          <a:p>
            <a:pPr lvl="0"/>
            <a:endParaRPr lang="en-US" dirty="0"/>
          </a:p>
          <a:p>
            <a:r>
              <a:rPr lang="en-US" sz="800" kern="1200" dirty="0">
                <a:solidFill>
                  <a:schemeClr val="tx1"/>
                </a:solidFill>
                <a:effectLst/>
                <a:latin typeface="Segoe UI Light" pitchFamily="34" charset="0"/>
                <a:ea typeface="+mn-ea"/>
                <a:cs typeface="+mn-cs"/>
              </a:rPr>
              <a:t>CREATE USER [DP300User1] WITH PASSWORD = 'Pa55.w.rd'</a:t>
            </a:r>
          </a:p>
          <a:p>
            <a:r>
              <a:rPr lang="en-US" sz="800" kern="1200" dirty="0">
                <a:solidFill>
                  <a:schemeClr val="tx1"/>
                </a:solidFill>
                <a:effectLst/>
                <a:latin typeface="Segoe UI Light" pitchFamily="34" charset="0"/>
                <a:ea typeface="+mn-ea"/>
                <a:cs typeface="+mn-cs"/>
              </a:rPr>
              <a:t>GO</a:t>
            </a:r>
          </a:p>
          <a:p>
            <a:r>
              <a:rPr lang="en-US" sz="800" kern="1200" dirty="0">
                <a:solidFill>
                  <a:schemeClr val="tx1"/>
                </a:solidFill>
                <a:effectLst/>
                <a:latin typeface="Segoe UI Light" pitchFamily="34" charset="0"/>
                <a:ea typeface="+mn-ea"/>
                <a:cs typeface="+mn-cs"/>
              </a:rPr>
              <a:t>CREATE ROLE [</a:t>
            </a:r>
            <a:r>
              <a:rPr lang="en-US" sz="800" kern="1200" dirty="0" err="1">
                <a:solidFill>
                  <a:schemeClr val="tx1"/>
                </a:solidFill>
                <a:effectLst/>
                <a:latin typeface="Segoe UI Light" pitchFamily="34" charset="0"/>
                <a:ea typeface="+mn-ea"/>
                <a:cs typeface="+mn-cs"/>
              </a:rPr>
              <a:t>SalesReader</a:t>
            </a:r>
            <a:r>
              <a:rPr lang="en-US" sz="800" kern="1200" dirty="0">
                <a:solidFill>
                  <a:schemeClr val="tx1"/>
                </a:solidFill>
                <a:effectLst/>
                <a:latin typeface="Segoe UI Light" pitchFamily="34" charset="0"/>
                <a:ea typeface="+mn-ea"/>
                <a:cs typeface="+mn-cs"/>
              </a:rPr>
              <a:t>]</a:t>
            </a:r>
          </a:p>
          <a:p>
            <a:r>
              <a:rPr lang="en-US" sz="800" kern="1200" dirty="0">
                <a:solidFill>
                  <a:schemeClr val="tx1"/>
                </a:solidFill>
                <a:effectLst/>
                <a:latin typeface="Segoe UI Light" pitchFamily="34" charset="0"/>
                <a:ea typeface="+mn-ea"/>
                <a:cs typeface="+mn-cs"/>
              </a:rPr>
              <a:t>GO</a:t>
            </a:r>
          </a:p>
          <a:p>
            <a:r>
              <a:rPr lang="en-US" sz="800" kern="1200" dirty="0">
                <a:solidFill>
                  <a:schemeClr val="tx1"/>
                </a:solidFill>
                <a:effectLst/>
                <a:latin typeface="Segoe UI Light" pitchFamily="34" charset="0"/>
                <a:ea typeface="+mn-ea"/>
                <a:cs typeface="+mn-cs"/>
              </a:rPr>
              <a:t>ALTER ROLE [</a:t>
            </a:r>
            <a:r>
              <a:rPr lang="en-US" sz="800" kern="1200" dirty="0" err="1">
                <a:solidFill>
                  <a:schemeClr val="tx1"/>
                </a:solidFill>
                <a:effectLst/>
                <a:latin typeface="Segoe UI Light" pitchFamily="34" charset="0"/>
                <a:ea typeface="+mn-ea"/>
                <a:cs typeface="+mn-cs"/>
              </a:rPr>
              <a:t>SalesReader</a:t>
            </a:r>
            <a:r>
              <a:rPr lang="en-US" sz="800" kern="1200" dirty="0">
                <a:solidFill>
                  <a:schemeClr val="tx1"/>
                </a:solidFill>
                <a:effectLst/>
                <a:latin typeface="Segoe UI Light" pitchFamily="34" charset="0"/>
                <a:ea typeface="+mn-ea"/>
                <a:cs typeface="+mn-cs"/>
              </a:rPr>
              <a:t>] ADD MEMBER [DP300User1]</a:t>
            </a:r>
          </a:p>
          <a:p>
            <a:r>
              <a:rPr lang="en-US" sz="800" kern="1200" dirty="0">
                <a:solidFill>
                  <a:schemeClr val="tx1"/>
                </a:solidFill>
                <a:effectLst/>
                <a:latin typeface="Segoe UI Light" pitchFamily="34" charset="0"/>
                <a:ea typeface="+mn-ea"/>
                <a:cs typeface="+mn-cs"/>
              </a:rPr>
              <a:t>GO</a:t>
            </a:r>
          </a:p>
          <a:p>
            <a:r>
              <a:rPr lang="en-US" sz="800" kern="1200" dirty="0">
                <a:solidFill>
                  <a:schemeClr val="tx1"/>
                </a:solidFill>
                <a:effectLst/>
                <a:latin typeface="Segoe UI Light" pitchFamily="34" charset="0"/>
                <a:ea typeface="+mn-ea"/>
                <a:cs typeface="+mn-cs"/>
              </a:rPr>
              <a:t>GRANT SELECT, EXECUTE ON SCHEMA::</a:t>
            </a:r>
            <a:r>
              <a:rPr lang="en-US" sz="800" kern="1200" dirty="0" err="1">
                <a:solidFill>
                  <a:schemeClr val="tx1"/>
                </a:solidFill>
                <a:effectLst/>
                <a:latin typeface="Segoe UI Light" pitchFamily="34" charset="0"/>
                <a:ea typeface="+mn-ea"/>
                <a:cs typeface="+mn-cs"/>
              </a:rPr>
              <a:t>SalesLT</a:t>
            </a:r>
            <a:r>
              <a:rPr lang="en-US" sz="800" kern="1200" dirty="0">
                <a:solidFill>
                  <a:schemeClr val="tx1"/>
                </a:solidFill>
                <a:effectLst/>
                <a:latin typeface="Segoe UI Light" pitchFamily="34" charset="0"/>
                <a:ea typeface="+mn-ea"/>
                <a:cs typeface="+mn-cs"/>
              </a:rPr>
              <a:t> TO [</a:t>
            </a:r>
            <a:r>
              <a:rPr lang="en-US" sz="800" kern="1200" dirty="0" err="1">
                <a:solidFill>
                  <a:schemeClr val="tx1"/>
                </a:solidFill>
                <a:effectLst/>
                <a:latin typeface="Segoe UI Light" pitchFamily="34" charset="0"/>
                <a:ea typeface="+mn-ea"/>
                <a:cs typeface="+mn-cs"/>
              </a:rPr>
              <a:t>SalesReader</a:t>
            </a:r>
            <a:r>
              <a:rPr lang="en-US" sz="800" kern="1200" dirty="0">
                <a:solidFill>
                  <a:schemeClr val="tx1"/>
                </a:solidFill>
                <a:effectLst/>
                <a:latin typeface="Segoe UI Light" pitchFamily="34" charset="0"/>
                <a:ea typeface="+mn-ea"/>
                <a:cs typeface="+mn-cs"/>
              </a:rPr>
              <a:t>]</a:t>
            </a:r>
          </a:p>
          <a:p>
            <a:r>
              <a:rPr lang="en-US" sz="800" kern="1200" dirty="0">
                <a:solidFill>
                  <a:schemeClr val="tx1"/>
                </a:solidFill>
                <a:effectLst/>
                <a:latin typeface="Segoe UI Light" pitchFamily="34" charset="0"/>
                <a:ea typeface="+mn-ea"/>
                <a:cs typeface="+mn-cs"/>
              </a:rPr>
              <a:t>GO</a:t>
            </a:r>
          </a:p>
          <a:p>
            <a:r>
              <a:rPr lang="en-US" sz="800" kern="1200" dirty="0">
                <a:solidFill>
                  <a:schemeClr val="tx1"/>
                </a:solidFill>
                <a:effectLst/>
                <a:latin typeface="Segoe UI Light" pitchFamily="34" charset="0"/>
                <a:ea typeface="+mn-ea"/>
                <a:cs typeface="+mn-cs"/>
              </a:rPr>
              <a:t> </a:t>
            </a:r>
          </a:p>
          <a:p>
            <a:r>
              <a:rPr lang="en-US" sz="800" kern="1200" dirty="0">
                <a:solidFill>
                  <a:schemeClr val="tx1"/>
                </a:solidFill>
                <a:effectLst/>
                <a:latin typeface="Segoe UI Light" pitchFamily="34" charset="0"/>
                <a:ea typeface="+mn-ea"/>
                <a:cs typeface="+mn-cs"/>
              </a:rPr>
              <a:t>CREATE OR ALTER PROCEDURE </a:t>
            </a:r>
            <a:r>
              <a:rPr lang="en-US" sz="800" kern="1200" dirty="0" err="1">
                <a:solidFill>
                  <a:schemeClr val="tx1"/>
                </a:solidFill>
                <a:effectLst/>
                <a:latin typeface="Segoe UI Light" pitchFamily="34" charset="0"/>
                <a:ea typeface="+mn-ea"/>
                <a:cs typeface="+mn-cs"/>
              </a:rPr>
              <a:t>SalesLT.DemoProc</a:t>
            </a:r>
            <a:endParaRPr lang="en-US" sz="800" kern="1200" dirty="0">
              <a:solidFill>
                <a:schemeClr val="tx1"/>
              </a:solidFill>
              <a:effectLst/>
              <a:latin typeface="Segoe UI Light" pitchFamily="34" charset="0"/>
              <a:ea typeface="+mn-ea"/>
              <a:cs typeface="+mn-cs"/>
            </a:endParaRPr>
          </a:p>
          <a:p>
            <a:r>
              <a:rPr lang="en-US" sz="800" kern="1200" dirty="0">
                <a:solidFill>
                  <a:schemeClr val="tx1"/>
                </a:solidFill>
                <a:effectLst/>
                <a:latin typeface="Segoe UI Light" pitchFamily="34" charset="0"/>
                <a:ea typeface="+mn-ea"/>
                <a:cs typeface="+mn-cs"/>
              </a:rPr>
              <a:t>as</a:t>
            </a:r>
          </a:p>
          <a:p>
            <a:r>
              <a:rPr lang="en-US" sz="800" kern="1200" dirty="0">
                <a:solidFill>
                  <a:schemeClr val="tx1"/>
                </a:solidFill>
                <a:effectLst/>
                <a:latin typeface="Segoe UI Light" pitchFamily="34" charset="0"/>
                <a:ea typeface="+mn-ea"/>
                <a:cs typeface="+mn-cs"/>
              </a:rPr>
              <a:t>SELECT </a:t>
            </a:r>
            <a:r>
              <a:rPr lang="en-US" sz="800" kern="1200" dirty="0" err="1">
                <a:solidFill>
                  <a:schemeClr val="tx1"/>
                </a:solidFill>
                <a:effectLst/>
                <a:latin typeface="Segoe UI Light" pitchFamily="34" charset="0"/>
                <a:ea typeface="+mn-ea"/>
                <a:cs typeface="+mn-cs"/>
              </a:rPr>
              <a:t>P.Name</a:t>
            </a:r>
            <a:r>
              <a:rPr lang="en-US" sz="800" kern="1200" dirty="0">
                <a:solidFill>
                  <a:schemeClr val="tx1"/>
                </a:solidFill>
                <a:effectLst/>
                <a:latin typeface="Segoe UI Light" pitchFamily="34" charset="0"/>
                <a:ea typeface="+mn-ea"/>
                <a:cs typeface="+mn-cs"/>
              </a:rPr>
              <a:t>, Sum(</a:t>
            </a:r>
            <a:r>
              <a:rPr lang="en-US" sz="800" kern="1200" dirty="0" err="1">
                <a:solidFill>
                  <a:schemeClr val="tx1"/>
                </a:solidFill>
                <a:effectLst/>
                <a:latin typeface="Segoe UI Light" pitchFamily="34" charset="0"/>
                <a:ea typeface="+mn-ea"/>
                <a:cs typeface="+mn-cs"/>
              </a:rPr>
              <a:t>SOD.LineTotal</a:t>
            </a:r>
            <a:r>
              <a:rPr lang="en-US" sz="800" kern="1200" dirty="0">
                <a:solidFill>
                  <a:schemeClr val="tx1"/>
                </a:solidFill>
                <a:effectLst/>
                <a:latin typeface="Segoe UI Light" pitchFamily="34" charset="0"/>
                <a:ea typeface="+mn-ea"/>
                <a:cs typeface="+mn-cs"/>
              </a:rPr>
              <a:t>) as </a:t>
            </a:r>
            <a:r>
              <a:rPr lang="en-US" sz="800" kern="1200" dirty="0" err="1">
                <a:solidFill>
                  <a:schemeClr val="tx1"/>
                </a:solidFill>
                <a:effectLst/>
                <a:latin typeface="Segoe UI Light" pitchFamily="34" charset="0"/>
                <a:ea typeface="+mn-ea"/>
                <a:cs typeface="+mn-cs"/>
              </a:rPr>
              <a:t>TotalSales</a:t>
            </a:r>
            <a:r>
              <a:rPr lang="en-US" sz="800" kern="1200" dirty="0">
                <a:solidFill>
                  <a:schemeClr val="tx1"/>
                </a:solidFill>
                <a:effectLst/>
                <a:latin typeface="Segoe UI Light" pitchFamily="34" charset="0"/>
                <a:ea typeface="+mn-ea"/>
                <a:cs typeface="+mn-cs"/>
              </a:rPr>
              <a:t>, </a:t>
            </a:r>
            <a:r>
              <a:rPr lang="en-US" sz="800" kern="1200" dirty="0" err="1">
                <a:solidFill>
                  <a:schemeClr val="tx1"/>
                </a:solidFill>
                <a:effectLst/>
                <a:latin typeface="Segoe UI Light" pitchFamily="34" charset="0"/>
                <a:ea typeface="+mn-ea"/>
                <a:cs typeface="+mn-cs"/>
              </a:rPr>
              <a:t>SOH.OrderDate</a:t>
            </a:r>
            <a:r>
              <a:rPr lang="en-US" sz="800" kern="1200" dirty="0">
                <a:solidFill>
                  <a:schemeClr val="tx1"/>
                </a:solidFill>
                <a:effectLst/>
                <a:latin typeface="Segoe UI Light" pitchFamily="34" charset="0"/>
                <a:ea typeface="+mn-ea"/>
                <a:cs typeface="+mn-cs"/>
              </a:rPr>
              <a:t> </a:t>
            </a:r>
          </a:p>
          <a:p>
            <a:r>
              <a:rPr lang="en-US" sz="800" kern="1200" dirty="0">
                <a:solidFill>
                  <a:schemeClr val="tx1"/>
                </a:solidFill>
                <a:effectLst/>
                <a:latin typeface="Segoe UI Light" pitchFamily="34" charset="0"/>
                <a:ea typeface="+mn-ea"/>
                <a:cs typeface="+mn-cs"/>
              </a:rPr>
              <a:t>FROM </a:t>
            </a:r>
            <a:r>
              <a:rPr lang="en-US" sz="800" kern="1200" dirty="0" err="1">
                <a:solidFill>
                  <a:schemeClr val="tx1"/>
                </a:solidFill>
                <a:effectLst/>
                <a:latin typeface="Segoe UI Light" pitchFamily="34" charset="0"/>
                <a:ea typeface="+mn-ea"/>
                <a:cs typeface="+mn-cs"/>
              </a:rPr>
              <a:t>SalesLT.Product</a:t>
            </a:r>
            <a:r>
              <a:rPr lang="en-US" sz="800" kern="1200" dirty="0">
                <a:solidFill>
                  <a:schemeClr val="tx1"/>
                </a:solidFill>
                <a:effectLst/>
                <a:latin typeface="Segoe UI Light" pitchFamily="34" charset="0"/>
                <a:ea typeface="+mn-ea"/>
                <a:cs typeface="+mn-cs"/>
              </a:rPr>
              <a:t> P</a:t>
            </a:r>
          </a:p>
          <a:p>
            <a:r>
              <a:rPr lang="en-US" sz="800" kern="1200" dirty="0">
                <a:solidFill>
                  <a:schemeClr val="tx1"/>
                </a:solidFill>
                <a:effectLst/>
                <a:latin typeface="Segoe UI Light" pitchFamily="34" charset="0"/>
                <a:ea typeface="+mn-ea"/>
                <a:cs typeface="+mn-cs"/>
              </a:rPr>
              <a:t>INNER JOIN </a:t>
            </a:r>
            <a:r>
              <a:rPr lang="en-US" sz="800" kern="1200" dirty="0" err="1">
                <a:solidFill>
                  <a:schemeClr val="tx1"/>
                </a:solidFill>
                <a:effectLst/>
                <a:latin typeface="Segoe UI Light" pitchFamily="34" charset="0"/>
                <a:ea typeface="+mn-ea"/>
                <a:cs typeface="+mn-cs"/>
              </a:rPr>
              <a:t>SalesLT.SalesOrderDetail</a:t>
            </a:r>
            <a:r>
              <a:rPr lang="en-US" sz="800" kern="1200" dirty="0">
                <a:solidFill>
                  <a:schemeClr val="tx1"/>
                </a:solidFill>
                <a:effectLst/>
                <a:latin typeface="Segoe UI Light" pitchFamily="34" charset="0"/>
                <a:ea typeface="+mn-ea"/>
                <a:cs typeface="+mn-cs"/>
              </a:rPr>
              <a:t> SOD on </a:t>
            </a:r>
            <a:r>
              <a:rPr lang="en-US" sz="800" kern="1200" dirty="0" err="1">
                <a:solidFill>
                  <a:schemeClr val="tx1"/>
                </a:solidFill>
                <a:effectLst/>
                <a:latin typeface="Segoe UI Light" pitchFamily="34" charset="0"/>
                <a:ea typeface="+mn-ea"/>
                <a:cs typeface="+mn-cs"/>
              </a:rPr>
              <a:t>SOD.ProductID</a:t>
            </a:r>
            <a:r>
              <a:rPr lang="en-US" sz="800" kern="1200" dirty="0">
                <a:solidFill>
                  <a:schemeClr val="tx1"/>
                </a:solidFill>
                <a:effectLst/>
                <a:latin typeface="Segoe UI Light" pitchFamily="34" charset="0"/>
                <a:ea typeface="+mn-ea"/>
                <a:cs typeface="+mn-cs"/>
              </a:rPr>
              <a:t> = </a:t>
            </a:r>
            <a:r>
              <a:rPr lang="en-US" sz="800" kern="1200" dirty="0" err="1">
                <a:solidFill>
                  <a:schemeClr val="tx1"/>
                </a:solidFill>
                <a:effectLst/>
                <a:latin typeface="Segoe UI Light" pitchFamily="34" charset="0"/>
                <a:ea typeface="+mn-ea"/>
                <a:cs typeface="+mn-cs"/>
              </a:rPr>
              <a:t>P.ProductID</a:t>
            </a:r>
            <a:endParaRPr lang="en-US" sz="800" kern="1200" dirty="0">
              <a:solidFill>
                <a:schemeClr val="tx1"/>
              </a:solidFill>
              <a:effectLst/>
              <a:latin typeface="Segoe UI Light" pitchFamily="34" charset="0"/>
              <a:ea typeface="+mn-ea"/>
              <a:cs typeface="+mn-cs"/>
            </a:endParaRPr>
          </a:p>
          <a:p>
            <a:r>
              <a:rPr lang="en-US" sz="800" kern="1200" dirty="0">
                <a:solidFill>
                  <a:schemeClr val="tx1"/>
                </a:solidFill>
                <a:effectLst/>
                <a:latin typeface="Segoe UI Light" pitchFamily="34" charset="0"/>
                <a:ea typeface="+mn-ea"/>
                <a:cs typeface="+mn-cs"/>
              </a:rPr>
              <a:t>INNER JOIN </a:t>
            </a:r>
            <a:r>
              <a:rPr lang="en-US" sz="800" kern="1200" dirty="0" err="1">
                <a:solidFill>
                  <a:schemeClr val="tx1"/>
                </a:solidFill>
                <a:effectLst/>
                <a:latin typeface="Segoe UI Light" pitchFamily="34" charset="0"/>
                <a:ea typeface="+mn-ea"/>
                <a:cs typeface="+mn-cs"/>
              </a:rPr>
              <a:t>SalesLT.SalesOrderHeader</a:t>
            </a:r>
            <a:r>
              <a:rPr lang="en-US" sz="800" kern="1200" dirty="0">
                <a:solidFill>
                  <a:schemeClr val="tx1"/>
                </a:solidFill>
                <a:effectLst/>
                <a:latin typeface="Segoe UI Light" pitchFamily="34" charset="0"/>
                <a:ea typeface="+mn-ea"/>
                <a:cs typeface="+mn-cs"/>
              </a:rPr>
              <a:t> SOH on </a:t>
            </a:r>
            <a:r>
              <a:rPr lang="en-US" sz="800" kern="1200" dirty="0" err="1">
                <a:solidFill>
                  <a:schemeClr val="tx1"/>
                </a:solidFill>
                <a:effectLst/>
                <a:latin typeface="Segoe UI Light" pitchFamily="34" charset="0"/>
                <a:ea typeface="+mn-ea"/>
                <a:cs typeface="+mn-cs"/>
              </a:rPr>
              <a:t>SOH.SalesOrderID</a:t>
            </a:r>
            <a:r>
              <a:rPr lang="en-US" sz="800" kern="1200" dirty="0">
                <a:solidFill>
                  <a:schemeClr val="tx1"/>
                </a:solidFill>
                <a:effectLst/>
                <a:latin typeface="Segoe UI Light" pitchFamily="34" charset="0"/>
                <a:ea typeface="+mn-ea"/>
                <a:cs typeface="+mn-cs"/>
              </a:rPr>
              <a:t> = </a:t>
            </a:r>
            <a:r>
              <a:rPr lang="en-US" sz="800" kern="1200" dirty="0" err="1">
                <a:solidFill>
                  <a:schemeClr val="tx1"/>
                </a:solidFill>
                <a:effectLst/>
                <a:latin typeface="Segoe UI Light" pitchFamily="34" charset="0"/>
                <a:ea typeface="+mn-ea"/>
                <a:cs typeface="+mn-cs"/>
              </a:rPr>
              <a:t>SOD.SalesOrderID</a:t>
            </a:r>
            <a:endParaRPr lang="en-US" sz="800" kern="1200" dirty="0">
              <a:solidFill>
                <a:schemeClr val="tx1"/>
              </a:solidFill>
              <a:effectLst/>
              <a:latin typeface="Segoe UI Light" pitchFamily="34" charset="0"/>
              <a:ea typeface="+mn-ea"/>
              <a:cs typeface="+mn-cs"/>
            </a:endParaRPr>
          </a:p>
          <a:p>
            <a:r>
              <a:rPr lang="en-US" sz="800" kern="1200" dirty="0">
                <a:solidFill>
                  <a:schemeClr val="tx1"/>
                </a:solidFill>
                <a:effectLst/>
                <a:latin typeface="Segoe UI Light" pitchFamily="34" charset="0"/>
                <a:ea typeface="+mn-ea"/>
                <a:cs typeface="+mn-cs"/>
              </a:rPr>
              <a:t>GROUP BY </a:t>
            </a:r>
            <a:r>
              <a:rPr lang="en-US" sz="800" kern="1200" dirty="0" err="1">
                <a:solidFill>
                  <a:schemeClr val="tx1"/>
                </a:solidFill>
                <a:effectLst/>
                <a:latin typeface="Segoe UI Light" pitchFamily="34" charset="0"/>
                <a:ea typeface="+mn-ea"/>
                <a:cs typeface="+mn-cs"/>
              </a:rPr>
              <a:t>P.Name</a:t>
            </a:r>
            <a:r>
              <a:rPr lang="en-US" sz="800" kern="1200" dirty="0">
                <a:solidFill>
                  <a:schemeClr val="tx1"/>
                </a:solidFill>
                <a:effectLst/>
                <a:latin typeface="Segoe UI Light" pitchFamily="34" charset="0"/>
                <a:ea typeface="+mn-ea"/>
                <a:cs typeface="+mn-cs"/>
              </a:rPr>
              <a:t>, </a:t>
            </a:r>
            <a:r>
              <a:rPr lang="en-US" sz="800" kern="1200" dirty="0" err="1">
                <a:solidFill>
                  <a:schemeClr val="tx1"/>
                </a:solidFill>
                <a:effectLst/>
                <a:latin typeface="Segoe UI Light" pitchFamily="34" charset="0"/>
                <a:ea typeface="+mn-ea"/>
                <a:cs typeface="+mn-cs"/>
              </a:rPr>
              <a:t>SOH.OrderDate</a:t>
            </a:r>
            <a:endParaRPr lang="en-US" sz="800" kern="1200" dirty="0">
              <a:solidFill>
                <a:schemeClr val="tx1"/>
              </a:solidFill>
              <a:effectLst/>
              <a:latin typeface="Segoe UI Light" pitchFamily="34" charset="0"/>
              <a:ea typeface="+mn-ea"/>
              <a:cs typeface="+mn-cs"/>
            </a:endParaRPr>
          </a:p>
          <a:p>
            <a:r>
              <a:rPr lang="en-US" sz="800" kern="1200" dirty="0">
                <a:solidFill>
                  <a:schemeClr val="tx1"/>
                </a:solidFill>
                <a:effectLst/>
                <a:latin typeface="Segoe UI Light" pitchFamily="34" charset="0"/>
                <a:ea typeface="+mn-ea"/>
                <a:cs typeface="+mn-cs"/>
              </a:rPr>
              <a:t>ORDER BY </a:t>
            </a:r>
            <a:r>
              <a:rPr lang="en-US" sz="800" kern="1200" dirty="0" err="1">
                <a:solidFill>
                  <a:schemeClr val="tx1"/>
                </a:solidFill>
                <a:effectLst/>
                <a:latin typeface="Segoe UI Light" pitchFamily="34" charset="0"/>
                <a:ea typeface="+mn-ea"/>
                <a:cs typeface="+mn-cs"/>
              </a:rPr>
              <a:t>TotalSales</a:t>
            </a:r>
            <a:r>
              <a:rPr lang="en-US" sz="800" kern="1200" dirty="0">
                <a:solidFill>
                  <a:schemeClr val="tx1"/>
                </a:solidFill>
                <a:effectLst/>
                <a:latin typeface="Segoe UI Light" pitchFamily="34" charset="0"/>
                <a:ea typeface="+mn-ea"/>
                <a:cs typeface="+mn-cs"/>
              </a:rPr>
              <a:t> DESC</a:t>
            </a:r>
          </a:p>
          <a:p>
            <a:r>
              <a:rPr lang="en-US" sz="800" kern="1200" dirty="0">
                <a:solidFill>
                  <a:schemeClr val="tx1"/>
                </a:solidFill>
                <a:effectLst/>
                <a:latin typeface="Segoe UI Light" pitchFamily="34" charset="0"/>
                <a:ea typeface="+mn-ea"/>
                <a:cs typeface="+mn-cs"/>
              </a:rPr>
              <a:t>GO</a:t>
            </a:r>
          </a:p>
          <a:p>
            <a:r>
              <a:rPr lang="en-US" sz="800" kern="1200" dirty="0">
                <a:solidFill>
                  <a:schemeClr val="tx1"/>
                </a:solidFill>
                <a:effectLst/>
                <a:latin typeface="Segoe UI Light" pitchFamily="34" charset="0"/>
                <a:ea typeface="+mn-ea"/>
                <a:cs typeface="+mn-cs"/>
              </a:rPr>
              <a:t> </a:t>
            </a:r>
          </a:p>
          <a:p>
            <a:r>
              <a:rPr lang="en-US" sz="800" kern="1200" dirty="0">
                <a:solidFill>
                  <a:schemeClr val="tx1"/>
                </a:solidFill>
                <a:effectLst/>
                <a:latin typeface="Segoe UI Light" pitchFamily="34" charset="0"/>
                <a:ea typeface="+mn-ea"/>
                <a:cs typeface="+mn-cs"/>
              </a:rPr>
              <a:t>EXECUTE AS USER = 'DP300User1'</a:t>
            </a:r>
          </a:p>
          <a:p>
            <a:r>
              <a:rPr lang="en-US" sz="800" kern="1200" dirty="0">
                <a:solidFill>
                  <a:schemeClr val="tx1"/>
                </a:solidFill>
                <a:effectLst/>
                <a:latin typeface="Segoe UI Light" pitchFamily="34" charset="0"/>
                <a:ea typeface="+mn-ea"/>
                <a:cs typeface="+mn-cs"/>
              </a:rPr>
              <a:t> </a:t>
            </a:r>
          </a:p>
          <a:p>
            <a:r>
              <a:rPr lang="en-US" sz="800" kern="1200" dirty="0">
                <a:solidFill>
                  <a:schemeClr val="tx1"/>
                </a:solidFill>
                <a:effectLst/>
                <a:latin typeface="Segoe UI Light" pitchFamily="34" charset="0"/>
                <a:ea typeface="+mn-ea"/>
                <a:cs typeface="+mn-cs"/>
              </a:rPr>
              <a:t>SELECT </a:t>
            </a:r>
            <a:r>
              <a:rPr lang="en-US" sz="800" kern="1200" dirty="0" err="1">
                <a:solidFill>
                  <a:schemeClr val="tx1"/>
                </a:solidFill>
                <a:effectLst/>
                <a:latin typeface="Segoe UI Light" pitchFamily="34" charset="0"/>
                <a:ea typeface="+mn-ea"/>
                <a:cs typeface="+mn-cs"/>
              </a:rPr>
              <a:t>P.Name</a:t>
            </a:r>
            <a:r>
              <a:rPr lang="en-US" sz="800" kern="1200" dirty="0">
                <a:solidFill>
                  <a:schemeClr val="tx1"/>
                </a:solidFill>
                <a:effectLst/>
                <a:latin typeface="Segoe UI Light" pitchFamily="34" charset="0"/>
                <a:ea typeface="+mn-ea"/>
                <a:cs typeface="+mn-cs"/>
              </a:rPr>
              <a:t>, Sum(</a:t>
            </a:r>
            <a:r>
              <a:rPr lang="en-US" sz="800" kern="1200" dirty="0" err="1">
                <a:solidFill>
                  <a:schemeClr val="tx1"/>
                </a:solidFill>
                <a:effectLst/>
                <a:latin typeface="Segoe UI Light" pitchFamily="34" charset="0"/>
                <a:ea typeface="+mn-ea"/>
                <a:cs typeface="+mn-cs"/>
              </a:rPr>
              <a:t>SOD.LineTotal</a:t>
            </a:r>
            <a:r>
              <a:rPr lang="en-US" sz="800" kern="1200" dirty="0">
                <a:solidFill>
                  <a:schemeClr val="tx1"/>
                </a:solidFill>
                <a:effectLst/>
                <a:latin typeface="Segoe UI Light" pitchFamily="34" charset="0"/>
                <a:ea typeface="+mn-ea"/>
                <a:cs typeface="+mn-cs"/>
              </a:rPr>
              <a:t>) as </a:t>
            </a:r>
            <a:r>
              <a:rPr lang="en-US" sz="800" kern="1200" dirty="0" err="1">
                <a:solidFill>
                  <a:schemeClr val="tx1"/>
                </a:solidFill>
                <a:effectLst/>
                <a:latin typeface="Segoe UI Light" pitchFamily="34" charset="0"/>
                <a:ea typeface="+mn-ea"/>
                <a:cs typeface="+mn-cs"/>
              </a:rPr>
              <a:t>TotalSales</a:t>
            </a:r>
            <a:r>
              <a:rPr lang="en-US" sz="800" kern="1200" dirty="0">
                <a:solidFill>
                  <a:schemeClr val="tx1"/>
                </a:solidFill>
                <a:effectLst/>
                <a:latin typeface="Segoe UI Light" pitchFamily="34" charset="0"/>
                <a:ea typeface="+mn-ea"/>
                <a:cs typeface="+mn-cs"/>
              </a:rPr>
              <a:t>, </a:t>
            </a:r>
            <a:r>
              <a:rPr lang="en-US" sz="800" kern="1200" dirty="0" err="1">
                <a:solidFill>
                  <a:schemeClr val="tx1"/>
                </a:solidFill>
                <a:effectLst/>
                <a:latin typeface="Segoe UI Light" pitchFamily="34" charset="0"/>
                <a:ea typeface="+mn-ea"/>
                <a:cs typeface="+mn-cs"/>
              </a:rPr>
              <a:t>SOH.OrderDate</a:t>
            </a:r>
            <a:r>
              <a:rPr lang="en-US" sz="800" kern="1200" dirty="0">
                <a:solidFill>
                  <a:schemeClr val="tx1"/>
                </a:solidFill>
                <a:effectLst/>
                <a:latin typeface="Segoe UI Light" pitchFamily="34" charset="0"/>
                <a:ea typeface="+mn-ea"/>
                <a:cs typeface="+mn-cs"/>
              </a:rPr>
              <a:t> </a:t>
            </a:r>
          </a:p>
          <a:p>
            <a:r>
              <a:rPr lang="en-US" sz="800" kern="1200" dirty="0">
                <a:solidFill>
                  <a:schemeClr val="tx1"/>
                </a:solidFill>
                <a:effectLst/>
                <a:latin typeface="Segoe UI Light" pitchFamily="34" charset="0"/>
                <a:ea typeface="+mn-ea"/>
                <a:cs typeface="+mn-cs"/>
              </a:rPr>
              <a:t>FROM </a:t>
            </a:r>
            <a:r>
              <a:rPr lang="en-US" sz="800" kern="1200" dirty="0" err="1">
                <a:solidFill>
                  <a:schemeClr val="tx1"/>
                </a:solidFill>
                <a:effectLst/>
                <a:latin typeface="Segoe UI Light" pitchFamily="34" charset="0"/>
                <a:ea typeface="+mn-ea"/>
                <a:cs typeface="+mn-cs"/>
              </a:rPr>
              <a:t>SalesLT.Product</a:t>
            </a:r>
            <a:r>
              <a:rPr lang="en-US" sz="800" kern="1200" dirty="0">
                <a:solidFill>
                  <a:schemeClr val="tx1"/>
                </a:solidFill>
                <a:effectLst/>
                <a:latin typeface="Segoe UI Light" pitchFamily="34" charset="0"/>
                <a:ea typeface="+mn-ea"/>
                <a:cs typeface="+mn-cs"/>
              </a:rPr>
              <a:t> P</a:t>
            </a:r>
          </a:p>
          <a:p>
            <a:r>
              <a:rPr lang="en-US" sz="800" kern="1200" dirty="0">
                <a:solidFill>
                  <a:schemeClr val="tx1"/>
                </a:solidFill>
                <a:effectLst/>
                <a:latin typeface="Segoe UI Light" pitchFamily="34" charset="0"/>
                <a:ea typeface="+mn-ea"/>
                <a:cs typeface="+mn-cs"/>
              </a:rPr>
              <a:t>INNER JOIN </a:t>
            </a:r>
            <a:r>
              <a:rPr lang="en-US" sz="800" kern="1200" dirty="0" err="1">
                <a:solidFill>
                  <a:schemeClr val="tx1"/>
                </a:solidFill>
                <a:effectLst/>
                <a:latin typeface="Segoe UI Light" pitchFamily="34" charset="0"/>
                <a:ea typeface="+mn-ea"/>
                <a:cs typeface="+mn-cs"/>
              </a:rPr>
              <a:t>SalesLT.SalesOrderDetail</a:t>
            </a:r>
            <a:r>
              <a:rPr lang="en-US" sz="800" kern="1200" dirty="0">
                <a:solidFill>
                  <a:schemeClr val="tx1"/>
                </a:solidFill>
                <a:effectLst/>
                <a:latin typeface="Segoe UI Light" pitchFamily="34" charset="0"/>
                <a:ea typeface="+mn-ea"/>
                <a:cs typeface="+mn-cs"/>
              </a:rPr>
              <a:t> SOD on </a:t>
            </a:r>
            <a:r>
              <a:rPr lang="en-US" sz="800" kern="1200" dirty="0" err="1">
                <a:solidFill>
                  <a:schemeClr val="tx1"/>
                </a:solidFill>
                <a:effectLst/>
                <a:latin typeface="Segoe UI Light" pitchFamily="34" charset="0"/>
                <a:ea typeface="+mn-ea"/>
                <a:cs typeface="+mn-cs"/>
              </a:rPr>
              <a:t>SOD.ProductID</a:t>
            </a:r>
            <a:r>
              <a:rPr lang="en-US" sz="800" kern="1200" dirty="0">
                <a:solidFill>
                  <a:schemeClr val="tx1"/>
                </a:solidFill>
                <a:effectLst/>
                <a:latin typeface="Segoe UI Light" pitchFamily="34" charset="0"/>
                <a:ea typeface="+mn-ea"/>
                <a:cs typeface="+mn-cs"/>
              </a:rPr>
              <a:t> = </a:t>
            </a:r>
            <a:r>
              <a:rPr lang="en-US" sz="800" kern="1200" dirty="0" err="1">
                <a:solidFill>
                  <a:schemeClr val="tx1"/>
                </a:solidFill>
                <a:effectLst/>
                <a:latin typeface="Segoe UI Light" pitchFamily="34" charset="0"/>
                <a:ea typeface="+mn-ea"/>
                <a:cs typeface="+mn-cs"/>
              </a:rPr>
              <a:t>P.ProductID</a:t>
            </a:r>
            <a:endParaRPr lang="en-US" sz="800" kern="1200" dirty="0">
              <a:solidFill>
                <a:schemeClr val="tx1"/>
              </a:solidFill>
              <a:effectLst/>
              <a:latin typeface="Segoe UI Light" pitchFamily="34" charset="0"/>
              <a:ea typeface="+mn-ea"/>
              <a:cs typeface="+mn-cs"/>
            </a:endParaRPr>
          </a:p>
          <a:p>
            <a:r>
              <a:rPr lang="en-US" sz="800" kern="1200" dirty="0">
                <a:solidFill>
                  <a:schemeClr val="tx1"/>
                </a:solidFill>
                <a:effectLst/>
                <a:latin typeface="Segoe UI Light" pitchFamily="34" charset="0"/>
                <a:ea typeface="+mn-ea"/>
                <a:cs typeface="+mn-cs"/>
              </a:rPr>
              <a:t>INNER JOIN </a:t>
            </a:r>
            <a:r>
              <a:rPr lang="en-US" sz="800" kern="1200" dirty="0" err="1">
                <a:solidFill>
                  <a:schemeClr val="tx1"/>
                </a:solidFill>
                <a:effectLst/>
                <a:latin typeface="Segoe UI Light" pitchFamily="34" charset="0"/>
                <a:ea typeface="+mn-ea"/>
                <a:cs typeface="+mn-cs"/>
              </a:rPr>
              <a:t>SalesLT.SalesOrderHeader</a:t>
            </a:r>
            <a:r>
              <a:rPr lang="en-US" sz="800" kern="1200" dirty="0">
                <a:solidFill>
                  <a:schemeClr val="tx1"/>
                </a:solidFill>
                <a:effectLst/>
                <a:latin typeface="Segoe UI Light" pitchFamily="34" charset="0"/>
                <a:ea typeface="+mn-ea"/>
                <a:cs typeface="+mn-cs"/>
              </a:rPr>
              <a:t> SOH on </a:t>
            </a:r>
            <a:r>
              <a:rPr lang="en-US" sz="800" kern="1200" dirty="0" err="1">
                <a:solidFill>
                  <a:schemeClr val="tx1"/>
                </a:solidFill>
                <a:effectLst/>
                <a:latin typeface="Segoe UI Light" pitchFamily="34" charset="0"/>
                <a:ea typeface="+mn-ea"/>
                <a:cs typeface="+mn-cs"/>
              </a:rPr>
              <a:t>SOH.SalesOrderID</a:t>
            </a:r>
            <a:r>
              <a:rPr lang="en-US" sz="800" kern="1200" dirty="0">
                <a:solidFill>
                  <a:schemeClr val="tx1"/>
                </a:solidFill>
                <a:effectLst/>
                <a:latin typeface="Segoe UI Light" pitchFamily="34" charset="0"/>
                <a:ea typeface="+mn-ea"/>
                <a:cs typeface="+mn-cs"/>
              </a:rPr>
              <a:t> = </a:t>
            </a:r>
            <a:r>
              <a:rPr lang="en-US" sz="800" kern="1200" dirty="0" err="1">
                <a:solidFill>
                  <a:schemeClr val="tx1"/>
                </a:solidFill>
                <a:effectLst/>
                <a:latin typeface="Segoe UI Light" pitchFamily="34" charset="0"/>
                <a:ea typeface="+mn-ea"/>
                <a:cs typeface="+mn-cs"/>
              </a:rPr>
              <a:t>SOD.SalesOrderID</a:t>
            </a:r>
            <a:endParaRPr lang="en-US" sz="800" kern="1200" dirty="0">
              <a:solidFill>
                <a:schemeClr val="tx1"/>
              </a:solidFill>
              <a:effectLst/>
              <a:latin typeface="Segoe UI Light" pitchFamily="34" charset="0"/>
              <a:ea typeface="+mn-ea"/>
              <a:cs typeface="+mn-cs"/>
            </a:endParaRPr>
          </a:p>
          <a:p>
            <a:r>
              <a:rPr lang="en-US" sz="800" kern="1200" dirty="0">
                <a:solidFill>
                  <a:schemeClr val="tx1"/>
                </a:solidFill>
                <a:effectLst/>
                <a:latin typeface="Segoe UI Light" pitchFamily="34" charset="0"/>
                <a:ea typeface="+mn-ea"/>
                <a:cs typeface="+mn-cs"/>
              </a:rPr>
              <a:t>GROUP BY </a:t>
            </a:r>
            <a:r>
              <a:rPr lang="en-US" sz="800" kern="1200" dirty="0" err="1">
                <a:solidFill>
                  <a:schemeClr val="tx1"/>
                </a:solidFill>
                <a:effectLst/>
                <a:latin typeface="Segoe UI Light" pitchFamily="34" charset="0"/>
                <a:ea typeface="+mn-ea"/>
                <a:cs typeface="+mn-cs"/>
              </a:rPr>
              <a:t>P.Name</a:t>
            </a:r>
            <a:r>
              <a:rPr lang="en-US" sz="800" kern="1200" dirty="0">
                <a:solidFill>
                  <a:schemeClr val="tx1"/>
                </a:solidFill>
                <a:effectLst/>
                <a:latin typeface="Segoe UI Light" pitchFamily="34" charset="0"/>
                <a:ea typeface="+mn-ea"/>
                <a:cs typeface="+mn-cs"/>
              </a:rPr>
              <a:t>, </a:t>
            </a:r>
            <a:r>
              <a:rPr lang="en-US" sz="800" kern="1200" dirty="0" err="1">
                <a:solidFill>
                  <a:schemeClr val="tx1"/>
                </a:solidFill>
                <a:effectLst/>
                <a:latin typeface="Segoe UI Light" pitchFamily="34" charset="0"/>
                <a:ea typeface="+mn-ea"/>
                <a:cs typeface="+mn-cs"/>
              </a:rPr>
              <a:t>SOH.OrderDate</a:t>
            </a:r>
            <a:endParaRPr lang="en-US" sz="800" kern="1200" dirty="0">
              <a:solidFill>
                <a:schemeClr val="tx1"/>
              </a:solidFill>
              <a:effectLst/>
              <a:latin typeface="Segoe UI Light" pitchFamily="34" charset="0"/>
              <a:ea typeface="+mn-ea"/>
              <a:cs typeface="+mn-cs"/>
            </a:endParaRPr>
          </a:p>
          <a:p>
            <a:r>
              <a:rPr lang="en-US" sz="800" kern="1200" dirty="0">
                <a:solidFill>
                  <a:schemeClr val="tx1"/>
                </a:solidFill>
                <a:effectLst/>
                <a:latin typeface="Segoe UI Light" pitchFamily="34" charset="0"/>
                <a:ea typeface="+mn-ea"/>
                <a:cs typeface="+mn-cs"/>
              </a:rPr>
              <a:t>ORDER BY </a:t>
            </a:r>
            <a:r>
              <a:rPr lang="en-US" sz="800" kern="1200" dirty="0" err="1">
                <a:solidFill>
                  <a:schemeClr val="tx1"/>
                </a:solidFill>
                <a:effectLst/>
                <a:latin typeface="Segoe UI Light" pitchFamily="34" charset="0"/>
                <a:ea typeface="+mn-ea"/>
                <a:cs typeface="+mn-cs"/>
              </a:rPr>
              <a:t>TotalSales</a:t>
            </a:r>
            <a:r>
              <a:rPr lang="en-US" sz="800" kern="1200" dirty="0">
                <a:solidFill>
                  <a:schemeClr val="tx1"/>
                </a:solidFill>
                <a:effectLst/>
                <a:latin typeface="Segoe UI Light" pitchFamily="34" charset="0"/>
                <a:ea typeface="+mn-ea"/>
                <a:cs typeface="+mn-cs"/>
              </a:rPr>
              <a:t> DESC</a:t>
            </a:r>
          </a:p>
          <a:p>
            <a:r>
              <a:rPr lang="en-US" sz="800" kern="1200" dirty="0">
                <a:solidFill>
                  <a:schemeClr val="tx1"/>
                </a:solidFill>
                <a:effectLst/>
                <a:latin typeface="Segoe UI Light" pitchFamily="34" charset="0"/>
                <a:ea typeface="+mn-ea"/>
                <a:cs typeface="+mn-cs"/>
              </a:rPr>
              <a:t>--</a:t>
            </a:r>
          </a:p>
          <a:p>
            <a:pPr lvl="0"/>
            <a:endParaRPr lang="en-US" dirty="0"/>
          </a:p>
          <a:p>
            <a:pPr lvl="0"/>
            <a:endParaRPr lang="en-US" dirty="0"/>
          </a:p>
        </p:txBody>
      </p:sp>
      <p:sp>
        <p:nvSpPr>
          <p:cNvPr id="4" name="页眉占位符 3"/>
          <p:cNvSpPr>
            <a:spLocks noGrp="1"/>
          </p:cNvSpPr>
          <p:nvPr>
            <p:ph type="hdr" sz="quarter"/>
          </p:nvPr>
        </p:nvSpPr>
        <p:spPr/>
        <p:txBody>
          <a:bodyPr/>
          <a:lstStyle/>
          <a:p>
            <a:endParaRPr lang="en-US"/>
          </a:p>
        </p:txBody>
      </p:sp>
      <p:sp>
        <p:nvSpPr>
          <p:cNvPr id="5" name="页脚占位符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日期占位符 5"/>
          <p:cNvSpPr>
            <a:spLocks noGrp="1"/>
          </p:cNvSpPr>
          <p:nvPr>
            <p:ph type="dt" idx="1"/>
          </p:nvPr>
        </p:nvSpPr>
        <p:spPr/>
        <p:txBody>
          <a:bodyPr/>
          <a:lstStyle/>
          <a:p>
            <a:fld id="{B8286162-4EAF-4175-8155-0B88338351A7}" type="datetime8">
              <a:rPr lang="en-US" smtClean="0"/>
              <a:t>2/9/2026 8:13 PM</a:t>
            </a:fld>
            <a:endParaRPr lang="en-US"/>
          </a:p>
        </p:txBody>
      </p:sp>
      <p:sp>
        <p:nvSpPr>
          <p:cNvPr id="7" name="灯片编号占位符 6"/>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1543315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DECLARE @TableName </a:t>
            </a:r>
            <a:r>
              <a:rPr lang="en-US" sz="880" kern="1200" dirty="0" err="1">
                <a:solidFill>
                  <a:schemeClr val="tx1"/>
                </a:solidFill>
                <a:effectLst/>
                <a:latin typeface="Segoe UI" panose="020B0502040204020203" pitchFamily="34" charset="0"/>
                <a:ea typeface="+mn-ea"/>
                <a:cs typeface="Segoe UI" panose="020B0502040204020203" pitchFamily="34" charset="0"/>
              </a:rPr>
              <a:t>sysname</a:t>
            </a:r>
            <a:r>
              <a:rPr lang="en-US" sz="880" kern="1200" dirty="0">
                <a:solidFill>
                  <a:schemeClr val="tx1"/>
                </a:solidFill>
                <a:effectLst/>
                <a:latin typeface="Segoe UI" panose="020B0502040204020203" pitchFamily="34" charset="0"/>
                <a:ea typeface="+mn-ea"/>
                <a:cs typeface="Segoe UI" panose="020B0502040204020203" pitchFamily="34" charset="0"/>
              </a:rPr>
              <a:t> = </a:t>
            </a:r>
            <a:r>
              <a:rPr lang="en-US" sz="880" kern="1200" dirty="0" err="1">
                <a:solidFill>
                  <a:schemeClr val="tx1"/>
                </a:solidFill>
                <a:effectLst/>
                <a:latin typeface="Segoe UI" panose="020B0502040204020203" pitchFamily="34" charset="0"/>
                <a:ea typeface="+mn-ea"/>
                <a:cs typeface="Segoe UI" panose="020B0502040204020203" pitchFamily="34" charset="0"/>
              </a:rPr>
              <a:t>N'Customers</a:t>
            </a:r>
            <a:r>
              <a:rPr lang="en-US" sz="880" kern="1200" dirty="0">
                <a:solidFill>
                  <a:schemeClr val="tx1"/>
                </a:solidFill>
                <a:effectLst/>
                <a:latin typeface="Segoe UI" panose="020B0502040204020203" pitchFamily="34" charset="0"/>
                <a:ea typeface="+mn-ea"/>
                <a:cs typeface="Segoe UI" panose="020B0502040204020203" pitchFamily="34" charset="0"/>
              </a:rPr>
              <a:t>';</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DECLARE @MinId int = 10;</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DECLARE @sql </a:t>
            </a:r>
            <a:r>
              <a:rPr lang="en-US" sz="880" kern="1200" dirty="0" err="1">
                <a:solidFill>
                  <a:schemeClr val="tx1"/>
                </a:solidFill>
                <a:effectLst/>
                <a:latin typeface="Segoe UI" panose="020B0502040204020203" pitchFamily="34" charset="0"/>
                <a:ea typeface="+mn-ea"/>
                <a:cs typeface="Segoe UI" panose="020B0502040204020203" pitchFamily="34" charset="0"/>
              </a:rPr>
              <a:t>nvarchar</a:t>
            </a:r>
            <a:r>
              <a:rPr lang="en-US" sz="880" kern="1200" dirty="0">
                <a:solidFill>
                  <a:schemeClr val="tx1"/>
                </a:solidFill>
                <a:effectLst/>
                <a:latin typeface="Segoe UI" panose="020B0502040204020203" pitchFamily="34" charset="0"/>
                <a:ea typeface="+mn-ea"/>
                <a:cs typeface="Segoe UI" panose="020B0502040204020203" pitchFamily="34" charset="0"/>
              </a:rPr>
              <a:t>(max);</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SET @sql = N'</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SELECT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FROM </a:t>
            </a:r>
            <a:r>
              <a:rPr lang="en-US" sz="880" kern="1200" dirty="0" err="1">
                <a:solidFill>
                  <a:schemeClr val="tx1"/>
                </a:solidFill>
                <a:effectLst/>
                <a:latin typeface="Segoe UI" panose="020B0502040204020203" pitchFamily="34" charset="0"/>
                <a:ea typeface="+mn-ea"/>
                <a:cs typeface="Segoe UI" panose="020B0502040204020203" pitchFamily="34" charset="0"/>
              </a:rPr>
              <a:t>dbo</a:t>
            </a:r>
            <a:r>
              <a:rPr lang="en-US" sz="880" kern="1200" dirty="0">
                <a:solidFill>
                  <a:schemeClr val="tx1"/>
                </a:solidFill>
                <a:effectLst/>
                <a:latin typeface="Segoe UI" panose="020B0502040204020203" pitchFamily="34" charset="0"/>
                <a:ea typeface="+mn-ea"/>
                <a:cs typeface="Segoe UI" panose="020B0502040204020203" pitchFamily="34" charset="0"/>
              </a:rPr>
              <a:t>.' + QUOTENAME(@TableName) + N'</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WHERE </a:t>
            </a:r>
            <a:r>
              <a:rPr lang="en-US" sz="880" kern="1200" dirty="0" err="1">
                <a:solidFill>
                  <a:schemeClr val="tx1"/>
                </a:solidFill>
                <a:effectLst/>
                <a:latin typeface="Segoe UI" panose="020B0502040204020203" pitchFamily="34" charset="0"/>
                <a:ea typeface="+mn-ea"/>
                <a:cs typeface="Segoe UI" panose="020B0502040204020203" pitchFamily="34" charset="0"/>
              </a:rPr>
              <a:t>CustomerId</a:t>
            </a:r>
            <a:r>
              <a:rPr lang="en-US" sz="880" kern="1200" dirty="0">
                <a:solidFill>
                  <a:schemeClr val="tx1"/>
                </a:solidFill>
                <a:effectLst/>
                <a:latin typeface="Segoe UI" panose="020B0502040204020203" pitchFamily="34" charset="0"/>
                <a:ea typeface="+mn-ea"/>
                <a:cs typeface="Segoe UI" panose="020B0502040204020203" pitchFamily="34" charset="0"/>
              </a:rPr>
              <a:t> &gt;= @MinId;</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EXEC </a:t>
            </a:r>
            <a:r>
              <a:rPr lang="en-US" sz="880" kern="1200" dirty="0" err="1">
                <a:solidFill>
                  <a:schemeClr val="tx1"/>
                </a:solidFill>
                <a:effectLst/>
                <a:latin typeface="Segoe UI" panose="020B0502040204020203" pitchFamily="34" charset="0"/>
                <a:ea typeface="+mn-ea"/>
                <a:cs typeface="Segoe UI" panose="020B0502040204020203" pitchFamily="34" charset="0"/>
              </a:rPr>
              <a:t>sp_executesql</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    @sql,</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    </a:t>
            </a:r>
            <a:r>
              <a:rPr lang="en-US" sz="880" kern="1200" dirty="0" err="1">
                <a:solidFill>
                  <a:schemeClr val="tx1"/>
                </a:solidFill>
                <a:effectLst/>
                <a:latin typeface="Segoe UI" panose="020B0502040204020203" pitchFamily="34" charset="0"/>
                <a:ea typeface="+mn-ea"/>
                <a:cs typeface="Segoe UI" panose="020B0502040204020203" pitchFamily="34" charset="0"/>
              </a:rPr>
              <a:t>N'@MinId</a:t>
            </a:r>
            <a:r>
              <a:rPr lang="en-US" sz="880" kern="1200" dirty="0">
                <a:solidFill>
                  <a:schemeClr val="tx1"/>
                </a:solidFill>
                <a:effectLst/>
                <a:latin typeface="Segoe UI" panose="020B0502040204020203" pitchFamily="34" charset="0"/>
                <a:ea typeface="+mn-ea"/>
                <a:cs typeface="Segoe UI" panose="020B0502040204020203" pitchFamily="34" charset="0"/>
              </a:rPr>
              <a:t> int',</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    @MinId = @MinId;</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Dynamic SQL is a concept where a query is built programmatically. This allows T-SQL statements to be generated within a stored procedure or a query itself. A very simple example is shown below. </a:t>
            </a:r>
            <a:endParaRPr lang="en-US" sz="880" dirty="0">
              <a:latin typeface="Segoe UI" panose="020B0502040204020203" pitchFamily="34" charset="0"/>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The above statement will generate a list of T-SQL statements to backup all of the database on the server. Typically, this generated T-SQL will be executed using </a:t>
            </a:r>
            <a:r>
              <a:rPr lang="en-US" sz="880" kern="1200" dirty="0" err="1">
                <a:solidFill>
                  <a:schemeClr val="tx1"/>
                </a:solidFill>
                <a:effectLst/>
                <a:latin typeface="Segoe UI" panose="020B0502040204020203" pitchFamily="34" charset="0"/>
                <a:ea typeface="+mn-ea"/>
                <a:cs typeface="Segoe UI" panose="020B0502040204020203" pitchFamily="34" charset="0"/>
              </a:rPr>
              <a:t>sp_executesql</a:t>
            </a:r>
            <a:r>
              <a:rPr lang="en-US" sz="880" kern="1200" dirty="0">
                <a:solidFill>
                  <a:schemeClr val="tx1"/>
                </a:solidFill>
                <a:effectLst/>
                <a:latin typeface="Segoe UI" panose="020B0502040204020203" pitchFamily="34" charset="0"/>
                <a:ea typeface="+mn-ea"/>
                <a:cs typeface="Segoe UI" panose="020B0502040204020203" pitchFamily="34" charset="0"/>
              </a:rPr>
              <a:t> or passed to another program to execute.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1BC05CD0-C132-47BB-8CCA-980B911EFDCC}"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0" kern="1200" dirty="0">
                <a:solidFill>
                  <a:schemeClr val="tx1"/>
                </a:solidFill>
                <a:effectLst/>
                <a:latin typeface="Segoe UI" panose="020B0502040204020203" pitchFamily="34" charset="0"/>
                <a:ea typeface="+mn-ea"/>
                <a:cs typeface="Segoe UI" panose="020B0502040204020203" pitchFamily="34" charset="0"/>
              </a:rPr>
              <a:t>The concept of least privilege is fairly simple. The basic idea behind the concept is that users and applications should only be given the permissions needed in order for them to perform the actions needed to complete the task. This means that applications should only have permissions that they need to do in order to complete the task at hand.</a:t>
            </a:r>
          </a:p>
          <a:p>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US" sz="880" kern="1200" dirty="0">
                <a:solidFill>
                  <a:schemeClr val="tx1"/>
                </a:solidFill>
                <a:effectLst/>
                <a:latin typeface="Segoe UI" panose="020B0502040204020203" pitchFamily="34" charset="0"/>
                <a:ea typeface="+mn-ea"/>
                <a:cs typeface="Segoe UI" panose="020B0502040204020203" pitchFamily="34" charset="0"/>
              </a:rPr>
              <a:t>As an example, if an application accesses all data through stored procedures, then the application should only have the permission to execute the stored procedures, with no access to the underlying tables</a:t>
            </a:r>
            <a:r>
              <a:rPr lang="en-US" sz="880" dirty="0">
                <a:effectLst/>
                <a:latin typeface="Segoe UI" panose="020B0502040204020203" pitchFamily="34" charset="0"/>
                <a:cs typeface="Segoe UI" panose="020B0502040204020203" pitchFamily="34" charset="0"/>
              </a:rPr>
              <a:t>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1357376-0ABC-4FA0-982B-E2B5DF748A8A}"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A connection failure can result from reconfiguration, firewall settings, connection timeouts, or incorrect login information. Furthermore, if some Azure SQL Database or SQL Managed Instance resources are over capacity, you will not be able to connect.</a:t>
            </a:r>
          </a:p>
          <a:p>
            <a:endParaRPr lang="en-US" b="0" i="0" dirty="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To learn more about connectivity errors for Azure SQL Database and Azure SQL Managed Instance, see </a:t>
            </a:r>
            <a:r>
              <a:rPr lang="en-US" b="0" i="0" u="none" strike="noStrike" dirty="0">
                <a:effectLst/>
                <a:latin typeface="Segoe UI" panose="020B0502040204020203" pitchFamily="34" charset="0"/>
                <a:hlinkClick r:id="rId3"/>
              </a:rPr>
              <a:t>Troubleshooting connectivity issues and other errors with Azure SQL Database and Azure SQL Managed Instance</a:t>
            </a:r>
            <a:r>
              <a:rPr lang="en-US" b="0" i="0" dirty="0">
                <a:solidFill>
                  <a:srgbClr val="171717"/>
                </a:solidFill>
                <a:effectLst/>
                <a:latin typeface="Segoe UI" panose="020B0502040204020203" pitchFamily="34" charset="0"/>
              </a:rPr>
              <a:t>.</a:t>
            </a:r>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9CB0401-4E6E-4AC3-AF42-2FC028CF0D08}"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b="1" dirty="0"/>
              <a:t>1) Which protocol is used by Microsoft Entra ID for Authorization?</a:t>
            </a:r>
          </a:p>
          <a:p>
            <a:r>
              <a:rPr lang="en-SE" dirty="0"/>
              <a:t>✅ </a:t>
            </a:r>
            <a:r>
              <a:rPr lang="en-US" b="1" dirty="0" err="1"/>
              <a:t>Korrekt</a:t>
            </a:r>
            <a:r>
              <a:rPr lang="en-US" b="1" dirty="0"/>
              <a:t>: OAuth</a:t>
            </a:r>
            <a:br>
              <a:rPr lang="en-US" dirty="0"/>
            </a:br>
            <a:r>
              <a:rPr lang="en-US" i="1" dirty="0" err="1"/>
              <a:t>OAuth</a:t>
            </a:r>
            <a:r>
              <a:rPr lang="en-US" i="1" dirty="0"/>
              <a:t> </a:t>
            </a:r>
            <a:r>
              <a:rPr lang="en-US" i="1" dirty="0" err="1"/>
              <a:t>används</a:t>
            </a:r>
            <a:r>
              <a:rPr lang="en-US" i="1" dirty="0"/>
              <a:t> för </a:t>
            </a:r>
            <a:r>
              <a:rPr lang="en-US" i="1" dirty="0" err="1"/>
              <a:t>delegerad</a:t>
            </a:r>
            <a:r>
              <a:rPr lang="en-US" i="1" dirty="0"/>
              <a:t> </a:t>
            </a:r>
            <a:r>
              <a:rPr lang="en-US" i="1" dirty="0" err="1"/>
              <a:t>åtkomst</a:t>
            </a:r>
            <a:r>
              <a:rPr lang="en-US" i="1" dirty="0"/>
              <a:t> och </a:t>
            </a:r>
            <a:r>
              <a:rPr lang="en-US" i="1" dirty="0" err="1"/>
              <a:t>tokenbaserad</a:t>
            </a:r>
            <a:r>
              <a:rPr lang="en-US" i="1" dirty="0"/>
              <a:t> </a:t>
            </a:r>
            <a:r>
              <a:rPr lang="en-US" i="1" dirty="0" err="1"/>
              <a:t>auktorisering</a:t>
            </a:r>
            <a:r>
              <a:rPr lang="en-US" i="1" dirty="0"/>
              <a:t>.</a:t>
            </a:r>
            <a:endParaRPr lang="en-US" dirty="0"/>
          </a:p>
          <a:p>
            <a:r>
              <a:rPr lang="en-SE" dirty="0"/>
              <a:t>❌ </a:t>
            </a:r>
            <a:r>
              <a:rPr lang="en-US" b="1" dirty="0" err="1"/>
              <a:t>Felaktigt</a:t>
            </a:r>
            <a:r>
              <a:rPr lang="en-US" b="1" dirty="0"/>
              <a:t>: Kerberos</a:t>
            </a:r>
            <a:br>
              <a:rPr lang="en-US" dirty="0"/>
            </a:br>
            <a:r>
              <a:rPr lang="en-US" i="1" dirty="0" err="1"/>
              <a:t>Kerberos</a:t>
            </a:r>
            <a:r>
              <a:rPr lang="en-US" i="1" dirty="0"/>
              <a:t> </a:t>
            </a:r>
            <a:r>
              <a:rPr lang="en-US" i="1" dirty="0" err="1"/>
              <a:t>används</a:t>
            </a:r>
            <a:r>
              <a:rPr lang="en-US" i="1" dirty="0"/>
              <a:t> </a:t>
            </a:r>
            <a:r>
              <a:rPr lang="en-US" i="1" dirty="0" err="1"/>
              <a:t>främst</a:t>
            </a:r>
            <a:r>
              <a:rPr lang="en-US" i="1" dirty="0"/>
              <a:t> </a:t>
            </a:r>
            <a:r>
              <a:rPr lang="en-US" i="1" dirty="0" err="1"/>
              <a:t>i</a:t>
            </a:r>
            <a:r>
              <a:rPr lang="en-US" i="1" dirty="0"/>
              <a:t> AD DS för Windows-</a:t>
            </a:r>
            <a:r>
              <a:rPr lang="en-US" i="1" dirty="0" err="1"/>
              <a:t>domäner</a:t>
            </a:r>
            <a:r>
              <a:rPr lang="en-US" i="1" dirty="0"/>
              <a:t>.</a:t>
            </a:r>
            <a:endParaRPr lang="en-US" dirty="0"/>
          </a:p>
          <a:p>
            <a:r>
              <a:rPr lang="en-SE" dirty="0"/>
              <a:t>❌ </a:t>
            </a:r>
            <a:r>
              <a:rPr lang="en-US" b="1" dirty="0" err="1"/>
              <a:t>Felaktigt</a:t>
            </a:r>
            <a:r>
              <a:rPr lang="en-US" b="1" dirty="0"/>
              <a:t>: LDAP</a:t>
            </a:r>
            <a:br>
              <a:rPr lang="en-US" dirty="0"/>
            </a:br>
            <a:r>
              <a:rPr lang="en-US" i="1" dirty="0" err="1"/>
              <a:t>LDAP</a:t>
            </a:r>
            <a:r>
              <a:rPr lang="en-US" i="1" dirty="0"/>
              <a:t> </a:t>
            </a:r>
            <a:r>
              <a:rPr lang="en-US" i="1" dirty="0" err="1"/>
              <a:t>är</a:t>
            </a:r>
            <a:r>
              <a:rPr lang="en-US" i="1" dirty="0"/>
              <a:t> </a:t>
            </a:r>
            <a:r>
              <a:rPr lang="en-US" i="1" dirty="0" err="1"/>
              <a:t>ett</a:t>
            </a:r>
            <a:r>
              <a:rPr lang="en-US" i="1" dirty="0"/>
              <a:t> </a:t>
            </a:r>
            <a:r>
              <a:rPr lang="en-US" i="1" dirty="0" err="1"/>
              <a:t>katalogprotokoll</a:t>
            </a:r>
            <a:r>
              <a:rPr lang="en-US" i="1" dirty="0"/>
              <a:t>, </a:t>
            </a:r>
            <a:r>
              <a:rPr lang="en-US" i="1" dirty="0" err="1"/>
              <a:t>inte</a:t>
            </a:r>
            <a:r>
              <a:rPr lang="en-US" i="1" dirty="0"/>
              <a:t> </a:t>
            </a:r>
            <a:r>
              <a:rPr lang="en-US" i="1" dirty="0" err="1"/>
              <a:t>ett</a:t>
            </a:r>
            <a:r>
              <a:rPr lang="en-US" i="1" dirty="0"/>
              <a:t> </a:t>
            </a:r>
            <a:r>
              <a:rPr lang="en-US" i="1" dirty="0" err="1"/>
              <a:t>auktoriseringsprotokoll</a:t>
            </a:r>
            <a:r>
              <a:rPr lang="en-US" i="1" dirty="0"/>
              <a:t>.</a:t>
            </a:r>
            <a:endParaRPr lang="en-US" dirty="0"/>
          </a:p>
          <a:p>
            <a:br>
              <a:rPr lang="en-US" dirty="0"/>
            </a:br>
            <a:endParaRPr lang="en-US" dirty="0"/>
          </a:p>
          <a:p>
            <a:r>
              <a:rPr lang="en-US" b="1" dirty="0"/>
              <a:t>2) What feature allows a user to execute a stored procedure…?</a:t>
            </a:r>
          </a:p>
          <a:p>
            <a:r>
              <a:rPr lang="en-SE" dirty="0"/>
              <a:t>✅ </a:t>
            </a:r>
            <a:r>
              <a:rPr lang="en-US" b="1" dirty="0" err="1"/>
              <a:t>Korrekt</a:t>
            </a:r>
            <a:r>
              <a:rPr lang="en-US" b="1" dirty="0"/>
              <a:t>: Ownership Chaining</a:t>
            </a:r>
            <a:br>
              <a:rPr lang="en-US" dirty="0"/>
            </a:br>
            <a:r>
              <a:rPr lang="en-US" i="1" dirty="0"/>
              <a:t>Ownership chaining </a:t>
            </a:r>
            <a:r>
              <a:rPr lang="en-US" i="1" dirty="0" err="1"/>
              <a:t>låter</a:t>
            </a:r>
            <a:r>
              <a:rPr lang="en-US" i="1" dirty="0"/>
              <a:t> </a:t>
            </a:r>
            <a:r>
              <a:rPr lang="en-US" i="1" dirty="0" err="1"/>
              <a:t>procedurer</a:t>
            </a:r>
            <a:r>
              <a:rPr lang="en-US" i="1" dirty="0"/>
              <a:t> </a:t>
            </a:r>
            <a:r>
              <a:rPr lang="en-US" i="1" dirty="0" err="1"/>
              <a:t>använda</a:t>
            </a:r>
            <a:r>
              <a:rPr lang="en-US" i="1" dirty="0"/>
              <a:t> </a:t>
            </a:r>
            <a:r>
              <a:rPr lang="en-US" i="1" dirty="0" err="1"/>
              <a:t>ägarens</a:t>
            </a:r>
            <a:r>
              <a:rPr lang="en-US" i="1" dirty="0"/>
              <a:t> </a:t>
            </a:r>
            <a:r>
              <a:rPr lang="en-US" i="1" dirty="0" err="1"/>
              <a:t>behörigheter</a:t>
            </a:r>
            <a:r>
              <a:rPr lang="en-US" i="1" dirty="0"/>
              <a:t> </a:t>
            </a:r>
            <a:r>
              <a:rPr lang="en-US" i="1" dirty="0" err="1"/>
              <a:t>på</a:t>
            </a:r>
            <a:r>
              <a:rPr lang="en-US" i="1" dirty="0"/>
              <a:t> </a:t>
            </a:r>
            <a:r>
              <a:rPr lang="en-US" i="1" dirty="0" err="1"/>
              <a:t>objekt</a:t>
            </a:r>
            <a:r>
              <a:rPr lang="en-US" i="1" dirty="0"/>
              <a:t>.</a:t>
            </a:r>
            <a:endParaRPr lang="en-US" dirty="0"/>
          </a:p>
          <a:p>
            <a:r>
              <a:rPr lang="en-SE" dirty="0"/>
              <a:t>❌ </a:t>
            </a:r>
            <a:r>
              <a:rPr lang="en-US" b="1" dirty="0" err="1"/>
              <a:t>Felaktigt</a:t>
            </a:r>
            <a:r>
              <a:rPr lang="en-US" b="1" dirty="0"/>
              <a:t>: Principle of Least Privilege</a:t>
            </a:r>
            <a:br>
              <a:rPr lang="en-US" dirty="0"/>
            </a:br>
            <a:r>
              <a:rPr lang="en-US" i="1" dirty="0"/>
              <a:t>Least privilege </a:t>
            </a:r>
            <a:r>
              <a:rPr lang="en-US" i="1" dirty="0" err="1"/>
              <a:t>är</a:t>
            </a:r>
            <a:r>
              <a:rPr lang="en-US" i="1" dirty="0"/>
              <a:t> </a:t>
            </a:r>
            <a:r>
              <a:rPr lang="en-US" i="1" dirty="0" err="1"/>
              <a:t>en</a:t>
            </a:r>
            <a:r>
              <a:rPr lang="en-US" i="1" dirty="0"/>
              <a:t> </a:t>
            </a:r>
            <a:r>
              <a:rPr lang="en-US" i="1" dirty="0" err="1"/>
              <a:t>säkerhetsprincip</a:t>
            </a:r>
            <a:r>
              <a:rPr lang="en-US" i="1" dirty="0"/>
              <a:t>, </a:t>
            </a:r>
            <a:r>
              <a:rPr lang="en-US" i="1" dirty="0" err="1"/>
              <a:t>inte</a:t>
            </a:r>
            <a:r>
              <a:rPr lang="en-US" i="1" dirty="0"/>
              <a:t> </a:t>
            </a:r>
            <a:r>
              <a:rPr lang="en-US" i="1" dirty="0" err="1"/>
              <a:t>en</a:t>
            </a:r>
            <a:r>
              <a:rPr lang="en-US" i="1" dirty="0"/>
              <a:t> SQL-</a:t>
            </a:r>
            <a:r>
              <a:rPr lang="en-US" i="1" dirty="0" err="1"/>
              <a:t>funktion</a:t>
            </a:r>
            <a:r>
              <a:rPr lang="en-US" i="1" dirty="0"/>
              <a:t>.</a:t>
            </a:r>
            <a:endParaRPr lang="en-US" dirty="0"/>
          </a:p>
          <a:p>
            <a:r>
              <a:rPr lang="en-SE" dirty="0"/>
              <a:t>❌ </a:t>
            </a:r>
            <a:r>
              <a:rPr lang="en-US" b="1" dirty="0" err="1"/>
              <a:t>Felaktigt</a:t>
            </a:r>
            <a:r>
              <a:rPr lang="en-US" b="1" dirty="0"/>
              <a:t>: Granular Security</a:t>
            </a:r>
            <a:br>
              <a:rPr lang="en-US" dirty="0"/>
            </a:br>
            <a:r>
              <a:rPr lang="en-US" i="1" dirty="0"/>
              <a:t>Granular security </a:t>
            </a:r>
            <a:r>
              <a:rPr lang="en-US" i="1" dirty="0" err="1"/>
              <a:t>är</a:t>
            </a:r>
            <a:r>
              <a:rPr lang="en-US" i="1" dirty="0"/>
              <a:t> </a:t>
            </a:r>
            <a:r>
              <a:rPr lang="en-US" i="1" dirty="0" err="1"/>
              <a:t>ett</a:t>
            </a:r>
            <a:r>
              <a:rPr lang="en-US" i="1" dirty="0"/>
              <a:t> </a:t>
            </a:r>
            <a:r>
              <a:rPr lang="en-US" i="1" dirty="0" err="1"/>
              <a:t>begrepp</a:t>
            </a:r>
            <a:r>
              <a:rPr lang="en-US" i="1" dirty="0"/>
              <a:t>, </a:t>
            </a:r>
            <a:r>
              <a:rPr lang="en-US" i="1" dirty="0" err="1"/>
              <a:t>inte</a:t>
            </a:r>
            <a:r>
              <a:rPr lang="en-US" i="1" dirty="0"/>
              <a:t> </a:t>
            </a:r>
            <a:r>
              <a:rPr lang="en-US" i="1" dirty="0" err="1"/>
              <a:t>en</a:t>
            </a:r>
            <a:r>
              <a:rPr lang="en-US" i="1" dirty="0"/>
              <a:t> </a:t>
            </a:r>
            <a:r>
              <a:rPr lang="en-US" i="1" dirty="0" err="1"/>
              <a:t>specifik</a:t>
            </a:r>
            <a:r>
              <a:rPr lang="en-US" i="1" dirty="0"/>
              <a:t> </a:t>
            </a:r>
            <a:r>
              <a:rPr lang="en-US" i="1" dirty="0" err="1"/>
              <a:t>mekanism</a:t>
            </a:r>
            <a:r>
              <a:rPr lang="en-US" i="1" dirty="0"/>
              <a:t>.</a:t>
            </a:r>
            <a:endParaRPr lang="en-US" dirty="0"/>
          </a:p>
          <a:p>
            <a:br>
              <a:rPr lang="en-US" dirty="0"/>
            </a:br>
            <a:endParaRPr lang="en-US" dirty="0"/>
          </a:p>
          <a:p>
            <a:r>
              <a:rPr lang="en-US" b="1" dirty="0"/>
              <a:t>3) Which role allows users to create users within a database?</a:t>
            </a:r>
          </a:p>
          <a:p>
            <a:r>
              <a:rPr lang="en-SE" dirty="0"/>
              <a:t>✅ </a:t>
            </a:r>
            <a:r>
              <a:rPr lang="en-US" b="1" dirty="0" err="1"/>
              <a:t>Korrekt</a:t>
            </a:r>
            <a:r>
              <a:rPr lang="en-US" b="1" dirty="0"/>
              <a:t>: </a:t>
            </a:r>
            <a:r>
              <a:rPr lang="en-US" b="1" dirty="0" err="1"/>
              <a:t>db_accessadmin</a:t>
            </a:r>
            <a:br>
              <a:rPr lang="en-US" dirty="0"/>
            </a:br>
            <a:r>
              <a:rPr lang="en-US" i="1" dirty="0" err="1"/>
              <a:t>db_accessadmin</a:t>
            </a:r>
            <a:r>
              <a:rPr lang="en-US" i="1" dirty="0"/>
              <a:t> </a:t>
            </a:r>
            <a:r>
              <a:rPr lang="en-US" i="1" dirty="0" err="1"/>
              <a:t>kan</a:t>
            </a:r>
            <a:r>
              <a:rPr lang="en-US" i="1" dirty="0"/>
              <a:t> </a:t>
            </a:r>
            <a:r>
              <a:rPr lang="en-US" i="1" dirty="0" err="1"/>
              <a:t>lägga</a:t>
            </a:r>
            <a:r>
              <a:rPr lang="en-US" i="1" dirty="0"/>
              <a:t> till och ta bort </a:t>
            </a:r>
            <a:r>
              <a:rPr lang="en-US" i="1" dirty="0" err="1"/>
              <a:t>användare</a:t>
            </a:r>
            <a:r>
              <a:rPr lang="en-US" i="1" dirty="0"/>
              <a:t> </a:t>
            </a:r>
            <a:r>
              <a:rPr lang="en-US" i="1" dirty="0" err="1"/>
              <a:t>i</a:t>
            </a:r>
            <a:r>
              <a:rPr lang="en-US" i="1" dirty="0"/>
              <a:t> </a:t>
            </a:r>
            <a:r>
              <a:rPr lang="en-US" i="1" dirty="0" err="1"/>
              <a:t>databasen</a:t>
            </a:r>
            <a:r>
              <a:rPr lang="en-US" i="1" dirty="0"/>
              <a:t>.</a:t>
            </a:r>
            <a:endParaRPr lang="en-US" dirty="0"/>
          </a:p>
          <a:p>
            <a:r>
              <a:rPr lang="en-SE" dirty="0"/>
              <a:t>❌ </a:t>
            </a:r>
            <a:r>
              <a:rPr lang="en-US" b="1" dirty="0" err="1"/>
              <a:t>Felaktigt</a:t>
            </a:r>
            <a:r>
              <a:rPr lang="en-US" b="1" dirty="0"/>
              <a:t>: </a:t>
            </a:r>
            <a:r>
              <a:rPr lang="en-US" b="1" dirty="0" err="1"/>
              <a:t>db_datareader</a:t>
            </a:r>
            <a:br>
              <a:rPr lang="en-US" dirty="0"/>
            </a:br>
            <a:r>
              <a:rPr lang="en-US" i="1" dirty="0" err="1"/>
              <a:t>db_datareader</a:t>
            </a:r>
            <a:r>
              <a:rPr lang="en-US" i="1" dirty="0"/>
              <a:t> ger bara SELECT-</a:t>
            </a:r>
            <a:r>
              <a:rPr lang="en-US" i="1" dirty="0" err="1"/>
              <a:t>rättigheter</a:t>
            </a:r>
            <a:r>
              <a:rPr lang="en-US" i="1" dirty="0"/>
              <a:t>, </a:t>
            </a:r>
            <a:r>
              <a:rPr lang="en-US" i="1" dirty="0" err="1"/>
              <a:t>inte</a:t>
            </a:r>
            <a:r>
              <a:rPr lang="en-US" i="1" dirty="0"/>
              <a:t> </a:t>
            </a:r>
            <a:r>
              <a:rPr lang="en-US" i="1" dirty="0" err="1"/>
              <a:t>användarhantering</a:t>
            </a:r>
            <a:r>
              <a:rPr lang="en-US" i="1" dirty="0"/>
              <a:t>.</a:t>
            </a:r>
            <a:endParaRPr lang="en-US" dirty="0"/>
          </a:p>
          <a:p>
            <a:r>
              <a:rPr lang="en-SE" dirty="0"/>
              <a:t>❌ </a:t>
            </a:r>
            <a:r>
              <a:rPr lang="en-US" b="1" dirty="0" err="1"/>
              <a:t>Felaktigt</a:t>
            </a:r>
            <a:r>
              <a:rPr lang="en-US" b="1" dirty="0"/>
              <a:t>: </a:t>
            </a:r>
            <a:r>
              <a:rPr lang="en-US" b="1" dirty="0" err="1"/>
              <a:t>db_securityadmin</a:t>
            </a:r>
            <a:br>
              <a:rPr lang="en-US" dirty="0"/>
            </a:br>
            <a:r>
              <a:rPr lang="en-US" i="1" dirty="0" err="1"/>
              <a:t>db_securityadmin</a:t>
            </a:r>
            <a:r>
              <a:rPr lang="en-US" i="1" dirty="0"/>
              <a:t> </a:t>
            </a:r>
            <a:r>
              <a:rPr lang="en-US" i="1" dirty="0" err="1"/>
              <a:t>hanterar</a:t>
            </a:r>
            <a:r>
              <a:rPr lang="en-US" i="1" dirty="0"/>
              <a:t> </a:t>
            </a:r>
            <a:r>
              <a:rPr lang="en-US" i="1" dirty="0" err="1"/>
              <a:t>behörigheter</a:t>
            </a:r>
            <a:r>
              <a:rPr lang="en-US" i="1" dirty="0"/>
              <a:t>, </a:t>
            </a:r>
            <a:r>
              <a:rPr lang="en-US" i="1" dirty="0" err="1"/>
              <a:t>inte</a:t>
            </a:r>
            <a:r>
              <a:rPr lang="en-US" i="1" dirty="0"/>
              <a:t> </a:t>
            </a:r>
            <a:r>
              <a:rPr lang="en-US" i="1" dirty="0" err="1"/>
              <a:t>själva</a:t>
            </a:r>
            <a:r>
              <a:rPr lang="en-US" i="1" dirty="0"/>
              <a:t> </a:t>
            </a:r>
            <a:r>
              <a:rPr lang="en-US" i="1" dirty="0" err="1"/>
              <a:t>användarskapandet</a:t>
            </a:r>
            <a:r>
              <a:rPr lang="en-US" i="1" dirty="0"/>
              <a:t>.</a:t>
            </a:r>
            <a:endParaRPr lang="en-US" dirty="0"/>
          </a:p>
          <a:p>
            <a:br>
              <a:rPr lang="en-US" dirty="0"/>
            </a:br>
            <a:endParaRPr lang="en-US" dirty="0"/>
          </a:p>
          <a:p>
            <a:endParaRPr lang="en-US" dirty="0"/>
          </a:p>
          <a:p>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725DA413-2E63-46DC-8998-AB087CB8B53B}"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en-US" altLang="zh-CN" sz="880" dirty="0"/>
              <a:t>https://microsoftlearning.github.io/dp-300-database-administrator/Instructions/Labs/03-authorize-access-azure-sql-database.html</a:t>
            </a:r>
          </a:p>
        </p:txBody>
      </p:sp>
      <p:sp>
        <p:nvSpPr>
          <p:cNvPr id="4" name="页眉占位符 3"/>
          <p:cNvSpPr>
            <a:spLocks noGrp="1"/>
          </p:cNvSpPr>
          <p:nvPr>
            <p:ph type="hdr" sz="quarter"/>
          </p:nvPr>
        </p:nvSpPr>
        <p:spPr/>
        <p:txBody>
          <a:bodyPr/>
          <a:lstStyle/>
          <a:p>
            <a:endParaRPr lang="en-US"/>
          </a:p>
        </p:txBody>
      </p:sp>
      <p:sp>
        <p:nvSpPr>
          <p:cNvPr id="5" name="页脚占位符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日期占位符 5"/>
          <p:cNvSpPr>
            <a:spLocks noGrp="1"/>
          </p:cNvSpPr>
          <p:nvPr>
            <p:ph type="dt" idx="1"/>
          </p:nvPr>
        </p:nvSpPr>
        <p:spPr/>
        <p:txBody>
          <a:bodyPr/>
          <a:lstStyle/>
          <a:p>
            <a:fld id="{4DD22952-B5D2-4F0C-B5C3-B429835D4500}" type="datetime8">
              <a:rPr lang="en-US" smtClean="0"/>
              <a:t>2/9/2026 8:13 PM</a:t>
            </a:fld>
            <a:endParaRPr lang="en-US"/>
          </a:p>
        </p:txBody>
      </p:sp>
      <p:sp>
        <p:nvSpPr>
          <p:cNvPr id="7" name="灯片编号占位符 6"/>
          <p:cNvSpPr>
            <a:spLocks noGrp="1"/>
          </p:cNvSpPr>
          <p:nvPr>
            <p:ph type="sldNum" sz="quarter" idx="5"/>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41813935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0" kern="1200" dirty="0">
                <a:solidFill>
                  <a:schemeClr val="tx1"/>
                </a:solidFill>
                <a:effectLst/>
                <a:latin typeface="Segoe UI" panose="020B0502040204020203" pitchFamily="34" charset="0"/>
                <a:ea typeface="+mn-ea"/>
                <a:cs typeface="Segoe UI" panose="020B0502040204020203" pitchFamily="34" charset="0"/>
              </a:rPr>
              <a:t>This module explores the encryption options available within Azure SQL. Each of the various platforms support different database encryption options. In this lesion students will explore these data encryption options and how to configure them.</a:t>
            </a: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D376F273-108B-4338-ADBB-430417AEE6FC}"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39393780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44E37A7E-10A5-48BA-8FF4-485F859B3AB7}"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2228195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b="1" dirty="0" err="1"/>
              <a:t>Encryption</a:t>
            </a:r>
            <a:r>
              <a:rPr lang="sv-SE" b="1" dirty="0"/>
              <a:t> at rest</a:t>
            </a:r>
            <a:r>
              <a:rPr lang="sv-SE" dirty="0"/>
              <a:t> innebär att data skyddas när den ligger lagrad på disk, till exempel i datafiler, transaktionsloggar och säkerhetskopior. Syftet är att hindra obehöriga från att kunna läsa informationen om filer eller diskar kopieras eller stjäls. I SQL Server och </a:t>
            </a:r>
            <a:r>
              <a:rPr lang="sv-SE" dirty="0" err="1"/>
              <a:t>Azure</a:t>
            </a:r>
            <a:r>
              <a:rPr lang="sv-SE" dirty="0"/>
              <a:t> SQL </a:t>
            </a:r>
            <a:r>
              <a:rPr lang="sv-SE" dirty="0" err="1"/>
              <a:t>Database</a:t>
            </a:r>
            <a:r>
              <a:rPr lang="sv-SE" dirty="0"/>
              <a:t> implementeras detta vanligtvis med </a:t>
            </a:r>
            <a:r>
              <a:rPr lang="sv-SE" b="1" dirty="0"/>
              <a:t>Transparent Data </a:t>
            </a:r>
            <a:r>
              <a:rPr lang="sv-SE" b="1" dirty="0" err="1"/>
              <a:t>Encryption</a:t>
            </a:r>
            <a:r>
              <a:rPr lang="sv-SE" b="1" dirty="0"/>
              <a:t> (TDE)</a:t>
            </a:r>
            <a:r>
              <a:rPr lang="sv-SE" dirty="0"/>
              <a:t>, som krypterar databasen automatiskt utan att applikationer behöver ändras. För SQL Server som körs på virtuella maskiner i </a:t>
            </a:r>
            <a:r>
              <a:rPr lang="sv-SE" dirty="0" err="1"/>
              <a:t>Azure</a:t>
            </a:r>
            <a:r>
              <a:rPr lang="sv-SE" dirty="0"/>
              <a:t> kan man dessutom kryptera </a:t>
            </a:r>
            <a:r>
              <a:rPr lang="sv-SE" b="1" dirty="0"/>
              <a:t>VM-diskar</a:t>
            </a:r>
            <a:r>
              <a:rPr lang="sv-SE" dirty="0"/>
              <a:t> för ett extra skyddslager utöver TDE. Grundprincipen är att kryptera lagringsmedia innan känslig data skrivs.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880" kern="1200" dirty="0">
                <a:solidFill>
                  <a:schemeClr val="tx1"/>
                </a:solidFill>
                <a:effectLst/>
                <a:latin typeface="Segoe UI" panose="020B0502040204020203" pitchFamily="34" charset="0"/>
                <a:ea typeface="+mn-ea"/>
                <a:cs typeface="Segoe UI" panose="020B0502040204020203" pitchFamily="34" charset="0"/>
              </a:rPr>
              <a:t>It is important to understand exactly what encryption at rest entails. Encryption at rest does not inherently encrypt data within the database. This provides protection against someone restoring a backup to an unsecured server or making a copy of a database and transaction log file and attaching it to another unsecured server. Encryption at rest does not protect data within a database from user access or prevent data exfiltration by a malicious user.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880" kern="1200" dirty="0">
              <a:solidFill>
                <a:schemeClr val="tx1"/>
              </a:solidFill>
              <a:effectLst/>
              <a:latin typeface="Segoe UI" panose="020B0502040204020203" pitchFamily="34" charset="0"/>
              <a:ea typeface="+mn-ea"/>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Data at rest is the data that has been stored on a physical medium. Data is unreadable without the keys and secrets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80" b="1" kern="1200" dirty="0">
                <a:solidFill>
                  <a:schemeClr val="tx1"/>
                </a:solidFill>
                <a:effectLst/>
                <a:latin typeface="Segoe UI" panose="020B0502040204020203" pitchFamily="34" charset="0"/>
                <a:ea typeface="+mn-ea"/>
                <a:cs typeface="Segoe UI" panose="020B0502040204020203" pitchFamily="34" charset="0"/>
              </a:rPr>
              <a:t>Azure Disk Encryption </a:t>
            </a:r>
            <a:r>
              <a:rPr lang="en-US" sz="880" kern="1200" dirty="0">
                <a:solidFill>
                  <a:schemeClr val="tx1"/>
                </a:solidFill>
                <a:effectLst/>
                <a:latin typeface="Segoe UI" panose="020B0502040204020203" pitchFamily="34" charset="0"/>
                <a:ea typeface="+mn-ea"/>
                <a:cs typeface="Segoe UI" panose="020B0502040204020203" pitchFamily="34" charset="0"/>
              </a:rPr>
              <a:t>uses Windows BitLocker, Linux dm-crypt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80" b="1" kern="1200" dirty="0">
                <a:solidFill>
                  <a:schemeClr val="tx1"/>
                </a:solidFill>
                <a:effectLst/>
                <a:latin typeface="Segoe UI" panose="020B0502040204020203" pitchFamily="34" charset="0"/>
                <a:ea typeface="+mn-ea"/>
                <a:cs typeface="Segoe UI" panose="020B0502040204020203" pitchFamily="34" charset="0"/>
              </a:rPr>
              <a:t>Azure Storage </a:t>
            </a:r>
            <a:r>
              <a:rPr lang="en-US" sz="880" kern="1200" dirty="0">
                <a:solidFill>
                  <a:schemeClr val="tx1"/>
                </a:solidFill>
                <a:effectLst/>
                <a:latin typeface="Segoe UI" panose="020B0502040204020203" pitchFamily="34" charset="0"/>
                <a:ea typeface="+mn-ea"/>
                <a:cs typeface="Segoe UI" panose="020B0502040204020203" pitchFamily="34" charset="0"/>
              </a:rPr>
              <a:t>(Azure Storage Service Encryption) and Azure SQL Database (</a:t>
            </a:r>
            <a:r>
              <a:rPr lang="en-US" sz="880" b="1" kern="1200" dirty="0">
                <a:solidFill>
                  <a:schemeClr val="tx1"/>
                </a:solidFill>
                <a:effectLst/>
                <a:latin typeface="Segoe UI" panose="020B0502040204020203" pitchFamily="34" charset="0"/>
                <a:ea typeface="+mn-ea"/>
                <a:cs typeface="Segoe UI" panose="020B0502040204020203" pitchFamily="34" charset="0"/>
              </a:rPr>
              <a:t>TDE</a:t>
            </a:r>
            <a:r>
              <a:rPr lang="en-US" sz="880" kern="1200" dirty="0">
                <a:solidFill>
                  <a:schemeClr val="tx1"/>
                </a:solidFill>
                <a:effectLst/>
                <a:latin typeface="Segoe UI" panose="020B0502040204020203" pitchFamily="34" charset="0"/>
                <a:ea typeface="+mn-ea"/>
                <a:cs typeface="Segoe UI" panose="020B0502040204020203" pitchFamily="34" charset="0"/>
              </a:rPr>
              <a:t>) encrypt data at rest by default​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Use </a:t>
            </a:r>
            <a:r>
              <a:rPr lang="en-US" sz="880" b="1" kern="1200" dirty="0">
                <a:solidFill>
                  <a:schemeClr val="tx1"/>
                </a:solidFill>
                <a:effectLst/>
                <a:latin typeface="Segoe UI" panose="020B0502040204020203" pitchFamily="34" charset="0"/>
                <a:ea typeface="+mn-ea"/>
                <a:cs typeface="Segoe UI" panose="020B0502040204020203" pitchFamily="34" charset="0"/>
              </a:rPr>
              <a:t>Azure Key Vault </a:t>
            </a:r>
            <a:r>
              <a:rPr lang="en-US" sz="880" kern="1200" dirty="0">
                <a:solidFill>
                  <a:schemeClr val="tx1"/>
                </a:solidFill>
                <a:effectLst/>
                <a:latin typeface="Segoe UI" panose="020B0502040204020203" pitchFamily="34" charset="0"/>
                <a:ea typeface="+mn-ea"/>
                <a:cs typeface="Segoe UI" panose="020B0502040204020203" pitchFamily="34" charset="0"/>
              </a:rPr>
              <a:t>to maintain control of keys</a:t>
            </a:r>
          </a:p>
          <a:p>
            <a:pPr algn="l"/>
            <a:endParaRPr lang="en-US" sz="880" b="0" i="0" dirty="0">
              <a:solidFill>
                <a:srgbClr val="171717"/>
              </a:solidFill>
              <a:effectLst/>
              <a:latin typeface="Segoe UI" panose="020B0502040204020203" pitchFamily="34" charset="0"/>
              <a:cs typeface="Segoe UI" panose="020B0502040204020203" pitchFamily="34" charset="0"/>
            </a:endParaRPr>
          </a:p>
          <a:p>
            <a:pPr algn="l"/>
            <a:r>
              <a:rPr lang="en-US" sz="880" b="0" i="0" dirty="0">
                <a:solidFill>
                  <a:srgbClr val="171717"/>
                </a:solidFill>
                <a:effectLst/>
                <a:latin typeface="Segoe UI" panose="020B0502040204020203" pitchFamily="34" charset="0"/>
                <a:cs typeface="Segoe UI" panose="020B0502040204020203" pitchFamily="34" charset="0"/>
              </a:rPr>
              <a:t>When thinking about data encryption, you should mainly consider three scenarios:</a:t>
            </a:r>
          </a:p>
          <a:p>
            <a:pPr marL="171450" indent="-171450" algn="l">
              <a:buFont typeface="Arial" panose="020B0604020202020204" pitchFamily="34" charset="0"/>
              <a:buChar char="•"/>
            </a:pPr>
            <a:r>
              <a:rPr lang="en-US" sz="880" b="0" i="0" dirty="0">
                <a:solidFill>
                  <a:srgbClr val="171717"/>
                </a:solidFill>
                <a:effectLst/>
                <a:latin typeface="Segoe UI" panose="020B0502040204020203" pitchFamily="34" charset="0"/>
                <a:cs typeface="Segoe UI" panose="020B0502040204020203" pitchFamily="34" charset="0"/>
              </a:rPr>
              <a:t>Encrypting your data at rest, which means encrypting it while it's stored on whatever file storage you use.</a:t>
            </a:r>
          </a:p>
          <a:p>
            <a:pPr marL="171450" indent="-171450" algn="l">
              <a:buFont typeface="Arial" panose="020B0604020202020204" pitchFamily="34" charset="0"/>
              <a:buChar char="•"/>
            </a:pPr>
            <a:r>
              <a:rPr lang="en-US" sz="880" b="0" i="0" dirty="0">
                <a:solidFill>
                  <a:srgbClr val="171717"/>
                </a:solidFill>
                <a:effectLst/>
                <a:latin typeface="Segoe UI" panose="020B0502040204020203" pitchFamily="34" charset="0"/>
                <a:cs typeface="Segoe UI" panose="020B0502040204020203" pitchFamily="34" charset="0"/>
              </a:rPr>
              <a:t>Encrypting your data in transit, which means encrypting data while it travels through private or public network communication channels.</a:t>
            </a:r>
          </a:p>
          <a:p>
            <a:pPr marL="171450" indent="-171450" algn="l">
              <a:buFont typeface="Arial" panose="020B0604020202020204" pitchFamily="34" charset="0"/>
              <a:buChar char="•"/>
            </a:pPr>
            <a:r>
              <a:rPr lang="en-US" sz="880" b="0" i="0" dirty="0">
                <a:solidFill>
                  <a:srgbClr val="171717"/>
                </a:solidFill>
                <a:effectLst/>
                <a:latin typeface="Segoe UI" panose="020B0502040204020203" pitchFamily="34" charset="0"/>
                <a:cs typeface="Segoe UI" panose="020B0502040204020203" pitchFamily="34" charset="0"/>
              </a:rPr>
              <a:t>Encrypting your data in use, which means encrypting it while it's actively used in RAM or CPU caches and registers.</a:t>
            </a: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95DC339B-14AE-4F53-9315-3DB99DF8F845}"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80"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F73E45EA-EA1D-48FC-B046-874FF6C2AC09}"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0" b="0" i="0" u="sng" strike="noStrike" dirty="0">
                <a:solidFill>
                  <a:srgbClr val="0078D4"/>
                </a:solidFill>
                <a:effectLst/>
                <a:latin typeface="Segoe UI" panose="020B0502040204020203" pitchFamily="34" charset="0"/>
              </a:rPr>
              <a:t>Transparent data encryption</a:t>
            </a:r>
            <a:r>
              <a:rPr lang="en-US" sz="880" b="0" i="0" u="none" strike="noStrike" dirty="0">
                <a:solidFill>
                  <a:srgbClr val="000000"/>
                </a:solidFill>
                <a:effectLst/>
                <a:latin typeface="Segoe UI" panose="020B0502040204020203" pitchFamily="34" charset="0"/>
              </a:rPr>
              <a:t>: https://</a:t>
            </a:r>
            <a:r>
              <a:rPr lang="en-US" altLang="zh-CN" sz="880" dirty="0"/>
              <a:t>learn.microsoft.com</a:t>
            </a:r>
            <a:r>
              <a:rPr lang="en-US" sz="880" b="0" i="0" u="none" strike="noStrike" dirty="0">
                <a:solidFill>
                  <a:srgbClr val="000000"/>
                </a:solidFill>
                <a:effectLst/>
                <a:latin typeface="Segoe UI" panose="020B0502040204020203" pitchFamily="34" charset="0"/>
              </a:rPr>
              <a:t>/sql/relational-databases/security/encryption/transparent-data-encryption</a:t>
            </a:r>
            <a:endParaRPr lang="en-US" sz="880" dirty="0"/>
          </a:p>
          <a:p>
            <a:endParaRPr lang="en-US" sz="880" dirty="0"/>
          </a:p>
          <a:p>
            <a:pPr>
              <a:spcAft>
                <a:spcPts val="1800"/>
              </a:spcAft>
            </a:pPr>
            <a:r>
              <a:rPr lang="en-US" sz="1050" dirty="0"/>
              <a:t>Transparent Data Encryption (TDE) works by encrypting data in SQL Server and Azure SQL Database on a page level as the page is written to the disk.</a:t>
            </a:r>
          </a:p>
          <a:p>
            <a:pPr marL="406400" indent="-247650">
              <a:spcAft>
                <a:spcPts val="1800"/>
              </a:spcAft>
              <a:buFont typeface="Arial" panose="020B0604020202020204" pitchFamily="34" charset="0"/>
              <a:buChar char="•"/>
            </a:pPr>
            <a:r>
              <a:rPr lang="en-US" sz="900" dirty="0">
                <a:latin typeface="+mn-lt"/>
              </a:rPr>
              <a:t>TDE is enabled by </a:t>
            </a:r>
            <a:r>
              <a:rPr lang="en-US" sz="900" b="1" dirty="0">
                <a:latin typeface="+mn-lt"/>
              </a:rPr>
              <a:t>default</a:t>
            </a:r>
          </a:p>
          <a:p>
            <a:pPr marL="406400" indent="-247650">
              <a:spcAft>
                <a:spcPts val="1800"/>
              </a:spcAft>
              <a:buFont typeface="Arial" panose="020B0604020202020204" pitchFamily="34" charset="0"/>
              <a:buChar char="•"/>
            </a:pPr>
            <a:r>
              <a:rPr lang="en-US" sz="900" dirty="0">
                <a:latin typeface="+mn-lt"/>
              </a:rPr>
              <a:t>As data is read from the disk to the buffer pool, it is decrypted before being written to the buffer pool</a:t>
            </a:r>
          </a:p>
          <a:p>
            <a:pPr marL="406400" indent="-247650">
              <a:spcAft>
                <a:spcPts val="1800"/>
              </a:spcAft>
              <a:buFont typeface="Arial" panose="020B0604020202020204" pitchFamily="34" charset="0"/>
              <a:buChar char="•"/>
            </a:pPr>
            <a:r>
              <a:rPr lang="en-US" sz="900" dirty="0">
                <a:latin typeface="+mn-lt"/>
              </a:rPr>
              <a:t>Decrypted data is passed to the query processor for joining and returning to the user</a:t>
            </a:r>
          </a:p>
          <a:p>
            <a:pPr marL="406400" indent="-247650">
              <a:spcAft>
                <a:spcPts val="1800"/>
              </a:spcAft>
              <a:buFont typeface="Arial" panose="020B0604020202020204" pitchFamily="34" charset="0"/>
              <a:buChar char="•"/>
            </a:pPr>
            <a:r>
              <a:rPr lang="en-US" sz="900" dirty="0">
                <a:latin typeface="+mn-lt"/>
              </a:rPr>
              <a:t>Data is protected as it rests on the disks, and within the backups. Uses symmetric key called the </a:t>
            </a:r>
            <a:r>
              <a:rPr lang="en-US" sz="900" b="1" dirty="0">
                <a:latin typeface="+mn-lt"/>
              </a:rPr>
              <a:t>database</a:t>
            </a:r>
            <a:r>
              <a:rPr lang="en-US" sz="900" dirty="0">
                <a:latin typeface="+mn-lt"/>
              </a:rPr>
              <a:t> </a:t>
            </a:r>
            <a:r>
              <a:rPr lang="en-US" sz="900" b="1" dirty="0">
                <a:latin typeface="+mn-lt"/>
              </a:rPr>
              <a:t>encryption key</a:t>
            </a:r>
          </a:p>
          <a:p>
            <a:endParaRPr lang="en-US" sz="880" dirty="0"/>
          </a:p>
          <a:p>
            <a:pPr algn="l"/>
            <a:r>
              <a:rPr lang="en-US" b="0" i="0" dirty="0">
                <a:solidFill>
                  <a:srgbClr val="171717"/>
                </a:solidFill>
                <a:effectLst/>
                <a:latin typeface="Segoe UI" panose="020B0502040204020203" pitchFamily="34" charset="0"/>
              </a:rPr>
              <a:t>Enabling TDE within a Microsoft SQL Server Database is an easy process as only a few T-SQL commands are required. This process involves the following steps:</a:t>
            </a:r>
          </a:p>
          <a:p>
            <a:pPr algn="l"/>
            <a:endParaRPr lang="en-US" b="0" i="0" dirty="0">
              <a:solidFill>
                <a:srgbClr val="171717"/>
              </a:solidFill>
              <a:effectLst/>
              <a:latin typeface="Segoe UI" panose="020B0502040204020203" pitchFamily="34" charset="0"/>
            </a:endParaRPr>
          </a:p>
          <a:p>
            <a:pPr algn="l">
              <a:buFont typeface="+mj-lt"/>
              <a:buAutoNum type="arabicPeriod"/>
            </a:pPr>
            <a:r>
              <a:rPr lang="en-US" b="0" i="0" dirty="0">
                <a:solidFill>
                  <a:srgbClr val="171717"/>
                </a:solidFill>
                <a:effectLst/>
                <a:latin typeface="Segoe UI" panose="020B0502040204020203" pitchFamily="34" charset="0"/>
              </a:rPr>
              <a:t>Set a master key within the master database using the CREATE MASTER KEY ENCRYPTION command.</a:t>
            </a:r>
          </a:p>
          <a:p>
            <a:pPr algn="l">
              <a:buFont typeface="+mj-lt"/>
              <a:buAutoNum type="arabicPeriod"/>
            </a:pPr>
            <a:r>
              <a:rPr lang="en-US" b="0" i="0" dirty="0">
                <a:solidFill>
                  <a:srgbClr val="171717"/>
                </a:solidFill>
                <a:effectLst/>
                <a:latin typeface="Segoe UI" panose="020B0502040204020203" pitchFamily="34" charset="0"/>
              </a:rPr>
              <a:t>Create a certificate in the master database, which will be used for the encryption using the CREATE CERTIFICATE command.</a:t>
            </a:r>
          </a:p>
          <a:p>
            <a:pPr algn="l">
              <a:buFont typeface="+mj-lt"/>
              <a:buAutoNum type="arabicPeriod"/>
            </a:pPr>
            <a:r>
              <a:rPr lang="en-US" b="0" i="0" dirty="0">
                <a:solidFill>
                  <a:srgbClr val="171717"/>
                </a:solidFill>
                <a:effectLst/>
                <a:latin typeface="Segoe UI" panose="020B0502040204020203" pitchFamily="34" charset="0"/>
              </a:rPr>
              <a:t>Create a database encryption key within the database, which allows you to enable TDE with the CREATE DATABASE ENCRYPTION KEY command.</a:t>
            </a:r>
          </a:p>
          <a:p>
            <a:pPr algn="l">
              <a:buFont typeface="+mj-lt"/>
              <a:buAutoNum type="arabicPeriod"/>
            </a:pPr>
            <a:r>
              <a:rPr lang="en-US" b="0" i="0" dirty="0">
                <a:solidFill>
                  <a:srgbClr val="171717"/>
                </a:solidFill>
                <a:effectLst/>
                <a:latin typeface="Segoe UI" panose="020B0502040204020203" pitchFamily="34" charset="0"/>
              </a:rPr>
              <a:t>Once the encryption key is created, it needs to be enabled using the ALTER DATABASE command.</a:t>
            </a:r>
          </a:p>
          <a:p>
            <a:endParaRPr lang="en-US" sz="880"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087C6098-16F2-4F26-B2CF-82ABF8AA9E35}"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CA" sz="880" kern="1200" dirty="0">
                <a:solidFill>
                  <a:schemeClr val="tx1"/>
                </a:solidFill>
                <a:effectLst/>
                <a:latin typeface="Segoe UI" panose="020B0502040204020203" pitchFamily="34" charset="0"/>
                <a:ea typeface="+mn-ea"/>
                <a:cs typeface="Segoe UI" panose="020B0502040204020203" pitchFamily="34" charset="0"/>
              </a:rPr>
              <a:t>Once the certificate that will be used by TDE has been created, it must be manually backed up and stored in a safe place. SQL Server integrates with Enterprise Key Managers (EKMs) in order to manage encryption keys. An example of an EKM is Azure Key Vault; you can find instructions on integrated SQL Server TDE and Azure Key Vault in the additional resources section of this module. Managing the category is extremely important, because if the certificate is lost and the database backup needs to be restored it will not be able to be restored, as the database cannot be read. To use TDE with databases in an Always On Availability Group, the certificate used to encrypt the database must be backed up and restored to the other servers within the Availability Group which will be hosting copies of the database.</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88153CD-0A12-4AD6-BDDB-0A2C2BC34023}"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access through a firewall is opened, anyone at the source IP address has access through to the databases on the Azure SQL server.</a:t>
            </a:r>
          </a:p>
          <a:p>
            <a:endParaRPr lang="en-US" dirty="0"/>
          </a:p>
          <a:p>
            <a:r>
              <a:rPr lang="en-US" dirty="0"/>
              <a:t>Firewall rules should be modified carefully.</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B832EED-5A5A-4FD3-A62A-93D162D6F852}"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35</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Bilden beskriver hur </a:t>
            </a:r>
            <a:r>
              <a:rPr lang="sv-SE" b="1" dirty="0"/>
              <a:t>brandväggsregler i </a:t>
            </a:r>
            <a:r>
              <a:rPr lang="sv-SE" b="1" dirty="0" err="1"/>
              <a:t>Azure</a:t>
            </a:r>
            <a:r>
              <a:rPr lang="sv-SE" b="1" dirty="0"/>
              <a:t> SQL</a:t>
            </a:r>
            <a:r>
              <a:rPr lang="sv-SE" dirty="0"/>
              <a:t> fungerar på två nivåer: </a:t>
            </a:r>
            <a:r>
              <a:rPr lang="sv-SE" b="1" dirty="0"/>
              <a:t>servernivå</a:t>
            </a:r>
            <a:r>
              <a:rPr lang="sv-SE" dirty="0"/>
              <a:t> och </a:t>
            </a:r>
            <a:r>
              <a:rPr lang="sv-SE" b="1" dirty="0"/>
              <a:t>databasnivå</a:t>
            </a:r>
            <a:r>
              <a:rPr lang="sv-SE" dirty="0"/>
              <a:t>. Alla anslutningsförsök – oavsett om de kommer från internet eller från andra </a:t>
            </a:r>
            <a:r>
              <a:rPr lang="sv-SE" dirty="0" err="1"/>
              <a:t>Azure</a:t>
            </a:r>
            <a:r>
              <a:rPr lang="sv-SE" dirty="0"/>
              <a:t>-resurser – måste först passera brandväggen innan de når din </a:t>
            </a:r>
            <a:r>
              <a:rPr lang="sv-SE" dirty="0" err="1"/>
              <a:t>Azure</a:t>
            </a:r>
            <a:r>
              <a:rPr lang="sv-SE" dirty="0"/>
              <a:t> SQL-server eller en specifik databas. Principen bygger på att </a:t>
            </a:r>
            <a:r>
              <a:rPr lang="sv-SE" dirty="0" err="1"/>
              <a:t>Azure</a:t>
            </a:r>
            <a:r>
              <a:rPr lang="sv-SE" dirty="0"/>
              <a:t> kontrollerar </a:t>
            </a:r>
            <a:r>
              <a:rPr lang="sv-SE" b="1" dirty="0"/>
              <a:t>klientens IP-adress</a:t>
            </a:r>
            <a:r>
              <a:rPr lang="sv-SE" dirty="0"/>
              <a:t> och jämför den mot tillåtna intervall.</a:t>
            </a:r>
          </a:p>
          <a:p>
            <a:endParaRPr lang="sv-SE" dirty="0"/>
          </a:p>
          <a:p>
            <a:r>
              <a:rPr lang="sv-SE" dirty="0"/>
              <a:t>Flödet i diagrammet visar att </a:t>
            </a:r>
            <a:r>
              <a:rPr lang="sv-SE" dirty="0" err="1"/>
              <a:t>Azure</a:t>
            </a:r>
            <a:r>
              <a:rPr lang="sv-SE" dirty="0"/>
              <a:t> först kontrollerar om det finns en </a:t>
            </a:r>
            <a:r>
              <a:rPr lang="sv-SE" b="1" dirty="0"/>
              <a:t>databasnivåregel</a:t>
            </a:r>
            <a:r>
              <a:rPr lang="sv-SE" dirty="0"/>
              <a:t> (</a:t>
            </a:r>
            <a:r>
              <a:rPr lang="sv-SE" dirty="0" err="1"/>
              <a:t>database-level</a:t>
            </a:r>
            <a:r>
              <a:rPr lang="sv-SE" dirty="0"/>
              <a:t> </a:t>
            </a:r>
            <a:r>
              <a:rPr lang="sv-SE" dirty="0" err="1"/>
              <a:t>firewall</a:t>
            </a:r>
            <a:r>
              <a:rPr lang="sv-SE" dirty="0"/>
              <a:t> </a:t>
            </a:r>
            <a:r>
              <a:rPr lang="sv-SE" dirty="0" err="1"/>
              <a:t>rule</a:t>
            </a:r>
            <a:r>
              <a:rPr lang="sv-SE" dirty="0"/>
              <a:t>) som matchar klientens IP. Om IP-adressen ligger inom ett godkänt intervall tillåts anslutningen direkt till just den databasen. Om ingen match finns går kontrollen vidare till </a:t>
            </a:r>
            <a:r>
              <a:rPr lang="sv-SE" b="1" dirty="0"/>
              <a:t>servernivåreglerna</a:t>
            </a:r>
            <a:r>
              <a:rPr lang="sv-SE" dirty="0"/>
              <a:t> (server-</a:t>
            </a:r>
            <a:r>
              <a:rPr lang="sv-SE" dirty="0" err="1"/>
              <a:t>level</a:t>
            </a:r>
            <a:r>
              <a:rPr lang="sv-SE" dirty="0"/>
              <a:t> </a:t>
            </a:r>
            <a:r>
              <a:rPr lang="sv-SE" dirty="0" err="1"/>
              <a:t>firewall</a:t>
            </a:r>
            <a:r>
              <a:rPr lang="sv-SE" dirty="0"/>
              <a:t> </a:t>
            </a:r>
            <a:r>
              <a:rPr lang="sv-SE" dirty="0" err="1"/>
              <a:t>rules</a:t>
            </a:r>
            <a:r>
              <a:rPr lang="sv-SE" dirty="0"/>
              <a:t>). Om klientens IP inte heller matchar någon serverregel blockeras anslutningen och kopplingen misslyckas.</a:t>
            </a:r>
          </a:p>
          <a:p>
            <a:endParaRPr lang="sv-SE" dirty="0"/>
          </a:p>
          <a:p>
            <a:r>
              <a:rPr lang="sv-SE" dirty="0"/>
              <a:t>Servernivåregler gäller för </a:t>
            </a:r>
            <a:r>
              <a:rPr lang="sv-SE" b="1" dirty="0"/>
              <a:t>alla databaser på servern</a:t>
            </a:r>
            <a:r>
              <a:rPr lang="sv-SE" dirty="0"/>
              <a:t> och kan hanteras via lagrade procedurer som </a:t>
            </a:r>
            <a:r>
              <a:rPr lang="sv-SE" sz="882" kern="1200" dirty="0" err="1">
                <a:solidFill>
                  <a:schemeClr val="tx1"/>
                </a:solidFill>
                <a:latin typeface="Segoe UI" panose="020B0502040204020203" pitchFamily="34" charset="0"/>
                <a:ea typeface="+mn-ea"/>
                <a:cs typeface="+mn-cs"/>
              </a:rPr>
              <a:t>sp_set_firewall_rule</a:t>
            </a:r>
            <a:r>
              <a:rPr lang="sv-SE" dirty="0"/>
              <a:t> och </a:t>
            </a:r>
            <a:r>
              <a:rPr lang="sv-SE" sz="882" kern="1200" dirty="0" err="1">
                <a:solidFill>
                  <a:schemeClr val="tx1"/>
                </a:solidFill>
                <a:latin typeface="Segoe UI" panose="020B0502040204020203" pitchFamily="34" charset="0"/>
                <a:ea typeface="+mn-ea"/>
                <a:cs typeface="+mn-cs"/>
              </a:rPr>
              <a:t>sp_delete_firewall_rule</a:t>
            </a:r>
            <a:r>
              <a:rPr lang="sv-SE" dirty="0"/>
              <a:t>. Databasnivåregler gäller bara för en enskild databas och hanteras med </a:t>
            </a:r>
            <a:r>
              <a:rPr lang="sv-SE" sz="882" kern="1200" dirty="0" err="1">
                <a:solidFill>
                  <a:schemeClr val="tx1"/>
                </a:solidFill>
                <a:latin typeface="Segoe UI" panose="020B0502040204020203" pitchFamily="34" charset="0"/>
                <a:ea typeface="+mn-ea"/>
                <a:cs typeface="+mn-cs"/>
              </a:rPr>
              <a:t>sp_set_database_firewall_rule</a:t>
            </a:r>
            <a:r>
              <a:rPr lang="sv-SE" dirty="0"/>
              <a:t> och </a:t>
            </a:r>
            <a:r>
              <a:rPr lang="sv-SE" sz="882" kern="1200" dirty="0" err="1">
                <a:solidFill>
                  <a:schemeClr val="tx1"/>
                </a:solidFill>
                <a:latin typeface="Segoe UI" panose="020B0502040204020203" pitchFamily="34" charset="0"/>
                <a:ea typeface="+mn-ea"/>
                <a:cs typeface="+mn-cs"/>
              </a:rPr>
              <a:t>sp_delete_database_firewall_rule</a:t>
            </a:r>
            <a:r>
              <a:rPr lang="sv-SE" dirty="0"/>
              <a:t>.</a:t>
            </a:r>
          </a:p>
          <a:p>
            <a:r>
              <a:rPr lang="sv-SE" dirty="0"/>
              <a:t>Sammanfattningsvis ger servernivån en bred åtkomstkontroll, medan databasnivån möjliggör mer finmaskig säkerhet per databas.</a:t>
            </a:r>
          </a:p>
          <a:p>
            <a:endParaRPr lang="sv-SE" dirty="0"/>
          </a:p>
          <a:p>
            <a:r>
              <a:rPr lang="sv-SE" dirty="0"/>
              <a:t>EXEC </a:t>
            </a:r>
            <a:r>
              <a:rPr lang="sv-SE" dirty="0" err="1"/>
              <a:t>sp_set_database_firewall_rule</a:t>
            </a:r>
            <a:endParaRPr lang="sv-SE" dirty="0"/>
          </a:p>
          <a:p>
            <a:r>
              <a:rPr lang="sv-SE" dirty="0"/>
              <a:t>    @name = </a:t>
            </a:r>
            <a:r>
              <a:rPr lang="sv-SE" dirty="0" err="1"/>
              <a:t>N'AllowMyHomeIP</a:t>
            </a:r>
            <a:r>
              <a:rPr lang="sv-SE" dirty="0"/>
              <a:t>',</a:t>
            </a:r>
          </a:p>
          <a:p>
            <a:r>
              <a:rPr lang="sv-SE" dirty="0"/>
              <a:t>    @start_ip_address = '83.250.10.25',</a:t>
            </a:r>
          </a:p>
          <a:p>
            <a:r>
              <a:rPr lang="sv-SE" dirty="0"/>
              <a:t>    @end_ip_address   = '83.250.10.25’;</a:t>
            </a:r>
          </a:p>
          <a:p>
            <a:endParaRPr lang="sv-SE" dirty="0"/>
          </a:p>
          <a:p>
            <a:r>
              <a:rPr lang="en-US" dirty="0"/>
              <a:t>SELECT *</a:t>
            </a:r>
          </a:p>
          <a:p>
            <a:r>
              <a:rPr lang="en-US" dirty="0"/>
              <a:t>FROM </a:t>
            </a:r>
            <a:r>
              <a:rPr lang="en-US" dirty="0" err="1"/>
              <a:t>sys.database_firewall_rules</a:t>
            </a:r>
            <a:r>
              <a:rPr lang="en-US" dirty="0"/>
              <a:t>;</a:t>
            </a:r>
          </a:p>
          <a:p>
            <a:endParaRPr lang="sv-SE" dirty="0"/>
          </a:p>
          <a:p>
            <a:endParaRPr lang="en-CA" sz="880" kern="1200" dirty="0">
              <a:solidFill>
                <a:schemeClr val="tx1"/>
              </a:solidFill>
              <a:effectLst/>
              <a:latin typeface="Segoe UI" panose="020B0502040204020203" pitchFamily="34" charset="0"/>
              <a:ea typeface="+mn-ea"/>
              <a:cs typeface="Segoe UI" panose="020B0502040204020203" pitchFamily="34" charset="0"/>
            </a:endParaRPr>
          </a:p>
          <a:p>
            <a:endParaRPr lang="en-CA" sz="880" kern="1200" dirty="0">
              <a:solidFill>
                <a:schemeClr val="tx1"/>
              </a:solidFill>
              <a:effectLst/>
              <a:latin typeface="Segoe UI" panose="020B0502040204020203" pitchFamily="34" charset="0"/>
              <a:ea typeface="+mn-ea"/>
              <a:cs typeface="Segoe UI" panose="020B0502040204020203" pitchFamily="34" charset="0"/>
            </a:endParaRPr>
          </a:p>
          <a:p>
            <a:endParaRPr lang="en-CA" sz="880" kern="1200" dirty="0">
              <a:solidFill>
                <a:schemeClr val="tx1"/>
              </a:solidFill>
              <a:effectLst/>
              <a:latin typeface="Segoe UI" panose="020B0502040204020203" pitchFamily="34" charset="0"/>
              <a:ea typeface="+mn-ea"/>
              <a:cs typeface="Segoe UI" panose="020B0502040204020203" pitchFamily="34" charset="0"/>
            </a:endParaRPr>
          </a:p>
          <a:p>
            <a:r>
              <a:rPr lang="en-CA" sz="880" kern="1200" dirty="0">
                <a:solidFill>
                  <a:schemeClr val="tx1"/>
                </a:solidFill>
                <a:effectLst/>
                <a:latin typeface="Segoe UI" panose="020B0502040204020203" pitchFamily="34" charset="0"/>
                <a:ea typeface="+mn-ea"/>
                <a:cs typeface="Segoe UI" panose="020B0502040204020203" pitchFamily="34" charset="0"/>
              </a:rPr>
              <a:t>Server level firewalls are configured to allow users to connect to the master database and all databases on the instance. Database level firewalls are used to grant or block specific IP Addresses from accessing specific databases. </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CA" sz="880" kern="1200" dirty="0">
                <a:solidFill>
                  <a:schemeClr val="tx1"/>
                </a:solidFill>
                <a:effectLst/>
                <a:latin typeface="Segoe UI" panose="020B0502040204020203" pitchFamily="34" charset="0"/>
                <a:ea typeface="+mn-ea"/>
                <a:cs typeface="Segoe UI" panose="020B0502040204020203" pitchFamily="34" charset="0"/>
              </a:rPr>
              <a:t>Server level firewall rules can be configured using the Azure portal or using the </a:t>
            </a:r>
            <a:r>
              <a:rPr lang="en-CA" sz="880" i="1" kern="1200" dirty="0" err="1">
                <a:solidFill>
                  <a:schemeClr val="tx1"/>
                </a:solidFill>
                <a:effectLst/>
                <a:latin typeface="Segoe UI" panose="020B0502040204020203" pitchFamily="34" charset="0"/>
                <a:ea typeface="+mn-ea"/>
                <a:cs typeface="Segoe UI" panose="020B0502040204020203" pitchFamily="34" charset="0"/>
              </a:rPr>
              <a:t>sp_set_database_firewall_rule</a:t>
            </a:r>
            <a:r>
              <a:rPr lang="en-CA" sz="880" kern="1200" dirty="0">
                <a:solidFill>
                  <a:schemeClr val="tx1"/>
                </a:solidFill>
                <a:effectLst/>
                <a:latin typeface="Segoe UI" panose="020B0502040204020203" pitchFamily="34" charset="0"/>
                <a:ea typeface="+mn-ea"/>
                <a:cs typeface="Segoe UI" panose="020B0502040204020203" pitchFamily="34" charset="0"/>
              </a:rPr>
              <a:t> stored procedure from within the master database. Database level firewall rules are configured through T-SQL only using the </a:t>
            </a:r>
            <a:r>
              <a:rPr lang="en-CA" sz="880" i="1" kern="1200" dirty="0" err="1">
                <a:solidFill>
                  <a:schemeClr val="tx1"/>
                </a:solidFill>
                <a:effectLst/>
                <a:latin typeface="Segoe UI" panose="020B0502040204020203" pitchFamily="34" charset="0"/>
                <a:ea typeface="+mn-ea"/>
                <a:cs typeface="Segoe UI" panose="020B0502040204020203" pitchFamily="34" charset="0"/>
              </a:rPr>
              <a:t>sp_set_database_firewall_rule</a:t>
            </a:r>
            <a:r>
              <a:rPr lang="en-CA" sz="880" kern="1200" dirty="0">
                <a:solidFill>
                  <a:schemeClr val="tx1"/>
                </a:solidFill>
                <a:effectLst/>
                <a:latin typeface="Segoe UI" panose="020B0502040204020203" pitchFamily="34" charset="0"/>
                <a:ea typeface="+mn-ea"/>
                <a:cs typeface="Segoe UI" panose="020B0502040204020203" pitchFamily="34" charset="0"/>
              </a:rPr>
              <a:t> stored procedure from within the user database. </a:t>
            </a:r>
          </a:p>
          <a:p>
            <a:endParaRPr lang="en-CA" sz="880" kern="1200" dirty="0">
              <a:solidFill>
                <a:schemeClr val="tx1"/>
              </a:solidFill>
              <a:effectLst/>
              <a:latin typeface="Segoe UI" panose="020B0502040204020203" pitchFamily="34" charset="0"/>
              <a:ea typeface="+mn-ea"/>
              <a:cs typeface="Segoe UI" panose="020B0502040204020203" pitchFamily="34" charset="0"/>
            </a:endParaRPr>
          </a:p>
          <a:p>
            <a:pPr algn="l"/>
            <a:r>
              <a:rPr lang="en-US" sz="880" b="0" i="0" dirty="0">
                <a:solidFill>
                  <a:srgbClr val="171717"/>
                </a:solidFill>
                <a:effectLst/>
                <a:latin typeface="Segoe UI" panose="020B0502040204020203" pitchFamily="34" charset="0"/>
                <a:cs typeface="Segoe UI" panose="020B0502040204020203" pitchFamily="34" charset="0"/>
              </a:rPr>
              <a:t>When a computer tries to connect to your server from the internet, the firewall first checks the originating IP address of the request against the database-level IP firewall rules for the database that the connection requests.</a:t>
            </a:r>
          </a:p>
          <a:p>
            <a:pPr algn="l">
              <a:buFont typeface="Arial" panose="020B0604020202020204" pitchFamily="34" charset="0"/>
              <a:buChar char="•"/>
            </a:pPr>
            <a:r>
              <a:rPr lang="en-US" sz="880" b="0" i="0" dirty="0">
                <a:solidFill>
                  <a:srgbClr val="171717"/>
                </a:solidFill>
                <a:effectLst/>
                <a:latin typeface="Segoe UI" panose="020B0502040204020203" pitchFamily="34" charset="0"/>
                <a:cs typeface="Segoe UI" panose="020B0502040204020203" pitchFamily="34" charset="0"/>
              </a:rPr>
              <a:t>If the address is within a range that's specified in the database-level IP firewall rules, the connection is granted to the database that contains the rule.</a:t>
            </a:r>
          </a:p>
          <a:p>
            <a:pPr algn="l">
              <a:buFont typeface="Arial" panose="020B0604020202020204" pitchFamily="34" charset="0"/>
              <a:buChar char="•"/>
            </a:pPr>
            <a:r>
              <a:rPr lang="en-US" sz="880" b="0" i="0" dirty="0">
                <a:solidFill>
                  <a:srgbClr val="171717"/>
                </a:solidFill>
                <a:effectLst/>
                <a:latin typeface="Segoe UI" panose="020B0502040204020203" pitchFamily="34" charset="0"/>
                <a:cs typeface="Segoe UI" panose="020B0502040204020203" pitchFamily="34" charset="0"/>
              </a:rPr>
              <a:t>If the address isn't within a range in the database-level IP firewall rules, the firewall checks the server-level IP firewall rules. If the address is within a range that's in the server-level IP firewall rules, the connection is granted. Server-level IP firewall rules apply to all databases managed by the server.</a:t>
            </a:r>
          </a:p>
          <a:p>
            <a:pPr algn="l">
              <a:buFont typeface="Arial" panose="020B0604020202020204" pitchFamily="34" charset="0"/>
              <a:buChar char="•"/>
            </a:pPr>
            <a:r>
              <a:rPr lang="en-US" sz="880" b="0" i="0" dirty="0">
                <a:solidFill>
                  <a:srgbClr val="171717"/>
                </a:solidFill>
                <a:effectLst/>
                <a:latin typeface="Segoe UI" panose="020B0502040204020203" pitchFamily="34" charset="0"/>
                <a:cs typeface="Segoe UI" panose="020B0502040204020203" pitchFamily="34" charset="0"/>
              </a:rPr>
              <a:t>If the address isn't within a range that's in any of the database-level or server-level IP firewall rules, the connection request fails.</a:t>
            </a: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18214F95-41C1-42D3-96B9-2B04B66139F5}"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36</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sv-SE" b="1" dirty="0" err="1"/>
              <a:t>Virtual</a:t>
            </a:r>
            <a:r>
              <a:rPr lang="sv-SE" b="1" dirty="0"/>
              <a:t> </a:t>
            </a:r>
            <a:r>
              <a:rPr lang="sv-SE" b="1" dirty="0" err="1"/>
              <a:t>network</a:t>
            </a:r>
            <a:r>
              <a:rPr lang="sv-SE" b="1" dirty="0"/>
              <a:t> </a:t>
            </a:r>
            <a:r>
              <a:rPr lang="sv-SE" b="1" dirty="0" err="1"/>
              <a:t>endpoints</a:t>
            </a:r>
            <a:r>
              <a:rPr lang="sv-SE" dirty="0"/>
              <a:t> (ofta kallat </a:t>
            </a:r>
            <a:r>
              <a:rPr lang="sv-SE" i="1" dirty="0"/>
              <a:t>service </a:t>
            </a:r>
            <a:r>
              <a:rPr lang="sv-SE" i="1" dirty="0" err="1"/>
              <a:t>endpoints</a:t>
            </a:r>
            <a:r>
              <a:rPr lang="sv-SE" dirty="0"/>
              <a:t>) gör att resurser i ett </a:t>
            </a:r>
            <a:r>
              <a:rPr lang="sv-SE" b="1" dirty="0" err="1"/>
              <a:t>Azure</a:t>
            </a:r>
            <a:r>
              <a:rPr lang="sv-SE" b="1" dirty="0"/>
              <a:t> </a:t>
            </a:r>
            <a:r>
              <a:rPr lang="sv-SE" b="1" dirty="0" err="1"/>
              <a:t>Virtual</a:t>
            </a:r>
            <a:r>
              <a:rPr lang="sv-SE" b="1" dirty="0"/>
              <a:t> </a:t>
            </a:r>
            <a:r>
              <a:rPr lang="sv-SE" b="1" dirty="0" err="1"/>
              <a:t>Network</a:t>
            </a:r>
            <a:r>
              <a:rPr lang="sv-SE" dirty="0"/>
              <a:t> kan nå </a:t>
            </a:r>
            <a:r>
              <a:rPr lang="sv-SE" dirty="0" err="1"/>
              <a:t>Azure</a:t>
            </a:r>
            <a:r>
              <a:rPr lang="sv-SE" dirty="0"/>
              <a:t> </a:t>
            </a:r>
            <a:r>
              <a:rPr lang="sv-SE" dirty="0" err="1"/>
              <a:t>PaaS</a:t>
            </a:r>
            <a:r>
              <a:rPr lang="sv-SE" dirty="0"/>
              <a:t>-tjänster, t.ex. </a:t>
            </a:r>
            <a:r>
              <a:rPr lang="sv-SE" b="1" dirty="0" err="1"/>
              <a:t>Azure</a:t>
            </a:r>
            <a:r>
              <a:rPr lang="sv-SE" b="1" dirty="0"/>
              <a:t> SQL </a:t>
            </a:r>
            <a:r>
              <a:rPr lang="sv-SE" b="1" dirty="0" err="1"/>
              <a:t>Database</a:t>
            </a:r>
            <a:r>
              <a:rPr lang="sv-SE" dirty="0"/>
              <a:t>, via Microsofts </a:t>
            </a:r>
            <a:r>
              <a:rPr lang="sv-SE" dirty="0" err="1"/>
              <a:t>backbone</a:t>
            </a:r>
            <a:r>
              <a:rPr lang="sv-SE" dirty="0"/>
              <a:t>-nät istället för via publika internet. Trafiken går fortfarande mot tjänstens </a:t>
            </a:r>
            <a:r>
              <a:rPr lang="sv-SE" b="1" dirty="0"/>
              <a:t>publika endpoint</a:t>
            </a:r>
            <a:r>
              <a:rPr lang="sv-SE" dirty="0"/>
              <a:t>, men du kan begränsa åtkomsten så att endast trafik från ett visst </a:t>
            </a:r>
            <a:r>
              <a:rPr lang="sv-SE" dirty="0" err="1"/>
              <a:t>VNet</a:t>
            </a:r>
            <a:r>
              <a:rPr lang="sv-SE" dirty="0"/>
              <a:t>/</a:t>
            </a:r>
            <a:r>
              <a:rPr lang="sv-SE" dirty="0" err="1"/>
              <a:t>subnet</a:t>
            </a:r>
            <a:r>
              <a:rPr lang="sv-SE" dirty="0"/>
              <a:t> accepteras. Lösningen är regional (kopplad till en </a:t>
            </a:r>
            <a:r>
              <a:rPr lang="sv-SE" dirty="0" err="1"/>
              <a:t>Azure</a:t>
            </a:r>
            <a:r>
              <a:rPr lang="sv-SE" dirty="0"/>
              <a:t>-region) och används ofta tillsammans med brandväggsregler. Service </a:t>
            </a:r>
            <a:r>
              <a:rPr lang="sv-SE" dirty="0" err="1"/>
              <a:t>endpoints</a:t>
            </a:r>
            <a:r>
              <a:rPr lang="sv-SE" dirty="0"/>
              <a:t> innebär alltså att du får en säkrare nätverksväg, men utan att tjänsten får en privat IP-adress i ditt nät.</a:t>
            </a:r>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sv-SE" dirty="0"/>
              <a:t>Service </a:t>
            </a:r>
            <a:r>
              <a:rPr lang="sv-SE" dirty="0" err="1"/>
              <a:t>endpoints</a:t>
            </a:r>
            <a:r>
              <a:rPr lang="sv-SE" dirty="0"/>
              <a:t> använder fortfarande tjänstens publika endpoint men begränsar åtkomst från </a:t>
            </a:r>
            <a:r>
              <a:rPr lang="sv-SE" dirty="0" err="1"/>
              <a:t>VNet</a:t>
            </a:r>
            <a:r>
              <a:rPr lang="sv-SE" dirty="0"/>
              <a:t>. Private Link ger istället en privat IP i ditt </a:t>
            </a:r>
            <a:r>
              <a:rPr lang="sv-SE" dirty="0" err="1"/>
              <a:t>VNet</a:t>
            </a:r>
            <a:r>
              <a:rPr lang="sv-SE" dirty="0"/>
              <a:t> och kan helt stänga publik åtkomst.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41DCBDE-EFA5-41B9-99F7-E4375391704D}"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37</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sv-SE" b="1" dirty="0"/>
              <a:t>Private Link</a:t>
            </a:r>
            <a:r>
              <a:rPr lang="sv-SE" dirty="0"/>
              <a:t> ger åtkomst till </a:t>
            </a:r>
            <a:r>
              <a:rPr lang="sv-SE" dirty="0" err="1"/>
              <a:t>Azure</a:t>
            </a:r>
            <a:r>
              <a:rPr lang="sv-SE" dirty="0"/>
              <a:t>-tjänster via en </a:t>
            </a:r>
            <a:r>
              <a:rPr lang="sv-SE" b="1" dirty="0"/>
              <a:t>private endpoint</a:t>
            </a:r>
            <a:r>
              <a:rPr lang="sv-SE" dirty="0"/>
              <a:t>, vilket är en </a:t>
            </a:r>
            <a:r>
              <a:rPr lang="sv-SE" b="1" dirty="0"/>
              <a:t>privat IP-adress i ett </a:t>
            </a:r>
            <a:r>
              <a:rPr lang="sv-SE" b="1" dirty="0" err="1"/>
              <a:t>subnet</a:t>
            </a:r>
            <a:r>
              <a:rPr lang="sv-SE" b="1" dirty="0"/>
              <a:t> i ditt </a:t>
            </a:r>
            <a:r>
              <a:rPr lang="sv-SE" b="1" dirty="0" err="1"/>
              <a:t>VNet</a:t>
            </a:r>
            <a:r>
              <a:rPr lang="sv-SE" dirty="0"/>
              <a:t>. Det innebär att din </a:t>
            </a:r>
            <a:r>
              <a:rPr lang="sv-SE" dirty="0" err="1"/>
              <a:t>Azure</a:t>
            </a:r>
            <a:r>
              <a:rPr lang="sv-SE" dirty="0"/>
              <a:t> SQL </a:t>
            </a:r>
            <a:r>
              <a:rPr lang="sv-SE" dirty="0" err="1"/>
              <a:t>Database</a:t>
            </a:r>
            <a:r>
              <a:rPr lang="sv-SE" dirty="0"/>
              <a:t> kan nås som om den låg inne i ditt privata nätverk. Trafiken går då helt privat via </a:t>
            </a:r>
            <a:r>
              <a:rPr lang="sv-SE" dirty="0" err="1"/>
              <a:t>Azure</a:t>
            </a:r>
            <a:r>
              <a:rPr lang="sv-SE" dirty="0"/>
              <a:t>-nätet och kan även </a:t>
            </a:r>
            <a:r>
              <a:rPr lang="sv-SE" dirty="0" err="1"/>
              <a:t>routas</a:t>
            </a:r>
            <a:r>
              <a:rPr lang="sv-SE" dirty="0"/>
              <a:t> via </a:t>
            </a:r>
            <a:r>
              <a:rPr lang="sv-SE" b="1" dirty="0"/>
              <a:t>VPN eller </a:t>
            </a:r>
            <a:r>
              <a:rPr lang="sv-SE" b="1" dirty="0" err="1"/>
              <a:t>ExpressRoute</a:t>
            </a:r>
            <a:r>
              <a:rPr lang="sv-SE" dirty="0"/>
              <a:t>, utan att passera publika internet. Eftersom anslutningen sker med privat IP kan du använda vanliga nätverkskontroller (NSG, </a:t>
            </a:r>
            <a:r>
              <a:rPr lang="sv-SE" dirty="0" err="1"/>
              <a:t>routing</a:t>
            </a:r>
            <a:r>
              <a:rPr lang="sv-SE" dirty="0"/>
              <a:t>, DNS) och dessutom minska risken för dataexfiltration. Private Link är därför den mest isolerade och “</a:t>
            </a:r>
            <a:r>
              <a:rPr lang="sv-SE" dirty="0" err="1"/>
              <a:t>enterprise</a:t>
            </a:r>
            <a:r>
              <a:rPr lang="sv-SE" dirty="0"/>
              <a:t>-säkra” lösningen.</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sv-SE" dirty="0"/>
              <a:t>Service </a:t>
            </a:r>
            <a:r>
              <a:rPr lang="sv-SE" dirty="0" err="1"/>
              <a:t>endpoints</a:t>
            </a:r>
            <a:r>
              <a:rPr lang="sv-SE" dirty="0"/>
              <a:t> använder fortfarande tjänstens publika endpoint men begränsar åtkomst från </a:t>
            </a:r>
            <a:r>
              <a:rPr lang="sv-SE" dirty="0" err="1"/>
              <a:t>VNet</a:t>
            </a:r>
            <a:r>
              <a:rPr lang="sv-SE" dirty="0"/>
              <a:t>. Private Link ger istället en privat IP i ditt </a:t>
            </a:r>
            <a:r>
              <a:rPr lang="sv-SE" dirty="0" err="1"/>
              <a:t>VNet</a:t>
            </a:r>
            <a:r>
              <a:rPr lang="sv-SE" dirty="0"/>
              <a:t> och kan helt stänga publik åtkomst.</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The Private Link feature allows you connect to Azure SQL Database (and other PaaS offerings) using a private endpoint. Private endpoint allows for a connection to your Azure SQL Database to go entirely over the Azure backbone network and not over the public internet. This feature provides a private IP address on your Virtual Network. Another feature of private link is that it allows for Azure Express Route connections through that circuit. Private link offers several additional benefits include cross-region private connectivity and protection against data leakage by only allowing connections to specific resources. </a:t>
            </a: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8FAA8480-A068-4E58-934D-4DECA9EA0E0D}"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38</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In addition to supporting encryption at rest through transparent data encryption, SQL Server supports encrypting data within columns using Always Encrypted. Once data is encrypted, the application accessing the database must have the correct certificate in order to view the plain text values of the data.”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FF2CBB14-43E9-49CF-B8AB-A23BA4B4A3A9}"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39</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880" kern="1200" dirty="0">
                <a:solidFill>
                  <a:schemeClr val="tx1"/>
                </a:solidFill>
                <a:effectLst/>
                <a:latin typeface="Segoe UI" panose="020B0502040204020203" pitchFamily="34" charset="0"/>
                <a:ea typeface="+mn-ea"/>
                <a:cs typeface="Segoe UI" panose="020B0502040204020203" pitchFamily="34" charset="0"/>
              </a:rPr>
              <a:t>There are a variety of ways to encrypt data within the SQL Server tables. This data can be encrypted within the SQL Server using native stored procedures which will encrypt by password or certificate. The data can also be encrypted by the calling application and stored with encrypted values. This includes by using a process called Always Encrypted.</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r>
              <a:rPr lang="en-CA" sz="880" kern="1200" dirty="0">
                <a:solidFill>
                  <a:schemeClr val="tx1"/>
                </a:solidFill>
                <a:effectLst/>
                <a:latin typeface="Segoe UI" panose="020B0502040204020203" pitchFamily="34" charset="0"/>
                <a:ea typeface="+mn-ea"/>
                <a:cs typeface="Segoe UI" panose="020B0502040204020203" pitchFamily="34" charset="0"/>
              </a:rPr>
              <a:t>Always Encrypted allows for the encryption of data within the client application driver automatically as needed based on the settings within the Microsoft SQL Server database which tell the application what the encryption settings on the database column are. Always Encrypted is based on a master encryption key as well as a column encryption key. This allows each column to be encrypted using a different encryption key for maximum data protection. Always Encrypted has a variety of key stores which can store the certificate which is used by encryption</a:t>
            </a:r>
            <a:r>
              <a:rPr lang="en-US" sz="880" dirty="0">
                <a:effectLst/>
                <a:latin typeface="Segoe UI" panose="020B0502040204020203" pitchFamily="34" charset="0"/>
                <a:cs typeface="Segoe UI" panose="020B0502040204020203" pitchFamily="34" charset="0"/>
              </a:rPr>
              <a:t> </a:t>
            </a:r>
          </a:p>
          <a:p>
            <a:endParaRPr lang="en-US" sz="880" dirty="0">
              <a:effectLst/>
              <a:latin typeface="Segoe UI" panose="020B0502040204020203" pitchFamily="34" charset="0"/>
              <a:cs typeface="Segoe UI" panose="020B0502040204020203" pitchFamily="34" charset="0"/>
            </a:endParaRPr>
          </a:p>
          <a:p>
            <a:r>
              <a:rPr lang="en-US" sz="880" b="0" i="0" dirty="0">
                <a:solidFill>
                  <a:srgbClr val="171717"/>
                </a:solidFill>
                <a:effectLst/>
                <a:latin typeface="Segoe UI" panose="020B0502040204020203" pitchFamily="34" charset="0"/>
                <a:cs typeface="Segoe UI" panose="020B0502040204020203" pitchFamily="34" charset="0"/>
              </a:rPr>
              <a:t>Azure SQL Database also supports Always Encrypted.</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4EF7867E-D6E8-4967-9D23-2C94D39DE5AB}"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40</a:t>
            </a:fld>
            <a:endParaRPr lang="en-US"/>
          </a:p>
        </p:txBody>
      </p:sp>
    </p:spTree>
    <p:extLst>
      <p:ext uri="{BB962C8B-B14F-4D97-AF65-F5344CB8AC3E}">
        <p14:creationId xmlns:p14="http://schemas.microsoft.com/office/powerpoint/2010/main" val="229728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F62EEC35-DF10-4184-8DAA-5C1945B8E0A0}"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41</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Bilden förklarar vad </a:t>
            </a:r>
            <a:r>
              <a:rPr lang="sv-SE" b="1" dirty="0" err="1"/>
              <a:t>secure</a:t>
            </a:r>
            <a:r>
              <a:rPr lang="sv-SE" b="1" dirty="0"/>
              <a:t> </a:t>
            </a:r>
            <a:r>
              <a:rPr lang="sv-SE" b="1" dirty="0" err="1"/>
              <a:t>enclaves</a:t>
            </a:r>
            <a:r>
              <a:rPr lang="sv-SE" dirty="0"/>
              <a:t> är och hur de används för att öka säkerheten vid hantering av krypterad data i SQL Server. En </a:t>
            </a:r>
            <a:r>
              <a:rPr lang="sv-SE" dirty="0" err="1"/>
              <a:t>secure</a:t>
            </a:r>
            <a:r>
              <a:rPr lang="sv-SE" dirty="0"/>
              <a:t> </a:t>
            </a:r>
            <a:r>
              <a:rPr lang="sv-SE" dirty="0" err="1"/>
              <a:t>enclave</a:t>
            </a:r>
            <a:r>
              <a:rPr lang="sv-SE" dirty="0"/>
              <a:t> är ett skyddat område i serverns minne där känslig data tillfälligt kan </a:t>
            </a:r>
            <a:r>
              <a:rPr lang="sv-SE" b="1" dirty="0"/>
              <a:t>dekrypteras och bearbetas</a:t>
            </a:r>
            <a:r>
              <a:rPr lang="sv-SE" dirty="0"/>
              <a:t>, utan att bli synlig för resten av systemet, operativsystemet eller databasadministratörer.</a:t>
            </a:r>
          </a:p>
          <a:p>
            <a:endParaRPr lang="sv-SE" dirty="0"/>
          </a:p>
          <a:p>
            <a:r>
              <a:rPr lang="sv-SE" dirty="0"/>
              <a:t>Diagrammet visar hur en klient skickar data via en </a:t>
            </a:r>
            <a:r>
              <a:rPr lang="sv-SE" i="1" dirty="0" err="1"/>
              <a:t>Enhanced</a:t>
            </a:r>
            <a:r>
              <a:rPr lang="sv-SE" i="1" dirty="0"/>
              <a:t> </a:t>
            </a:r>
            <a:r>
              <a:rPr lang="sv-SE" i="1" dirty="0" err="1"/>
              <a:t>Client</a:t>
            </a:r>
            <a:r>
              <a:rPr lang="sv-SE" i="1" dirty="0"/>
              <a:t> Driver</a:t>
            </a:r>
            <a:r>
              <a:rPr lang="sv-SE" dirty="0"/>
              <a:t>. Utanför databasen och i lagring är informationen alltid krypterad (</a:t>
            </a:r>
            <a:r>
              <a:rPr lang="sv-SE" i="1" dirty="0" err="1"/>
              <a:t>ciphertext</a:t>
            </a:r>
            <a:r>
              <a:rPr lang="sv-SE" dirty="0"/>
              <a:t>). När databasen behöver utföra beräkningar, jämförelser eller sökningar – till exempel intervalljämförelser eller LIKE-sökningar – sker detta inne i </a:t>
            </a:r>
            <a:r>
              <a:rPr lang="sv-SE" dirty="0" err="1"/>
              <a:t>secure</a:t>
            </a:r>
            <a:r>
              <a:rPr lang="sv-SE" dirty="0"/>
              <a:t> </a:t>
            </a:r>
            <a:r>
              <a:rPr lang="sv-SE" dirty="0" err="1"/>
              <a:t>enclaven</a:t>
            </a:r>
            <a:r>
              <a:rPr lang="sv-SE" dirty="0"/>
              <a:t>, där </a:t>
            </a:r>
            <a:r>
              <a:rPr lang="sv-SE" dirty="0" err="1"/>
              <a:t>datan</a:t>
            </a:r>
            <a:r>
              <a:rPr lang="sv-SE" dirty="0"/>
              <a:t> tillfälligt finns i klartext (</a:t>
            </a:r>
            <a:r>
              <a:rPr lang="sv-SE" i="1" dirty="0" err="1"/>
              <a:t>plaintext</a:t>
            </a:r>
            <a:r>
              <a:rPr lang="sv-SE" dirty="0"/>
              <a:t>). Resultatet skickas sedan tillbaka i krypterad form.</a:t>
            </a:r>
          </a:p>
          <a:p>
            <a:endParaRPr lang="sv-SE" dirty="0"/>
          </a:p>
          <a:p>
            <a:r>
              <a:rPr lang="sv-SE" dirty="0"/>
              <a:t>Poängen är att man kan köra avancerade SQL-frågor på starkt krypterad data utan att kompromissa med säkerheten. </a:t>
            </a:r>
            <a:r>
              <a:rPr lang="sv-SE" dirty="0" err="1"/>
              <a:t>Secure</a:t>
            </a:r>
            <a:r>
              <a:rPr lang="sv-SE" dirty="0"/>
              <a:t> </a:t>
            </a:r>
            <a:r>
              <a:rPr lang="sv-SE" dirty="0" err="1"/>
              <a:t>enclaves</a:t>
            </a:r>
            <a:r>
              <a:rPr lang="sv-SE" dirty="0"/>
              <a:t> möjliggör därmed både hög datasäkerhet och praktisk användbarhet i moderna databassystem.</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CA"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CA"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CA" sz="880" kern="1200" dirty="0">
                <a:solidFill>
                  <a:schemeClr val="tx1"/>
                </a:solidFill>
                <a:effectLst/>
                <a:latin typeface="Segoe UI" panose="020B0502040204020203" pitchFamily="34" charset="0"/>
                <a:ea typeface="+mn-ea"/>
                <a:cs typeface="Segoe UI" panose="020B0502040204020203" pitchFamily="34" charset="0"/>
              </a:rPr>
              <a:t>Always Encrypted, starting with SQL Server 2019, supports a feature called secure enclaves, which allows more robust querying of data. A secure enclave is a secured region of memory within the SQL Server process which acts as trusted execution environment for processing encrypted data within the SQL Server engine. This enclave appears as black box to SQL Server, and it is not possible to view any data or code, even with a debugger</a:t>
            </a:r>
            <a:r>
              <a:rPr lang="en-US" sz="880" dirty="0">
                <a:effectLst/>
                <a:latin typeface="Segoe UI" panose="020B0502040204020203" pitchFamily="34" charset="0"/>
                <a:cs typeface="Segoe UI" panose="020B0502040204020203" pitchFamily="34" charset="0"/>
              </a:rPr>
              <a:t>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7A68AE95-4B24-48C1-9822-EDA30B8A2855}"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42</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en-US" sz="880" dirty="0">
                <a:effectLst/>
                <a:latin typeface="Segoe UI" panose="020B0502040204020203" pitchFamily="34" charset="0"/>
                <a:ea typeface="Calibri" panose="020F0502020204030204" pitchFamily="34" charset="0"/>
                <a:cs typeface="Segoe UI" panose="020B0502040204020203" pitchFamily="34" charset="0"/>
              </a:rPr>
              <a:t>Create a copy of the </a:t>
            </a:r>
            <a:r>
              <a:rPr lang="en-US" sz="880" i="1" dirty="0" err="1">
                <a:effectLst/>
                <a:latin typeface="Segoe UI" panose="020B0502040204020203" pitchFamily="34" charset="0"/>
                <a:ea typeface="Calibri" panose="020F0502020204030204" pitchFamily="34" charset="0"/>
                <a:cs typeface="Segoe UI" panose="020B0502040204020203" pitchFamily="34" charset="0"/>
              </a:rPr>
              <a:t>AdventureWorks</a:t>
            </a:r>
            <a:r>
              <a:rPr lang="en-US" sz="880" dirty="0">
                <a:effectLst/>
                <a:latin typeface="Segoe UI" panose="020B0502040204020203" pitchFamily="34" charset="0"/>
                <a:ea typeface="Calibri" panose="020F0502020204030204" pitchFamily="34" charset="0"/>
                <a:cs typeface="Segoe UI" panose="020B0502040204020203" pitchFamily="34" charset="0"/>
              </a:rPr>
              <a:t> </a:t>
            </a:r>
            <a:r>
              <a:rPr lang="en-US" sz="880" i="1" dirty="0" err="1">
                <a:effectLst/>
                <a:latin typeface="Segoe UI" panose="020B0502040204020203" pitchFamily="34" charset="0"/>
                <a:ea typeface="Calibri" panose="020F0502020204030204" pitchFamily="34" charset="0"/>
                <a:cs typeface="Segoe UI" panose="020B0502040204020203" pitchFamily="34" charset="0"/>
              </a:rPr>
              <a:t>HumanResources.Employee</a:t>
            </a:r>
            <a:r>
              <a:rPr lang="en-US" sz="880" i="1" dirty="0">
                <a:effectLst/>
                <a:latin typeface="Segoe UI" panose="020B0502040204020203" pitchFamily="34" charset="0"/>
                <a:ea typeface="Calibri" panose="020F0502020204030204" pitchFamily="34" charset="0"/>
                <a:cs typeface="Segoe UI" panose="020B0502040204020203" pitchFamily="34" charset="0"/>
              </a:rPr>
              <a:t> </a:t>
            </a:r>
            <a:r>
              <a:rPr lang="en-US" sz="880" dirty="0">
                <a:effectLst/>
                <a:latin typeface="Segoe UI" panose="020B0502040204020203" pitchFamily="34" charset="0"/>
                <a:ea typeface="Calibri" panose="020F0502020204030204" pitchFamily="34" charset="0"/>
                <a:cs typeface="Segoe UI" panose="020B0502040204020203" pitchFamily="34" charset="0"/>
              </a:rPr>
              <a:t>table by executing the following T-SQL:</a:t>
            </a:r>
          </a:p>
          <a:p>
            <a:pPr marL="0" marR="0"/>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r>
              <a:rPr lang="en-US" sz="880" dirty="0">
                <a:effectLst/>
                <a:latin typeface="Segoe UI" panose="020B0502040204020203" pitchFamily="34" charset="0"/>
                <a:ea typeface="Calibri" panose="020F0502020204030204" pitchFamily="34" charset="0"/>
                <a:cs typeface="Segoe UI" panose="020B0502040204020203" pitchFamily="34" charset="0"/>
              </a:rPr>
              <a:t> SELECT * INTO </a:t>
            </a:r>
            <a:r>
              <a:rPr lang="en-US" sz="880" dirty="0" err="1">
                <a:effectLst/>
                <a:latin typeface="Segoe UI" panose="020B0502040204020203" pitchFamily="34" charset="0"/>
                <a:ea typeface="Calibri" panose="020F0502020204030204" pitchFamily="34" charset="0"/>
                <a:cs typeface="Segoe UI" panose="020B0502040204020203" pitchFamily="34" charset="0"/>
              </a:rPr>
              <a:t>HumanResources.EmployeeAE</a:t>
            </a:r>
            <a:r>
              <a:rPr lang="en-US" sz="880" dirty="0">
                <a:effectLst/>
                <a:latin typeface="Segoe UI" panose="020B0502040204020203" pitchFamily="34" charset="0"/>
                <a:ea typeface="Calibri" panose="020F0502020204030204" pitchFamily="34" charset="0"/>
                <a:cs typeface="Segoe UI" panose="020B0502040204020203" pitchFamily="34" charset="0"/>
              </a:rPr>
              <a:t> FROM </a:t>
            </a:r>
            <a:r>
              <a:rPr lang="en-US" sz="880" dirty="0" err="1">
                <a:effectLst/>
                <a:latin typeface="Segoe UI" panose="020B0502040204020203" pitchFamily="34" charset="0"/>
                <a:ea typeface="Calibri" panose="020F0502020204030204" pitchFamily="34" charset="0"/>
                <a:cs typeface="Segoe UI" panose="020B0502040204020203" pitchFamily="34" charset="0"/>
              </a:rPr>
              <a:t>HumanResources.Employee</a:t>
            </a:r>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r>
              <a:rPr lang="en-US" sz="880" dirty="0">
                <a:effectLst/>
                <a:latin typeface="Segoe UI" panose="020B0502040204020203" pitchFamily="34" charset="0"/>
                <a:ea typeface="Calibri" panose="020F0502020204030204" pitchFamily="34" charset="0"/>
                <a:cs typeface="Segoe UI" panose="020B0502040204020203" pitchFamily="34" charset="0"/>
              </a:rPr>
              <a:t>(The original table a check constraint that blocks encryption.)</a:t>
            </a:r>
          </a:p>
          <a:p>
            <a:pPr marL="0" marR="0"/>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r>
              <a:rPr lang="en-US" sz="880" b="1" dirty="0">
                <a:effectLst/>
                <a:latin typeface="Segoe UI" panose="020B0502040204020203" pitchFamily="34" charset="0"/>
                <a:ea typeface="Calibri" panose="020F0502020204030204" pitchFamily="34" charset="0"/>
                <a:cs typeface="Segoe UI" panose="020B0502040204020203" pitchFamily="34" charset="0"/>
              </a:rPr>
              <a:t>Start by Right Clicking on the Table &gt; Choose Encrypt Columns</a:t>
            </a:r>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r>
              <a:rPr lang="en-US" sz="880" dirty="0">
                <a:effectLst/>
                <a:latin typeface="Segoe UI" panose="020B0502040204020203" pitchFamily="34" charset="0"/>
                <a:ea typeface="Calibri" panose="020F0502020204030204" pitchFamily="34" charset="0"/>
                <a:cs typeface="Segoe UI" panose="020B0502040204020203" pitchFamily="34" charset="0"/>
              </a:rPr>
              <a:t>It brings up a Wizard, one of the two recommend ways to configure AE. The other option is to use PowerShell.</a:t>
            </a:r>
          </a:p>
          <a:p>
            <a:pPr marL="0" marR="0"/>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r>
              <a:rPr lang="en-US" sz="880" b="1" dirty="0">
                <a:effectLst/>
                <a:latin typeface="Segoe UI" panose="020B0502040204020203" pitchFamily="34" charset="0"/>
                <a:ea typeface="Calibri" panose="020F0502020204030204" pitchFamily="34" charset="0"/>
                <a:cs typeface="Segoe UI" panose="020B0502040204020203" pitchFamily="34" charset="0"/>
              </a:rPr>
              <a:t>Click Next on the Intro Screen</a:t>
            </a:r>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r>
              <a:rPr lang="en-US" sz="880" dirty="0">
                <a:effectLst/>
                <a:latin typeface="Segoe UI" panose="020B0502040204020203" pitchFamily="34" charset="0"/>
                <a:ea typeface="Calibri" panose="020F0502020204030204" pitchFamily="34" charset="0"/>
                <a:cs typeface="Segoe UI" panose="020B0502040204020203" pitchFamily="34" charset="0"/>
              </a:rPr>
              <a:t>You will note in the example below, that it lists the columns and then shows the encryption STATE, which indicates if the column is eligible for encryption. There are several unsupported column characteristics that may make it so a column cannot be encrypted. The items on this list are unsupported because they have a default constraint or a check constraint defined:</a:t>
            </a:r>
          </a:p>
          <a:p>
            <a:pPr marL="0" marR="0">
              <a:spcBef>
                <a:spcPts val="0"/>
              </a:spcBef>
              <a:spcAft>
                <a:spcPts val="0"/>
              </a:spcAft>
            </a:pPr>
            <a:r>
              <a:rPr lang="en-US" sz="880" dirty="0">
                <a:effectLst/>
                <a:latin typeface="Segoe UI" panose="020B0502040204020203" pitchFamily="34" charset="0"/>
                <a:ea typeface="Calibri" panose="020F0502020204030204" pitchFamily="34" charset="0"/>
                <a:cs typeface="Segoe UI" panose="020B0502040204020203" pitchFamily="34" charset="0"/>
              </a:rPr>
              <a:t>In this case, the column we want is </a:t>
            </a:r>
            <a:r>
              <a:rPr lang="en-US" sz="880" i="1" dirty="0" err="1">
                <a:effectLst/>
                <a:latin typeface="Segoe UI" panose="020B0502040204020203" pitchFamily="34" charset="0"/>
                <a:ea typeface="Calibri" panose="020F0502020204030204" pitchFamily="34" charset="0"/>
                <a:cs typeface="Segoe UI" panose="020B0502040204020203" pitchFamily="34" charset="0"/>
              </a:rPr>
              <a:t>BirthDate</a:t>
            </a:r>
            <a:r>
              <a:rPr lang="en-US" sz="880" dirty="0">
                <a:effectLst/>
                <a:latin typeface="Segoe UI" panose="020B0502040204020203" pitchFamily="34" charset="0"/>
                <a:ea typeface="Calibri" panose="020F0502020204030204" pitchFamily="34" charset="0"/>
                <a:cs typeface="Segoe UI" panose="020B0502040204020203" pitchFamily="34" charset="0"/>
              </a:rPr>
              <a:t>, so I place a check next to it. To continue I need to</a:t>
            </a:r>
            <a:r>
              <a:rPr lang="en-US" sz="880" b="1" dirty="0">
                <a:effectLst/>
                <a:latin typeface="Segoe UI" panose="020B0502040204020203" pitchFamily="34" charset="0"/>
                <a:ea typeface="Calibri" panose="020F0502020204030204" pitchFamily="34" charset="0"/>
                <a:cs typeface="Segoe UI" panose="020B0502040204020203" pitchFamily="34" charset="0"/>
              </a:rPr>
              <a:t> Choose a Type of Encryption</a:t>
            </a:r>
            <a:r>
              <a:rPr lang="en-US" sz="880" dirty="0">
                <a:effectLst/>
                <a:latin typeface="Segoe UI" panose="020B0502040204020203" pitchFamily="34" charset="0"/>
                <a:ea typeface="Calibri" panose="020F0502020204030204" pitchFamily="34" charset="0"/>
                <a:cs typeface="Segoe UI" panose="020B0502040204020203" pitchFamily="34" charset="0"/>
              </a:rPr>
              <a:t>. Select deterministic from the drop down and then click next.</a:t>
            </a:r>
          </a:p>
          <a:p>
            <a:pPr marL="0" marR="0">
              <a:spcBef>
                <a:spcPts val="0"/>
              </a:spcBef>
              <a:spcAft>
                <a:spcPts val="0"/>
              </a:spcAft>
            </a:pPr>
            <a:r>
              <a:rPr lang="en-US" sz="880" dirty="0">
                <a:effectLst/>
                <a:latin typeface="Segoe UI" panose="020B0502040204020203" pitchFamily="34" charset="0"/>
                <a:ea typeface="Calibri" panose="020F0502020204030204" pitchFamily="34" charset="0"/>
                <a:cs typeface="Segoe UI" panose="020B0502040204020203" pitchFamily="34" charset="0"/>
              </a:rPr>
              <a:t> </a:t>
            </a:r>
          </a:p>
          <a:p>
            <a:pPr marL="0" marR="0">
              <a:spcBef>
                <a:spcPts val="0"/>
              </a:spcBef>
              <a:spcAft>
                <a:spcPts val="0"/>
              </a:spcAft>
            </a:pPr>
            <a:r>
              <a:rPr lang="en-US" sz="880" dirty="0">
                <a:effectLst/>
                <a:latin typeface="Segoe UI" panose="020B0502040204020203" pitchFamily="34" charset="0"/>
                <a:ea typeface="Calibri" panose="020F0502020204030204" pitchFamily="34" charset="0"/>
                <a:cs typeface="Segoe UI" panose="020B0502040204020203" pitchFamily="34" charset="0"/>
              </a:rPr>
              <a:t>If this is a new instance you need to create a master key. By default the wizard will autogenerate a master key. Also, accept the default of Windows certificate store, but mention Azure Key Vault and how it can be used. Click Next. On the next screen, accept the default of Proceed to Finish Now and click next. On the next screen click finish. </a:t>
            </a:r>
          </a:p>
          <a:p>
            <a:pPr marL="0" marR="0">
              <a:spcBef>
                <a:spcPts val="0"/>
              </a:spcBef>
              <a:spcAft>
                <a:spcPts val="0"/>
              </a:spcAft>
            </a:pPr>
            <a:r>
              <a:rPr lang="en-US" sz="880" dirty="0">
                <a:effectLst/>
                <a:latin typeface="Segoe UI" panose="020B0502040204020203" pitchFamily="34" charset="0"/>
                <a:ea typeface="Calibri" panose="020F0502020204030204" pitchFamily="34" charset="0"/>
                <a:cs typeface="Segoe UI" panose="020B0502040204020203" pitchFamily="34" charset="0"/>
              </a:rPr>
              <a:t> </a:t>
            </a:r>
          </a:p>
          <a:p>
            <a:pPr marL="0" marR="0">
              <a:spcBef>
                <a:spcPts val="0"/>
              </a:spcBef>
              <a:spcAft>
                <a:spcPts val="0"/>
              </a:spcAft>
            </a:pPr>
            <a:r>
              <a:rPr lang="en-US" sz="880" dirty="0">
                <a:effectLst/>
                <a:latin typeface="Segoe UI" panose="020B0502040204020203" pitchFamily="34" charset="0"/>
                <a:ea typeface="Calibri" panose="020F0502020204030204" pitchFamily="34" charset="0"/>
                <a:cs typeface="Segoe UI" panose="020B0502040204020203" pitchFamily="34" charset="0"/>
              </a:rPr>
              <a:t>Execute the following query:</a:t>
            </a:r>
          </a:p>
          <a:p>
            <a:pPr marL="0" marR="0">
              <a:spcBef>
                <a:spcPts val="0"/>
              </a:spcBef>
              <a:spcAft>
                <a:spcPts val="0"/>
              </a:spcAft>
            </a:pPr>
            <a:r>
              <a:rPr lang="en-US" sz="880" dirty="0">
                <a:effectLst/>
                <a:latin typeface="Segoe UI" panose="020B0502040204020203" pitchFamily="34" charset="0"/>
                <a:ea typeface="Calibri" panose="020F0502020204030204" pitchFamily="34" charset="0"/>
                <a:cs typeface="Segoe UI" panose="020B0502040204020203" pitchFamily="34" charset="0"/>
              </a:rPr>
              <a:t> </a:t>
            </a:r>
          </a:p>
          <a:p>
            <a:pPr marL="0" marR="0">
              <a:spcBef>
                <a:spcPts val="0"/>
              </a:spcBef>
              <a:spcAft>
                <a:spcPts val="0"/>
              </a:spcAft>
            </a:pPr>
            <a:r>
              <a:rPr lang="en-US" sz="880" dirty="0">
                <a:solidFill>
                  <a:srgbClr val="0000FF"/>
                </a:solidFill>
                <a:effectLst/>
                <a:latin typeface="Segoe UI" panose="020B0502040204020203" pitchFamily="34" charset="0"/>
                <a:ea typeface="Calibri" panose="020F0502020204030204" pitchFamily="34" charset="0"/>
                <a:cs typeface="Segoe UI" panose="020B0502040204020203" pitchFamily="34" charset="0"/>
              </a:rPr>
              <a:t> SELECT</a:t>
            </a:r>
            <a:r>
              <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rPr>
              <a:t> </a:t>
            </a:r>
            <a:r>
              <a:rPr lang="en-US" sz="880" dirty="0">
                <a:solidFill>
                  <a:srgbClr val="808080"/>
                </a:solidFill>
                <a:effectLst/>
                <a:latin typeface="Segoe UI" panose="020B0502040204020203" pitchFamily="34" charset="0"/>
                <a:ea typeface="Calibri" panose="020F0502020204030204" pitchFamily="34" charset="0"/>
                <a:cs typeface="Segoe UI" panose="020B0502040204020203" pitchFamily="34" charset="0"/>
              </a:rPr>
              <a:t>*</a:t>
            </a:r>
            <a:r>
              <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rPr>
              <a:t> </a:t>
            </a:r>
            <a:r>
              <a:rPr lang="en-US" sz="880" dirty="0">
                <a:solidFill>
                  <a:srgbClr val="0000FF"/>
                </a:solidFill>
                <a:effectLst/>
                <a:latin typeface="Segoe UI" panose="020B0502040204020203" pitchFamily="34" charset="0"/>
                <a:ea typeface="Calibri" panose="020F0502020204030204" pitchFamily="34" charset="0"/>
                <a:cs typeface="Segoe UI" panose="020B0502040204020203" pitchFamily="34" charset="0"/>
              </a:rPr>
              <a:t>FROM</a:t>
            </a:r>
            <a:r>
              <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rPr>
              <a:t> </a:t>
            </a:r>
            <a:r>
              <a:rPr lang="en-US" sz="880" dirty="0" err="1">
                <a:solidFill>
                  <a:srgbClr val="000000"/>
                </a:solidFill>
                <a:effectLst/>
                <a:latin typeface="Segoe UI" panose="020B0502040204020203" pitchFamily="34" charset="0"/>
                <a:ea typeface="Calibri" panose="020F0502020204030204" pitchFamily="34" charset="0"/>
                <a:cs typeface="Segoe UI" panose="020B0502040204020203" pitchFamily="34" charset="0"/>
              </a:rPr>
              <a:t>HumanResources</a:t>
            </a:r>
            <a:r>
              <a:rPr lang="en-US" sz="880" dirty="0" err="1">
                <a:solidFill>
                  <a:srgbClr val="808080"/>
                </a:solidFill>
                <a:effectLst/>
                <a:latin typeface="Segoe UI" panose="020B0502040204020203" pitchFamily="34" charset="0"/>
                <a:ea typeface="Calibri" panose="020F0502020204030204" pitchFamily="34" charset="0"/>
                <a:cs typeface="Segoe UI" panose="020B0502040204020203" pitchFamily="34" charset="0"/>
              </a:rPr>
              <a:t>.</a:t>
            </a:r>
            <a:r>
              <a:rPr lang="en-US" sz="880" dirty="0" err="1">
                <a:solidFill>
                  <a:srgbClr val="000000"/>
                </a:solidFill>
                <a:effectLst/>
                <a:latin typeface="Segoe UI" panose="020B0502040204020203" pitchFamily="34" charset="0"/>
                <a:ea typeface="Calibri" panose="020F0502020204030204" pitchFamily="34" charset="0"/>
                <a:cs typeface="Segoe UI" panose="020B0502040204020203" pitchFamily="34" charset="0"/>
              </a:rPr>
              <a:t>EmployeeAE</a:t>
            </a:r>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spcBef>
                <a:spcPts val="0"/>
              </a:spcBef>
              <a:spcAft>
                <a:spcPts val="0"/>
              </a:spcAft>
            </a:pPr>
            <a:r>
              <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rPr>
              <a:t> </a:t>
            </a:r>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spcBef>
                <a:spcPts val="0"/>
              </a:spcBef>
              <a:spcAft>
                <a:spcPts val="0"/>
              </a:spcAft>
            </a:pPr>
            <a:r>
              <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rPr>
              <a:t>Highlight that the </a:t>
            </a:r>
            <a:r>
              <a:rPr lang="en-US" sz="880" i="1" dirty="0" err="1">
                <a:effectLst/>
                <a:latin typeface="Segoe UI" panose="020B0502040204020203" pitchFamily="34" charset="0"/>
                <a:ea typeface="Calibri" panose="020F0502020204030204" pitchFamily="34" charset="0"/>
                <a:cs typeface="Segoe UI" panose="020B0502040204020203" pitchFamily="34" charset="0"/>
              </a:rPr>
              <a:t>BirthDate</a:t>
            </a:r>
            <a:r>
              <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rPr>
              <a:t> column is encrypted. </a:t>
            </a:r>
          </a:p>
          <a:p>
            <a:pPr marL="0" marR="0">
              <a:spcBef>
                <a:spcPts val="0"/>
              </a:spcBef>
              <a:spcAft>
                <a:spcPts val="0"/>
              </a:spcAft>
            </a:pPr>
            <a:endPar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p>
            <a:pPr marL="0" marR="0">
              <a:spcBef>
                <a:spcPts val="0"/>
              </a:spcBef>
              <a:spcAft>
                <a:spcPts val="0"/>
              </a:spcAft>
            </a:pPr>
            <a:r>
              <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rPr>
              <a:t>Open a new connection to your server, with the option Enable Always Encrypted box check on the Always Encrypted table in the connect to server window. Rerun the query against the encrypted table, you will see a pop up box, click enable. The query results will have unencrypted data.</a:t>
            </a:r>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spcBef>
                <a:spcPts val="0"/>
              </a:spcBef>
              <a:spcAft>
                <a:spcPts val="0"/>
              </a:spcAft>
            </a:pPr>
            <a:r>
              <a:rPr lang="en-US" sz="880" dirty="0">
                <a:solidFill>
                  <a:srgbClr val="000000"/>
                </a:solidFill>
                <a:effectLst/>
                <a:latin typeface="Segoe UI" panose="020B0502040204020203" pitchFamily="34" charset="0"/>
                <a:ea typeface="Calibri" panose="020F0502020204030204" pitchFamily="34" charset="0"/>
                <a:cs typeface="Segoe UI" panose="020B0502040204020203" pitchFamily="34" charset="0"/>
              </a:rPr>
              <a:t> </a:t>
            </a:r>
            <a:endParaRPr lang="en-US" sz="880" dirty="0">
              <a:effectLst/>
              <a:latin typeface="Segoe UI" panose="020B0502040204020203" pitchFamily="34" charset="0"/>
              <a:ea typeface="Calibri" panose="020F0502020204030204" pitchFamily="34" charset="0"/>
              <a:cs typeface="Segoe UI" panose="020B0502040204020203" pitchFamily="34" charset="0"/>
            </a:endParaRPr>
          </a:p>
          <a:p>
            <a:pPr marL="0" marR="0">
              <a:spcBef>
                <a:spcPts val="0"/>
              </a:spcBef>
              <a:spcAft>
                <a:spcPts val="0"/>
              </a:spcAft>
            </a:pPr>
            <a:r>
              <a:rPr lang="en-US" sz="880" dirty="0">
                <a:effectLst/>
                <a:latin typeface="Segoe UI" panose="020B0502040204020203" pitchFamily="34" charset="0"/>
                <a:ea typeface="Calibri" panose="020F0502020204030204" pitchFamily="34" charset="0"/>
                <a:cs typeface="Segoe UI" panose="020B0502040204020203" pitchFamily="34" charset="0"/>
              </a:rPr>
              <a:t>Ensure you explain to the students that having the certificate on the server is an insecure configuration and for demo purposes only. </a:t>
            </a:r>
          </a:p>
          <a:p>
            <a:pPr lvl="0"/>
            <a:endParaRPr lang="en-US" sz="880" dirty="0">
              <a:latin typeface="Segoe UI" panose="020B0502040204020203" pitchFamily="34" charset="0"/>
              <a:cs typeface="Segoe UI" panose="020B0502040204020203" pitchFamily="34" charset="0"/>
            </a:endParaRPr>
          </a:p>
          <a:p>
            <a:pPr lvl="0"/>
            <a:endParaRPr lang="en-US" sz="880" dirty="0">
              <a:latin typeface="Segoe UI" panose="020B0502040204020203" pitchFamily="34" charset="0"/>
              <a:cs typeface="Segoe UI" panose="020B0502040204020203" pitchFamily="34" charset="0"/>
            </a:endParaRPr>
          </a:p>
        </p:txBody>
      </p:sp>
      <p:sp>
        <p:nvSpPr>
          <p:cNvPr id="4" name="页眉占位符 3"/>
          <p:cNvSpPr>
            <a:spLocks noGrp="1"/>
          </p:cNvSpPr>
          <p:nvPr>
            <p:ph type="hdr" sz="quarter"/>
          </p:nvPr>
        </p:nvSpPr>
        <p:spPr/>
        <p:txBody>
          <a:bodyPr/>
          <a:lstStyle/>
          <a:p>
            <a:endParaRPr lang="en-US"/>
          </a:p>
        </p:txBody>
      </p:sp>
      <p:sp>
        <p:nvSpPr>
          <p:cNvPr id="5" name="页脚占位符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日期占位符 5"/>
          <p:cNvSpPr>
            <a:spLocks noGrp="1"/>
          </p:cNvSpPr>
          <p:nvPr>
            <p:ph type="dt" idx="1"/>
          </p:nvPr>
        </p:nvSpPr>
        <p:spPr/>
        <p:txBody>
          <a:bodyPr/>
          <a:lstStyle/>
          <a:p>
            <a:fld id="{9C7A0F8F-EAD9-42AF-B603-B9E3044795E3}" type="datetime8">
              <a:rPr lang="en-US" smtClean="0"/>
              <a:t>2/9/2026 8:13 PM</a:t>
            </a:fld>
            <a:endParaRPr lang="en-US"/>
          </a:p>
        </p:txBody>
      </p:sp>
      <p:sp>
        <p:nvSpPr>
          <p:cNvPr id="7" name="灯片编号占位符 6"/>
          <p:cNvSpPr>
            <a:spLocks noGrp="1"/>
          </p:cNvSpPr>
          <p:nvPr>
            <p:ph type="sldNum" sz="quarter" idx="5"/>
          </p:nvPr>
        </p:nvSpPr>
        <p:spPr/>
        <p:txBody>
          <a:bodyPr/>
          <a:lstStyle/>
          <a:p>
            <a:fld id="{B4008EB6-D09E-4580-8CD6-DDB14511944F}" type="slidenum">
              <a:rPr lang="en-US" smtClean="0"/>
              <a:pPr/>
              <a:t>43</a:t>
            </a:fld>
            <a:endParaRPr lang="en-US"/>
          </a:p>
        </p:txBody>
      </p:sp>
    </p:spTree>
    <p:extLst>
      <p:ext uri="{BB962C8B-B14F-4D97-AF65-F5344CB8AC3E}">
        <p14:creationId xmlns:p14="http://schemas.microsoft.com/office/powerpoint/2010/main" val="7471611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Segoe UI" panose="020B0502040204020203" pitchFamily="34" charset="0"/>
              </a:rPr>
              <a:t>You can configure a SQL Server instance to use encrypted connections by following these steps:</a:t>
            </a:r>
          </a:p>
          <a:p>
            <a:pPr algn="l"/>
            <a:endParaRPr lang="en-US" b="0" i="0" dirty="0">
              <a:solidFill>
                <a:srgbClr val="171717"/>
              </a:solidFill>
              <a:effectLst/>
              <a:latin typeface="Segoe UI" panose="020B0502040204020203" pitchFamily="34" charset="0"/>
            </a:endParaRPr>
          </a:p>
          <a:p>
            <a:pPr algn="l">
              <a:buFont typeface="+mj-lt"/>
              <a:buAutoNum type="arabicPeriod"/>
            </a:pPr>
            <a:r>
              <a:rPr lang="en-US" b="0" i="0" dirty="0">
                <a:solidFill>
                  <a:srgbClr val="171717"/>
                </a:solidFill>
                <a:effectLst/>
                <a:latin typeface="Segoe UI" panose="020B0502040204020203" pitchFamily="34" charset="0"/>
              </a:rPr>
              <a:t>On the </a:t>
            </a:r>
            <a:r>
              <a:rPr lang="en-US" b="1" i="0" dirty="0">
                <a:solidFill>
                  <a:srgbClr val="171717"/>
                </a:solidFill>
                <a:effectLst/>
                <a:latin typeface="Segoe UI" panose="020B0502040204020203" pitchFamily="34" charset="0"/>
              </a:rPr>
              <a:t>SQL Server Configuration Manager</a:t>
            </a:r>
            <a:r>
              <a:rPr lang="en-US" b="0" i="0" dirty="0">
                <a:solidFill>
                  <a:srgbClr val="171717"/>
                </a:solidFill>
                <a:effectLst/>
                <a:latin typeface="Segoe UI" panose="020B0502040204020203" pitchFamily="34" charset="0"/>
              </a:rPr>
              <a:t>, expand </a:t>
            </a:r>
            <a:r>
              <a:rPr lang="en-US" b="1" i="0" dirty="0">
                <a:solidFill>
                  <a:srgbClr val="171717"/>
                </a:solidFill>
                <a:effectLst/>
                <a:latin typeface="Segoe UI" panose="020B0502040204020203" pitchFamily="34" charset="0"/>
              </a:rPr>
              <a:t>SQL Server Network Configuration</a:t>
            </a:r>
            <a:r>
              <a:rPr lang="en-US" b="0" i="0" dirty="0">
                <a:solidFill>
                  <a:srgbClr val="171717"/>
                </a:solidFill>
                <a:effectLst/>
                <a:latin typeface="Segoe UI" panose="020B0502040204020203" pitchFamily="34" charset="0"/>
              </a:rPr>
              <a:t>, right-click </a:t>
            </a:r>
            <a:r>
              <a:rPr lang="en-US" b="1" i="0" dirty="0">
                <a:solidFill>
                  <a:srgbClr val="171717"/>
                </a:solidFill>
                <a:effectLst/>
                <a:latin typeface="Segoe UI" panose="020B0502040204020203" pitchFamily="34" charset="0"/>
              </a:rPr>
              <a:t>Protocols for &lt;server instance&gt;</a:t>
            </a:r>
            <a:r>
              <a:rPr lang="en-US" b="0" i="0" dirty="0">
                <a:solidFill>
                  <a:srgbClr val="171717"/>
                </a:solidFill>
                <a:effectLst/>
                <a:latin typeface="Segoe UI" panose="020B0502040204020203" pitchFamily="34" charset="0"/>
              </a:rPr>
              <a:t>, and then select </a:t>
            </a:r>
            <a:r>
              <a:rPr lang="en-US" b="1" i="0" dirty="0">
                <a:solidFill>
                  <a:srgbClr val="171717"/>
                </a:solidFill>
                <a:effectLst/>
                <a:latin typeface="Segoe UI" panose="020B0502040204020203" pitchFamily="34" charset="0"/>
              </a:rPr>
              <a:t>Properties</a:t>
            </a:r>
            <a:r>
              <a:rPr lang="en-US" b="0" i="0" dirty="0">
                <a:solidFill>
                  <a:srgbClr val="171717"/>
                </a:solidFill>
                <a:effectLst/>
                <a:latin typeface="Segoe UI" panose="020B0502040204020203" pitchFamily="34" charset="0"/>
              </a:rPr>
              <a:t>.</a:t>
            </a:r>
          </a:p>
          <a:p>
            <a:pPr algn="l">
              <a:buFont typeface="+mj-lt"/>
              <a:buAutoNum type="arabicPeriod"/>
            </a:pPr>
            <a:r>
              <a:rPr lang="en-US" b="0" i="0" dirty="0">
                <a:solidFill>
                  <a:srgbClr val="171717"/>
                </a:solidFill>
                <a:effectLst/>
                <a:latin typeface="Segoe UI" panose="020B0502040204020203" pitchFamily="34" charset="0"/>
              </a:rPr>
              <a:t>From the </a:t>
            </a:r>
            <a:r>
              <a:rPr lang="en-US" b="1" i="0" dirty="0">
                <a:solidFill>
                  <a:srgbClr val="171717"/>
                </a:solidFill>
                <a:effectLst/>
                <a:latin typeface="Segoe UI" panose="020B0502040204020203" pitchFamily="34" charset="0"/>
              </a:rPr>
              <a:t>Protocols for &lt;server instance&gt; Properties</a:t>
            </a:r>
            <a:r>
              <a:rPr lang="en-US" b="0" i="0" dirty="0">
                <a:solidFill>
                  <a:srgbClr val="171717"/>
                </a:solidFill>
                <a:effectLst/>
                <a:latin typeface="Segoe UI" panose="020B0502040204020203" pitchFamily="34" charset="0"/>
              </a:rPr>
              <a:t> dialog box, select the </a:t>
            </a:r>
            <a:r>
              <a:rPr lang="en-US" b="1" i="0" dirty="0">
                <a:solidFill>
                  <a:srgbClr val="171717"/>
                </a:solidFill>
                <a:effectLst/>
                <a:latin typeface="Segoe UI" panose="020B0502040204020203" pitchFamily="34" charset="0"/>
              </a:rPr>
              <a:t>Certificate</a:t>
            </a:r>
            <a:r>
              <a:rPr lang="en-US" b="0" i="0" dirty="0">
                <a:solidFill>
                  <a:srgbClr val="171717"/>
                </a:solidFill>
                <a:effectLst/>
                <a:latin typeface="Segoe UI" panose="020B0502040204020203" pitchFamily="34" charset="0"/>
              </a:rPr>
              <a:t> tab, then select the certificate from the </a:t>
            </a:r>
            <a:r>
              <a:rPr lang="en-US" b="1" i="0" dirty="0">
                <a:solidFill>
                  <a:srgbClr val="171717"/>
                </a:solidFill>
                <a:effectLst/>
                <a:latin typeface="Segoe UI" panose="020B0502040204020203" pitchFamily="34" charset="0"/>
              </a:rPr>
              <a:t>Certificate</a:t>
            </a:r>
            <a:r>
              <a:rPr lang="en-US" b="0" i="0" dirty="0">
                <a:solidFill>
                  <a:srgbClr val="171717"/>
                </a:solidFill>
                <a:effectLst/>
                <a:latin typeface="Segoe UI" panose="020B0502040204020203" pitchFamily="34" charset="0"/>
              </a:rPr>
              <a:t> drop-down.</a:t>
            </a:r>
          </a:p>
          <a:p>
            <a:pPr algn="l">
              <a:buFont typeface="+mj-lt"/>
              <a:buAutoNum type="arabicPeriod"/>
            </a:pPr>
            <a:r>
              <a:rPr lang="en-US" b="0" i="0" dirty="0">
                <a:solidFill>
                  <a:srgbClr val="171717"/>
                </a:solidFill>
                <a:effectLst/>
                <a:latin typeface="Segoe UI" panose="020B0502040204020203" pitchFamily="34" charset="0"/>
              </a:rPr>
              <a:t>On the </a:t>
            </a:r>
            <a:r>
              <a:rPr lang="en-US" b="1" i="0" dirty="0">
                <a:solidFill>
                  <a:srgbClr val="171717"/>
                </a:solidFill>
                <a:effectLst/>
                <a:latin typeface="Segoe UI" panose="020B0502040204020203" pitchFamily="34" charset="0"/>
              </a:rPr>
              <a:t>Flags</a:t>
            </a:r>
            <a:r>
              <a:rPr lang="en-US" b="0" i="0" dirty="0">
                <a:solidFill>
                  <a:srgbClr val="171717"/>
                </a:solidFill>
                <a:effectLst/>
                <a:latin typeface="Segoe UI" panose="020B0502040204020203" pitchFamily="34" charset="0"/>
              </a:rPr>
              <a:t> tab, in the </a:t>
            </a:r>
            <a:r>
              <a:rPr lang="en-US" b="1" i="0" dirty="0" err="1">
                <a:solidFill>
                  <a:srgbClr val="171717"/>
                </a:solidFill>
                <a:effectLst/>
                <a:latin typeface="Segoe UI" panose="020B0502040204020203" pitchFamily="34" charset="0"/>
              </a:rPr>
              <a:t>ForceEncryption</a:t>
            </a:r>
            <a:r>
              <a:rPr lang="en-US" b="0" i="0" dirty="0">
                <a:solidFill>
                  <a:srgbClr val="171717"/>
                </a:solidFill>
                <a:effectLst/>
                <a:latin typeface="Segoe UI" panose="020B0502040204020203" pitchFamily="34" charset="0"/>
              </a:rPr>
              <a:t> property, select </a:t>
            </a:r>
            <a:r>
              <a:rPr lang="en-US" b="1" i="0" dirty="0">
                <a:solidFill>
                  <a:srgbClr val="171717"/>
                </a:solidFill>
                <a:effectLst/>
                <a:latin typeface="Segoe UI" panose="020B0502040204020203" pitchFamily="34" charset="0"/>
              </a:rPr>
              <a:t>Yes</a:t>
            </a:r>
            <a:r>
              <a:rPr lang="en-US" b="0" i="0" dirty="0">
                <a:solidFill>
                  <a:srgbClr val="171717"/>
                </a:solidFill>
                <a:effectLst/>
                <a:latin typeface="Segoe UI" panose="020B0502040204020203" pitchFamily="34" charset="0"/>
              </a:rPr>
              <a:t>, and then click </a:t>
            </a:r>
            <a:r>
              <a:rPr lang="en-US" b="1" i="0" dirty="0">
                <a:solidFill>
                  <a:srgbClr val="171717"/>
                </a:solidFill>
                <a:effectLst/>
                <a:latin typeface="Segoe UI" panose="020B0502040204020203" pitchFamily="34" charset="0"/>
              </a:rPr>
              <a:t>OK</a:t>
            </a:r>
            <a:r>
              <a:rPr lang="en-US" b="0" i="0" dirty="0">
                <a:solidFill>
                  <a:srgbClr val="171717"/>
                </a:solidFill>
                <a:effectLst/>
                <a:latin typeface="Segoe UI" panose="020B0502040204020203" pitchFamily="34" charset="0"/>
              </a:rPr>
              <a:t>.</a:t>
            </a:r>
          </a:p>
          <a:p>
            <a:pPr marL="0" marR="0" lvl="0" indent="0" algn="l" defTabSz="932742" rtl="0" eaLnBrk="1" fontAlgn="auto" latinLnBrk="0" hangingPunct="1">
              <a:lnSpc>
                <a:spcPct val="90000"/>
              </a:lnSpc>
              <a:spcBef>
                <a:spcPts val="0"/>
              </a:spcBef>
              <a:spcAft>
                <a:spcPts val="340"/>
              </a:spcAft>
              <a:buClrTx/>
              <a:buSzTx/>
              <a:buFont typeface="+mj-lt"/>
              <a:buAutoNum type="arabicPeriod"/>
              <a:tabLst/>
              <a:defRPr/>
            </a:pPr>
            <a:r>
              <a:rPr lang="en-US" b="0" i="0" dirty="0">
                <a:solidFill>
                  <a:srgbClr val="171717"/>
                </a:solidFill>
                <a:effectLst/>
                <a:latin typeface="Segoe UI" panose="020B0502040204020203" pitchFamily="34" charset="0"/>
              </a:rPr>
              <a:t>Restart the SQL Server service.</a:t>
            </a:r>
          </a:p>
          <a:p>
            <a:pPr algn="l">
              <a:buFont typeface="+mj-lt"/>
              <a:buNone/>
            </a:pPr>
            <a:endParaRPr lang="en-US" b="0" i="0" dirty="0">
              <a:solidFill>
                <a:srgbClr val="171717"/>
              </a:solidFill>
              <a:effectLst/>
              <a:latin typeface="Segoe UI" panose="020B0502040204020203" pitchFamily="34" charset="0"/>
            </a:endParaRPr>
          </a:p>
          <a:p>
            <a:pPr algn="l">
              <a:buFont typeface="+mj-lt"/>
              <a:buNone/>
            </a:pPr>
            <a:r>
              <a:rPr lang="en-US" b="0" i="0" dirty="0">
                <a:solidFill>
                  <a:srgbClr val="171717"/>
                </a:solidFill>
                <a:effectLst/>
                <a:latin typeface="Segoe UI" panose="020B0502040204020203" pitchFamily="34" charset="0"/>
              </a:rPr>
              <a:t>Once the necessary configuration is in place, you can test the connection through SQL Server Management Studio:</a:t>
            </a:r>
          </a:p>
          <a:p>
            <a:pPr algn="l">
              <a:buFont typeface="+mj-lt"/>
              <a:buNone/>
            </a:pPr>
            <a:endParaRPr lang="en-US" b="0" i="0" dirty="0">
              <a:solidFill>
                <a:srgbClr val="171717"/>
              </a:solidFill>
              <a:effectLst/>
              <a:latin typeface="Segoe UI" panose="020B0502040204020203" pitchFamily="34" charset="0"/>
            </a:endParaRPr>
          </a:p>
          <a:p>
            <a:pPr algn="l">
              <a:buFont typeface="+mj-lt"/>
              <a:buNone/>
            </a:pPr>
            <a:r>
              <a:rPr lang="en-US" b="0" i="0" dirty="0">
                <a:solidFill>
                  <a:srgbClr val="171717"/>
                </a:solidFill>
                <a:effectLst/>
                <a:latin typeface="Segoe UI" panose="020B0502040204020203" pitchFamily="34" charset="0"/>
              </a:rPr>
              <a:t>On the </a:t>
            </a:r>
            <a:r>
              <a:rPr lang="en-US" b="1" i="0" dirty="0">
                <a:solidFill>
                  <a:srgbClr val="171717"/>
                </a:solidFill>
                <a:effectLst/>
                <a:latin typeface="Segoe UI" panose="020B0502040204020203" pitchFamily="34" charset="0"/>
              </a:rPr>
              <a:t>Connection Properties</a:t>
            </a:r>
            <a:r>
              <a:rPr lang="en-US" b="0" i="0" dirty="0">
                <a:solidFill>
                  <a:srgbClr val="171717"/>
                </a:solidFill>
                <a:effectLst/>
                <a:latin typeface="Segoe UI" panose="020B0502040204020203" pitchFamily="34" charset="0"/>
              </a:rPr>
              <a:t> tab, click </a:t>
            </a:r>
            <a:r>
              <a:rPr lang="en-US" b="1" i="0" dirty="0">
                <a:solidFill>
                  <a:srgbClr val="171717"/>
                </a:solidFill>
                <a:effectLst/>
                <a:latin typeface="Segoe UI" panose="020B0502040204020203" pitchFamily="34" charset="0"/>
              </a:rPr>
              <a:t>Encrypt connection</a:t>
            </a:r>
            <a:r>
              <a:rPr lang="en-US" b="0" i="0" dirty="0">
                <a:solidFill>
                  <a:srgbClr val="171717"/>
                </a:solidFill>
                <a:effectLst/>
                <a:latin typeface="Segoe UI" panose="020B0502040204020203" pitchFamily="34" charset="0"/>
              </a:rPr>
              <a:t>, and then </a:t>
            </a:r>
            <a:r>
              <a:rPr lang="en-US" b="1" i="0" dirty="0">
                <a:solidFill>
                  <a:srgbClr val="171717"/>
                </a:solidFill>
                <a:effectLst/>
                <a:latin typeface="Segoe UI" panose="020B0502040204020203" pitchFamily="34" charset="0"/>
              </a:rPr>
              <a:t>Connect</a:t>
            </a:r>
            <a:r>
              <a:rPr lang="en-US" b="0" i="0" dirty="0">
                <a:solidFill>
                  <a:srgbClr val="171717"/>
                </a:solidFill>
                <a:effectLst/>
                <a:latin typeface="Segoe UI" panose="020B0502040204020203" pitchFamily="34" charset="0"/>
              </a:rPr>
              <a: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EA111B9E-B7E6-4F65-9F71-092559E5F9C7}"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44</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dirty="0">
                <a:solidFill>
                  <a:schemeClr val="tx1"/>
                </a:solidFill>
                <a:latin typeface="Segoe UI" panose="020B0502040204020203" pitchFamily="34" charset="0"/>
                <a:ea typeface="+mn-ea"/>
                <a:cs typeface="+mn-cs"/>
              </a:rPr>
              <a:t>--I </a:t>
            </a:r>
            <a:r>
              <a:rPr lang="en-US" sz="882" kern="1200" dirty="0" err="1">
                <a:solidFill>
                  <a:schemeClr val="tx1"/>
                </a:solidFill>
                <a:latin typeface="Segoe UI" panose="020B0502040204020203" pitchFamily="34" charset="0"/>
                <a:ea typeface="+mn-ea"/>
                <a:cs typeface="+mn-cs"/>
              </a:rPr>
              <a:t>övre</a:t>
            </a:r>
            <a:r>
              <a:rPr lang="en-US" sz="882" kern="1200" dirty="0">
                <a:solidFill>
                  <a:schemeClr val="tx1"/>
                </a:solidFill>
                <a:latin typeface="Segoe UI" panose="020B0502040204020203" pitchFamily="34" charset="0"/>
                <a:ea typeface="+mn-ea"/>
                <a:cs typeface="+mn-cs"/>
              </a:rPr>
              <a:t> </a:t>
            </a:r>
            <a:r>
              <a:rPr lang="en-US" sz="882" kern="1200" dirty="0" err="1">
                <a:solidFill>
                  <a:schemeClr val="tx1"/>
                </a:solidFill>
                <a:latin typeface="Segoe UI" panose="020B0502040204020203" pitchFamily="34" charset="0"/>
                <a:ea typeface="+mn-ea"/>
                <a:cs typeface="+mn-cs"/>
              </a:rPr>
              <a:t>exemplet</a:t>
            </a:r>
            <a:r>
              <a:rPr lang="en-US" sz="882" kern="1200" dirty="0">
                <a:solidFill>
                  <a:schemeClr val="tx1"/>
                </a:solidFill>
                <a:latin typeface="Segoe UI" panose="020B0502040204020203" pitchFamily="34" charset="0"/>
                <a:ea typeface="+mn-ea"/>
                <a:cs typeface="+mn-cs"/>
              </a:rPr>
              <a:t> visas alla </a:t>
            </a:r>
            <a:r>
              <a:rPr lang="en-US" sz="882" kern="1200" dirty="0" err="1">
                <a:solidFill>
                  <a:schemeClr val="tx1"/>
                </a:solidFill>
                <a:latin typeface="Segoe UI" panose="020B0502040204020203" pitchFamily="34" charset="0"/>
                <a:ea typeface="+mn-ea"/>
                <a:cs typeface="+mn-cs"/>
              </a:rPr>
              <a:t>rader</a:t>
            </a:r>
            <a:r>
              <a:rPr lang="en-US" sz="882" kern="1200" dirty="0">
                <a:solidFill>
                  <a:schemeClr val="tx1"/>
                </a:solidFill>
                <a:latin typeface="Segoe UI" panose="020B0502040204020203" pitchFamily="34" charset="0"/>
                <a:ea typeface="+mn-ea"/>
                <a:cs typeface="+mn-cs"/>
              </a:rPr>
              <a:t>, </a:t>
            </a:r>
            <a:r>
              <a:rPr lang="en-US" sz="882" kern="1200" dirty="0" err="1">
                <a:solidFill>
                  <a:schemeClr val="tx1"/>
                </a:solidFill>
                <a:latin typeface="Segoe UI" panose="020B0502040204020203" pitchFamily="34" charset="0"/>
                <a:ea typeface="+mn-ea"/>
                <a:cs typeface="+mn-cs"/>
              </a:rPr>
              <a:t>vilket</a:t>
            </a:r>
            <a:r>
              <a:rPr lang="en-US" sz="882" kern="1200" dirty="0">
                <a:solidFill>
                  <a:schemeClr val="tx1"/>
                </a:solidFill>
                <a:latin typeface="Segoe UI" panose="020B0502040204020203" pitchFamily="34" charset="0"/>
                <a:ea typeface="+mn-ea"/>
                <a:cs typeface="+mn-cs"/>
              </a:rPr>
              <a:t> </a:t>
            </a:r>
            <a:r>
              <a:rPr lang="en-US" sz="882" kern="1200" dirty="0" err="1">
                <a:solidFill>
                  <a:schemeClr val="tx1"/>
                </a:solidFill>
                <a:latin typeface="Segoe UI" panose="020B0502040204020203" pitchFamily="34" charset="0"/>
                <a:ea typeface="+mn-ea"/>
                <a:cs typeface="+mn-cs"/>
              </a:rPr>
              <a:t>inte</a:t>
            </a:r>
            <a:r>
              <a:rPr lang="en-US" sz="882" kern="1200" dirty="0">
                <a:solidFill>
                  <a:schemeClr val="tx1"/>
                </a:solidFill>
                <a:latin typeface="Segoe UI" panose="020B0502040204020203" pitchFamily="34" charset="0"/>
                <a:ea typeface="+mn-ea"/>
                <a:cs typeface="+mn-cs"/>
              </a:rPr>
              <a:t> </a:t>
            </a:r>
            <a:r>
              <a:rPr lang="en-US" sz="882" kern="1200" dirty="0" err="1">
                <a:solidFill>
                  <a:schemeClr val="tx1"/>
                </a:solidFill>
                <a:latin typeface="Segoe UI" panose="020B0502040204020203" pitchFamily="34" charset="0"/>
                <a:ea typeface="+mn-ea"/>
                <a:cs typeface="+mn-cs"/>
              </a:rPr>
              <a:t>är</a:t>
            </a:r>
            <a:r>
              <a:rPr lang="en-US" sz="882" kern="1200" dirty="0">
                <a:solidFill>
                  <a:schemeClr val="tx1"/>
                </a:solidFill>
                <a:latin typeface="Segoe UI" panose="020B0502040204020203" pitchFamily="34" charset="0"/>
                <a:ea typeface="+mn-ea"/>
                <a:cs typeface="+mn-cs"/>
              </a:rPr>
              <a:t> </a:t>
            </a:r>
            <a:r>
              <a:rPr lang="en-US" sz="882" kern="1200" dirty="0" err="1">
                <a:solidFill>
                  <a:schemeClr val="tx1"/>
                </a:solidFill>
                <a:latin typeface="Segoe UI" panose="020B0502040204020203" pitchFamily="34" charset="0"/>
                <a:ea typeface="+mn-ea"/>
                <a:cs typeface="+mn-cs"/>
              </a:rPr>
              <a:t>meningen</a:t>
            </a:r>
            <a:endParaRPr lang="en-US" sz="882" kern="1200" dirty="0">
              <a:solidFill>
                <a:schemeClr val="tx1"/>
              </a:solidFill>
              <a:latin typeface="Segoe UI" panose="020B0502040204020203" pitchFamily="34" charset="0"/>
              <a:ea typeface="+mn-ea"/>
              <a:cs typeface="+mn-cs"/>
            </a:endParaRPr>
          </a:p>
          <a:p>
            <a:r>
              <a:rPr lang="en-US" sz="882" kern="1200" dirty="0">
                <a:solidFill>
                  <a:schemeClr val="tx1"/>
                </a:solidFill>
                <a:latin typeface="Segoe UI" panose="020B0502040204020203" pitchFamily="34" charset="0"/>
                <a:ea typeface="+mn-ea"/>
                <a:cs typeface="+mn-cs"/>
              </a:rPr>
              <a:t>DECLARE @LastName NVARCHAR(100) = ''' OR 1=1 --';</a:t>
            </a:r>
          </a:p>
          <a:p>
            <a:endParaRPr lang="en-SE" sz="882" kern="1200" dirty="0">
              <a:solidFill>
                <a:schemeClr val="tx1"/>
              </a:solidFill>
              <a:latin typeface="Segoe UI" panose="020B0502040204020203" pitchFamily="34" charset="0"/>
              <a:ea typeface="+mn-ea"/>
              <a:cs typeface="+mn-cs"/>
            </a:endParaRPr>
          </a:p>
          <a:p>
            <a:r>
              <a:rPr lang="en-SE" sz="882" kern="1200" dirty="0">
                <a:solidFill>
                  <a:schemeClr val="tx1"/>
                </a:solidFill>
                <a:latin typeface="Segoe UI" panose="020B0502040204020203" pitchFamily="34" charset="0"/>
                <a:ea typeface="+mn-ea"/>
                <a:cs typeface="+mn-cs"/>
              </a:rPr>
              <a:t>-------------------------------------------------</a:t>
            </a:r>
          </a:p>
          <a:p>
            <a:r>
              <a:rPr lang="sv-SE" sz="882" kern="1200" dirty="0">
                <a:solidFill>
                  <a:schemeClr val="tx1"/>
                </a:solidFill>
                <a:latin typeface="Segoe UI" panose="020B0502040204020203" pitchFamily="34" charset="0"/>
                <a:ea typeface="+mn-ea"/>
                <a:cs typeface="+mn-cs"/>
              </a:rPr>
              <a:t>-- ❌ FEL: SQL </a:t>
            </a:r>
            <a:r>
              <a:rPr lang="sv-SE" sz="882" kern="1200" dirty="0" err="1">
                <a:solidFill>
                  <a:schemeClr val="tx1"/>
                </a:solidFill>
                <a:latin typeface="Segoe UI" panose="020B0502040204020203" pitchFamily="34" charset="0"/>
                <a:ea typeface="+mn-ea"/>
                <a:cs typeface="+mn-cs"/>
              </a:rPr>
              <a:t>injection</a:t>
            </a:r>
            <a:r>
              <a:rPr lang="sv-SE" sz="882" kern="1200" dirty="0">
                <a:solidFill>
                  <a:schemeClr val="tx1"/>
                </a:solidFill>
                <a:latin typeface="Segoe UI" panose="020B0502040204020203" pitchFamily="34" charset="0"/>
                <a:ea typeface="+mn-ea"/>
                <a:cs typeface="+mn-cs"/>
              </a:rPr>
              <a:t> (returnerar ALLA kunder)</a:t>
            </a:r>
          </a:p>
          <a:p>
            <a:r>
              <a:rPr lang="en-SE" sz="882" kern="1200" dirty="0">
                <a:solidFill>
                  <a:schemeClr val="tx1"/>
                </a:solidFill>
                <a:latin typeface="Segoe UI" panose="020B0502040204020203" pitchFamily="34" charset="0"/>
                <a:ea typeface="+mn-ea"/>
                <a:cs typeface="+mn-cs"/>
              </a:rPr>
              <a:t>-------------------------------------------------</a:t>
            </a:r>
          </a:p>
          <a:p>
            <a:r>
              <a:rPr lang="en-GB" sz="882" kern="1200" dirty="0">
                <a:solidFill>
                  <a:schemeClr val="tx1"/>
                </a:solidFill>
                <a:latin typeface="Segoe UI" panose="020B0502040204020203" pitchFamily="34" charset="0"/>
                <a:ea typeface="+mn-ea"/>
                <a:cs typeface="+mn-cs"/>
              </a:rPr>
              <a:t>DECLARE @sql_bad NVARCHAR(MAX);</a:t>
            </a:r>
          </a:p>
          <a:p>
            <a:endParaRPr lang="en-SE" sz="882" kern="1200" dirty="0">
              <a:solidFill>
                <a:schemeClr val="tx1"/>
              </a:solidFill>
              <a:latin typeface="Segoe UI" panose="020B0502040204020203" pitchFamily="34" charset="0"/>
              <a:ea typeface="+mn-ea"/>
              <a:cs typeface="+mn-cs"/>
            </a:endParaRPr>
          </a:p>
          <a:p>
            <a:r>
              <a:rPr lang="en-GB" sz="882" kern="1200" dirty="0">
                <a:solidFill>
                  <a:schemeClr val="tx1"/>
                </a:solidFill>
                <a:latin typeface="Segoe UI" panose="020B0502040204020203" pitchFamily="34" charset="0"/>
                <a:ea typeface="+mn-ea"/>
                <a:cs typeface="+mn-cs"/>
              </a:rPr>
              <a:t>SET @sql_bad = N'</a:t>
            </a:r>
          </a:p>
          <a:p>
            <a:r>
              <a:rPr lang="en-GB" sz="882" kern="1200" dirty="0">
                <a:solidFill>
                  <a:schemeClr val="tx1"/>
                </a:solidFill>
                <a:latin typeface="Segoe UI" panose="020B0502040204020203" pitchFamily="34" charset="0"/>
                <a:ea typeface="+mn-ea"/>
                <a:cs typeface="+mn-cs"/>
              </a:rPr>
              <a:t>SELECT </a:t>
            </a:r>
            <a:r>
              <a:rPr lang="en-GB" sz="882" kern="1200" dirty="0" err="1">
                <a:solidFill>
                  <a:schemeClr val="tx1"/>
                </a:solidFill>
                <a:latin typeface="Segoe UI" panose="020B0502040204020203" pitchFamily="34" charset="0"/>
                <a:ea typeface="+mn-ea"/>
                <a:cs typeface="+mn-cs"/>
              </a:rPr>
              <a:t>CustomerID</a:t>
            </a:r>
            <a:r>
              <a:rPr lang="en-GB" sz="882" kern="1200" dirty="0">
                <a:solidFill>
                  <a:schemeClr val="tx1"/>
                </a:solidFill>
                <a:latin typeface="Segoe UI" panose="020B0502040204020203" pitchFamily="34" charset="0"/>
                <a:ea typeface="+mn-ea"/>
                <a:cs typeface="+mn-cs"/>
              </a:rPr>
              <a:t>, FirstName, LastName</a:t>
            </a:r>
          </a:p>
          <a:p>
            <a:r>
              <a:rPr lang="en-GB" sz="882" kern="1200" dirty="0">
                <a:solidFill>
                  <a:schemeClr val="tx1"/>
                </a:solidFill>
                <a:latin typeface="Segoe UI" panose="020B0502040204020203" pitchFamily="34" charset="0"/>
                <a:ea typeface="+mn-ea"/>
                <a:cs typeface="+mn-cs"/>
              </a:rPr>
              <a:t>FROM </a:t>
            </a:r>
            <a:r>
              <a:rPr lang="en-GB" sz="882" kern="1200" dirty="0" err="1">
                <a:solidFill>
                  <a:schemeClr val="tx1"/>
                </a:solidFill>
                <a:latin typeface="Segoe UI" panose="020B0502040204020203" pitchFamily="34" charset="0"/>
                <a:ea typeface="+mn-ea"/>
                <a:cs typeface="+mn-cs"/>
              </a:rPr>
              <a:t>SalesLT.Customer</a:t>
            </a:r>
            <a:endParaRPr lang="en-GB" sz="882" kern="1200" dirty="0">
              <a:solidFill>
                <a:schemeClr val="tx1"/>
              </a:solidFill>
              <a:latin typeface="Segoe UI" panose="020B0502040204020203" pitchFamily="34" charset="0"/>
              <a:ea typeface="+mn-ea"/>
              <a:cs typeface="+mn-cs"/>
            </a:endParaRPr>
          </a:p>
          <a:p>
            <a:r>
              <a:rPr lang="en-GB" sz="882" kern="1200" dirty="0">
                <a:solidFill>
                  <a:schemeClr val="tx1"/>
                </a:solidFill>
                <a:latin typeface="Segoe UI" panose="020B0502040204020203" pitchFamily="34" charset="0"/>
                <a:ea typeface="+mn-ea"/>
                <a:cs typeface="+mn-cs"/>
              </a:rPr>
              <a:t>WHERE LastName = ' + @LastName;</a:t>
            </a:r>
          </a:p>
          <a:p>
            <a:endParaRPr lang="en-SE" sz="882" kern="1200" dirty="0">
              <a:solidFill>
                <a:schemeClr val="tx1"/>
              </a:solidFill>
              <a:latin typeface="Segoe UI" panose="020B0502040204020203" pitchFamily="34" charset="0"/>
              <a:ea typeface="+mn-ea"/>
              <a:cs typeface="+mn-cs"/>
            </a:endParaRPr>
          </a:p>
          <a:p>
            <a:r>
              <a:rPr lang="sv-SE" sz="882" kern="1200" dirty="0">
                <a:solidFill>
                  <a:schemeClr val="tx1"/>
                </a:solidFill>
                <a:latin typeface="Segoe UI" panose="020B0502040204020203" pitchFamily="34" charset="0"/>
                <a:ea typeface="+mn-ea"/>
                <a:cs typeface="+mn-cs"/>
              </a:rPr>
              <a:t>PRINT @sql_bad;   -- Visa vad som faktiskt körs, alla rader</a:t>
            </a:r>
          </a:p>
          <a:p>
            <a:r>
              <a:rPr lang="en-GB" sz="882" kern="1200" dirty="0">
                <a:solidFill>
                  <a:schemeClr val="tx1"/>
                </a:solidFill>
                <a:latin typeface="Segoe UI" panose="020B0502040204020203" pitchFamily="34" charset="0"/>
                <a:ea typeface="+mn-ea"/>
                <a:cs typeface="+mn-cs"/>
              </a:rPr>
              <a:t>EXEC(@sql_bad);</a:t>
            </a:r>
          </a:p>
          <a:p>
            <a:r>
              <a:rPr lang="en-GB" sz="882" kern="1200" dirty="0">
                <a:solidFill>
                  <a:schemeClr val="tx1"/>
                </a:solidFill>
                <a:latin typeface="Segoe UI" panose="020B0502040204020203" pitchFamily="34" charset="0"/>
                <a:ea typeface="+mn-ea"/>
                <a:cs typeface="+mn-cs"/>
              </a:rPr>
              <a:t>GO</a:t>
            </a:r>
          </a:p>
          <a:p>
            <a:r>
              <a:rPr lang="en-SE" sz="882" kern="1200" dirty="0">
                <a:solidFill>
                  <a:schemeClr val="tx1"/>
                </a:solidFill>
                <a:latin typeface="Segoe UI" panose="020B0502040204020203" pitchFamily="34" charset="0"/>
                <a:ea typeface="+mn-ea"/>
                <a:cs typeface="+mn-cs"/>
              </a:rPr>
              <a:t>-------------------------------------------------</a:t>
            </a:r>
          </a:p>
          <a:p>
            <a:r>
              <a:rPr lang="en-SE" sz="882" kern="1200" dirty="0">
                <a:solidFill>
                  <a:schemeClr val="tx1"/>
                </a:solidFill>
                <a:latin typeface="Segoe UI" panose="020B0502040204020203" pitchFamily="34" charset="0"/>
                <a:ea typeface="+mn-ea"/>
                <a:cs typeface="+mn-cs"/>
              </a:rPr>
              <a:t>-- ✅ </a:t>
            </a:r>
            <a:r>
              <a:rPr lang="en-GB" sz="882" kern="1200" dirty="0">
                <a:solidFill>
                  <a:schemeClr val="tx1"/>
                </a:solidFill>
                <a:latin typeface="Segoe UI" panose="020B0502040204020203" pitchFamily="34" charset="0"/>
                <a:ea typeface="+mn-ea"/>
                <a:cs typeface="+mn-cs"/>
              </a:rPr>
              <a:t>RÄTT: </a:t>
            </a:r>
            <a:r>
              <a:rPr lang="en-GB" sz="882" kern="1200" dirty="0" err="1">
                <a:solidFill>
                  <a:schemeClr val="tx1"/>
                </a:solidFill>
                <a:latin typeface="Segoe UI" panose="020B0502040204020203" pitchFamily="34" charset="0"/>
                <a:ea typeface="+mn-ea"/>
                <a:cs typeface="+mn-cs"/>
              </a:rPr>
              <a:t>Parametriserad</a:t>
            </a:r>
            <a:r>
              <a:rPr lang="en-GB" sz="882" kern="1200" dirty="0">
                <a:solidFill>
                  <a:schemeClr val="tx1"/>
                </a:solidFill>
                <a:latin typeface="Segoe UI" panose="020B0502040204020203" pitchFamily="34" charset="0"/>
                <a:ea typeface="+mn-ea"/>
                <a:cs typeface="+mn-cs"/>
              </a:rPr>
              <a:t> </a:t>
            </a:r>
            <a:r>
              <a:rPr lang="en-GB" sz="882" kern="1200" dirty="0" err="1">
                <a:solidFill>
                  <a:schemeClr val="tx1"/>
                </a:solidFill>
                <a:latin typeface="Segoe UI" panose="020B0502040204020203" pitchFamily="34" charset="0"/>
                <a:ea typeface="+mn-ea"/>
                <a:cs typeface="+mn-cs"/>
              </a:rPr>
              <a:t>sp_executesql</a:t>
            </a:r>
            <a:endParaRPr lang="en-GB" sz="882" kern="1200" dirty="0">
              <a:solidFill>
                <a:schemeClr val="tx1"/>
              </a:solidFill>
              <a:latin typeface="Segoe UI" panose="020B0502040204020203" pitchFamily="34" charset="0"/>
              <a:ea typeface="+mn-ea"/>
              <a:cs typeface="+mn-cs"/>
            </a:endParaRPr>
          </a:p>
          <a:p>
            <a:r>
              <a:rPr lang="en-SE" sz="882" kern="1200" dirty="0">
                <a:solidFill>
                  <a:schemeClr val="tx1"/>
                </a:solidFill>
                <a:latin typeface="Segoe UI" panose="020B0502040204020203" pitchFamily="34" charset="0"/>
                <a:ea typeface="+mn-ea"/>
                <a:cs typeface="+mn-cs"/>
              </a:rPr>
              <a:t>-------------------------------------------------</a:t>
            </a:r>
          </a:p>
          <a:p>
            <a:r>
              <a:rPr lang="en-US" sz="882" kern="1200" dirty="0">
                <a:solidFill>
                  <a:schemeClr val="tx1"/>
                </a:solidFill>
                <a:latin typeface="Segoe UI" panose="020B0502040204020203" pitchFamily="34" charset="0"/>
                <a:ea typeface="+mn-ea"/>
                <a:cs typeface="+mn-cs"/>
              </a:rPr>
              <a:t>DECLARE @LastName NVARCHAR(100) = ''' OR 1=1 --';</a:t>
            </a:r>
          </a:p>
          <a:p>
            <a:endParaRPr lang="en-SE" sz="882" kern="1200" dirty="0">
              <a:solidFill>
                <a:schemeClr val="tx1"/>
              </a:solidFill>
              <a:latin typeface="Segoe UI" panose="020B0502040204020203" pitchFamily="34" charset="0"/>
              <a:ea typeface="+mn-ea"/>
              <a:cs typeface="+mn-cs"/>
            </a:endParaRPr>
          </a:p>
          <a:p>
            <a:r>
              <a:rPr lang="en-GB" sz="882" kern="1200" dirty="0">
                <a:solidFill>
                  <a:schemeClr val="tx1"/>
                </a:solidFill>
                <a:latin typeface="Segoe UI" panose="020B0502040204020203" pitchFamily="34" charset="0"/>
                <a:ea typeface="+mn-ea"/>
                <a:cs typeface="+mn-cs"/>
              </a:rPr>
              <a:t>DECLARE @sql_good NVARCHAR(MAX);</a:t>
            </a:r>
          </a:p>
          <a:p>
            <a:endParaRPr lang="en-SE" sz="882" kern="1200" dirty="0">
              <a:solidFill>
                <a:schemeClr val="tx1"/>
              </a:solidFill>
              <a:latin typeface="Segoe UI" panose="020B0502040204020203" pitchFamily="34" charset="0"/>
              <a:ea typeface="+mn-ea"/>
              <a:cs typeface="+mn-cs"/>
            </a:endParaRPr>
          </a:p>
          <a:p>
            <a:r>
              <a:rPr lang="en-GB" sz="882" kern="1200" dirty="0">
                <a:solidFill>
                  <a:schemeClr val="tx1"/>
                </a:solidFill>
                <a:latin typeface="Segoe UI" panose="020B0502040204020203" pitchFamily="34" charset="0"/>
                <a:ea typeface="+mn-ea"/>
                <a:cs typeface="+mn-cs"/>
              </a:rPr>
              <a:t>SET @sql_good = N'</a:t>
            </a:r>
          </a:p>
          <a:p>
            <a:r>
              <a:rPr lang="en-GB" sz="882" kern="1200" dirty="0">
                <a:solidFill>
                  <a:schemeClr val="tx1"/>
                </a:solidFill>
                <a:latin typeface="Segoe UI" panose="020B0502040204020203" pitchFamily="34" charset="0"/>
                <a:ea typeface="+mn-ea"/>
                <a:cs typeface="+mn-cs"/>
              </a:rPr>
              <a:t>SELECT </a:t>
            </a:r>
            <a:r>
              <a:rPr lang="en-GB" sz="882" kern="1200" dirty="0" err="1">
                <a:solidFill>
                  <a:schemeClr val="tx1"/>
                </a:solidFill>
                <a:latin typeface="Segoe UI" panose="020B0502040204020203" pitchFamily="34" charset="0"/>
                <a:ea typeface="+mn-ea"/>
                <a:cs typeface="+mn-cs"/>
              </a:rPr>
              <a:t>CustomerID</a:t>
            </a:r>
            <a:r>
              <a:rPr lang="en-GB" sz="882" kern="1200" dirty="0">
                <a:solidFill>
                  <a:schemeClr val="tx1"/>
                </a:solidFill>
                <a:latin typeface="Segoe UI" panose="020B0502040204020203" pitchFamily="34" charset="0"/>
                <a:ea typeface="+mn-ea"/>
                <a:cs typeface="+mn-cs"/>
              </a:rPr>
              <a:t>, FirstName, LastName</a:t>
            </a:r>
          </a:p>
          <a:p>
            <a:r>
              <a:rPr lang="en-GB" sz="882" kern="1200" dirty="0">
                <a:solidFill>
                  <a:schemeClr val="tx1"/>
                </a:solidFill>
                <a:latin typeface="Segoe UI" panose="020B0502040204020203" pitchFamily="34" charset="0"/>
                <a:ea typeface="+mn-ea"/>
                <a:cs typeface="+mn-cs"/>
              </a:rPr>
              <a:t>FROM </a:t>
            </a:r>
            <a:r>
              <a:rPr lang="en-GB" sz="882" kern="1200" dirty="0" err="1">
                <a:solidFill>
                  <a:schemeClr val="tx1"/>
                </a:solidFill>
                <a:latin typeface="Segoe UI" panose="020B0502040204020203" pitchFamily="34" charset="0"/>
                <a:ea typeface="+mn-ea"/>
                <a:cs typeface="+mn-cs"/>
              </a:rPr>
              <a:t>SalesLT.Customer</a:t>
            </a:r>
            <a:endParaRPr lang="en-GB" sz="882" kern="1200" dirty="0">
              <a:solidFill>
                <a:schemeClr val="tx1"/>
              </a:solidFill>
              <a:latin typeface="Segoe UI" panose="020B0502040204020203" pitchFamily="34" charset="0"/>
              <a:ea typeface="+mn-ea"/>
              <a:cs typeface="+mn-cs"/>
            </a:endParaRPr>
          </a:p>
          <a:p>
            <a:r>
              <a:rPr lang="en-GB" sz="882" kern="1200" dirty="0">
                <a:solidFill>
                  <a:schemeClr val="tx1"/>
                </a:solidFill>
                <a:latin typeface="Segoe UI" panose="020B0502040204020203" pitchFamily="34" charset="0"/>
                <a:ea typeface="+mn-ea"/>
                <a:cs typeface="+mn-cs"/>
              </a:rPr>
              <a:t>WHERE LastName = @LastName';</a:t>
            </a:r>
          </a:p>
          <a:p>
            <a:endParaRPr lang="en-SE" sz="882" kern="1200" dirty="0">
              <a:solidFill>
                <a:schemeClr val="tx1"/>
              </a:solidFill>
              <a:latin typeface="Segoe UI" panose="020B0502040204020203" pitchFamily="34" charset="0"/>
              <a:ea typeface="+mn-ea"/>
              <a:cs typeface="+mn-cs"/>
            </a:endParaRPr>
          </a:p>
          <a:p>
            <a:r>
              <a:rPr lang="en-GB" sz="882" kern="1200" dirty="0">
                <a:solidFill>
                  <a:schemeClr val="tx1"/>
                </a:solidFill>
                <a:latin typeface="Segoe UI" panose="020B0502040204020203" pitchFamily="34" charset="0"/>
                <a:ea typeface="+mn-ea"/>
                <a:cs typeface="+mn-cs"/>
              </a:rPr>
              <a:t>EXEC </a:t>
            </a:r>
            <a:r>
              <a:rPr lang="en-GB" sz="882" kern="1200" dirty="0" err="1">
                <a:solidFill>
                  <a:schemeClr val="tx1"/>
                </a:solidFill>
                <a:latin typeface="Segoe UI" panose="020B0502040204020203" pitchFamily="34" charset="0"/>
                <a:ea typeface="+mn-ea"/>
                <a:cs typeface="+mn-cs"/>
              </a:rPr>
              <a:t>sp_executesql</a:t>
            </a:r>
            <a:endParaRPr lang="en-GB" sz="882" kern="1200" dirty="0">
              <a:solidFill>
                <a:schemeClr val="tx1"/>
              </a:solidFill>
              <a:latin typeface="Segoe UI" panose="020B0502040204020203" pitchFamily="34" charset="0"/>
              <a:ea typeface="+mn-ea"/>
              <a:cs typeface="+mn-cs"/>
            </a:endParaRPr>
          </a:p>
          <a:p>
            <a:r>
              <a:rPr lang="en-GB" sz="882" kern="1200" dirty="0">
                <a:solidFill>
                  <a:schemeClr val="tx1"/>
                </a:solidFill>
                <a:latin typeface="Segoe UI" panose="020B0502040204020203" pitchFamily="34" charset="0"/>
                <a:ea typeface="+mn-ea"/>
                <a:cs typeface="+mn-cs"/>
              </a:rPr>
              <a:t>    @sql_good,</a:t>
            </a:r>
          </a:p>
          <a:p>
            <a:r>
              <a:rPr lang="en-GB" sz="882" kern="1200" dirty="0">
                <a:solidFill>
                  <a:schemeClr val="tx1"/>
                </a:solidFill>
                <a:latin typeface="Segoe UI" panose="020B0502040204020203" pitchFamily="34" charset="0"/>
                <a:ea typeface="+mn-ea"/>
                <a:cs typeface="+mn-cs"/>
              </a:rPr>
              <a:t>    </a:t>
            </a:r>
            <a:r>
              <a:rPr lang="en-GB" sz="882" kern="1200" dirty="0" err="1">
                <a:solidFill>
                  <a:schemeClr val="tx1"/>
                </a:solidFill>
                <a:latin typeface="Segoe UI" panose="020B0502040204020203" pitchFamily="34" charset="0"/>
                <a:ea typeface="+mn-ea"/>
                <a:cs typeface="+mn-cs"/>
              </a:rPr>
              <a:t>N'@LastName</a:t>
            </a:r>
            <a:r>
              <a:rPr lang="en-GB" sz="882" kern="1200" dirty="0">
                <a:solidFill>
                  <a:schemeClr val="tx1"/>
                </a:solidFill>
                <a:latin typeface="Segoe UI" panose="020B0502040204020203" pitchFamily="34" charset="0"/>
                <a:ea typeface="+mn-ea"/>
                <a:cs typeface="+mn-cs"/>
              </a:rPr>
              <a:t> NVARCHAR(100)',</a:t>
            </a:r>
          </a:p>
          <a:p>
            <a:r>
              <a:rPr lang="en-GB" sz="882" kern="1200" dirty="0">
                <a:solidFill>
                  <a:schemeClr val="tx1"/>
                </a:solidFill>
                <a:latin typeface="Segoe UI" panose="020B0502040204020203" pitchFamily="34" charset="0"/>
                <a:ea typeface="+mn-ea"/>
                <a:cs typeface="+mn-cs"/>
              </a:rPr>
              <a:t>    @LastName = @LastName;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SQL Injection is one of the most common methods used for data breaches. The core of the attack is that an SQL command is appended to the back end of a form field in the web or application front end (usually through a website), with the intent of breaking the original SQL Script and then executing the SQL script that was injected into the form field. This SQL injection most often happens when you have dynamically generated SQL within your client application. The core reason behind an SQL Injection attack comes down to poor coding practices both within the client application and within the database stored procedures. Many developers have learned better development practices, but SQL Injection is still a big problem due to both the number of legacy applications still being used and newer applications built by developers who didn’t take SQL Injection seriously while building the application.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A8CE9EE7-7B17-4DF7-B8BE-9FAECD208BAC}"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45</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sv-SE" b="1" dirty="0" err="1"/>
              <a:t>Azure</a:t>
            </a:r>
            <a:r>
              <a:rPr lang="sv-SE" b="1" dirty="0"/>
              <a:t> </a:t>
            </a:r>
            <a:r>
              <a:rPr lang="sv-SE" b="1" dirty="0" err="1"/>
              <a:t>Key</a:t>
            </a:r>
            <a:r>
              <a:rPr lang="sv-SE" b="1" dirty="0"/>
              <a:t> </a:t>
            </a:r>
            <a:r>
              <a:rPr lang="sv-SE" b="1" dirty="0" err="1"/>
              <a:t>Vault</a:t>
            </a:r>
            <a:r>
              <a:rPr lang="sv-SE" dirty="0"/>
              <a:t> är en tjänst i </a:t>
            </a:r>
            <a:r>
              <a:rPr lang="sv-SE" dirty="0" err="1"/>
              <a:t>Azure</a:t>
            </a:r>
            <a:r>
              <a:rPr lang="sv-SE" dirty="0"/>
              <a:t> som används för att </a:t>
            </a:r>
            <a:r>
              <a:rPr lang="sv-SE" b="1" dirty="0"/>
              <a:t>lagra och skydda hemligheter</a:t>
            </a:r>
            <a:r>
              <a:rPr lang="sv-SE" dirty="0"/>
              <a:t> som lösenord, certifikat och krypteringsnycklar. Istället för att spara sådana känsliga uppgifter i kod eller konfigurationsfiler kan man lägga dem i </a:t>
            </a:r>
            <a:r>
              <a:rPr lang="sv-SE" dirty="0" err="1"/>
              <a:t>Key</a:t>
            </a:r>
            <a:r>
              <a:rPr lang="sv-SE" dirty="0"/>
              <a:t> </a:t>
            </a:r>
            <a:r>
              <a:rPr lang="sv-SE" dirty="0" err="1"/>
              <a:t>Vault</a:t>
            </a:r>
            <a:r>
              <a:rPr lang="sv-SE" dirty="0"/>
              <a:t> och ge behörighet till rätt användare och tjänster. </a:t>
            </a:r>
            <a:r>
              <a:rPr lang="sv-SE" dirty="0" err="1"/>
              <a:t>Key</a:t>
            </a:r>
            <a:r>
              <a:rPr lang="sv-SE" dirty="0"/>
              <a:t> </a:t>
            </a:r>
            <a:r>
              <a:rPr lang="sv-SE" dirty="0" err="1"/>
              <a:t>Vault</a:t>
            </a:r>
            <a:r>
              <a:rPr lang="sv-SE" dirty="0"/>
              <a:t> kan användas tillsammans med SQL Server, till exempel för att lagra certifikat för </a:t>
            </a:r>
            <a:r>
              <a:rPr lang="sv-SE" b="1" dirty="0"/>
              <a:t>Transparent Data </a:t>
            </a:r>
            <a:r>
              <a:rPr lang="sv-SE" b="1" dirty="0" err="1"/>
              <a:t>Encryption</a:t>
            </a:r>
            <a:r>
              <a:rPr lang="sv-SE" b="1" dirty="0"/>
              <a:t> (TDE)</a:t>
            </a:r>
            <a:r>
              <a:rPr lang="sv-SE" dirty="0"/>
              <a:t> och </a:t>
            </a:r>
            <a:r>
              <a:rPr lang="sv-SE" b="1" dirty="0"/>
              <a:t>Always </a:t>
            </a:r>
            <a:r>
              <a:rPr lang="sv-SE" b="1" dirty="0" err="1"/>
              <a:t>Encrypted</a:t>
            </a:r>
            <a:r>
              <a:rPr lang="sv-SE" dirty="0"/>
              <a:t>. Det fungerar både för SQL Server som körs i </a:t>
            </a:r>
            <a:r>
              <a:rPr lang="sv-SE" b="1" dirty="0" err="1"/>
              <a:t>Azure</a:t>
            </a:r>
            <a:r>
              <a:rPr lang="sv-SE" b="1" dirty="0"/>
              <a:t> VM</a:t>
            </a:r>
            <a:r>
              <a:rPr lang="sv-SE" dirty="0"/>
              <a:t> och även för vissa lösningar med </a:t>
            </a:r>
            <a:r>
              <a:rPr lang="sv-SE" b="1" dirty="0"/>
              <a:t>on-</a:t>
            </a:r>
            <a:r>
              <a:rPr lang="sv-SE" b="1" dirty="0" err="1"/>
              <a:t>premises</a:t>
            </a:r>
            <a:r>
              <a:rPr lang="sv-SE" dirty="0"/>
              <a:t> servrar. Målet är bättre säkerhet och enklare hantering av nycklar.</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0" kern="1200" dirty="0">
              <a:solidFill>
                <a:schemeClr val="tx1"/>
              </a:solidFill>
              <a:effectLst/>
              <a:latin typeface="Segoe UI" panose="020B0502040204020203" pitchFamily="34" charset="0"/>
              <a:ea typeface="+mn-ea"/>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Azure Key Vault is a tool used for storing and accessing secrets. Whether they be passwords, certificates or keys, Key Vault acts as a secure area for those secrets to be accessed in a secure fashion, typically programmatically. Key Vault data has its own RBAC policies, separate from the Azure subscription. This means someone who is in the role of subscription admin will not have access to the Key Vault unless explicitly granted.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8AA9DBBE-CA82-47CD-8475-5506E8DD3BCD}"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46</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b="1" dirty="0"/>
              <a:t>1) Which feature provides a private IP address for an Azure SQL Database?</a:t>
            </a:r>
          </a:p>
          <a:p>
            <a:r>
              <a:rPr lang="en-SE" dirty="0"/>
              <a:t>✅ </a:t>
            </a:r>
            <a:r>
              <a:rPr lang="en-US" b="1" dirty="0" err="1"/>
              <a:t>Rätt</a:t>
            </a:r>
            <a:r>
              <a:rPr lang="en-US" b="1" dirty="0"/>
              <a:t>: Private Link</a:t>
            </a:r>
            <a:br>
              <a:rPr lang="en-US" dirty="0"/>
            </a:br>
            <a:r>
              <a:rPr lang="en-US" i="1" dirty="0"/>
              <a:t>Ger </a:t>
            </a:r>
            <a:r>
              <a:rPr lang="en-US" i="1" dirty="0" err="1"/>
              <a:t>en</a:t>
            </a:r>
            <a:r>
              <a:rPr lang="en-US" i="1" dirty="0"/>
              <a:t> </a:t>
            </a:r>
            <a:r>
              <a:rPr lang="en-US" i="1" dirty="0" err="1"/>
              <a:t>privat</a:t>
            </a:r>
            <a:r>
              <a:rPr lang="en-US" i="1" dirty="0"/>
              <a:t> endpoint med </a:t>
            </a:r>
            <a:r>
              <a:rPr lang="en-US" i="1" dirty="0" err="1"/>
              <a:t>privat</a:t>
            </a:r>
            <a:r>
              <a:rPr lang="en-US" i="1" dirty="0"/>
              <a:t> IP </a:t>
            </a:r>
            <a:r>
              <a:rPr lang="en-US" i="1" dirty="0" err="1"/>
              <a:t>i</a:t>
            </a:r>
            <a:r>
              <a:rPr lang="en-US" i="1" dirty="0"/>
              <a:t> </a:t>
            </a:r>
            <a:r>
              <a:rPr lang="en-US" i="1" dirty="0" err="1"/>
              <a:t>ditt</a:t>
            </a:r>
            <a:r>
              <a:rPr lang="en-US" i="1" dirty="0"/>
              <a:t> </a:t>
            </a:r>
            <a:r>
              <a:rPr lang="en-US" i="1" dirty="0" err="1"/>
              <a:t>VNet</a:t>
            </a:r>
            <a:r>
              <a:rPr lang="en-US" i="1" dirty="0"/>
              <a:t>.</a:t>
            </a:r>
            <a:endParaRPr lang="en-US" dirty="0"/>
          </a:p>
          <a:p>
            <a:r>
              <a:rPr lang="en-SE" dirty="0"/>
              <a:t>❌ </a:t>
            </a:r>
            <a:r>
              <a:rPr lang="en-US" b="1" dirty="0"/>
              <a:t>Fel: Network Endpoints</a:t>
            </a:r>
            <a:br>
              <a:rPr lang="en-US" dirty="0"/>
            </a:br>
            <a:r>
              <a:rPr lang="en-US" i="1" dirty="0"/>
              <a:t>Service endpoints </a:t>
            </a:r>
            <a:r>
              <a:rPr lang="en-US" i="1" dirty="0" err="1"/>
              <a:t>använder</a:t>
            </a:r>
            <a:r>
              <a:rPr lang="en-US" i="1" dirty="0"/>
              <a:t> </a:t>
            </a:r>
            <a:r>
              <a:rPr lang="en-US" i="1" dirty="0" err="1"/>
              <a:t>publik</a:t>
            </a:r>
            <a:r>
              <a:rPr lang="en-US" i="1" dirty="0"/>
              <a:t> endpoint, </a:t>
            </a:r>
            <a:r>
              <a:rPr lang="en-US" i="1" dirty="0" err="1"/>
              <a:t>ingen</a:t>
            </a:r>
            <a:r>
              <a:rPr lang="en-US" i="1" dirty="0"/>
              <a:t> </a:t>
            </a:r>
            <a:r>
              <a:rPr lang="en-US" i="1" dirty="0" err="1"/>
              <a:t>privat</a:t>
            </a:r>
            <a:r>
              <a:rPr lang="en-US" i="1" dirty="0"/>
              <a:t> IP-</a:t>
            </a:r>
            <a:r>
              <a:rPr lang="en-US" i="1" dirty="0" err="1"/>
              <a:t>adress</a:t>
            </a:r>
            <a:r>
              <a:rPr lang="en-US" i="1" dirty="0"/>
              <a:t>.</a:t>
            </a:r>
            <a:endParaRPr lang="en-US" dirty="0"/>
          </a:p>
          <a:p>
            <a:r>
              <a:rPr lang="en-SE" dirty="0"/>
              <a:t>❌ </a:t>
            </a:r>
            <a:r>
              <a:rPr lang="en-US" b="1" dirty="0"/>
              <a:t>Fel: Database Firewall</a:t>
            </a:r>
            <a:br>
              <a:rPr lang="en-US" dirty="0"/>
            </a:br>
            <a:r>
              <a:rPr lang="en-US" i="1" dirty="0" err="1"/>
              <a:t>Firewall</a:t>
            </a:r>
            <a:r>
              <a:rPr lang="en-US" i="1" dirty="0"/>
              <a:t> </a:t>
            </a:r>
            <a:r>
              <a:rPr lang="en-US" i="1" dirty="0" err="1"/>
              <a:t>styr</a:t>
            </a:r>
            <a:r>
              <a:rPr lang="en-US" i="1" dirty="0"/>
              <a:t> </a:t>
            </a:r>
            <a:r>
              <a:rPr lang="en-US" i="1" dirty="0" err="1"/>
              <a:t>åtkomst</a:t>
            </a:r>
            <a:r>
              <a:rPr lang="en-US" i="1" dirty="0"/>
              <a:t>, men ger </a:t>
            </a:r>
            <a:r>
              <a:rPr lang="en-US" i="1" dirty="0" err="1"/>
              <a:t>ingen</a:t>
            </a:r>
            <a:r>
              <a:rPr lang="en-US" i="1" dirty="0"/>
              <a:t> </a:t>
            </a:r>
            <a:r>
              <a:rPr lang="en-US" i="1" dirty="0" err="1"/>
              <a:t>privat</a:t>
            </a:r>
            <a:r>
              <a:rPr lang="en-US" i="1" dirty="0"/>
              <a:t> IP-</a:t>
            </a:r>
            <a:r>
              <a:rPr lang="en-US" i="1" dirty="0" err="1"/>
              <a:t>adress</a:t>
            </a:r>
            <a:r>
              <a:rPr lang="en-US" i="1" dirty="0"/>
              <a:t>.</a:t>
            </a:r>
            <a:endParaRPr lang="en-US" dirty="0"/>
          </a:p>
          <a:p>
            <a:br>
              <a:rPr lang="en-US" dirty="0"/>
            </a:br>
            <a:endParaRPr lang="en-US" dirty="0"/>
          </a:p>
          <a:p>
            <a:r>
              <a:rPr lang="en-US" b="1" dirty="0"/>
              <a:t>2) Which technique can be used to create database firewall rules?</a:t>
            </a:r>
          </a:p>
          <a:p>
            <a:r>
              <a:rPr lang="en-SE" dirty="0"/>
              <a:t>❌ </a:t>
            </a:r>
            <a:r>
              <a:rPr lang="en-US" b="1" dirty="0"/>
              <a:t>Fel: Running a PowerShell script</a:t>
            </a:r>
            <a:br>
              <a:rPr lang="en-US" dirty="0"/>
            </a:br>
            <a:r>
              <a:rPr lang="en-US" i="1" dirty="0"/>
              <a:t>PowerShell </a:t>
            </a:r>
            <a:r>
              <a:rPr lang="en-US" i="1" dirty="0" err="1"/>
              <a:t>kan</a:t>
            </a:r>
            <a:r>
              <a:rPr lang="en-US" i="1" dirty="0"/>
              <a:t> </a:t>
            </a:r>
            <a:r>
              <a:rPr lang="en-US" i="1" dirty="0" err="1"/>
              <a:t>användas</a:t>
            </a:r>
            <a:r>
              <a:rPr lang="en-US" i="1" dirty="0"/>
              <a:t>, men </a:t>
            </a:r>
            <a:r>
              <a:rPr lang="en-US" i="1" dirty="0" err="1"/>
              <a:t>frågan</a:t>
            </a:r>
            <a:r>
              <a:rPr lang="en-US" i="1" dirty="0"/>
              <a:t> </a:t>
            </a:r>
            <a:r>
              <a:rPr lang="en-US" i="1" dirty="0" err="1"/>
              <a:t>avser</a:t>
            </a:r>
            <a:r>
              <a:rPr lang="en-US" i="1" dirty="0"/>
              <a:t> </a:t>
            </a:r>
            <a:r>
              <a:rPr lang="en-US" i="1" dirty="0" err="1"/>
              <a:t>databasnivå</a:t>
            </a:r>
            <a:r>
              <a:rPr lang="en-US" i="1" dirty="0"/>
              <a:t> via T-SQL.</a:t>
            </a:r>
            <a:endParaRPr lang="en-US" dirty="0"/>
          </a:p>
          <a:p>
            <a:r>
              <a:rPr lang="en-SE" dirty="0"/>
              <a:t>❌ </a:t>
            </a:r>
            <a:r>
              <a:rPr lang="en-US" b="1" dirty="0"/>
              <a:t>Fel: Running an Azure CLI script</a:t>
            </a:r>
            <a:br>
              <a:rPr lang="en-US" dirty="0"/>
            </a:br>
            <a:r>
              <a:rPr lang="en-US" i="1" dirty="0"/>
              <a:t>CLI </a:t>
            </a:r>
            <a:r>
              <a:rPr lang="en-US" i="1" dirty="0" err="1"/>
              <a:t>kan</a:t>
            </a:r>
            <a:r>
              <a:rPr lang="en-US" i="1" dirty="0"/>
              <a:t> </a:t>
            </a:r>
            <a:r>
              <a:rPr lang="en-US" i="1" dirty="0" err="1"/>
              <a:t>sätta</a:t>
            </a:r>
            <a:r>
              <a:rPr lang="en-US" i="1" dirty="0"/>
              <a:t> </a:t>
            </a:r>
            <a:r>
              <a:rPr lang="en-US" i="1" dirty="0" err="1"/>
              <a:t>serverregler</a:t>
            </a:r>
            <a:r>
              <a:rPr lang="en-US" i="1" dirty="0"/>
              <a:t>, men </a:t>
            </a:r>
            <a:r>
              <a:rPr lang="en-US" i="1" dirty="0" err="1"/>
              <a:t>databasregler</a:t>
            </a:r>
            <a:r>
              <a:rPr lang="en-US" i="1" dirty="0"/>
              <a:t> </a:t>
            </a:r>
            <a:r>
              <a:rPr lang="en-US" i="1" dirty="0" err="1"/>
              <a:t>görs</a:t>
            </a:r>
            <a:r>
              <a:rPr lang="en-US" i="1" dirty="0"/>
              <a:t> med T-SQL.</a:t>
            </a:r>
            <a:endParaRPr lang="en-US" dirty="0"/>
          </a:p>
          <a:p>
            <a:r>
              <a:rPr lang="en-SE" dirty="0"/>
              <a:t>✅ </a:t>
            </a:r>
            <a:r>
              <a:rPr lang="en-US" b="1" dirty="0" err="1"/>
              <a:t>Rätt</a:t>
            </a:r>
            <a:r>
              <a:rPr lang="en-US" b="1" dirty="0"/>
              <a:t>: Executing a T-SQL statement</a:t>
            </a:r>
            <a:br>
              <a:rPr lang="en-US" dirty="0"/>
            </a:br>
            <a:r>
              <a:rPr lang="en-US" i="1" dirty="0" err="1"/>
              <a:t>Databasnivå</a:t>
            </a:r>
            <a:r>
              <a:rPr lang="en-US" i="1" dirty="0"/>
              <a:t> </a:t>
            </a:r>
            <a:r>
              <a:rPr lang="en-US" i="1" dirty="0" err="1"/>
              <a:t>brandväggsregler</a:t>
            </a:r>
            <a:r>
              <a:rPr lang="en-US" i="1" dirty="0"/>
              <a:t> </a:t>
            </a:r>
            <a:r>
              <a:rPr lang="en-US" i="1" dirty="0" err="1"/>
              <a:t>skapas</a:t>
            </a:r>
            <a:r>
              <a:rPr lang="en-US" i="1" dirty="0"/>
              <a:t> med T-SQL-</a:t>
            </a:r>
            <a:r>
              <a:rPr lang="en-US" i="1" dirty="0" err="1"/>
              <a:t>procedurer</a:t>
            </a:r>
            <a:r>
              <a:rPr lang="en-US" i="1" dirty="0"/>
              <a:t>.</a:t>
            </a:r>
            <a:endParaRPr lang="en-US" dirty="0"/>
          </a:p>
          <a:p>
            <a:br>
              <a:rPr lang="en-US" dirty="0"/>
            </a:br>
            <a:endParaRPr lang="en-US" dirty="0"/>
          </a:p>
          <a:p>
            <a:r>
              <a:rPr lang="en-US" b="1" dirty="0"/>
              <a:t>3) Which feature prevents sysadmin from viewing table data values?</a:t>
            </a:r>
          </a:p>
          <a:p>
            <a:r>
              <a:rPr lang="en-SE" dirty="0"/>
              <a:t>✅ </a:t>
            </a:r>
            <a:r>
              <a:rPr lang="en-US" b="1" dirty="0" err="1"/>
              <a:t>Rätt</a:t>
            </a:r>
            <a:r>
              <a:rPr lang="en-US" b="1" dirty="0"/>
              <a:t>: Always Encrypted</a:t>
            </a:r>
            <a:br>
              <a:rPr lang="en-US" dirty="0"/>
            </a:br>
            <a:r>
              <a:rPr lang="en-US" i="1" dirty="0"/>
              <a:t>Data </a:t>
            </a:r>
            <a:r>
              <a:rPr lang="en-US" i="1" dirty="0" err="1"/>
              <a:t>förblir</a:t>
            </a:r>
            <a:r>
              <a:rPr lang="en-US" i="1" dirty="0"/>
              <a:t> </a:t>
            </a:r>
            <a:r>
              <a:rPr lang="en-US" i="1" dirty="0" err="1"/>
              <a:t>krypterad</a:t>
            </a:r>
            <a:r>
              <a:rPr lang="en-US" i="1" dirty="0"/>
              <a:t> </a:t>
            </a:r>
            <a:r>
              <a:rPr lang="en-US" i="1" dirty="0" err="1"/>
              <a:t>i</a:t>
            </a:r>
            <a:r>
              <a:rPr lang="en-US" i="1" dirty="0"/>
              <a:t> </a:t>
            </a:r>
            <a:r>
              <a:rPr lang="en-US" i="1" dirty="0" err="1"/>
              <a:t>databasen</a:t>
            </a:r>
            <a:r>
              <a:rPr lang="en-US" i="1" dirty="0"/>
              <a:t>, </a:t>
            </a:r>
            <a:r>
              <a:rPr lang="en-US" i="1" dirty="0" err="1"/>
              <a:t>även</a:t>
            </a:r>
            <a:r>
              <a:rPr lang="en-US" i="1" dirty="0"/>
              <a:t> för sysadmin.</a:t>
            </a:r>
            <a:endParaRPr lang="en-US" dirty="0"/>
          </a:p>
          <a:p>
            <a:r>
              <a:rPr lang="en-SE" dirty="0"/>
              <a:t>❌ </a:t>
            </a:r>
            <a:r>
              <a:rPr lang="en-US" b="1" dirty="0"/>
              <a:t>Fel: Dynamic Data Masking</a:t>
            </a:r>
            <a:br>
              <a:rPr lang="en-US" dirty="0"/>
            </a:br>
            <a:r>
              <a:rPr lang="en-US" i="1" dirty="0" err="1"/>
              <a:t>Maskering</a:t>
            </a:r>
            <a:r>
              <a:rPr lang="en-US" i="1" dirty="0"/>
              <a:t> </a:t>
            </a:r>
            <a:r>
              <a:rPr lang="en-US" i="1" dirty="0" err="1"/>
              <a:t>kan</a:t>
            </a:r>
            <a:r>
              <a:rPr lang="en-US" i="1" dirty="0"/>
              <a:t> </a:t>
            </a:r>
            <a:r>
              <a:rPr lang="en-US" i="1" dirty="0" err="1"/>
              <a:t>kringgås</a:t>
            </a:r>
            <a:r>
              <a:rPr lang="en-US" i="1" dirty="0"/>
              <a:t> av </a:t>
            </a:r>
            <a:r>
              <a:rPr lang="en-US" i="1" dirty="0" err="1"/>
              <a:t>privilegierade</a:t>
            </a:r>
            <a:r>
              <a:rPr lang="en-US" i="1" dirty="0"/>
              <a:t> </a:t>
            </a:r>
            <a:r>
              <a:rPr lang="en-US" i="1" dirty="0" err="1"/>
              <a:t>användare</a:t>
            </a:r>
            <a:r>
              <a:rPr lang="en-US" i="1" dirty="0"/>
              <a:t> och admins.</a:t>
            </a:r>
            <a:endParaRPr lang="en-US" dirty="0"/>
          </a:p>
          <a:p>
            <a:r>
              <a:rPr lang="en-SE" dirty="0"/>
              <a:t>❌ </a:t>
            </a:r>
            <a:r>
              <a:rPr lang="en-US" b="1" dirty="0"/>
              <a:t>Fel: Transparent Data Encryption</a:t>
            </a:r>
            <a:br>
              <a:rPr lang="en-US" dirty="0"/>
            </a:br>
            <a:r>
              <a:rPr lang="en-US" i="1" dirty="0"/>
              <a:t>TDE </a:t>
            </a:r>
            <a:r>
              <a:rPr lang="en-US" i="1" dirty="0" err="1"/>
              <a:t>skyddar</a:t>
            </a:r>
            <a:r>
              <a:rPr lang="en-US" i="1" dirty="0"/>
              <a:t> filer </a:t>
            </a:r>
            <a:r>
              <a:rPr lang="en-US" i="1" dirty="0" err="1"/>
              <a:t>på</a:t>
            </a:r>
            <a:r>
              <a:rPr lang="en-US" i="1" dirty="0"/>
              <a:t> disk, </a:t>
            </a:r>
            <a:r>
              <a:rPr lang="en-US" i="1" dirty="0" err="1"/>
              <a:t>inte</a:t>
            </a:r>
            <a:r>
              <a:rPr lang="en-US" i="1" dirty="0"/>
              <a:t> data vid SELECT-</a:t>
            </a:r>
            <a:r>
              <a:rPr lang="en-US" i="1" dirty="0" err="1"/>
              <a:t>frågor</a:t>
            </a:r>
            <a:r>
              <a:rPr lang="en-US" i="1" dirty="0"/>
              <a:t>.</a:t>
            </a:r>
            <a:endParaRPr lang="en-US" dirty="0"/>
          </a:p>
          <a:p>
            <a:br>
              <a:rPr lang="en-US" dirty="0"/>
            </a:br>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D41F91F6-3D71-4296-8814-D12A9F4DF9AF}"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47</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en-US" altLang="zh-CN" sz="880" dirty="0"/>
          </a:p>
          <a:p>
            <a:pPr marL="0" indent="0">
              <a:buFont typeface="Arial" panose="020B0604020202020204" pitchFamily="34" charset="0"/>
              <a:buNone/>
            </a:pPr>
            <a:endParaRPr lang="en-US" altLang="zh-CN" sz="880" dirty="0"/>
          </a:p>
          <a:p>
            <a:pPr marL="0" indent="0">
              <a:buFont typeface="Arial" panose="020B0604020202020204" pitchFamily="34" charset="0"/>
              <a:buNone/>
            </a:pPr>
            <a:r>
              <a:rPr lang="en-US" altLang="zh-CN" sz="880" dirty="0"/>
              <a:t>https://microsoftlearning.github.io/dp-300-database-administrator/Instructions/Labs/04-configure-firewall-rule.html</a:t>
            </a:r>
          </a:p>
        </p:txBody>
      </p:sp>
      <p:sp>
        <p:nvSpPr>
          <p:cNvPr id="4" name="页眉占位符 3"/>
          <p:cNvSpPr>
            <a:spLocks noGrp="1"/>
          </p:cNvSpPr>
          <p:nvPr>
            <p:ph type="hdr" sz="quarter"/>
          </p:nvPr>
        </p:nvSpPr>
        <p:spPr/>
        <p:txBody>
          <a:bodyPr/>
          <a:lstStyle/>
          <a:p>
            <a:endParaRPr lang="en-US"/>
          </a:p>
        </p:txBody>
      </p:sp>
      <p:sp>
        <p:nvSpPr>
          <p:cNvPr id="5" name="页脚占位符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日期占位符 5"/>
          <p:cNvSpPr>
            <a:spLocks noGrp="1"/>
          </p:cNvSpPr>
          <p:nvPr>
            <p:ph type="dt" idx="1"/>
          </p:nvPr>
        </p:nvSpPr>
        <p:spPr/>
        <p:txBody>
          <a:bodyPr/>
          <a:lstStyle/>
          <a:p>
            <a:fld id="{24564FBD-9CC7-4B90-AF43-B1AA0E73336E}" type="datetime8">
              <a:rPr lang="en-US" smtClean="0"/>
              <a:t>2/9/2026 8:13 PM</a:t>
            </a:fld>
            <a:endParaRPr lang="en-US"/>
          </a:p>
        </p:txBody>
      </p:sp>
      <p:sp>
        <p:nvSpPr>
          <p:cNvPr id="7" name="灯片编号占位符 6"/>
          <p:cNvSpPr>
            <a:spLocks noGrp="1"/>
          </p:cNvSpPr>
          <p:nvPr>
            <p:ph type="sldNum" sz="quarter" idx="5"/>
          </p:nvPr>
        </p:nvSpPr>
        <p:spPr/>
        <p:txBody>
          <a:bodyPr/>
          <a:lstStyle/>
          <a:p>
            <a:fld id="{B4008EB6-D09E-4580-8CD6-DDB14511944F}" type="slidenum">
              <a:rPr lang="en-US" smtClean="0"/>
              <a:pPr/>
              <a:t>48</a:t>
            </a:fld>
            <a:endParaRPr lang="en-US"/>
          </a:p>
        </p:txBody>
      </p:sp>
    </p:spTree>
    <p:extLst>
      <p:ext uri="{BB962C8B-B14F-4D97-AF65-F5344CB8AC3E}">
        <p14:creationId xmlns:p14="http://schemas.microsoft.com/office/powerpoint/2010/main" val="22562002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This module explores the practices of setting compliance controls on the data that is stored within the SQL Server database. We will also review the Advanced Threat Protection options within the Azure environment.</a:t>
            </a: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82D1BCAA-E08E-4EA2-8B5C-DC3649B2E90C}"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49</a:t>
            </a:fld>
            <a:endParaRPr lang="en-US"/>
          </a:p>
        </p:txBody>
      </p:sp>
    </p:spTree>
    <p:extLst>
      <p:ext uri="{BB962C8B-B14F-4D97-AF65-F5344CB8AC3E}">
        <p14:creationId xmlns:p14="http://schemas.microsoft.com/office/powerpoint/2010/main" val="34654796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0" kern="1200" dirty="0">
                <a:solidFill>
                  <a:schemeClr val="tx1"/>
                </a:solidFill>
                <a:effectLst/>
                <a:latin typeface="Segoe UI" panose="020B0502040204020203" pitchFamily="34" charset="0"/>
                <a:ea typeface="+mn-ea"/>
                <a:cs typeface="Segoe UI" panose="020B0502040204020203" pitchFamily="34" charset="0"/>
              </a:rPr>
              <a:t>This module explores the practices of setting compliance controls on the data that is stored within the SQL Server database. We will also review the Advanced Threat Protection options within the Azure environment.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4A3CE0E-6AF5-4BF4-B197-981752047265}"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50</a:t>
            </a:fld>
            <a:endParaRPr lang="en-US"/>
          </a:p>
        </p:txBody>
      </p:sp>
    </p:spTree>
    <p:extLst>
      <p:ext uri="{BB962C8B-B14F-4D97-AF65-F5344CB8AC3E}">
        <p14:creationId xmlns:p14="http://schemas.microsoft.com/office/powerpoint/2010/main" val="10888844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880" kern="1200" dirty="0">
                <a:solidFill>
                  <a:schemeClr val="tx1"/>
                </a:solidFill>
                <a:effectLst/>
                <a:latin typeface="Segoe UI" panose="020B0502040204020203" pitchFamily="34" charset="0"/>
                <a:ea typeface="+mn-ea"/>
                <a:cs typeface="Segoe UI" panose="020B0502040204020203" pitchFamily="34" charset="0"/>
              </a:rPr>
              <a:t>Confidential data stored within a Microsoft SQL Server of Azure SQL Database should be classified within the database. This allows the SQL Server users as well as other applications to know the sensitivity of the data that is being stored. Data classification with the database is done on a column by column basis. It is possible for a single table to have public, confidential and highly confidential data all within the same table. Data classification was introduced first into SQL Server Management Studio and used extended properties of objects to store its data classification information. Starting with SQL Server 2019 (and in Azure SQL Database) this metadata is now stored in a catalog view called </a:t>
            </a:r>
            <a:r>
              <a:rPr lang="en-CA" sz="880" i="1" kern="1200" dirty="0" err="1">
                <a:solidFill>
                  <a:schemeClr val="tx1"/>
                </a:solidFill>
                <a:effectLst/>
                <a:latin typeface="Segoe UI" panose="020B0502040204020203" pitchFamily="34" charset="0"/>
                <a:ea typeface="+mn-ea"/>
                <a:cs typeface="Segoe UI" panose="020B0502040204020203" pitchFamily="34" charset="0"/>
              </a:rPr>
              <a:t>sys.sensitivity_classifcations</a:t>
            </a:r>
            <a:r>
              <a:rPr lang="en-CA" sz="880" i="1" kern="1200" dirty="0">
                <a:solidFill>
                  <a:schemeClr val="tx1"/>
                </a:solidFill>
                <a:effectLst/>
                <a:latin typeface="Segoe UI" panose="020B0502040204020203" pitchFamily="34" charset="0"/>
                <a:ea typeface="+mn-ea"/>
                <a:cs typeface="Segoe UI" panose="020B0502040204020203" pitchFamily="34" charset="0"/>
              </a:rPr>
              <a:t>.</a:t>
            </a:r>
            <a:r>
              <a:rPr lang="en-CA" sz="880" kern="1200" dirty="0">
                <a:solidFill>
                  <a:schemeClr val="tx1"/>
                </a:solidFill>
                <a:effectLst/>
                <a:latin typeface="Segoe UI" panose="020B0502040204020203" pitchFamily="34" charset="0"/>
                <a:ea typeface="+mn-ea"/>
                <a:cs typeface="Segoe UI" panose="020B0502040204020203" pitchFamily="34" charset="0"/>
              </a:rPr>
              <a:t> </a:t>
            </a:r>
            <a:endParaRPr lang="en-US" sz="880" kern="1200" dirty="0">
              <a:solidFill>
                <a:schemeClr val="tx1"/>
              </a:solidFill>
              <a:effectLst/>
              <a:latin typeface="Segoe UI" panose="020B0502040204020203" pitchFamily="34" charset="0"/>
              <a:ea typeface="+mn-ea"/>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CC32BF1-7B79-44ED-A525-A9DA813514E4}"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51</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49C9481-B9F1-4529-AA36-6CC5DA9E6A33}"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52</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900" dirty="0"/>
              <a:t>It’s recommended that you enable only server-level auditing and leave the database-level auditing </a:t>
            </a:r>
            <a:r>
              <a:rPr lang="en-US" sz="900" b="1" dirty="0"/>
              <a:t>disabled</a:t>
            </a:r>
            <a:r>
              <a:rPr lang="en-US" sz="900" dirty="0"/>
              <a:t> for all databases</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Enables you to maintain regulatory compliance, analyze activity patterns, and identify deviations that may indicate security violations.</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You can define server-level and database-level policies. Server policies automatically cover new and existing databases in Azure.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If server auditing is enabled, the database will be audited, regardless of the database auditing settings.</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In addition to enabling auditing on the server, you can also enable it on the database. This allows both audits to exist simultaneously; the server policy and the database policy.</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It is best not to enable both server auditing and database auditing together, unless:</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A different </a:t>
            </a:r>
            <a:r>
              <a:rPr lang="en-US" b="0" i="1" dirty="0">
                <a:solidFill>
                  <a:srgbClr val="171717"/>
                </a:solidFill>
                <a:effectLst/>
                <a:latin typeface="Segoe UI" panose="020B0502040204020203" pitchFamily="34" charset="0"/>
              </a:rPr>
              <a:t>storage account</a:t>
            </a:r>
            <a:r>
              <a:rPr lang="en-US" b="0" i="0" dirty="0">
                <a:solidFill>
                  <a:srgbClr val="171717"/>
                </a:solidFill>
                <a:effectLst/>
                <a:latin typeface="Segoe UI" panose="020B0502040204020203" pitchFamily="34" charset="0"/>
              </a:rPr>
              <a:t>, </a:t>
            </a:r>
            <a:r>
              <a:rPr lang="en-US" b="0" i="1" dirty="0">
                <a:solidFill>
                  <a:srgbClr val="171717"/>
                </a:solidFill>
                <a:effectLst/>
                <a:latin typeface="Segoe UI" panose="020B0502040204020203" pitchFamily="34" charset="0"/>
              </a:rPr>
              <a:t>retention period</a:t>
            </a:r>
            <a:r>
              <a:rPr lang="en-US" b="0" i="0" dirty="0">
                <a:solidFill>
                  <a:srgbClr val="171717"/>
                </a:solidFill>
                <a:effectLst/>
                <a:latin typeface="Segoe UI" panose="020B0502040204020203" pitchFamily="34" charset="0"/>
              </a:rPr>
              <a:t> or </a:t>
            </a:r>
            <a:r>
              <a:rPr lang="en-US" b="0" i="1" dirty="0">
                <a:solidFill>
                  <a:srgbClr val="171717"/>
                </a:solidFill>
                <a:effectLst/>
                <a:latin typeface="Segoe UI" panose="020B0502040204020203" pitchFamily="34" charset="0"/>
              </a:rPr>
              <a:t>Log Analytics Workspace</a:t>
            </a:r>
            <a:r>
              <a:rPr lang="en-US" b="0" i="0" dirty="0">
                <a:solidFill>
                  <a:srgbClr val="171717"/>
                </a:solidFill>
                <a:effectLst/>
                <a:latin typeface="Segoe UI" panose="020B0502040204020203" pitchFamily="34" charset="0"/>
              </a:rPr>
              <a:t> is used for a specific database.</a:t>
            </a:r>
          </a:p>
          <a:p>
            <a:pPr marL="171450" indent="-171450" algn="l">
              <a:buFont typeface="Arial" panose="020B0604020202020204" pitchFamily="34" charset="0"/>
              <a:buChar char="•"/>
            </a:pPr>
            <a:r>
              <a:rPr lang="en-US" b="0" i="0" dirty="0">
                <a:solidFill>
                  <a:srgbClr val="171717"/>
                </a:solidFill>
                <a:effectLst/>
                <a:latin typeface="Segoe UI" panose="020B0502040204020203" pitchFamily="34" charset="0"/>
              </a:rPr>
              <a:t>An audit is needed for a specific database that differs from the rest on the server, such as different event types or categories.</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For all the other cases, we recommend that you enable only server-level auditing and leave the database-level auditing disabled for all databases.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CB78D854-81E7-4F4E-8C60-995C0348218C}"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53</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808E76AF-E073-41D6-87DF-B547BA693EC3}"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54</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0" i="0" dirty="0">
                <a:solidFill>
                  <a:srgbClr val="171717"/>
                </a:solidFill>
                <a:effectLst/>
                <a:latin typeface="Segoe UI" panose="020B0502040204020203" pitchFamily="34" charset="0"/>
              </a:rPr>
              <a:t>By logging the sensitivity labels of the data returned by a query, this field provides an easier way to track access to classified columns.</a:t>
            </a:r>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C506C200-3715-4FD9-98DE-E982A8304A56}"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55</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663" indent="-233363">
              <a:spcBef>
                <a:spcPts val="0"/>
              </a:spcBef>
              <a:spcAft>
                <a:spcPts val="600"/>
              </a:spcAft>
              <a:buFont typeface="Arial" panose="020B0604020202020204" pitchFamily="34" charset="0"/>
              <a:buChar char="•"/>
            </a:pPr>
            <a:r>
              <a:rPr lang="en-US" dirty="0"/>
              <a:t>Dynamic Data Masking hides data from view by using a user defined value instead of the actual data which is stored</a:t>
            </a:r>
          </a:p>
          <a:p>
            <a:pPr marL="347663" indent="-233363">
              <a:spcBef>
                <a:spcPts val="0"/>
              </a:spcBef>
              <a:spcAft>
                <a:spcPts val="600"/>
              </a:spcAft>
              <a:buFont typeface="Arial" panose="020B0604020202020204" pitchFamily="34" charset="0"/>
              <a:buChar char="•"/>
            </a:pPr>
            <a:r>
              <a:rPr lang="en-US" dirty="0"/>
              <a:t>The data is masked server side, meaning unmasked data is never transmitted over the network</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4A58DFF-5E0C-4F4E-B73F-9BD2BB4AC5B8}"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56</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some of the Dynamic Data Masking use cases:</a:t>
            </a:r>
          </a:p>
          <a:p>
            <a:endParaRPr lang="en-US" dirty="0"/>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900" dirty="0">
                <a:solidFill>
                  <a:schemeClr val="tx1"/>
                </a:solidFill>
              </a:rPr>
              <a:t>Mask data from application users who have no direct access to the database.</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900" dirty="0">
                <a:solidFill>
                  <a:schemeClr val="tx1"/>
                </a:solidFill>
              </a:rPr>
              <a:t>Restricting private information for a group </a:t>
            </a:r>
            <a:br>
              <a:rPr lang="en-US" sz="900" dirty="0">
                <a:solidFill>
                  <a:schemeClr val="tx1"/>
                </a:solidFill>
              </a:rPr>
            </a:br>
            <a:r>
              <a:rPr lang="en-US" sz="900" dirty="0">
                <a:solidFill>
                  <a:schemeClr val="tx1"/>
                </a:solidFill>
              </a:rPr>
              <a:t>of users.</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900" dirty="0">
                <a:solidFill>
                  <a:schemeClr val="tx1"/>
                </a:solidFill>
              </a:rPr>
              <a:t>Provide masked data to external vendors, where you need to protect sensitive information while still preserving the relationships among items in the data.</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900" dirty="0">
                <a:solidFill>
                  <a:schemeClr val="tx1"/>
                </a:solidFill>
              </a:rPr>
              <a:t>Export a copy of your production database to a lower environment for development purposes with a user who doesn’t have UNMASK permission. The export of the data will be in a masked format.</a:t>
            </a:r>
          </a:p>
          <a:p>
            <a:pPr marL="171450" indent="-171450">
              <a:buFont typeface="Arial" panose="020B0604020202020204" pitchFamily="34" charset="0"/>
              <a:buChar char="•"/>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A7C8DD02-B2CE-4624-855F-FBE7F68F0E34}"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57</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CA" sz="880" kern="1200" dirty="0">
                <a:solidFill>
                  <a:schemeClr val="tx1"/>
                </a:solidFill>
                <a:effectLst/>
                <a:latin typeface="Segoe UI" panose="020B0502040204020203" pitchFamily="34" charset="0"/>
                <a:ea typeface="+mn-ea"/>
                <a:cs typeface="Segoe UI" panose="020B0502040204020203" pitchFamily="34" charset="0"/>
              </a:rPr>
              <a:t>Microsoft offers a suite of protections for Azure SQL Database Databases which wrap up under the Advanced Thread Protection feature. Advanced Threat Protection monitors the connections to the Azure SQL Database databases and queries which are executed against the database. </a:t>
            </a:r>
            <a:r>
              <a:rPr lang="en-US" sz="880" kern="1200" dirty="0">
                <a:solidFill>
                  <a:schemeClr val="tx1"/>
                </a:solidFill>
                <a:effectLst/>
                <a:latin typeface="Segoe UI" panose="020B0502040204020203" pitchFamily="34" charset="0"/>
                <a:ea typeface="+mn-ea"/>
                <a:cs typeface="Segoe UI" panose="020B0502040204020203" pitchFamily="34" charset="0"/>
              </a:rPr>
              <a:t>To get maximum benefit out of Advanced Threat Detection you will want to enable auditing on your databases. To allow for investigation if Advanced Threat Detection detects an anomaly it is recommend to enable auditing on your databases.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5DA6827C-5C70-4699-B667-4613CE587BC4}"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58</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CA" sz="880" kern="1200" dirty="0">
                <a:solidFill>
                  <a:schemeClr val="tx1"/>
                </a:solidFill>
                <a:effectLst/>
                <a:latin typeface="Segoe UI" panose="020B0502040204020203" pitchFamily="34" charset="0"/>
                <a:ea typeface="+mn-ea"/>
                <a:cs typeface="Segoe UI" panose="020B0502040204020203" pitchFamily="34" charset="0"/>
              </a:rPr>
              <a:t>Microsoft offers a suite of protections for Azure SQL Database Databases which wrap up under the Advanced Thread Protection feature. Advanced Threat Protection monitors the connections to the Azure SQL Database databases and queries which are executed against the database. </a:t>
            </a:r>
            <a:r>
              <a:rPr lang="en-US" sz="880" kern="1200" dirty="0">
                <a:solidFill>
                  <a:schemeClr val="tx1"/>
                </a:solidFill>
                <a:effectLst/>
                <a:latin typeface="Segoe UI" panose="020B0502040204020203" pitchFamily="34" charset="0"/>
                <a:ea typeface="+mn-ea"/>
                <a:cs typeface="Segoe UI" panose="020B0502040204020203" pitchFamily="34" charset="0"/>
              </a:rPr>
              <a:t>To get maximum benefit out of Advanced Threat Detection you will want to enable auditing on your databases. To allow for investigation if Advanced Threat Detection detects an anomaly it is recommend to enable auditing on your databases.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AD24947-86F6-4892-8719-E3FDBF70A33E}"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59</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CA" sz="880" kern="1200" dirty="0">
                <a:solidFill>
                  <a:schemeClr val="tx1"/>
                </a:solidFill>
                <a:effectLst/>
                <a:latin typeface="Segoe UI" panose="020B0502040204020203" pitchFamily="34" charset="0"/>
                <a:ea typeface="+mn-ea"/>
                <a:cs typeface="Segoe UI" panose="020B0502040204020203" pitchFamily="34" charset="0"/>
              </a:rPr>
              <a:t>Microsoft offers a suite of protections for Azure SQL Database Databases which wrap up under the Advanced Thread Protection feature. Advanced Threat Protection monitors the connections to the Azure SQL Database databases and queries which are executed against the database. </a:t>
            </a:r>
            <a:r>
              <a:rPr lang="en-US" sz="880" kern="1200" dirty="0">
                <a:solidFill>
                  <a:schemeClr val="tx1"/>
                </a:solidFill>
                <a:effectLst/>
                <a:latin typeface="Segoe UI" panose="020B0502040204020203" pitchFamily="34" charset="0"/>
                <a:ea typeface="+mn-ea"/>
                <a:cs typeface="Segoe UI" panose="020B0502040204020203" pitchFamily="34" charset="0"/>
              </a:rPr>
              <a:t>To get maximum benefit out of Advanced Threat Detection you will want to enable auditing on your databases. To allow for investigation if Advanced Threat Detection detects an anomaly it is recommend to enable auditing on your databases. </a:t>
            </a:r>
            <a:endParaRPr lang="en-US" sz="880" dirty="0">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AC136087-5858-4A0C-9C75-4632A3332B1E}"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60</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Bilden beskriver </a:t>
            </a:r>
            <a:r>
              <a:rPr lang="sv-SE" b="1" dirty="0" err="1"/>
              <a:t>Azure</a:t>
            </a:r>
            <a:r>
              <a:rPr lang="sv-SE" b="1" dirty="0"/>
              <a:t> SQL </a:t>
            </a:r>
            <a:r>
              <a:rPr lang="sv-SE" b="1" dirty="0" err="1"/>
              <a:t>Database</a:t>
            </a:r>
            <a:r>
              <a:rPr lang="sv-SE" b="1" dirty="0"/>
              <a:t> </a:t>
            </a:r>
            <a:r>
              <a:rPr lang="sv-SE" b="1" dirty="0" err="1"/>
              <a:t>Ledger</a:t>
            </a:r>
            <a:r>
              <a:rPr lang="sv-SE" dirty="0"/>
              <a:t>, en funktion som används för att säkerställa att data i en </a:t>
            </a:r>
            <a:r>
              <a:rPr lang="sv-SE" dirty="0" err="1"/>
              <a:t>Azure</a:t>
            </a:r>
            <a:r>
              <a:rPr lang="sv-SE" dirty="0"/>
              <a:t> SQL-databas inte har manipulerats i efterhand. Överst visas namnet på funktionen tillsammans med en cirkulär symbol som antyder ett kontinuerligt och oföränderligt flöde av information, likt ett bokförings- eller revisionsspår.</a:t>
            </a:r>
          </a:p>
          <a:p>
            <a:endParaRPr lang="sv-SE" dirty="0"/>
          </a:p>
          <a:p>
            <a:r>
              <a:rPr lang="sv-SE" dirty="0"/>
              <a:t>Innehållet är uppdelat i tre huvudområden. </a:t>
            </a:r>
          </a:p>
          <a:p>
            <a:r>
              <a:rPr lang="sv-SE" b="1" dirty="0" err="1"/>
              <a:t>Easy</a:t>
            </a:r>
            <a:r>
              <a:rPr lang="sv-SE" b="1" dirty="0"/>
              <a:t> </a:t>
            </a:r>
            <a:r>
              <a:rPr lang="sv-SE" b="1" dirty="0" err="1"/>
              <a:t>audits</a:t>
            </a:r>
            <a:r>
              <a:rPr lang="sv-SE" dirty="0"/>
              <a:t> förklarar att </a:t>
            </a:r>
            <a:r>
              <a:rPr lang="sv-SE" dirty="0" err="1"/>
              <a:t>Ledger</a:t>
            </a:r>
            <a:r>
              <a:rPr lang="sv-SE" dirty="0"/>
              <a:t> kryptografiskt kan bevisa för revisorer och andra intressenter att data förblir oförändrad. Detta gör revisioner enklare och ger tydliga, verifierbara spår för efterlevnad av regelverk. </a:t>
            </a:r>
            <a:r>
              <a:rPr lang="sv-SE" b="1" dirty="0"/>
              <a:t>I</a:t>
            </a:r>
          </a:p>
          <a:p>
            <a:r>
              <a:rPr lang="sv-SE" b="1" dirty="0" err="1"/>
              <a:t>ncreased</a:t>
            </a:r>
            <a:r>
              <a:rPr lang="sv-SE" b="1" dirty="0"/>
              <a:t> trust</a:t>
            </a:r>
            <a:r>
              <a:rPr lang="sv-SE" dirty="0"/>
              <a:t> handlar om ökat förtroende: genom att lagra data på ett konsekvent och tillförlitligt sätt stärks tilliten mellan olika parter, exempelvis organisationer, kunder och tillsynsmyndigheter. </a:t>
            </a:r>
          </a:p>
          <a:p>
            <a:r>
              <a:rPr lang="sv-SE" b="1" dirty="0"/>
              <a:t>Data </a:t>
            </a:r>
            <a:r>
              <a:rPr lang="sv-SE" b="1" dirty="0" err="1"/>
              <a:t>integrity</a:t>
            </a:r>
            <a:r>
              <a:rPr lang="sv-SE" dirty="0"/>
              <a:t> fokuserar på dataintegritet och skydd mot manipulation, även från privilegierade användare som administratörer. Sammantaget visar bilden hur </a:t>
            </a:r>
            <a:r>
              <a:rPr lang="sv-SE" dirty="0" err="1"/>
              <a:t>Azure</a:t>
            </a:r>
            <a:r>
              <a:rPr lang="sv-SE" dirty="0"/>
              <a:t> SQL </a:t>
            </a:r>
            <a:r>
              <a:rPr lang="sv-SE" dirty="0" err="1"/>
              <a:t>Database</a:t>
            </a:r>
            <a:r>
              <a:rPr lang="sv-SE" dirty="0"/>
              <a:t> </a:t>
            </a:r>
            <a:r>
              <a:rPr lang="sv-SE" dirty="0" err="1"/>
              <a:t>Ledger</a:t>
            </a:r>
            <a:r>
              <a:rPr lang="sv-SE" dirty="0"/>
              <a:t> kombinerar säkerhet, transparens och spårbarhet för att skydda kritisk data.</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0" b="0" dirty="0">
              <a:solidFill>
                <a:srgbClr val="D4D4D4"/>
              </a:solidFill>
              <a:effectLst/>
              <a:latin typeface="Segoe UI" panose="020B0502040204020203" pitchFamily="34" charset="0"/>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0" b="0" dirty="0">
              <a:solidFill>
                <a:srgbClr val="D4D4D4"/>
              </a:solidFill>
              <a:effectLst/>
              <a:latin typeface="Segoe UI" panose="020B0502040204020203" pitchFamily="34" charset="0"/>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0" b="0" dirty="0">
                <a:solidFill>
                  <a:srgbClr val="D4D4D4"/>
                </a:solidFill>
                <a:effectLst/>
                <a:latin typeface="Segoe UI" panose="020B0502040204020203" pitchFamily="34" charset="0"/>
                <a:cs typeface="Segoe UI" panose="020B0502040204020203" pitchFamily="34" charset="0"/>
              </a:rPr>
              <a:t>The ledger feature of Azure SQL Database provides tamper-evidence capabilities in your database. You can cryptographically attest to other parties, such as auditors or other business parties, that your data hasn't been tampered with.</a:t>
            </a:r>
          </a:p>
          <a:p>
            <a:endParaRPr lang="en-US" sz="880" dirty="0">
              <a:latin typeface="Segoe UI" panose="020B0502040204020203" pitchFamily="34" charset="0"/>
              <a:cs typeface="Segoe UI" panose="020B0502040204020203" pitchFamily="34" charset="0"/>
            </a:endParaRPr>
          </a:p>
          <a:p>
            <a:pPr algn="l"/>
            <a:r>
              <a:rPr lang="en-US" sz="900" b="0" i="0" dirty="0">
                <a:solidFill>
                  <a:srgbClr val="171717"/>
                </a:solidFill>
                <a:effectLst/>
                <a:latin typeface="Segoe UI" panose="020B0502040204020203" pitchFamily="34" charset="0"/>
                <a:cs typeface="Segoe UI" panose="020B0502040204020203" pitchFamily="34" charset="0"/>
              </a:rPr>
              <a:t>The Azure SQL Database Ledger feature provides multiple benefits:</a:t>
            </a:r>
          </a:p>
          <a:p>
            <a:pPr algn="l"/>
            <a:endParaRPr lang="en-US" sz="900" b="0" i="0" dirty="0">
              <a:solidFill>
                <a:srgbClr val="171717"/>
              </a:solidFill>
              <a:effectLst/>
              <a:latin typeface="Segoe UI" panose="020B0502040204020203" pitchFamily="34" charset="0"/>
              <a:cs typeface="Segoe UI" panose="020B0502040204020203" pitchFamily="34" charset="0"/>
            </a:endParaRPr>
          </a:p>
          <a:p>
            <a:pPr algn="l"/>
            <a:r>
              <a:rPr lang="en-US" sz="900" b="1" i="0" dirty="0">
                <a:solidFill>
                  <a:srgbClr val="171717"/>
                </a:solidFill>
                <a:effectLst/>
                <a:latin typeface="Segoe UI" panose="020B0502040204020203" pitchFamily="34" charset="0"/>
                <a:cs typeface="Segoe UI" panose="020B0502040204020203" pitchFamily="34" charset="0"/>
              </a:rPr>
              <a:t>Ease Audits –</a:t>
            </a:r>
            <a:r>
              <a:rPr lang="en-US" sz="900" b="0" i="0" dirty="0">
                <a:solidFill>
                  <a:srgbClr val="171717"/>
                </a:solidFill>
                <a:effectLst/>
                <a:latin typeface="Segoe UI" panose="020B0502040204020203" pitchFamily="34" charset="0"/>
                <a:cs typeface="Segoe UI" panose="020B0502040204020203" pitchFamily="34" charset="0"/>
              </a:rPr>
              <a:t> Audits are frequently enacted to ensure that proper security controls are in place to reduce potential attacks, backup and restore practices are as required, and thorough disaster recovery procedures are in place. Ledger provides documented proof that your data hasn't been altered in an auditing process.</a:t>
            </a:r>
          </a:p>
          <a:p>
            <a:pPr algn="l"/>
            <a:endParaRPr lang="en-US" sz="900" b="0" i="0" dirty="0">
              <a:solidFill>
                <a:srgbClr val="171717"/>
              </a:solidFill>
              <a:effectLst/>
              <a:latin typeface="Segoe UI" panose="020B0502040204020203" pitchFamily="34" charset="0"/>
              <a:cs typeface="Segoe UI" panose="020B0502040204020203" pitchFamily="34" charset="0"/>
            </a:endParaRPr>
          </a:p>
          <a:p>
            <a:pPr algn="l"/>
            <a:r>
              <a:rPr lang="en-US" sz="900" b="1" i="0" dirty="0">
                <a:solidFill>
                  <a:srgbClr val="171717"/>
                </a:solidFill>
                <a:effectLst/>
                <a:latin typeface="Segoe UI" panose="020B0502040204020203" pitchFamily="34" charset="0"/>
                <a:cs typeface="Segoe UI" panose="020B0502040204020203" pitchFamily="34" charset="0"/>
              </a:rPr>
              <a:t>Increased trust –</a:t>
            </a:r>
            <a:r>
              <a:rPr lang="en-US" sz="900" b="0" i="0" dirty="0">
                <a:solidFill>
                  <a:srgbClr val="171717"/>
                </a:solidFill>
                <a:effectLst/>
                <a:latin typeface="Segoe UI" panose="020B0502040204020203" pitchFamily="34" charset="0"/>
                <a:cs typeface="Segoe UI" panose="020B0502040204020203" pitchFamily="34" charset="0"/>
              </a:rPr>
              <a:t> Ledger also can help establish trust between multiple-party business processes without the complexity and performance implications that network consensus can introduce.</a:t>
            </a:r>
          </a:p>
          <a:p>
            <a:pPr algn="l"/>
            <a:endParaRPr lang="en-US" sz="900" b="0" i="0" dirty="0">
              <a:solidFill>
                <a:srgbClr val="171717"/>
              </a:solidFill>
              <a:effectLst/>
              <a:latin typeface="Segoe UI" panose="020B0502040204020203" pitchFamily="34" charset="0"/>
              <a:cs typeface="Segoe UI" panose="020B0502040204020203" pitchFamily="34" charset="0"/>
            </a:endParaRPr>
          </a:p>
          <a:p>
            <a:pPr algn="l"/>
            <a:r>
              <a:rPr lang="en-US" sz="900" b="1" i="0" dirty="0">
                <a:solidFill>
                  <a:srgbClr val="171717"/>
                </a:solidFill>
                <a:effectLst/>
                <a:latin typeface="Segoe UI" panose="020B0502040204020203" pitchFamily="34" charset="0"/>
                <a:cs typeface="Segoe UI" panose="020B0502040204020203" pitchFamily="34" charset="0"/>
              </a:rPr>
              <a:t>Data integrity –</a:t>
            </a:r>
            <a:r>
              <a:rPr lang="en-US" sz="900" b="0" i="0" dirty="0">
                <a:solidFill>
                  <a:srgbClr val="171717"/>
                </a:solidFill>
                <a:effectLst/>
                <a:latin typeface="Segoe UI" panose="020B0502040204020203" pitchFamily="34" charset="0"/>
                <a:cs typeface="Segoe UI" panose="020B0502040204020203" pitchFamily="34" charset="0"/>
              </a:rPr>
              <a:t> Querying the data on a blockchain network without sacrificing performance can be a serious challenge. Ledger provides data integrity for off-chain storage of blockchain networks, which helps ensure complete data trust through the entire system.</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44CA39C-C0D1-4094-A480-5ED7F64A286A}"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61</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880" b="0" i="0" dirty="0">
                <a:solidFill>
                  <a:srgbClr val="171717"/>
                </a:solidFill>
                <a:effectLst/>
                <a:latin typeface="Segoe UI" panose="020B0502040204020203" pitchFamily="34" charset="0"/>
                <a:cs typeface="Segoe UI" panose="020B0502040204020203" pitchFamily="34" charset="0"/>
              </a:rPr>
              <a:t>On the Configure ledger pane, in the Ledger section, the </a:t>
            </a:r>
            <a:r>
              <a:rPr lang="en-US" sz="880" b="1" i="0" dirty="0">
                <a:solidFill>
                  <a:srgbClr val="171717"/>
                </a:solidFill>
                <a:effectLst/>
                <a:latin typeface="Segoe UI" panose="020B0502040204020203" pitchFamily="34" charset="0"/>
                <a:cs typeface="Segoe UI" panose="020B0502040204020203" pitchFamily="34" charset="0"/>
              </a:rPr>
              <a:t>Enable for all future tables in this database </a:t>
            </a:r>
            <a:r>
              <a:rPr lang="en-US" sz="880" b="0" i="0" dirty="0">
                <a:solidFill>
                  <a:srgbClr val="171717"/>
                </a:solidFill>
                <a:effectLst/>
                <a:latin typeface="Segoe UI" panose="020B0502040204020203" pitchFamily="34" charset="0"/>
                <a:cs typeface="Segoe UI" panose="020B0502040204020203" pitchFamily="34" charset="0"/>
              </a:rPr>
              <a:t>checkbox </a:t>
            </a:r>
            <a:r>
              <a:rPr lang="en-US" sz="880" b="0" i="0" dirty="0">
                <a:solidFill>
                  <a:srgbClr val="38225D"/>
                </a:solidFill>
                <a:effectLst/>
                <a:latin typeface="Segoe UI" panose="020B0502040204020203" pitchFamily="34" charset="0"/>
                <a:cs typeface="Segoe UI" panose="020B0502040204020203" pitchFamily="34" charset="0"/>
              </a:rPr>
              <a:t>ensures that all future tables in the database will be ledger tables. For this reason, all data in the database will show any evidence of tampering. By default, new tables will be created as updatable ledger tables, even if you don't specify </a:t>
            </a:r>
            <a:r>
              <a:rPr lang="en-US" sz="880" dirty="0">
                <a:latin typeface="Segoe UI" panose="020B0502040204020203" pitchFamily="34" charset="0"/>
                <a:cs typeface="Segoe UI" panose="020B0502040204020203" pitchFamily="34" charset="0"/>
              </a:rPr>
              <a:t>LEDGER = ON</a:t>
            </a:r>
            <a:r>
              <a:rPr lang="en-US" sz="880" b="0" i="0" dirty="0">
                <a:solidFill>
                  <a:srgbClr val="38225D"/>
                </a:solidFill>
                <a:effectLst/>
                <a:latin typeface="Segoe UI" panose="020B0502040204020203" pitchFamily="34" charset="0"/>
                <a:cs typeface="Segoe UI" panose="020B0502040204020203" pitchFamily="34" charset="0"/>
              </a:rPr>
              <a:t> in the </a:t>
            </a:r>
            <a:r>
              <a:rPr lang="en-US" sz="880" dirty="0">
                <a:latin typeface="Segoe UI" panose="020B0502040204020203" pitchFamily="34" charset="0"/>
                <a:cs typeface="Segoe UI" panose="020B0502040204020203" pitchFamily="34" charset="0"/>
              </a:rPr>
              <a:t>CREATE TABLE</a:t>
            </a:r>
            <a:r>
              <a:rPr lang="en-US" sz="880" b="0" i="0" dirty="0">
                <a:solidFill>
                  <a:srgbClr val="38225D"/>
                </a:solidFill>
                <a:effectLst/>
                <a:latin typeface="Segoe UI" panose="020B0502040204020203" pitchFamily="34" charset="0"/>
                <a:cs typeface="Segoe UI" panose="020B0502040204020203" pitchFamily="34" charset="0"/>
              </a:rPr>
              <a:t> statement.</a:t>
            </a:r>
          </a:p>
          <a:p>
            <a:pPr algn="l"/>
            <a:endParaRPr lang="en-US" sz="880" b="0" i="0" dirty="0">
              <a:solidFill>
                <a:srgbClr val="38225D"/>
              </a:solidFill>
              <a:effectLst/>
              <a:latin typeface="Segoe UI" panose="020B0502040204020203" pitchFamily="34" charset="0"/>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b="0" i="0" dirty="0">
                <a:solidFill>
                  <a:srgbClr val="171717"/>
                </a:solidFill>
                <a:effectLst/>
                <a:latin typeface="Segoe UI" panose="020B0502040204020203" pitchFamily="34" charset="0"/>
                <a:cs typeface="Segoe UI" panose="020B0502040204020203" pitchFamily="34" charset="0"/>
              </a:rPr>
              <a:t>In the </a:t>
            </a:r>
            <a:r>
              <a:rPr lang="en-US" sz="880" b="1" i="0" dirty="0">
                <a:solidFill>
                  <a:srgbClr val="171717"/>
                </a:solidFill>
                <a:effectLst/>
                <a:latin typeface="Segoe UI" panose="020B0502040204020203" pitchFamily="34" charset="0"/>
                <a:cs typeface="Segoe UI" panose="020B0502040204020203" pitchFamily="34" charset="0"/>
              </a:rPr>
              <a:t>Digest Storage</a:t>
            </a:r>
            <a:r>
              <a:rPr lang="en-US" sz="880" b="0" i="0" dirty="0">
                <a:solidFill>
                  <a:srgbClr val="171717"/>
                </a:solidFill>
                <a:effectLst/>
                <a:latin typeface="Segoe UI" panose="020B0502040204020203" pitchFamily="34" charset="0"/>
                <a:cs typeface="Segoe UI" panose="020B0502040204020203" pitchFamily="34" charset="0"/>
              </a:rPr>
              <a:t> section, </a:t>
            </a:r>
            <a:r>
              <a:rPr lang="en-US" sz="880" b="1" i="0" dirty="0">
                <a:solidFill>
                  <a:srgbClr val="171717"/>
                </a:solidFill>
                <a:effectLst/>
                <a:latin typeface="Segoe UI" panose="020B0502040204020203" pitchFamily="34" charset="0"/>
                <a:cs typeface="Segoe UI" panose="020B0502040204020203" pitchFamily="34" charset="0"/>
              </a:rPr>
              <a:t>Enable automatic digest storage</a:t>
            </a:r>
            <a:r>
              <a:rPr lang="en-US" sz="880" b="0" i="0" dirty="0">
                <a:solidFill>
                  <a:srgbClr val="171717"/>
                </a:solidFill>
                <a:effectLst/>
                <a:latin typeface="Segoe UI" panose="020B0502040204020203" pitchFamily="34" charset="0"/>
                <a:cs typeface="Segoe UI" panose="020B0502040204020203" pitchFamily="34" charset="0"/>
              </a:rPr>
              <a:t> is automatically selected. Then, a new Azure Storage account and container where your digests are stored is created.</a:t>
            </a:r>
          </a:p>
          <a:p>
            <a:pPr algn="l"/>
            <a:endParaRPr lang="en-US" sz="880" b="0" i="0" dirty="0">
              <a:solidFill>
                <a:srgbClr val="171717"/>
              </a:solidFill>
              <a:effectLst/>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FCE6A9DD-D589-4C6A-8C80-B4B06D52A6B3}"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62</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Bilden beskriver </a:t>
            </a:r>
            <a:r>
              <a:rPr lang="sv-SE" b="1" dirty="0"/>
              <a:t>Microsoft </a:t>
            </a:r>
            <a:r>
              <a:rPr lang="sv-SE" b="1" dirty="0" err="1"/>
              <a:t>Purview</a:t>
            </a:r>
            <a:r>
              <a:rPr lang="sv-SE" dirty="0"/>
              <a:t>, en plattform för enhetlig </a:t>
            </a:r>
            <a:r>
              <a:rPr lang="sv-SE" b="1" dirty="0"/>
              <a:t>data </a:t>
            </a:r>
            <a:r>
              <a:rPr lang="sv-SE" b="1" dirty="0" err="1"/>
              <a:t>governance</a:t>
            </a:r>
            <a:r>
              <a:rPr lang="sv-SE" dirty="0"/>
              <a:t>, alltså styrning och kontroll av data i en organisation. Överst framgår att </a:t>
            </a:r>
            <a:r>
              <a:rPr lang="sv-SE" dirty="0" err="1"/>
              <a:t>Purview</a:t>
            </a:r>
            <a:r>
              <a:rPr lang="sv-SE" dirty="0"/>
              <a:t> är utformat för att hantera data oavsett var den finns: lokalt (on-</a:t>
            </a:r>
            <a:r>
              <a:rPr lang="sv-SE" dirty="0" err="1"/>
              <a:t>premises</a:t>
            </a:r>
            <a:r>
              <a:rPr lang="sv-SE" dirty="0"/>
              <a:t>), i flera moln (multi-</a:t>
            </a:r>
            <a:r>
              <a:rPr lang="sv-SE" dirty="0" err="1"/>
              <a:t>cloud</a:t>
            </a:r>
            <a:r>
              <a:rPr lang="sv-SE" dirty="0"/>
              <a:t>) eller i olika </a:t>
            </a:r>
            <a:r>
              <a:rPr lang="sv-SE" dirty="0" err="1"/>
              <a:t>SaaS</a:t>
            </a:r>
            <a:r>
              <a:rPr lang="sv-SE" dirty="0"/>
              <a:t>-tjänster. Tanken är att samla all datastyrning i en och samma lösning.</a:t>
            </a:r>
          </a:p>
          <a:p>
            <a:r>
              <a:rPr lang="sv-SE" dirty="0"/>
              <a:t>Under rubriken listas tre centrala funktioner. </a:t>
            </a:r>
          </a:p>
          <a:p>
            <a:r>
              <a:rPr lang="sv-SE" dirty="0"/>
              <a:t>Den första handlar om att göra data </a:t>
            </a:r>
            <a:r>
              <a:rPr lang="sv-SE" b="1" dirty="0"/>
              <a:t>lätt att hitta</a:t>
            </a:r>
            <a:r>
              <a:rPr lang="sv-SE" dirty="0"/>
              <a:t>, genom att använda både affärstermer och tekniska begrepp som användare redan är bekanta med. </a:t>
            </a:r>
          </a:p>
          <a:p>
            <a:r>
              <a:rPr lang="sv-SE" dirty="0"/>
              <a:t>Den andra funktionen fokuserar på </a:t>
            </a:r>
            <a:r>
              <a:rPr lang="sv-SE" b="1" dirty="0"/>
              <a:t>insikter kring begreppslistor (</a:t>
            </a:r>
            <a:r>
              <a:rPr lang="sv-SE" b="1" dirty="0" err="1"/>
              <a:t>glossary</a:t>
            </a:r>
            <a:r>
              <a:rPr lang="sv-SE" b="1" dirty="0"/>
              <a:t>)</a:t>
            </a:r>
            <a:r>
              <a:rPr lang="sv-SE" dirty="0"/>
              <a:t>, där man kan förbättra sökbarheten genom att lägga till eller omfördela termer baserat på hur </a:t>
            </a:r>
            <a:r>
              <a:rPr lang="sv-SE" dirty="0" err="1"/>
              <a:t>datan</a:t>
            </a:r>
            <a:r>
              <a:rPr lang="sv-SE" dirty="0"/>
              <a:t> används. </a:t>
            </a:r>
          </a:p>
          <a:p>
            <a:r>
              <a:rPr lang="sv-SE" dirty="0"/>
              <a:t>Den tredje funktionen ger en </a:t>
            </a:r>
            <a:r>
              <a:rPr lang="sv-SE" b="1" dirty="0" err="1"/>
              <a:t>helhetsvy</a:t>
            </a:r>
            <a:r>
              <a:rPr lang="sv-SE" b="1" dirty="0"/>
              <a:t> över hela datadomänen</a:t>
            </a:r>
            <a:r>
              <a:rPr lang="sv-SE" dirty="0"/>
              <a:t>, där data kan analyseras och grupperas efter exempelvis </a:t>
            </a:r>
            <a:r>
              <a:rPr lang="sv-SE" dirty="0" err="1"/>
              <a:t>källtyp</a:t>
            </a:r>
            <a:r>
              <a:rPr lang="sv-SE" dirty="0"/>
              <a:t>, klassificering och filstorlek. Sammantaget visar bilden hur Microsoft </a:t>
            </a:r>
            <a:r>
              <a:rPr lang="sv-SE" dirty="0" err="1"/>
              <a:t>Purview</a:t>
            </a:r>
            <a:r>
              <a:rPr lang="sv-SE" dirty="0"/>
              <a:t> hjälper organisationer att få kontroll, överblick och bättre förståelse för sin data.</a:t>
            </a:r>
          </a:p>
          <a:p>
            <a:endParaRPr lang="en-US" sz="880" b="0" dirty="0">
              <a:solidFill>
                <a:srgbClr val="D4D4D4"/>
              </a:solidFill>
              <a:effectLst/>
              <a:latin typeface="Segoe UI" panose="020B0502040204020203" pitchFamily="34" charset="0"/>
              <a:cs typeface="Segoe UI" panose="020B0502040204020203" pitchFamily="34" charset="0"/>
            </a:endParaRPr>
          </a:p>
          <a:p>
            <a:endParaRPr lang="en-US" sz="880" b="0" dirty="0">
              <a:solidFill>
                <a:srgbClr val="D4D4D4"/>
              </a:solidFill>
              <a:effectLst/>
              <a:latin typeface="Segoe UI" panose="020B0502040204020203" pitchFamily="34" charset="0"/>
              <a:cs typeface="Segoe UI" panose="020B0502040204020203" pitchFamily="34" charset="0"/>
            </a:endParaRPr>
          </a:p>
          <a:p>
            <a:r>
              <a:rPr lang="en-US" sz="880" b="0" dirty="0">
                <a:solidFill>
                  <a:srgbClr val="D4D4D4"/>
                </a:solidFill>
                <a:effectLst/>
                <a:latin typeface="Segoe UI" panose="020B0502040204020203" pitchFamily="34" charset="0"/>
                <a:cs typeface="Segoe UI" panose="020B0502040204020203" pitchFamily="34" charset="0"/>
              </a:rPr>
              <a:t>Microsoft Purview is a unified data governance service that helps you manage and govern your on-premises, multi-cloud, and software-as-a-service (SaaS) data. Create a holistic, up-to-date map of your data landscape with automated data discovery, sensitive data classification, and end-to-end data lineage. Enable data curators to manage and secure your data estate. Empower data consumers to find valuable, trustworthy data.</a:t>
            </a:r>
          </a:p>
          <a:p>
            <a:endParaRPr lang="en-US" sz="880" b="0" dirty="0">
              <a:solidFill>
                <a:srgbClr val="D4D4D4"/>
              </a:solidFill>
              <a:effectLst/>
              <a:latin typeface="Segoe UI" panose="020B0502040204020203" pitchFamily="34" charset="0"/>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b="0" dirty="0">
                <a:solidFill>
                  <a:srgbClr val="D4D4D4"/>
                </a:solidFill>
                <a:effectLst/>
                <a:latin typeface="Segoe UI" panose="020B0502040204020203" pitchFamily="34" charset="0"/>
                <a:cs typeface="Segoe UI" panose="020B0502040204020203" pitchFamily="34" charset="0"/>
              </a:rPr>
              <a:t>Microsoft Purview automates data discovery by providing data scanning and classification as a service for assets across your data estate. Metadata and descriptions of discovered data assets are integrated into a holistic map of your data estate. Atop this map, there are purpose-built apps that create environments for data discovery, access management, and insights about your data landscape.</a:t>
            </a:r>
          </a:p>
          <a:p>
            <a:endParaRPr lang="en-US" sz="880" b="0" dirty="0">
              <a:solidFill>
                <a:srgbClr val="D4D4D4"/>
              </a:solidFill>
              <a:effectLst/>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978ED29B-F8AC-4329-89F4-B32DA08F6C44}"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63</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sv-SE" dirty="0"/>
              <a:t>Bilden visar hur </a:t>
            </a:r>
            <a:r>
              <a:rPr lang="sv-SE" b="1" dirty="0"/>
              <a:t>Microsoft </a:t>
            </a:r>
            <a:r>
              <a:rPr lang="sv-SE" b="1" dirty="0" err="1"/>
              <a:t>Purview</a:t>
            </a:r>
            <a:r>
              <a:rPr lang="sv-SE" dirty="0"/>
              <a:t> fungerar som en central plattform för datastyrning. Den kopplar samman data från lokala system, molnet och </a:t>
            </a:r>
            <a:r>
              <a:rPr lang="sv-SE" dirty="0" err="1"/>
              <a:t>SaaS</a:t>
            </a:r>
            <a:r>
              <a:rPr lang="sv-SE" dirty="0"/>
              <a:t>-applikationer. </a:t>
            </a:r>
            <a:r>
              <a:rPr lang="sv-SE" dirty="0" err="1"/>
              <a:t>Purview</a:t>
            </a:r>
            <a:r>
              <a:rPr lang="sv-SE" dirty="0"/>
              <a:t> erbjuder en datakatalog, datainsikter och en datakarta som stödjer både dataskapare och användare i organisationen.</a:t>
            </a:r>
          </a:p>
          <a:p>
            <a:endParaRPr lang="en-US" sz="880" b="0" dirty="0">
              <a:solidFill>
                <a:srgbClr val="D4D4D4"/>
              </a:solidFill>
              <a:effectLst/>
              <a:latin typeface="Segoe UI" panose="020B0502040204020203" pitchFamily="34" charset="0"/>
              <a:cs typeface="Segoe UI" panose="020B0502040204020203" pitchFamily="34" charset="0"/>
            </a:endParaRPr>
          </a:p>
          <a:p>
            <a:endParaRPr lang="en-US" sz="880" b="0" dirty="0">
              <a:solidFill>
                <a:srgbClr val="D4D4D4"/>
              </a:solidFill>
              <a:effectLst/>
              <a:latin typeface="Segoe UI" panose="020B0502040204020203" pitchFamily="34" charset="0"/>
              <a:cs typeface="Segoe UI" panose="020B0502040204020203" pitchFamily="34" charset="0"/>
            </a:endParaRPr>
          </a:p>
          <a:p>
            <a:r>
              <a:rPr lang="en-US" sz="880" b="0" dirty="0">
                <a:solidFill>
                  <a:srgbClr val="D4D4D4"/>
                </a:solidFill>
                <a:effectLst/>
                <a:latin typeface="Segoe UI" panose="020B0502040204020203" pitchFamily="34" charset="0"/>
                <a:cs typeface="Segoe UI" panose="020B0502040204020203" pitchFamily="34" charset="0"/>
              </a:rPr>
              <a:t>Microsoft Purview is a unified data governance service that helps you manage and govern your on-premises, multi-cloud, and software-as-a-service (SaaS) data. Create a holistic, up-to-date map of your data landscape with automated data discovery, sensitive data classification, and end-to-end data lineage. Enable data curators to manage and secure your data estate. Empower data consumers to find valuable, trustworthy data.</a:t>
            </a:r>
          </a:p>
          <a:p>
            <a:endParaRPr lang="en-US" sz="880" b="0" dirty="0">
              <a:solidFill>
                <a:srgbClr val="D4D4D4"/>
              </a:solidFill>
              <a:effectLst/>
              <a:latin typeface="Segoe UI" panose="020B0502040204020203" pitchFamily="34" charset="0"/>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b="0" dirty="0">
                <a:solidFill>
                  <a:srgbClr val="D4D4D4"/>
                </a:solidFill>
                <a:effectLst/>
                <a:latin typeface="Segoe UI" panose="020B0502040204020203" pitchFamily="34" charset="0"/>
                <a:cs typeface="Segoe UI" panose="020B0502040204020203" pitchFamily="34" charset="0"/>
              </a:rPr>
              <a:t>Microsoft Purview automates data discovery by providing data scanning and classification as a service for assets across your data estate. Metadata and descriptions of discovered data assets are integrated into a holistic map of your data estate. Atop this map, there are purpose-built apps that create environments for data discovery, access management, and insights about your data landscape.</a:t>
            </a:r>
          </a:p>
          <a:p>
            <a:endParaRPr lang="en-US" sz="880" b="0" dirty="0">
              <a:solidFill>
                <a:srgbClr val="D4D4D4"/>
              </a:solidFill>
              <a:effectLst/>
              <a:latin typeface="Segoe UI" panose="020B0502040204020203" pitchFamily="34" charset="0"/>
              <a:cs typeface="Segoe UI" panose="020B0502040204020203" pitchFamily="34" charset="0"/>
            </a:endParaRPr>
          </a:p>
          <a:p>
            <a:r>
              <a:rPr lang="en-US" sz="880" b="0" u="none" strike="noStrike" dirty="0">
                <a:effectLst/>
                <a:latin typeface="Segoe UI" panose="020B0502040204020203" pitchFamily="34" charset="0"/>
                <a:cs typeface="Segoe UI" panose="020B0502040204020203" pitchFamily="34" charset="0"/>
                <a:hlinkClick r:id="rId3"/>
              </a:rPr>
              <a:t>Data Map</a:t>
            </a:r>
            <a:r>
              <a:rPr lang="en-US" sz="880" b="0" u="none" strike="noStrike" dirty="0">
                <a:effectLst/>
                <a:latin typeface="Segoe UI" panose="020B0502040204020203" pitchFamily="34" charset="0"/>
                <a:cs typeface="Segoe UI" panose="020B0502040204020203" pitchFamily="34" charset="0"/>
              </a:rPr>
              <a:t> - </a:t>
            </a:r>
            <a:r>
              <a:rPr lang="en-US" sz="880" b="0" u="none" dirty="0">
                <a:effectLst/>
                <a:latin typeface="Segoe UI" panose="020B0502040204020203" pitchFamily="34" charset="0"/>
                <a:cs typeface="Segoe UI" panose="020B0502040204020203" pitchFamily="34" charset="0"/>
              </a:rPr>
              <a:t>Makes your data meaningful by graphing your data assets, and their relationships, across your data estate. The data map used to discover data and manage access to that data.</a:t>
            </a:r>
          </a:p>
          <a:p>
            <a:r>
              <a:rPr lang="en-US" sz="880" b="0" u="none" strike="noStrike" dirty="0">
                <a:effectLst/>
                <a:latin typeface="Segoe UI" panose="020B0502040204020203" pitchFamily="34" charset="0"/>
                <a:cs typeface="Segoe UI" panose="020B0502040204020203" pitchFamily="34" charset="0"/>
                <a:hlinkClick r:id="rId4"/>
              </a:rPr>
              <a:t>Data Catalog</a:t>
            </a:r>
            <a:r>
              <a:rPr lang="en-US" sz="880" b="0" u="none" strike="noStrike" dirty="0">
                <a:effectLst/>
                <a:latin typeface="Segoe UI" panose="020B0502040204020203" pitchFamily="34" charset="0"/>
                <a:cs typeface="Segoe UI" panose="020B0502040204020203" pitchFamily="34" charset="0"/>
              </a:rPr>
              <a:t> - </a:t>
            </a:r>
            <a:r>
              <a:rPr lang="en-US" sz="880" b="0" u="none" dirty="0">
                <a:effectLst/>
                <a:latin typeface="Segoe UI" panose="020B0502040204020203" pitchFamily="34" charset="0"/>
                <a:cs typeface="Segoe UI" panose="020B0502040204020203" pitchFamily="34" charset="0"/>
              </a:rPr>
              <a:t>Finds trusted data sources by browsing and searching your data assets. The data catalog aligns your assets with friendly business terms and data classification to identify data sources.</a:t>
            </a:r>
          </a:p>
          <a:p>
            <a:r>
              <a:rPr lang="en-US" sz="880" b="0" u="none" strike="noStrike" dirty="0">
                <a:effectLst/>
                <a:latin typeface="Segoe UI" panose="020B0502040204020203" pitchFamily="34" charset="0"/>
                <a:cs typeface="Segoe UI" panose="020B0502040204020203" pitchFamily="34" charset="0"/>
                <a:hlinkClick r:id="rId5"/>
              </a:rPr>
              <a:t>Data Estate Insights</a:t>
            </a:r>
            <a:r>
              <a:rPr lang="en-US" sz="880" b="0" u="none" strike="noStrike" dirty="0">
                <a:effectLst/>
                <a:latin typeface="Segoe UI" panose="020B0502040204020203" pitchFamily="34" charset="0"/>
                <a:cs typeface="Segoe UI" panose="020B0502040204020203" pitchFamily="34" charset="0"/>
              </a:rPr>
              <a:t> - </a:t>
            </a:r>
            <a:r>
              <a:rPr lang="en-US" sz="880" b="0" u="none" dirty="0">
                <a:effectLst/>
                <a:latin typeface="Segoe UI" panose="020B0502040204020203" pitchFamily="34" charset="0"/>
                <a:cs typeface="Segoe UI" panose="020B0502040204020203" pitchFamily="34" charset="0"/>
              </a:rPr>
              <a:t>Gives you an overview of your data estate to help you discover what kinds of data you have and where.</a:t>
            </a:r>
            <a:endParaRPr lang="en-US" sz="880" b="0" u="none" dirty="0">
              <a:solidFill>
                <a:srgbClr val="D4D4D4"/>
              </a:solidFill>
              <a:effectLst/>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81529D0C-3E43-4078-BF97-2671A63A2D69}"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64</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sv-SE" dirty="0"/>
              <a:t>Bilden visar </a:t>
            </a:r>
            <a:r>
              <a:rPr lang="sv-SE" b="1" dirty="0"/>
              <a:t>Microsoft </a:t>
            </a:r>
            <a:r>
              <a:rPr lang="sv-SE" b="1" dirty="0" err="1"/>
              <a:t>Purview</a:t>
            </a:r>
            <a:r>
              <a:rPr lang="sv-SE" b="1" dirty="0"/>
              <a:t> </a:t>
            </a:r>
            <a:r>
              <a:rPr lang="sv-SE" b="1" dirty="0" err="1"/>
              <a:t>Map</a:t>
            </a:r>
            <a:r>
              <a:rPr lang="sv-SE" b="1" dirty="0"/>
              <a:t> </a:t>
            </a:r>
            <a:r>
              <a:rPr lang="sv-SE" b="1" dirty="0" err="1"/>
              <a:t>View</a:t>
            </a:r>
            <a:r>
              <a:rPr lang="sv-SE" dirty="0"/>
              <a:t>, där datakällor organiseras hierarkiskt i samlingar, till exempel efter regioner som </a:t>
            </a:r>
            <a:r>
              <a:rPr lang="sv-SE" dirty="0" err="1"/>
              <a:t>Americas</a:t>
            </a:r>
            <a:r>
              <a:rPr lang="sv-SE" dirty="0"/>
              <a:t>, APAC och </a:t>
            </a:r>
            <a:r>
              <a:rPr lang="sv-SE" dirty="0" err="1"/>
              <a:t>Europe</a:t>
            </a:r>
            <a:r>
              <a:rPr lang="sv-SE" dirty="0"/>
              <a:t>. Under varje samling visas anslutna datakällor, här illustrerat med en </a:t>
            </a:r>
            <a:r>
              <a:rPr lang="sv-SE" dirty="0" err="1"/>
              <a:t>Azure</a:t>
            </a:r>
            <a:r>
              <a:rPr lang="sv-SE" dirty="0"/>
              <a:t> SQL </a:t>
            </a:r>
            <a:r>
              <a:rPr lang="sv-SE" dirty="0" err="1"/>
              <a:t>Database</a:t>
            </a:r>
            <a:r>
              <a:rPr lang="sv-SE" dirty="0"/>
              <a:t>. Vyn ger en tydlig överblick över hur data är strukturerad och förvaltad.</a:t>
            </a:r>
          </a:p>
          <a:p>
            <a:endParaRPr lang="en-US" sz="880" b="0" dirty="0">
              <a:solidFill>
                <a:srgbClr val="D4D4D4"/>
              </a:solidFill>
              <a:effectLst/>
              <a:latin typeface="Segoe UI" panose="020B0502040204020203" pitchFamily="34" charset="0"/>
              <a:cs typeface="Segoe UI" panose="020B0502040204020203" pitchFamily="34" charset="0"/>
            </a:endParaRPr>
          </a:p>
          <a:p>
            <a:endParaRPr lang="en-US" sz="880" b="0" dirty="0">
              <a:solidFill>
                <a:srgbClr val="D4D4D4"/>
              </a:solidFill>
              <a:effectLst/>
              <a:latin typeface="Segoe UI" panose="020B0502040204020203" pitchFamily="34" charset="0"/>
              <a:cs typeface="Segoe UI" panose="020B0502040204020203" pitchFamily="34" charset="0"/>
            </a:endParaRPr>
          </a:p>
          <a:p>
            <a:r>
              <a:rPr lang="en-US" sz="880" b="0" dirty="0">
                <a:solidFill>
                  <a:srgbClr val="D4D4D4"/>
                </a:solidFill>
                <a:effectLst/>
                <a:latin typeface="Segoe UI" panose="020B0502040204020203" pitchFamily="34" charset="0"/>
                <a:cs typeface="Segoe UI" panose="020B0502040204020203" pitchFamily="34" charset="0"/>
              </a:rPr>
              <a:t>Microsoft Purview is a unified data governance service that helps you manage and govern your on-premises, multi-cloud, and software-as-a-service (SaaS) data. Create a holistic, up-to-date map of your data landscape with automated data discovery, sensitive data classification, and end-to-end data lineage. Enable data curators to manage and secure your data estate. Empower data consumers to find valuable, trustworthy data.</a:t>
            </a:r>
          </a:p>
          <a:p>
            <a:endParaRPr lang="en-US" sz="880" b="0" dirty="0">
              <a:solidFill>
                <a:srgbClr val="D4D4D4"/>
              </a:solidFill>
              <a:effectLst/>
              <a:latin typeface="Segoe UI" panose="020B0502040204020203" pitchFamily="34" charset="0"/>
              <a:cs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0" b="0" dirty="0">
                <a:solidFill>
                  <a:srgbClr val="D4D4D4"/>
                </a:solidFill>
                <a:effectLst/>
                <a:latin typeface="Segoe UI" panose="020B0502040204020203" pitchFamily="34" charset="0"/>
                <a:cs typeface="Segoe UI" panose="020B0502040204020203" pitchFamily="34" charset="0"/>
              </a:rPr>
              <a:t>Microsoft Purview automates data discovery by providing data scanning and classification as a service for assets across your data estate. Metadata and descriptions of discovered data assets are integrated into a holistic map of your data estate. Atop this map, there are purpose-built apps that create environments for data discovery, access management, and insights about your data landscape.</a:t>
            </a:r>
          </a:p>
          <a:p>
            <a:endParaRPr lang="en-US" sz="880" b="0" dirty="0">
              <a:solidFill>
                <a:srgbClr val="D4D4D4"/>
              </a:solidFill>
              <a:effectLst/>
              <a:latin typeface="Segoe UI" panose="020B0502040204020203" pitchFamily="34" charset="0"/>
              <a:cs typeface="Segoe UI" panose="020B0502040204020203" pitchFamily="34" charset="0"/>
            </a:endParaRPr>
          </a:p>
          <a:p>
            <a:r>
              <a:rPr lang="en-US" sz="880" b="0" u="none" strike="noStrike" dirty="0">
                <a:effectLst/>
                <a:latin typeface="Segoe UI" panose="020B0502040204020203" pitchFamily="34" charset="0"/>
                <a:cs typeface="Segoe UI" panose="020B0502040204020203" pitchFamily="34" charset="0"/>
                <a:hlinkClick r:id="rId3"/>
              </a:rPr>
              <a:t>Data Map</a:t>
            </a:r>
            <a:r>
              <a:rPr lang="en-US" sz="880" b="0" u="none" strike="noStrike" dirty="0">
                <a:effectLst/>
                <a:latin typeface="Segoe UI" panose="020B0502040204020203" pitchFamily="34" charset="0"/>
                <a:cs typeface="Segoe UI" panose="020B0502040204020203" pitchFamily="34" charset="0"/>
              </a:rPr>
              <a:t> - </a:t>
            </a:r>
            <a:r>
              <a:rPr lang="en-US" sz="880" b="0" u="none" dirty="0">
                <a:effectLst/>
                <a:latin typeface="Segoe UI" panose="020B0502040204020203" pitchFamily="34" charset="0"/>
                <a:cs typeface="Segoe UI" panose="020B0502040204020203" pitchFamily="34" charset="0"/>
              </a:rPr>
              <a:t>Makes your data meaningful by graphing your data assets, and their relationships, across your data estate. The data map used to discover data and manage access to that data.</a:t>
            </a:r>
          </a:p>
          <a:p>
            <a:r>
              <a:rPr lang="en-US" sz="880" b="0" u="none" strike="noStrike" dirty="0">
                <a:effectLst/>
                <a:latin typeface="Segoe UI" panose="020B0502040204020203" pitchFamily="34" charset="0"/>
                <a:cs typeface="Segoe UI" panose="020B0502040204020203" pitchFamily="34" charset="0"/>
                <a:hlinkClick r:id="rId4"/>
              </a:rPr>
              <a:t>Data Catalog</a:t>
            </a:r>
            <a:r>
              <a:rPr lang="en-US" sz="880" b="0" u="none" strike="noStrike" dirty="0">
                <a:effectLst/>
                <a:latin typeface="Segoe UI" panose="020B0502040204020203" pitchFamily="34" charset="0"/>
                <a:cs typeface="Segoe UI" panose="020B0502040204020203" pitchFamily="34" charset="0"/>
              </a:rPr>
              <a:t> - </a:t>
            </a:r>
            <a:r>
              <a:rPr lang="en-US" sz="880" b="0" u="none" dirty="0">
                <a:effectLst/>
                <a:latin typeface="Segoe UI" panose="020B0502040204020203" pitchFamily="34" charset="0"/>
                <a:cs typeface="Segoe UI" panose="020B0502040204020203" pitchFamily="34" charset="0"/>
              </a:rPr>
              <a:t>Finds trusted data sources by browsing and searching your data assets. The data catalog aligns your assets with friendly business terms and data classification to identify data sources.</a:t>
            </a:r>
          </a:p>
          <a:p>
            <a:r>
              <a:rPr lang="en-US" sz="880" b="0" u="none" strike="noStrike" dirty="0">
                <a:effectLst/>
                <a:latin typeface="Segoe UI" panose="020B0502040204020203" pitchFamily="34" charset="0"/>
                <a:cs typeface="Segoe UI" panose="020B0502040204020203" pitchFamily="34" charset="0"/>
                <a:hlinkClick r:id="rId5"/>
              </a:rPr>
              <a:t>Data Estate Insights</a:t>
            </a:r>
            <a:r>
              <a:rPr lang="en-US" sz="880" b="0" u="none" strike="noStrike" dirty="0">
                <a:effectLst/>
                <a:latin typeface="Segoe UI" panose="020B0502040204020203" pitchFamily="34" charset="0"/>
                <a:cs typeface="Segoe UI" panose="020B0502040204020203" pitchFamily="34" charset="0"/>
              </a:rPr>
              <a:t> - </a:t>
            </a:r>
            <a:r>
              <a:rPr lang="en-US" sz="880" b="0" u="none" dirty="0">
                <a:effectLst/>
                <a:latin typeface="Segoe UI" panose="020B0502040204020203" pitchFamily="34" charset="0"/>
                <a:cs typeface="Segoe UI" panose="020B0502040204020203" pitchFamily="34" charset="0"/>
              </a:rPr>
              <a:t>Gives you an overview of your data estate to help you discover what kinds of data you have and where.</a:t>
            </a:r>
            <a:endParaRPr lang="en-US" sz="880" b="0" u="none" dirty="0">
              <a:solidFill>
                <a:srgbClr val="D4D4D4"/>
              </a:solidFill>
              <a:effectLst/>
              <a:latin typeface="Segoe UI" panose="020B0502040204020203" pitchFamily="34" charset="0"/>
              <a:cs typeface="Segoe UI" panose="020B0502040204020203" pitchFamily="34" charset="0"/>
            </a:endParaRPr>
          </a:p>
          <a:p>
            <a:endParaRPr lang="en-US" sz="880" dirty="0">
              <a:latin typeface="Segoe UI" panose="020B0502040204020203" pitchFamily="34" charset="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E861307-6245-4890-B50F-C805BEA20BB6}"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65</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Segoe UI" panose="020B0502040204020203" pitchFamily="34" charset="0"/>
              </a:rPr>
              <a:t>Enable Microsoft Defender for SQL for SQL Database or SQL Managed Instance from the server main blade by selecting </a:t>
            </a:r>
            <a:r>
              <a:rPr lang="en-US" b="1" i="0" dirty="0">
                <a:solidFill>
                  <a:srgbClr val="161616"/>
                </a:solidFill>
                <a:effectLst/>
                <a:latin typeface="Segoe UI" panose="020B0502040204020203" pitchFamily="34" charset="0"/>
              </a:rPr>
              <a:t>Microsoft Defender for Cloud</a:t>
            </a:r>
            <a:r>
              <a:rPr lang="en-US" b="0" i="0" dirty="0">
                <a:solidFill>
                  <a:srgbClr val="161616"/>
                </a:solidFill>
                <a:effectLst/>
                <a:latin typeface="Segoe UI" panose="020B0502040204020203" pitchFamily="34" charset="0"/>
              </a:rPr>
              <a:t>, and then the </a:t>
            </a:r>
            <a:r>
              <a:rPr lang="en-US" b="1" i="0" dirty="0">
                <a:solidFill>
                  <a:srgbClr val="161616"/>
                </a:solidFill>
                <a:effectLst/>
                <a:latin typeface="Segoe UI" panose="020B0502040204020203" pitchFamily="34" charset="0"/>
              </a:rPr>
              <a:t>(Configure)</a:t>
            </a:r>
            <a:r>
              <a:rPr lang="en-US" b="0" i="0" dirty="0">
                <a:solidFill>
                  <a:srgbClr val="161616"/>
                </a:solidFill>
                <a:effectLst/>
                <a:latin typeface="Segoe UI" panose="020B0502040204020203" pitchFamily="34" charset="0"/>
              </a:rPr>
              <a:t> link.</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1E0ADE53-4B34-4AEA-AC8B-8011E3637D35}"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66</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b="1" dirty="0"/>
              <a:t>1) Where is the data from data classification stored in SQL Server 2019?</a:t>
            </a:r>
          </a:p>
          <a:p>
            <a:r>
              <a:rPr lang="en-SE" dirty="0"/>
              <a:t>❌ </a:t>
            </a:r>
            <a:r>
              <a:rPr lang="en-US" b="1" dirty="0"/>
              <a:t>Fel: In the extended properties for each object</a:t>
            </a:r>
            <a:br>
              <a:rPr lang="en-US" dirty="0"/>
            </a:br>
            <a:r>
              <a:rPr lang="en-US" i="1" dirty="0" err="1"/>
              <a:t>Klassificering</a:t>
            </a:r>
            <a:r>
              <a:rPr lang="en-US" i="1" dirty="0"/>
              <a:t> </a:t>
            </a:r>
            <a:r>
              <a:rPr lang="en-US" i="1" dirty="0" err="1"/>
              <a:t>lagras</a:t>
            </a:r>
            <a:r>
              <a:rPr lang="en-US" i="1" dirty="0"/>
              <a:t> </a:t>
            </a:r>
            <a:r>
              <a:rPr lang="en-US" i="1" dirty="0" err="1"/>
              <a:t>inte</a:t>
            </a:r>
            <a:r>
              <a:rPr lang="en-US" i="1" dirty="0"/>
              <a:t> </a:t>
            </a:r>
            <a:r>
              <a:rPr lang="en-US" i="1" dirty="0" err="1"/>
              <a:t>i</a:t>
            </a:r>
            <a:r>
              <a:rPr lang="en-US" i="1" dirty="0"/>
              <a:t> extended properties, </a:t>
            </a:r>
            <a:r>
              <a:rPr lang="en-US" i="1" dirty="0" err="1"/>
              <a:t>utan</a:t>
            </a:r>
            <a:r>
              <a:rPr lang="en-US" i="1" dirty="0"/>
              <a:t> </a:t>
            </a:r>
            <a:r>
              <a:rPr lang="en-US" i="1" dirty="0" err="1"/>
              <a:t>i</a:t>
            </a:r>
            <a:r>
              <a:rPr lang="en-US" i="1" dirty="0"/>
              <a:t> </a:t>
            </a:r>
            <a:r>
              <a:rPr lang="en-US" i="1" dirty="0" err="1"/>
              <a:t>katalogvy</a:t>
            </a:r>
            <a:r>
              <a:rPr lang="en-US" i="1" dirty="0"/>
              <a:t>.</a:t>
            </a:r>
            <a:endParaRPr lang="en-US" dirty="0"/>
          </a:p>
          <a:p>
            <a:r>
              <a:rPr lang="en-SE" dirty="0"/>
              <a:t>✅ </a:t>
            </a:r>
            <a:r>
              <a:rPr lang="en-US" b="1" dirty="0" err="1"/>
              <a:t>Rätt</a:t>
            </a:r>
            <a:r>
              <a:rPr lang="en-US" b="1" dirty="0"/>
              <a:t>: In the </a:t>
            </a:r>
            <a:r>
              <a:rPr lang="en-US" b="1" dirty="0" err="1"/>
              <a:t>sys.sensitivity_classifications</a:t>
            </a:r>
            <a:r>
              <a:rPr lang="en-US" b="1" dirty="0"/>
              <a:t> catalog view</a:t>
            </a:r>
            <a:br>
              <a:rPr lang="en-US" dirty="0"/>
            </a:br>
            <a:r>
              <a:rPr lang="en-US" i="1" dirty="0" err="1"/>
              <a:t>Här</a:t>
            </a:r>
            <a:r>
              <a:rPr lang="en-US" i="1" dirty="0"/>
              <a:t> </a:t>
            </a:r>
            <a:r>
              <a:rPr lang="en-US" i="1" dirty="0" err="1"/>
              <a:t>lagras</a:t>
            </a:r>
            <a:r>
              <a:rPr lang="en-US" i="1" dirty="0"/>
              <a:t> </a:t>
            </a:r>
            <a:r>
              <a:rPr lang="en-US" i="1" dirty="0" err="1"/>
              <a:t>etiketter</a:t>
            </a:r>
            <a:r>
              <a:rPr lang="en-US" i="1" dirty="0"/>
              <a:t> och </a:t>
            </a:r>
            <a:r>
              <a:rPr lang="en-US" i="1" dirty="0" err="1"/>
              <a:t>informationsklassning</a:t>
            </a:r>
            <a:r>
              <a:rPr lang="en-US" i="1" dirty="0"/>
              <a:t> för </a:t>
            </a:r>
            <a:r>
              <a:rPr lang="en-US" i="1" dirty="0" err="1"/>
              <a:t>kolumner</a:t>
            </a:r>
            <a:r>
              <a:rPr lang="en-US" i="1" dirty="0"/>
              <a:t>.</a:t>
            </a:r>
            <a:endParaRPr lang="en-US" dirty="0"/>
          </a:p>
          <a:p>
            <a:r>
              <a:rPr lang="en-SE" dirty="0"/>
              <a:t>❌ </a:t>
            </a:r>
            <a:r>
              <a:rPr lang="en-US" b="1" dirty="0"/>
              <a:t>Fel: In the </a:t>
            </a:r>
            <a:r>
              <a:rPr lang="en-US" b="1" dirty="0" err="1"/>
              <a:t>sys.all_columns</a:t>
            </a:r>
            <a:r>
              <a:rPr lang="en-US" b="1" dirty="0"/>
              <a:t> catalog view</a:t>
            </a:r>
            <a:br>
              <a:rPr lang="en-US" dirty="0"/>
            </a:br>
            <a:r>
              <a:rPr lang="en-US" i="1" dirty="0" err="1"/>
              <a:t>sys.all_columns</a:t>
            </a:r>
            <a:r>
              <a:rPr lang="en-US" i="1" dirty="0"/>
              <a:t> </a:t>
            </a:r>
            <a:r>
              <a:rPr lang="en-US" i="1" dirty="0" err="1"/>
              <a:t>visar</a:t>
            </a:r>
            <a:r>
              <a:rPr lang="en-US" i="1" dirty="0"/>
              <a:t> </a:t>
            </a:r>
            <a:r>
              <a:rPr lang="en-US" i="1" dirty="0" err="1"/>
              <a:t>kolumner</a:t>
            </a:r>
            <a:r>
              <a:rPr lang="en-US" i="1" dirty="0"/>
              <a:t>, </a:t>
            </a:r>
            <a:r>
              <a:rPr lang="en-US" i="1" dirty="0" err="1"/>
              <a:t>inte</a:t>
            </a:r>
            <a:r>
              <a:rPr lang="en-US" i="1" dirty="0"/>
              <a:t> </a:t>
            </a:r>
            <a:r>
              <a:rPr lang="en-US" i="1" dirty="0" err="1"/>
              <a:t>klassificeringsmetadata</a:t>
            </a:r>
            <a:r>
              <a:rPr lang="en-US" i="1" dirty="0"/>
              <a:t>.</a:t>
            </a:r>
            <a:endParaRPr lang="en-US" dirty="0"/>
          </a:p>
          <a:p>
            <a:br>
              <a:rPr lang="en-US" dirty="0"/>
            </a:br>
            <a:endParaRPr lang="en-US" dirty="0"/>
          </a:p>
          <a:p>
            <a:r>
              <a:rPr lang="en-US" b="1" dirty="0"/>
              <a:t>2) Which is NOT an option to store vulnerability assessment data?</a:t>
            </a:r>
          </a:p>
          <a:p>
            <a:r>
              <a:rPr lang="en-SE" dirty="0"/>
              <a:t>❌ </a:t>
            </a:r>
            <a:r>
              <a:rPr lang="en-US" b="1" dirty="0"/>
              <a:t>Fel: Storage Account</a:t>
            </a:r>
            <a:br>
              <a:rPr lang="en-US" dirty="0"/>
            </a:br>
            <a:r>
              <a:rPr lang="en-US" i="1" dirty="0"/>
              <a:t>Storage Account </a:t>
            </a:r>
            <a:r>
              <a:rPr lang="en-US" i="1" dirty="0" err="1"/>
              <a:t>är</a:t>
            </a:r>
            <a:r>
              <a:rPr lang="en-US" i="1" dirty="0"/>
              <a:t> </a:t>
            </a:r>
            <a:r>
              <a:rPr lang="en-US" i="1" dirty="0" err="1"/>
              <a:t>ett</a:t>
            </a:r>
            <a:r>
              <a:rPr lang="en-US" i="1" dirty="0"/>
              <a:t> </a:t>
            </a:r>
            <a:r>
              <a:rPr lang="en-US" i="1" dirty="0" err="1"/>
              <a:t>giltigt</a:t>
            </a:r>
            <a:r>
              <a:rPr lang="en-US" i="1" dirty="0"/>
              <a:t> </a:t>
            </a:r>
            <a:r>
              <a:rPr lang="en-US" i="1" dirty="0" err="1"/>
              <a:t>mål</a:t>
            </a:r>
            <a:r>
              <a:rPr lang="en-US" i="1" dirty="0"/>
              <a:t> för assessment-</a:t>
            </a:r>
            <a:r>
              <a:rPr lang="en-US" i="1" dirty="0" err="1"/>
              <a:t>resultat</a:t>
            </a:r>
            <a:r>
              <a:rPr lang="en-US" i="1" dirty="0"/>
              <a:t>.</a:t>
            </a:r>
            <a:endParaRPr lang="en-US" dirty="0"/>
          </a:p>
          <a:p>
            <a:r>
              <a:rPr lang="en-SE" dirty="0"/>
              <a:t>✅ </a:t>
            </a:r>
            <a:r>
              <a:rPr lang="en-US" b="1" dirty="0" err="1"/>
              <a:t>Rätt</a:t>
            </a:r>
            <a:r>
              <a:rPr lang="en-US" b="1" dirty="0"/>
              <a:t>: Physical disk</a:t>
            </a:r>
            <a:br>
              <a:rPr lang="en-US" dirty="0"/>
            </a:br>
            <a:r>
              <a:rPr lang="en-US" i="1" dirty="0" err="1"/>
              <a:t>Fysisk</a:t>
            </a:r>
            <a:r>
              <a:rPr lang="en-US" i="1" dirty="0"/>
              <a:t> disk </a:t>
            </a:r>
            <a:r>
              <a:rPr lang="en-US" i="1" dirty="0" err="1"/>
              <a:t>är</a:t>
            </a:r>
            <a:r>
              <a:rPr lang="en-US" i="1" dirty="0"/>
              <a:t> </a:t>
            </a:r>
            <a:r>
              <a:rPr lang="en-US" i="1" dirty="0" err="1"/>
              <a:t>inget</a:t>
            </a:r>
            <a:r>
              <a:rPr lang="en-US" i="1" dirty="0"/>
              <a:t> </a:t>
            </a:r>
            <a:r>
              <a:rPr lang="en-US" i="1" dirty="0" err="1"/>
              <a:t>alternativ</a:t>
            </a:r>
            <a:r>
              <a:rPr lang="en-US" i="1" dirty="0"/>
              <a:t> </a:t>
            </a:r>
            <a:r>
              <a:rPr lang="en-US" i="1" dirty="0" err="1"/>
              <a:t>i</a:t>
            </a:r>
            <a:r>
              <a:rPr lang="en-US" i="1" dirty="0"/>
              <a:t> Azure Vulnerability Assessment.</a:t>
            </a:r>
            <a:endParaRPr lang="en-US" dirty="0"/>
          </a:p>
          <a:p>
            <a:r>
              <a:rPr lang="en-SE" dirty="0"/>
              <a:t>❌ </a:t>
            </a:r>
            <a:r>
              <a:rPr lang="en-US" b="1" dirty="0"/>
              <a:t>Fel: Log Analytics</a:t>
            </a:r>
            <a:br>
              <a:rPr lang="en-US" dirty="0"/>
            </a:br>
            <a:r>
              <a:rPr lang="en-US" i="1" dirty="0"/>
              <a:t>Log Analytics </a:t>
            </a:r>
            <a:r>
              <a:rPr lang="en-US" i="1" dirty="0" err="1"/>
              <a:t>kan</a:t>
            </a:r>
            <a:r>
              <a:rPr lang="en-US" i="1" dirty="0"/>
              <a:t> </a:t>
            </a:r>
            <a:r>
              <a:rPr lang="en-US" i="1" dirty="0" err="1"/>
              <a:t>lagra</a:t>
            </a:r>
            <a:r>
              <a:rPr lang="en-US" i="1" dirty="0"/>
              <a:t> och </a:t>
            </a:r>
            <a:r>
              <a:rPr lang="en-US" i="1" dirty="0" err="1"/>
              <a:t>analysera</a:t>
            </a:r>
            <a:r>
              <a:rPr lang="en-US" i="1" dirty="0"/>
              <a:t> </a:t>
            </a:r>
            <a:r>
              <a:rPr lang="en-US" i="1" dirty="0" err="1"/>
              <a:t>säkerhetsresultat</a:t>
            </a:r>
            <a:r>
              <a:rPr lang="en-US" i="1" dirty="0"/>
              <a:t>.</a:t>
            </a:r>
            <a:endParaRPr lang="en-US" dirty="0"/>
          </a:p>
          <a:p>
            <a:br>
              <a:rPr lang="en-US" dirty="0"/>
            </a:br>
            <a:endParaRPr lang="en-US" dirty="0"/>
          </a:p>
          <a:p>
            <a:r>
              <a:rPr lang="en-US" b="1" dirty="0"/>
              <a:t>3) Which feature automates data discovery and classification as a service?</a:t>
            </a:r>
          </a:p>
          <a:p>
            <a:r>
              <a:rPr lang="en-SE" dirty="0"/>
              <a:t>❌ </a:t>
            </a:r>
            <a:r>
              <a:rPr lang="en-US" b="1" dirty="0"/>
              <a:t>Fel: Database auditing</a:t>
            </a:r>
            <a:br>
              <a:rPr lang="en-US" dirty="0"/>
            </a:br>
            <a:r>
              <a:rPr lang="en-US" i="1" dirty="0" err="1"/>
              <a:t>Auditing</a:t>
            </a:r>
            <a:r>
              <a:rPr lang="en-US" i="1" dirty="0"/>
              <a:t> </a:t>
            </a:r>
            <a:r>
              <a:rPr lang="en-US" i="1" dirty="0" err="1"/>
              <a:t>loggar</a:t>
            </a:r>
            <a:r>
              <a:rPr lang="en-US" i="1" dirty="0"/>
              <a:t> </a:t>
            </a:r>
            <a:r>
              <a:rPr lang="en-US" i="1" dirty="0" err="1"/>
              <a:t>händelser</a:t>
            </a:r>
            <a:r>
              <a:rPr lang="en-US" i="1" dirty="0"/>
              <a:t>, </a:t>
            </a:r>
            <a:r>
              <a:rPr lang="en-US" i="1" dirty="0" err="1"/>
              <a:t>inte</a:t>
            </a:r>
            <a:r>
              <a:rPr lang="en-US" i="1" dirty="0"/>
              <a:t> </a:t>
            </a:r>
            <a:r>
              <a:rPr lang="en-US" i="1" dirty="0" err="1"/>
              <a:t>automatisk</a:t>
            </a:r>
            <a:r>
              <a:rPr lang="en-US" i="1" dirty="0"/>
              <a:t> data discovery/</a:t>
            </a:r>
            <a:r>
              <a:rPr lang="en-US" i="1" dirty="0" err="1"/>
              <a:t>klassning</a:t>
            </a:r>
            <a:r>
              <a:rPr lang="en-US" i="1" dirty="0"/>
              <a:t>.</a:t>
            </a:r>
            <a:endParaRPr lang="en-US" dirty="0"/>
          </a:p>
          <a:p>
            <a:r>
              <a:rPr lang="en-SE" dirty="0"/>
              <a:t>❌ </a:t>
            </a:r>
            <a:r>
              <a:rPr lang="en-US" b="1" dirty="0"/>
              <a:t>Fel: Dynamic Data Masking</a:t>
            </a:r>
            <a:br>
              <a:rPr lang="en-US" dirty="0"/>
            </a:br>
            <a:r>
              <a:rPr lang="en-US" i="1" dirty="0"/>
              <a:t>DDM </a:t>
            </a:r>
            <a:r>
              <a:rPr lang="en-US" i="1" dirty="0" err="1"/>
              <a:t>döljer</a:t>
            </a:r>
            <a:r>
              <a:rPr lang="en-US" i="1" dirty="0"/>
              <a:t> data vid </a:t>
            </a:r>
            <a:r>
              <a:rPr lang="en-US" i="1" dirty="0" err="1"/>
              <a:t>visning</a:t>
            </a:r>
            <a:r>
              <a:rPr lang="en-US" i="1" dirty="0"/>
              <a:t>, </a:t>
            </a:r>
            <a:r>
              <a:rPr lang="en-US" i="1" dirty="0" err="1"/>
              <a:t>inte</a:t>
            </a:r>
            <a:r>
              <a:rPr lang="en-US" i="1" dirty="0"/>
              <a:t> discovery och </a:t>
            </a:r>
            <a:r>
              <a:rPr lang="en-US" i="1" dirty="0" err="1"/>
              <a:t>klassificering</a:t>
            </a:r>
            <a:r>
              <a:rPr lang="en-US" i="1" dirty="0"/>
              <a:t>.</a:t>
            </a:r>
            <a:endParaRPr lang="en-US" dirty="0"/>
          </a:p>
          <a:p>
            <a:r>
              <a:rPr lang="en-SE" dirty="0"/>
              <a:t>✅ </a:t>
            </a:r>
            <a:r>
              <a:rPr lang="en-US" b="1" dirty="0" err="1"/>
              <a:t>Rätt</a:t>
            </a:r>
            <a:r>
              <a:rPr lang="en-US" b="1" dirty="0"/>
              <a:t>: Azure Purview</a:t>
            </a:r>
            <a:br>
              <a:rPr lang="en-US" dirty="0"/>
            </a:br>
            <a:r>
              <a:rPr lang="en-US" i="1" dirty="0" err="1"/>
              <a:t>Purview</a:t>
            </a:r>
            <a:r>
              <a:rPr lang="en-US" i="1" dirty="0"/>
              <a:t> </a:t>
            </a:r>
            <a:r>
              <a:rPr lang="en-US" i="1" dirty="0" err="1"/>
              <a:t>skannar</a:t>
            </a:r>
            <a:r>
              <a:rPr lang="en-US" i="1" dirty="0"/>
              <a:t> </a:t>
            </a:r>
            <a:r>
              <a:rPr lang="en-US" i="1" dirty="0" err="1"/>
              <a:t>datakällor</a:t>
            </a:r>
            <a:r>
              <a:rPr lang="en-US" i="1" dirty="0"/>
              <a:t> och </a:t>
            </a:r>
            <a:r>
              <a:rPr lang="en-US" i="1" dirty="0" err="1"/>
              <a:t>klassificerar</a:t>
            </a:r>
            <a:r>
              <a:rPr lang="en-US" i="1" dirty="0"/>
              <a:t> data </a:t>
            </a:r>
            <a:r>
              <a:rPr lang="en-US" i="1" dirty="0" err="1"/>
              <a:t>automatiskt</a:t>
            </a:r>
            <a:r>
              <a:rPr lang="en-US" i="1" dirty="0"/>
              <a:t>.</a:t>
            </a:r>
            <a:endParaRPr lang="en-US" dirty="0"/>
          </a:p>
          <a:p>
            <a:br>
              <a:rPr lang="en-US" dirty="0"/>
            </a:br>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0BAEFD6-11D1-4D8A-9979-B6CE76CDD061}"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67</a:t>
            </a:fld>
            <a:endParaRPr lang="en-US"/>
          </a:p>
        </p:txBody>
      </p:sp>
    </p:spTree>
    <p:extLst>
      <p:ext uri="{BB962C8B-B14F-4D97-AF65-F5344CB8AC3E}">
        <p14:creationId xmlns:p14="http://schemas.microsoft.com/office/powerpoint/2010/main" val="194494472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en-US" altLang="zh-CN" sz="880" dirty="0"/>
              <a:t>https://microsoftlearning.github.io/dp-300-database-administrator/Instructions/Labs/05-enable-sql-defender-and-data-classification.html</a:t>
            </a:r>
          </a:p>
        </p:txBody>
      </p:sp>
      <p:sp>
        <p:nvSpPr>
          <p:cNvPr id="4" name="页眉占位符 3"/>
          <p:cNvSpPr>
            <a:spLocks noGrp="1"/>
          </p:cNvSpPr>
          <p:nvPr>
            <p:ph type="hdr" sz="quarter"/>
          </p:nvPr>
        </p:nvSpPr>
        <p:spPr/>
        <p:txBody>
          <a:bodyPr/>
          <a:lstStyle/>
          <a:p>
            <a:endParaRPr lang="en-US"/>
          </a:p>
        </p:txBody>
      </p:sp>
      <p:sp>
        <p:nvSpPr>
          <p:cNvPr id="5" name="页脚占位符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日期占位符 5"/>
          <p:cNvSpPr>
            <a:spLocks noGrp="1"/>
          </p:cNvSpPr>
          <p:nvPr>
            <p:ph type="dt" idx="1"/>
          </p:nvPr>
        </p:nvSpPr>
        <p:spPr/>
        <p:txBody>
          <a:bodyPr/>
          <a:lstStyle/>
          <a:p>
            <a:fld id="{487F0F50-05DD-460E-8A9A-1BF678AAB8AB}" type="datetime8">
              <a:rPr lang="en-US" smtClean="0"/>
              <a:t>2/9/2026 8:13 PM</a:t>
            </a:fld>
            <a:endParaRPr lang="en-US"/>
          </a:p>
        </p:txBody>
      </p:sp>
      <p:sp>
        <p:nvSpPr>
          <p:cNvPr id="7" name="灯片编号占位符 6"/>
          <p:cNvSpPr>
            <a:spLocks noGrp="1"/>
          </p:cNvSpPr>
          <p:nvPr>
            <p:ph type="sldNum" sz="quarter" idx="5"/>
          </p:nvPr>
        </p:nvSpPr>
        <p:spPr/>
        <p:txBody>
          <a:bodyPr/>
          <a:lstStyle/>
          <a:p>
            <a:fld id="{B4008EB6-D09E-4580-8CD6-DDB14511944F}" type="slidenum">
              <a:rPr lang="en-US" smtClean="0"/>
              <a:pPr/>
              <a:t>68</a:t>
            </a:fld>
            <a:endParaRPr lang="en-US"/>
          </a:p>
        </p:txBody>
      </p:sp>
    </p:spTree>
    <p:extLst>
      <p:ext uri="{BB962C8B-B14F-4D97-AF65-F5344CB8AC3E}">
        <p14:creationId xmlns:p14="http://schemas.microsoft.com/office/powerpoint/2010/main" val="29101442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7AFD488-69C6-44F4-B9F6-1CFC35E35FF2}"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69</a:t>
            </a:fld>
            <a:endParaRPr lang="en-US"/>
          </a:p>
        </p:txBody>
      </p:sp>
    </p:spTree>
    <p:extLst>
      <p:ext uri="{BB962C8B-B14F-4D97-AF65-F5344CB8AC3E}">
        <p14:creationId xmlns:p14="http://schemas.microsoft.com/office/powerpoint/2010/main" val="86004608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7AFD488-69C6-44F4-B9F6-1CFC35E35FF2}"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70</a:t>
            </a:fld>
            <a:endParaRPr lang="en-US"/>
          </a:p>
        </p:txBody>
      </p:sp>
    </p:spTree>
    <p:extLst>
      <p:ext uri="{BB962C8B-B14F-4D97-AF65-F5344CB8AC3E}">
        <p14:creationId xmlns:p14="http://schemas.microsoft.com/office/powerpoint/2010/main" val="38462551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7AFD488-69C6-44F4-B9F6-1CFC35E35FF2}" type="datetime8">
              <a:rPr lang="en-US" smtClean="0"/>
              <a:t>2/9/2026 8:13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71</a:t>
            </a:fld>
            <a:endParaRPr lang="en-US"/>
          </a:p>
        </p:txBody>
      </p:sp>
    </p:spTree>
    <p:extLst>
      <p:ext uri="{BB962C8B-B14F-4D97-AF65-F5344CB8AC3E}">
        <p14:creationId xmlns:p14="http://schemas.microsoft.com/office/powerpoint/2010/main" val="36523318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40716483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34500379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11013474" cy="343171"/>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dirty="0"/>
              <a:t>Click to edit Master text styles</a:t>
            </a:r>
          </a:p>
        </p:txBody>
      </p:sp>
    </p:spTree>
    <p:extLst>
      <p:ext uri="{BB962C8B-B14F-4D97-AF65-F5344CB8AC3E}">
        <p14:creationId xmlns:p14="http://schemas.microsoft.com/office/powerpoint/2010/main" val="21451267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42347493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416450072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dirty="0"/>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32271683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011460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85690660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dirty="0"/>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0740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975615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998196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16643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555354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55641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dirty="0"/>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6739568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dirty="0"/>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dirty="0"/>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3"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dirty="0"/>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7"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3"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28901271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9077606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400558326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123664101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23911073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193671681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dirty="0"/>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23625465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492443"/>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dirty="0"/>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25195583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dirty="0"/>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0715165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34690598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31826226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7243823"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7241633" cy="830997"/>
          </a:xfrm>
          <a:prstGeom prst="rect">
            <a:avLst/>
          </a:prstGeom>
        </p:spPr>
        <p:txBody>
          <a:bodyPr wrap="square">
            <a:spAutoFit/>
          </a:bodyPr>
          <a:lstStyle>
            <a:lvl1pPr marL="225425" indent="-225425">
              <a:buFont typeface="Arial" panose="020B0604020202020204" pitchFamily="34" charset="0"/>
              <a:buChar char="•"/>
              <a:defRPr sz="1800">
                <a:solidFill>
                  <a:schemeClr val="tx1"/>
                </a:solidFill>
              </a:defRPr>
            </a:lvl1pPr>
            <a:lvl2pPr marL="511175" indent="-166688">
              <a:buFont typeface="Arial" panose="020B0604020202020204" pitchFamily="34" charset="0"/>
              <a:buChar char="•"/>
              <a:defRPr sz="1600">
                <a:solidFill>
                  <a:schemeClr val="tx1"/>
                </a:solidFill>
              </a:defRPr>
            </a:lvl2pPr>
            <a:lvl3pPr marL="747713" indent="-177800">
              <a:buFont typeface="Arial" panose="020B0604020202020204" pitchFamily="34" charset="0"/>
              <a:buChar char="•"/>
              <a:defRPr sz="1400">
                <a:solidFill>
                  <a:schemeClr val="tx1"/>
                </a:solidFill>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75418418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8253923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7243823" cy="276999"/>
          </a:xfrm>
          <a:prstGeom prst="rect">
            <a:avLst/>
          </a:prstGeom>
        </p:spPr>
        <p:txBody>
          <a:bodyPr anchor="t"/>
          <a:lstStyle>
            <a:lvl1pPr marL="0" indent="0">
              <a:spcBef>
                <a:spcPts val="0"/>
              </a:spcBef>
              <a:buNone/>
              <a:defRPr sz="1800">
                <a:solidFill>
                  <a:schemeClr val="tx1"/>
                </a:solidFill>
                <a:latin typeface="+mj-lt"/>
              </a:defRPr>
            </a:lvl1pPr>
          </a:lstStyle>
          <a:p>
            <a:pPr lvl="0"/>
            <a:r>
              <a:rPr lang="en-US" dirty="0"/>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7241633" cy="830997"/>
          </a:xfrm>
          <a:prstGeom prst="rect">
            <a:avLst/>
          </a:prstGeom>
        </p:spPr>
        <p:txBody>
          <a:bodyPr wrap="square">
            <a:spAutoFit/>
          </a:bodyPr>
          <a:lstStyle>
            <a:lvl1pPr marL="231775" indent="-231775">
              <a:buFont typeface="Arial" panose="020B0604020202020204" pitchFamily="34" charset="0"/>
              <a:buChar char="•"/>
              <a:defRPr sz="1800">
                <a:solidFill>
                  <a:schemeClr val="tx1"/>
                </a:solidFill>
              </a:defRPr>
            </a:lvl1pPr>
            <a:lvl2pPr marL="566738" indent="-219075">
              <a:buFont typeface="Arial" panose="020B0604020202020204" pitchFamily="34" charset="0"/>
              <a:buChar char="•"/>
              <a:defRPr sz="1600">
                <a:solidFill>
                  <a:schemeClr val="tx1"/>
                </a:solidFill>
              </a:defRPr>
            </a:lvl2pPr>
            <a:lvl3pPr marL="741363" indent="-115888">
              <a:buFont typeface="Arial" panose="020B0604020202020204" pitchFamily="34" charset="0"/>
              <a:buChar char="•"/>
              <a:defRPr sz="1400">
                <a:solidFill>
                  <a:schemeClr val="tx1"/>
                </a:solidFill>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1015663"/>
          </a:xfrm>
          <a:prstGeom prst="rect">
            <a:avLst/>
          </a:prstGeom>
        </p:spPr>
        <p:txBody>
          <a:bodyPr anchor="t"/>
          <a:lstStyle>
            <a:lvl1pPr marL="0" indent="0">
              <a:spcBef>
                <a:spcPts val="0"/>
              </a:spcBef>
              <a:buNone/>
              <a:defRPr sz="2200">
                <a:solidFill>
                  <a:schemeClr val="tx1"/>
                </a:solidFill>
                <a:latin typeface="+mj-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44319692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34318749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290414306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893763"/>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7009008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893763"/>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272984411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314425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8069399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spTree>
    <p:extLst>
      <p:ext uri="{BB962C8B-B14F-4D97-AF65-F5344CB8AC3E}">
        <p14:creationId xmlns:p14="http://schemas.microsoft.com/office/powerpoint/2010/main" val="11058388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31742833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spTree>
    <p:extLst>
      <p:ext uri="{BB962C8B-B14F-4D97-AF65-F5344CB8AC3E}">
        <p14:creationId xmlns:p14="http://schemas.microsoft.com/office/powerpoint/2010/main" val="1825247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9431246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2786208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60356863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7417511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5183564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8576887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dirty="0"/>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41890950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0642821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2514974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2711101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6"/>
            <a:ext cx="8193024" cy="492443"/>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75510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11011602" cy="492443"/>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220050957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6"/>
            <a:ext cx="8193024" cy="492443"/>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759825563"/>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6992526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42891771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147" name="Group 146">
            <a:extLst>
              <a:ext uri="{FF2B5EF4-FFF2-40B4-BE49-F238E27FC236}">
                <a16:creationId xmlns:a16="http://schemas.microsoft.com/office/drawing/2014/main" id="{A066C27D-9E85-728F-F255-3A731EC66D25}"/>
              </a:ext>
            </a:extLst>
          </p:cNvPr>
          <p:cNvGrpSpPr/>
          <p:nvPr userDrawn="1"/>
        </p:nvGrpSpPr>
        <p:grpSpPr>
          <a:xfrm rot="5400000">
            <a:off x="10666449" y="3959962"/>
            <a:ext cx="4597400" cy="1248872"/>
            <a:chOff x="2983209" y="3959962"/>
            <a:chExt cx="4597400" cy="1248872"/>
          </a:xfrm>
        </p:grpSpPr>
        <p:grpSp>
          <p:nvGrpSpPr>
            <p:cNvPr id="123" name="Group 122">
              <a:extLst>
                <a:ext uri="{FF2B5EF4-FFF2-40B4-BE49-F238E27FC236}">
                  <a16:creationId xmlns:a16="http://schemas.microsoft.com/office/drawing/2014/main" id="{D46592D0-C1CD-74A0-2C7F-3337241D77DB}"/>
                </a:ext>
              </a:extLst>
            </p:cNvPr>
            <p:cNvGrpSpPr/>
            <p:nvPr userDrawn="1"/>
          </p:nvGrpSpPr>
          <p:grpSpPr>
            <a:xfrm>
              <a:off x="4130985" y="4976997"/>
              <a:ext cx="1122349" cy="231837"/>
              <a:chOff x="4135734" y="4976997"/>
              <a:chExt cx="1120775" cy="231837"/>
            </a:xfrm>
          </p:grpSpPr>
          <p:sp>
            <p:nvSpPr>
              <p:cNvPr id="53" name="Rectangle 52">
                <a:extLst>
                  <a:ext uri="{FF2B5EF4-FFF2-40B4-BE49-F238E27FC236}">
                    <a16:creationId xmlns:a16="http://schemas.microsoft.com/office/drawing/2014/main" id="{F91CEFFA-747B-15D9-6F1F-08C1FB0DC7A0}"/>
                  </a:ext>
                </a:extLst>
              </p:cNvPr>
              <p:cNvSpPr>
                <a:spLocks noChangeArrowheads="1"/>
              </p:cNvSpPr>
              <p:nvPr/>
            </p:nvSpPr>
            <p:spPr bwMode="auto">
              <a:xfrm>
                <a:off x="4135734" y="4976997"/>
                <a:ext cx="1120775" cy="231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3">
                <a:extLst>
                  <a:ext uri="{FF2B5EF4-FFF2-40B4-BE49-F238E27FC236}">
                    <a16:creationId xmlns:a16="http://schemas.microsoft.com/office/drawing/2014/main" id="{F5FF078E-F971-F049-5B6C-211FC500886D}"/>
                  </a:ext>
                </a:extLst>
              </p:cNvPr>
              <p:cNvSpPr>
                <a:spLocks noChangeArrowheads="1"/>
              </p:cNvSpPr>
              <p:nvPr userDrawn="1"/>
            </p:nvSpPr>
            <p:spPr bwMode="auto">
              <a:xfrm>
                <a:off x="4135734"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88C14EA5-9927-8FE5-49F3-BE053411837B}"/>
                </a:ext>
              </a:extLst>
            </p:cNvPr>
            <p:cNvGrpSpPr/>
            <p:nvPr userDrawn="1"/>
          </p:nvGrpSpPr>
          <p:grpSpPr>
            <a:xfrm>
              <a:off x="2989559" y="4976997"/>
              <a:ext cx="1122349" cy="231837"/>
              <a:chOff x="2989559" y="4976997"/>
              <a:chExt cx="1120775" cy="231837"/>
            </a:xfrm>
          </p:grpSpPr>
          <p:sp>
            <p:nvSpPr>
              <p:cNvPr id="68" name="Rectangle 62">
                <a:extLst>
                  <a:ext uri="{FF2B5EF4-FFF2-40B4-BE49-F238E27FC236}">
                    <a16:creationId xmlns:a16="http://schemas.microsoft.com/office/drawing/2014/main" id="{49F83C97-7FC0-CE8B-F534-3CC32978B0EE}"/>
                  </a:ext>
                </a:extLst>
              </p:cNvPr>
              <p:cNvSpPr>
                <a:spLocks noChangeArrowheads="1"/>
              </p:cNvSpPr>
              <p:nvPr/>
            </p:nvSpPr>
            <p:spPr bwMode="auto">
              <a:xfrm>
                <a:off x="2989559" y="4976997"/>
                <a:ext cx="1120775" cy="231837"/>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78E83E2F-0F4E-6A6F-EE19-272FC88EAB11}"/>
                  </a:ext>
                </a:extLst>
              </p:cNvPr>
              <p:cNvSpPr>
                <a:spLocks noChangeArrowheads="1"/>
              </p:cNvSpPr>
              <p:nvPr userDrawn="1"/>
            </p:nvSpPr>
            <p:spPr bwMode="auto">
              <a:xfrm>
                <a:off x="2989559"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Rectangle 69">
              <a:extLst>
                <a:ext uri="{FF2B5EF4-FFF2-40B4-BE49-F238E27FC236}">
                  <a16:creationId xmlns:a16="http://schemas.microsoft.com/office/drawing/2014/main" id="{A174F70B-619A-757B-59BD-43117F92D6E7}"/>
                </a:ext>
              </a:extLst>
            </p:cNvPr>
            <p:cNvSpPr>
              <a:spLocks noChangeArrowheads="1"/>
            </p:cNvSpPr>
            <p:nvPr/>
          </p:nvSpPr>
          <p:spPr bwMode="auto">
            <a:xfrm>
              <a:off x="6424129" y="4724853"/>
              <a:ext cx="1122349" cy="231837"/>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21B60493-3B49-BCF6-0390-7956AC41AEDD}"/>
                </a:ext>
              </a:extLst>
            </p:cNvPr>
            <p:cNvSpPr>
              <a:spLocks noChangeArrowheads="1"/>
            </p:cNvSpPr>
            <p:nvPr/>
          </p:nvSpPr>
          <p:spPr bwMode="auto">
            <a:xfrm>
              <a:off x="5282703" y="4724853"/>
              <a:ext cx="1122349" cy="231837"/>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5">
              <a:extLst>
                <a:ext uri="{FF2B5EF4-FFF2-40B4-BE49-F238E27FC236}">
                  <a16:creationId xmlns:a16="http://schemas.microsoft.com/office/drawing/2014/main" id="{0C0652BC-3B51-F453-BE75-C357C366671E}"/>
                </a:ext>
              </a:extLst>
            </p:cNvPr>
            <p:cNvSpPr>
              <a:spLocks noChangeArrowheads="1"/>
            </p:cNvSpPr>
            <p:nvPr/>
          </p:nvSpPr>
          <p:spPr bwMode="auto">
            <a:xfrm>
              <a:off x="4130985" y="4724853"/>
              <a:ext cx="1122349" cy="2318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71861493-157F-15D0-0E4D-F0C5B054784B}"/>
                </a:ext>
              </a:extLst>
            </p:cNvPr>
            <p:cNvSpPr>
              <a:spLocks noChangeArrowheads="1"/>
            </p:cNvSpPr>
            <p:nvPr/>
          </p:nvSpPr>
          <p:spPr bwMode="auto">
            <a:xfrm>
              <a:off x="2989559" y="4724853"/>
              <a:ext cx="1122349" cy="2318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B8026A31-A3BD-9111-4B93-2D98FA1FA662}"/>
                </a:ext>
              </a:extLst>
            </p:cNvPr>
            <p:cNvSpPr>
              <a:spLocks noChangeArrowheads="1"/>
            </p:cNvSpPr>
            <p:nvPr/>
          </p:nvSpPr>
          <p:spPr bwMode="auto">
            <a:xfrm>
              <a:off x="4130985" y="4479479"/>
              <a:ext cx="1122349" cy="231837"/>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2482639C-6DA9-6072-B023-A0B3231990B3}"/>
                </a:ext>
              </a:extLst>
            </p:cNvPr>
            <p:cNvSpPr>
              <a:spLocks noChangeArrowheads="1"/>
            </p:cNvSpPr>
            <p:nvPr/>
          </p:nvSpPr>
          <p:spPr bwMode="auto">
            <a:xfrm>
              <a:off x="2989559" y="4479479"/>
              <a:ext cx="1122349" cy="231837"/>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4E6D1934-44C4-DE10-FEF5-98A7D62D1701}"/>
                </a:ext>
              </a:extLst>
            </p:cNvPr>
            <p:cNvSpPr>
              <a:spLocks noChangeArrowheads="1"/>
            </p:cNvSpPr>
            <p:nvPr/>
          </p:nvSpPr>
          <p:spPr bwMode="auto">
            <a:xfrm>
              <a:off x="6424129" y="4479479"/>
              <a:ext cx="1122349" cy="23183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4978831E-F211-2FDD-D3E9-F0DAB7B13A82}"/>
                </a:ext>
              </a:extLst>
            </p:cNvPr>
            <p:cNvSpPr>
              <a:spLocks noChangeArrowheads="1"/>
            </p:cNvSpPr>
            <p:nvPr/>
          </p:nvSpPr>
          <p:spPr bwMode="auto">
            <a:xfrm>
              <a:off x="5282703" y="4479479"/>
              <a:ext cx="1122349" cy="231837"/>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8">
              <a:extLst>
                <a:ext uri="{FF2B5EF4-FFF2-40B4-BE49-F238E27FC236}">
                  <a16:creationId xmlns:a16="http://schemas.microsoft.com/office/drawing/2014/main" id="{480715EE-428F-E0CF-1D68-C2DE1BD375A0}"/>
                </a:ext>
              </a:extLst>
            </p:cNvPr>
            <p:cNvSpPr>
              <a:spLocks noChangeArrowheads="1"/>
            </p:cNvSpPr>
            <p:nvPr/>
          </p:nvSpPr>
          <p:spPr bwMode="auto">
            <a:xfrm>
              <a:off x="4130985" y="4235797"/>
              <a:ext cx="1122349" cy="231837"/>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C39CC427-FB3C-D2FE-003B-943C483B612D}"/>
                </a:ext>
              </a:extLst>
            </p:cNvPr>
            <p:cNvSpPr>
              <a:spLocks noChangeArrowheads="1"/>
            </p:cNvSpPr>
            <p:nvPr/>
          </p:nvSpPr>
          <p:spPr bwMode="auto">
            <a:xfrm>
              <a:off x="2989559" y="4235797"/>
              <a:ext cx="1122349" cy="231837"/>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F3144CCC-4AD3-B1CD-BCE7-C1FAA5A50B2F}"/>
                </a:ext>
              </a:extLst>
            </p:cNvPr>
            <p:cNvSpPr>
              <a:spLocks noChangeArrowheads="1"/>
            </p:cNvSpPr>
            <p:nvPr/>
          </p:nvSpPr>
          <p:spPr bwMode="auto">
            <a:xfrm>
              <a:off x="6424129" y="4235797"/>
              <a:ext cx="1122349" cy="2318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93">
              <a:extLst>
                <a:ext uri="{FF2B5EF4-FFF2-40B4-BE49-F238E27FC236}">
                  <a16:creationId xmlns:a16="http://schemas.microsoft.com/office/drawing/2014/main" id="{77ABFAA8-52C9-1BB4-FA13-DDB01E80488F}"/>
                </a:ext>
              </a:extLst>
            </p:cNvPr>
            <p:cNvSpPr>
              <a:spLocks noChangeArrowheads="1"/>
            </p:cNvSpPr>
            <p:nvPr/>
          </p:nvSpPr>
          <p:spPr bwMode="auto">
            <a:xfrm>
              <a:off x="5282703" y="4235797"/>
              <a:ext cx="1122349" cy="231837"/>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extLst>
                <a:ext uri="{FF2B5EF4-FFF2-40B4-BE49-F238E27FC236}">
                  <a16:creationId xmlns:a16="http://schemas.microsoft.com/office/drawing/2014/main" id="{7137B142-8F3E-888F-77BD-B3E785F3AC91}"/>
                </a:ext>
              </a:extLst>
            </p:cNvPr>
            <p:cNvSpPr>
              <a:spLocks noChangeAspect="1" noChangeArrowheads="1" noTextEdit="1"/>
            </p:cNvSpPr>
            <p:nvPr userDrawn="1"/>
          </p:nvSpPr>
          <p:spPr bwMode="auto">
            <a:xfrm>
              <a:off x="2983209" y="3959962"/>
              <a:ext cx="4597400" cy="124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38" name="Group 137">
              <a:extLst>
                <a:ext uri="{FF2B5EF4-FFF2-40B4-BE49-F238E27FC236}">
                  <a16:creationId xmlns:a16="http://schemas.microsoft.com/office/drawing/2014/main" id="{62AC6996-0BBA-C1F2-BEEF-A233569FAD65}"/>
                </a:ext>
              </a:extLst>
            </p:cNvPr>
            <p:cNvGrpSpPr/>
            <p:nvPr userDrawn="1"/>
          </p:nvGrpSpPr>
          <p:grpSpPr>
            <a:xfrm>
              <a:off x="4161941" y="4724853"/>
              <a:ext cx="208390" cy="208938"/>
              <a:chOff x="4150022" y="4707931"/>
              <a:chExt cx="208390" cy="208938"/>
            </a:xfrm>
          </p:grpSpPr>
          <p:sp>
            <p:nvSpPr>
              <p:cNvPr id="37" name="Rectangle 36">
                <a:extLst>
                  <a:ext uri="{FF2B5EF4-FFF2-40B4-BE49-F238E27FC236}">
                    <a16:creationId xmlns:a16="http://schemas.microsoft.com/office/drawing/2014/main" id="{7592392A-18BB-F649-4618-76E955415614}"/>
                  </a:ext>
                </a:extLst>
              </p:cNvPr>
              <p:cNvSpPr>
                <a:spLocks noChangeArrowheads="1"/>
              </p:cNvSpPr>
              <p:nvPr userDrawn="1"/>
            </p:nvSpPr>
            <p:spPr bwMode="auto">
              <a:xfrm>
                <a:off x="41500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B3BB"/>
                    </a:solidFill>
                    <a:effectLst/>
                    <a:latin typeface="Segoe UI Black" panose="020B0A02040204020203" pitchFamily="34" charset="0"/>
                  </a:rPr>
                  <a:t>A</a:t>
                </a:r>
                <a:endParaRPr kumimoji="0" lang="en-US" altLang="en-US" sz="1800" b="0" i="0" u="none" strike="noStrike" cap="none" normalizeH="0" baseline="0" dirty="0">
                  <a:ln>
                    <a:noFill/>
                  </a:ln>
                  <a:solidFill>
                    <a:srgbClr val="FFB3BB"/>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365ABF78-0E45-DAD9-5676-2EC9DD3CD295}"/>
                  </a:ext>
                </a:extLst>
              </p:cNvPr>
              <p:cNvSpPr>
                <a:spLocks noChangeArrowheads="1"/>
              </p:cNvSpPr>
              <p:nvPr userDrawn="1"/>
            </p:nvSpPr>
            <p:spPr bwMode="auto">
              <a:xfrm>
                <a:off x="4253209"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68310E1A-F13F-7183-49F9-75ECFB436962}"/>
                  </a:ext>
                </a:extLst>
              </p:cNvPr>
              <p:cNvSpPr>
                <a:spLocks noChangeArrowheads="1"/>
              </p:cNvSpPr>
              <p:nvPr userDrawn="1"/>
            </p:nvSpPr>
            <p:spPr bwMode="auto">
              <a:xfrm>
                <a:off x="4150022" y="4839925"/>
                <a:ext cx="20839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CC9F93BD-8E78-4AF6-CBF6-40F69BE0EC42}"/>
                </a:ext>
              </a:extLst>
            </p:cNvPr>
            <p:cNvGrpSpPr/>
            <p:nvPr userDrawn="1"/>
          </p:nvGrpSpPr>
          <p:grpSpPr>
            <a:xfrm>
              <a:off x="4161941" y="4235797"/>
              <a:ext cx="209994" cy="207246"/>
              <a:chOff x="4150022" y="4220567"/>
              <a:chExt cx="209994" cy="207246"/>
            </a:xfrm>
          </p:grpSpPr>
          <p:sp>
            <p:nvSpPr>
              <p:cNvPr id="50" name="Rectangle 49">
                <a:extLst>
                  <a:ext uri="{FF2B5EF4-FFF2-40B4-BE49-F238E27FC236}">
                    <a16:creationId xmlns:a16="http://schemas.microsoft.com/office/drawing/2014/main" id="{889CC2DF-20EF-2163-86E0-DEC66DA62FB6}"/>
                  </a:ext>
                </a:extLst>
              </p:cNvPr>
              <p:cNvSpPr>
                <a:spLocks noChangeArrowheads="1"/>
              </p:cNvSpPr>
              <p:nvPr userDrawn="1"/>
            </p:nvSpPr>
            <p:spPr bwMode="auto">
              <a:xfrm>
                <a:off x="41500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3262F"/>
                    </a:solidFill>
                    <a:effectLst/>
                    <a:latin typeface="Segoe UI Black" panose="020B0A02040204020203" pitchFamily="34" charset="0"/>
                  </a:rPr>
                  <a:t>A</a:t>
                </a:r>
                <a:endParaRPr kumimoji="0" lang="en-US" altLang="en-US" sz="1800" b="0" i="0" u="none" strike="noStrike" cap="none" normalizeH="0" baseline="0" dirty="0">
                  <a:ln>
                    <a:noFill/>
                  </a:ln>
                  <a:solidFill>
                    <a:srgbClr val="73262F"/>
                  </a:solidFill>
                  <a:effectLst/>
                  <a:latin typeface="Arial" panose="020B0604020202020204" pitchFamily="34" charset="0"/>
                </a:endParaRPr>
              </a:p>
            </p:txBody>
          </p:sp>
          <p:sp>
            <p:nvSpPr>
              <p:cNvPr id="51" name="Rectangle 50">
                <a:extLst>
                  <a:ext uri="{FF2B5EF4-FFF2-40B4-BE49-F238E27FC236}">
                    <a16:creationId xmlns:a16="http://schemas.microsoft.com/office/drawing/2014/main" id="{1E420085-C71E-ECCF-AF31-48FA8297D0D5}"/>
                  </a:ext>
                </a:extLst>
              </p:cNvPr>
              <p:cNvSpPr>
                <a:spLocks noChangeArrowheads="1"/>
              </p:cNvSpPr>
              <p:nvPr userDrawn="1"/>
            </p:nvSpPr>
            <p:spPr bwMode="auto">
              <a:xfrm>
                <a:off x="4253209"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2" name="Rectangle 51">
                <a:extLst>
                  <a:ext uri="{FF2B5EF4-FFF2-40B4-BE49-F238E27FC236}">
                    <a16:creationId xmlns:a16="http://schemas.microsoft.com/office/drawing/2014/main" id="{C7D4161B-14DB-3C6F-49FA-0E641FA97E10}"/>
                  </a:ext>
                </a:extLst>
              </p:cNvPr>
              <p:cNvSpPr>
                <a:spLocks noChangeArrowheads="1"/>
              </p:cNvSpPr>
              <p:nvPr userDrawn="1"/>
            </p:nvSpPr>
            <p:spPr bwMode="auto">
              <a:xfrm>
                <a:off x="4150022" y="4350869"/>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FFB3BB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55" name="Rectangle 54">
              <a:extLst>
                <a:ext uri="{FF2B5EF4-FFF2-40B4-BE49-F238E27FC236}">
                  <a16:creationId xmlns:a16="http://schemas.microsoft.com/office/drawing/2014/main" id="{FF982A3D-0487-1A0D-A037-144D9914DC61}"/>
                </a:ext>
              </a:extLst>
            </p:cNvPr>
            <p:cNvSpPr>
              <a:spLocks noChangeArrowheads="1"/>
            </p:cNvSpPr>
            <p:nvPr userDrawn="1"/>
          </p:nvSpPr>
          <p:spPr bwMode="auto">
            <a:xfrm>
              <a:off x="4161941" y="4998428"/>
              <a:ext cx="1923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FFFFFF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35" name="Group 134">
              <a:extLst>
                <a:ext uri="{FF2B5EF4-FFF2-40B4-BE49-F238E27FC236}">
                  <a16:creationId xmlns:a16="http://schemas.microsoft.com/office/drawing/2014/main" id="{94DC77AE-A152-25B2-6C03-68D92DF002A1}"/>
                </a:ext>
              </a:extLst>
            </p:cNvPr>
            <p:cNvGrpSpPr/>
            <p:nvPr userDrawn="1"/>
          </p:nvGrpSpPr>
          <p:grpSpPr>
            <a:xfrm>
              <a:off x="3020515" y="4479479"/>
              <a:ext cx="209994" cy="208939"/>
              <a:chOff x="3003847" y="4465941"/>
              <a:chExt cx="209994" cy="208939"/>
            </a:xfrm>
          </p:grpSpPr>
          <p:sp>
            <p:nvSpPr>
              <p:cNvPr id="57" name="Rectangle 51">
                <a:extLst>
                  <a:ext uri="{FF2B5EF4-FFF2-40B4-BE49-F238E27FC236}">
                    <a16:creationId xmlns:a16="http://schemas.microsoft.com/office/drawing/2014/main" id="{895F5902-BFBD-125B-3FEB-4CBC9AC0F8DC}"/>
                  </a:ext>
                </a:extLst>
              </p:cNvPr>
              <p:cNvSpPr>
                <a:spLocks noChangeArrowheads="1"/>
              </p:cNvSpPr>
              <p:nvPr userDrawn="1"/>
            </p:nvSpPr>
            <p:spPr bwMode="auto">
              <a:xfrm>
                <a:off x="3003847"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latin typeface="Segoe UI Black" panose="020B0A02040204020203" pitchFamily="34" charset="0"/>
                  </a:rPr>
                  <a:t>A</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103F56FC-3C85-D11C-15B5-5B86752DF541}"/>
                  </a:ext>
                </a:extLst>
              </p:cNvPr>
              <p:cNvSpPr>
                <a:spLocks noChangeArrowheads="1"/>
              </p:cNvSpPr>
              <p:nvPr userDrawn="1"/>
            </p:nvSpPr>
            <p:spPr bwMode="auto">
              <a:xfrm>
                <a:off x="31086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1326CD1E-7B9A-8A72-C172-F4E85177A8BD}"/>
                  </a:ext>
                </a:extLst>
              </p:cNvPr>
              <p:cNvSpPr>
                <a:spLocks noChangeArrowheads="1"/>
              </p:cNvSpPr>
              <p:nvPr userDrawn="1"/>
            </p:nvSpPr>
            <p:spPr bwMode="auto">
              <a:xfrm>
                <a:off x="3003847" y="4597936"/>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grpSp>
        <p:grpSp>
          <p:nvGrpSpPr>
            <p:cNvPr id="137" name="Group 136">
              <a:extLst>
                <a:ext uri="{FF2B5EF4-FFF2-40B4-BE49-F238E27FC236}">
                  <a16:creationId xmlns:a16="http://schemas.microsoft.com/office/drawing/2014/main" id="{4CA32E28-13DC-C098-2609-0F749347B3A0}"/>
                </a:ext>
              </a:extLst>
            </p:cNvPr>
            <p:cNvGrpSpPr/>
            <p:nvPr userDrawn="1"/>
          </p:nvGrpSpPr>
          <p:grpSpPr>
            <a:xfrm>
              <a:off x="3020515" y="4724853"/>
              <a:ext cx="221214" cy="208938"/>
              <a:chOff x="3003847" y="4707931"/>
              <a:chExt cx="221214" cy="208938"/>
            </a:xfrm>
          </p:grpSpPr>
          <p:sp>
            <p:nvSpPr>
              <p:cNvPr id="61" name="Rectangle 55">
                <a:extLst>
                  <a:ext uri="{FF2B5EF4-FFF2-40B4-BE49-F238E27FC236}">
                    <a16:creationId xmlns:a16="http://schemas.microsoft.com/office/drawing/2014/main" id="{A098F3E4-C71B-9115-28EA-8418062C23D4}"/>
                  </a:ext>
                </a:extLst>
              </p:cNvPr>
              <p:cNvSpPr>
                <a:spLocks noChangeArrowheads="1"/>
              </p:cNvSpPr>
              <p:nvPr userDrawn="1"/>
            </p:nvSpPr>
            <p:spPr bwMode="auto">
              <a:xfrm>
                <a:off x="3003847"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A38B"/>
                    </a:solidFill>
                    <a:effectLst/>
                    <a:latin typeface="Segoe UI Black" panose="020B0A02040204020203" pitchFamily="34" charset="0"/>
                  </a:rPr>
                  <a:t>A</a:t>
                </a:r>
                <a:endParaRPr kumimoji="0" lang="en-US" altLang="en-US" sz="1800" b="0" i="0" u="none" strike="noStrike" cap="none" normalizeH="0" baseline="0" dirty="0">
                  <a:ln>
                    <a:noFill/>
                  </a:ln>
                  <a:solidFill>
                    <a:srgbClr val="FFA38B"/>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A144836B-B6FD-EC56-A2FF-32C97598B07E}"/>
                  </a:ext>
                </a:extLst>
              </p:cNvPr>
              <p:cNvSpPr>
                <a:spLocks noChangeArrowheads="1"/>
              </p:cNvSpPr>
              <p:nvPr userDrawn="1"/>
            </p:nvSpPr>
            <p:spPr bwMode="auto">
              <a:xfrm>
                <a:off x="31086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B4B4A50A-B0AB-3249-578C-C74260F52234}"/>
                  </a:ext>
                </a:extLst>
              </p:cNvPr>
              <p:cNvSpPr>
                <a:spLocks noChangeArrowheads="1"/>
              </p:cNvSpPr>
              <p:nvPr userDrawn="1"/>
            </p:nvSpPr>
            <p:spPr bwMode="auto">
              <a:xfrm>
                <a:off x="3003847" y="4839925"/>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3" name="Group 132">
              <a:extLst>
                <a:ext uri="{FF2B5EF4-FFF2-40B4-BE49-F238E27FC236}">
                  <a16:creationId xmlns:a16="http://schemas.microsoft.com/office/drawing/2014/main" id="{16F9D676-15C5-A3E3-4D1C-EFE6430F4CE0}"/>
                </a:ext>
              </a:extLst>
            </p:cNvPr>
            <p:cNvGrpSpPr/>
            <p:nvPr userDrawn="1"/>
          </p:nvGrpSpPr>
          <p:grpSpPr>
            <a:xfrm>
              <a:off x="3020515" y="4235797"/>
              <a:ext cx="213200" cy="207246"/>
              <a:chOff x="3003847" y="4220567"/>
              <a:chExt cx="213200" cy="207246"/>
            </a:xfrm>
          </p:grpSpPr>
          <p:grpSp>
            <p:nvGrpSpPr>
              <p:cNvPr id="132" name="Group 131">
                <a:extLst>
                  <a:ext uri="{FF2B5EF4-FFF2-40B4-BE49-F238E27FC236}">
                    <a16:creationId xmlns:a16="http://schemas.microsoft.com/office/drawing/2014/main" id="{D674A0B8-6B78-ECA6-EC9D-4CE7A3185FEF}"/>
                  </a:ext>
                </a:extLst>
              </p:cNvPr>
              <p:cNvGrpSpPr/>
              <p:nvPr userDrawn="1"/>
            </p:nvGrpSpPr>
            <p:grpSpPr>
              <a:xfrm>
                <a:off x="3003847" y="4220567"/>
                <a:ext cx="200955" cy="153888"/>
                <a:chOff x="3003847" y="4220567"/>
                <a:chExt cx="200955" cy="153888"/>
              </a:xfrm>
            </p:grpSpPr>
            <p:sp>
              <p:nvSpPr>
                <p:cNvPr id="65" name="Rectangle 59">
                  <a:extLst>
                    <a:ext uri="{FF2B5EF4-FFF2-40B4-BE49-F238E27FC236}">
                      <a16:creationId xmlns:a16="http://schemas.microsoft.com/office/drawing/2014/main" id="{A07F7F4E-CE01-4B75-1EB8-848F1A98AAC3}"/>
                    </a:ext>
                  </a:extLst>
                </p:cNvPr>
                <p:cNvSpPr>
                  <a:spLocks noChangeArrowheads="1"/>
                </p:cNvSpPr>
                <p:nvPr userDrawn="1"/>
              </p:nvSpPr>
              <p:spPr bwMode="auto">
                <a:xfrm>
                  <a:off x="3003847"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3391D"/>
                      </a:solidFill>
                      <a:effectLst/>
                      <a:latin typeface="Segoe UI Black" panose="020B0A02040204020203" pitchFamily="34" charset="0"/>
                    </a:rPr>
                    <a:t>A</a:t>
                  </a:r>
                  <a:endParaRPr kumimoji="0" lang="en-US" altLang="en-US" sz="1800" b="0" i="0" u="none" strike="noStrike" cap="none" normalizeH="0" baseline="0" dirty="0">
                    <a:ln>
                      <a:noFill/>
                    </a:ln>
                    <a:solidFill>
                      <a:srgbClr val="73391D"/>
                    </a:solidFill>
                    <a:effectLst/>
                    <a:latin typeface="Arial" panose="020B0604020202020204" pitchFamily="34" charset="0"/>
                  </a:endParaRPr>
                </a:p>
              </p:txBody>
            </p:sp>
            <p:sp>
              <p:nvSpPr>
                <p:cNvPr id="66" name="Rectangle 60">
                  <a:extLst>
                    <a:ext uri="{FF2B5EF4-FFF2-40B4-BE49-F238E27FC236}">
                      <a16:creationId xmlns:a16="http://schemas.microsoft.com/office/drawing/2014/main" id="{E90485C9-55AD-E0C2-34CA-66E40F03B73B}"/>
                    </a:ext>
                  </a:extLst>
                </p:cNvPr>
                <p:cNvSpPr>
                  <a:spLocks noChangeArrowheads="1"/>
                </p:cNvSpPr>
                <p:nvPr userDrawn="1"/>
              </p:nvSpPr>
              <p:spPr bwMode="auto">
                <a:xfrm>
                  <a:off x="31086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67" name="Rectangle 61">
                <a:extLst>
                  <a:ext uri="{FF2B5EF4-FFF2-40B4-BE49-F238E27FC236}">
                    <a16:creationId xmlns:a16="http://schemas.microsoft.com/office/drawing/2014/main" id="{A37954AB-F66D-09B1-C2BD-5ACDC4C114AF}"/>
                  </a:ext>
                </a:extLst>
              </p:cNvPr>
              <p:cNvSpPr>
                <a:spLocks noChangeArrowheads="1"/>
              </p:cNvSpPr>
              <p:nvPr userDrawn="1"/>
            </p:nvSpPr>
            <p:spPr bwMode="auto">
              <a:xfrm>
                <a:off x="3003847" y="4350869"/>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FFA38B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70" name="Rectangle 64">
              <a:extLst>
                <a:ext uri="{FF2B5EF4-FFF2-40B4-BE49-F238E27FC236}">
                  <a16:creationId xmlns:a16="http://schemas.microsoft.com/office/drawing/2014/main" id="{E6BD7DAA-1203-86EB-90AF-4CB405BBBF17}"/>
                </a:ext>
              </a:extLst>
            </p:cNvPr>
            <p:cNvSpPr>
              <a:spLocks noChangeArrowheads="1"/>
            </p:cNvSpPr>
            <p:nvPr userDrawn="1"/>
          </p:nvSpPr>
          <p:spPr bwMode="auto">
            <a:xfrm>
              <a:off x="3020515" y="4998428"/>
              <a:ext cx="20197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F4F3F5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42" name="Group 141">
              <a:extLst>
                <a:ext uri="{FF2B5EF4-FFF2-40B4-BE49-F238E27FC236}">
                  <a16:creationId xmlns:a16="http://schemas.microsoft.com/office/drawing/2014/main" id="{B78A64DE-6215-4C7D-CB69-916710B74D83}"/>
                </a:ext>
              </a:extLst>
            </p:cNvPr>
            <p:cNvGrpSpPr/>
            <p:nvPr userDrawn="1"/>
          </p:nvGrpSpPr>
          <p:grpSpPr>
            <a:xfrm>
              <a:off x="6455085" y="4479479"/>
              <a:ext cx="221214" cy="208939"/>
              <a:chOff x="6440784" y="4467633"/>
              <a:chExt cx="221214" cy="208939"/>
            </a:xfrm>
          </p:grpSpPr>
          <p:sp>
            <p:nvSpPr>
              <p:cNvPr id="72" name="Rectangle 66">
                <a:extLst>
                  <a:ext uri="{FF2B5EF4-FFF2-40B4-BE49-F238E27FC236}">
                    <a16:creationId xmlns:a16="http://schemas.microsoft.com/office/drawing/2014/main" id="{3C25E052-E70A-9985-665A-7BF72068FACC}"/>
                  </a:ext>
                </a:extLst>
              </p:cNvPr>
              <p:cNvSpPr>
                <a:spLocks noChangeArrowheads="1"/>
              </p:cNvSpPr>
              <p:nvPr userDrawn="1"/>
            </p:nvSpPr>
            <p:spPr bwMode="auto">
              <a:xfrm>
                <a:off x="6440784"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3" name="Rectangle 67">
                <a:extLst>
                  <a:ext uri="{FF2B5EF4-FFF2-40B4-BE49-F238E27FC236}">
                    <a16:creationId xmlns:a16="http://schemas.microsoft.com/office/drawing/2014/main" id="{26866EA9-D870-8B6F-E09C-4BF7BC3AEE5D}"/>
                  </a:ext>
                </a:extLst>
              </p:cNvPr>
              <p:cNvSpPr>
                <a:spLocks noChangeArrowheads="1"/>
              </p:cNvSpPr>
              <p:nvPr userDrawn="1"/>
            </p:nvSpPr>
            <p:spPr bwMode="auto">
              <a:xfrm>
                <a:off x="6545559"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4" name="Rectangle 68">
                <a:extLst>
                  <a:ext uri="{FF2B5EF4-FFF2-40B4-BE49-F238E27FC236}">
                    <a16:creationId xmlns:a16="http://schemas.microsoft.com/office/drawing/2014/main" id="{A1A5AC1F-B80A-3740-4DB5-2A2903E1FB9F}"/>
                  </a:ext>
                </a:extLst>
              </p:cNvPr>
              <p:cNvSpPr>
                <a:spLocks noChangeArrowheads="1"/>
              </p:cNvSpPr>
              <p:nvPr userDrawn="1"/>
            </p:nvSpPr>
            <p:spPr bwMode="auto">
              <a:xfrm>
                <a:off x="6440784" y="4599628"/>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grpSp>
          <p:nvGrpSpPr>
            <p:cNvPr id="144" name="Group 143">
              <a:extLst>
                <a:ext uri="{FF2B5EF4-FFF2-40B4-BE49-F238E27FC236}">
                  <a16:creationId xmlns:a16="http://schemas.microsoft.com/office/drawing/2014/main" id="{D827A894-B698-2BCA-F167-5B781D78197E}"/>
                </a:ext>
              </a:extLst>
            </p:cNvPr>
            <p:cNvGrpSpPr/>
            <p:nvPr userDrawn="1"/>
          </p:nvGrpSpPr>
          <p:grpSpPr>
            <a:xfrm>
              <a:off x="6455085" y="4724853"/>
              <a:ext cx="214802" cy="208939"/>
              <a:chOff x="6440784" y="4709623"/>
              <a:chExt cx="214802" cy="208939"/>
            </a:xfrm>
          </p:grpSpPr>
          <p:sp>
            <p:nvSpPr>
              <p:cNvPr id="76" name="Rectangle 70">
                <a:extLst>
                  <a:ext uri="{FF2B5EF4-FFF2-40B4-BE49-F238E27FC236}">
                    <a16:creationId xmlns:a16="http://schemas.microsoft.com/office/drawing/2014/main" id="{E00F9C9C-33CE-9310-6C5E-B68438616172}"/>
                  </a:ext>
                </a:extLst>
              </p:cNvPr>
              <p:cNvSpPr>
                <a:spLocks noChangeArrowheads="1"/>
              </p:cNvSpPr>
              <p:nvPr userDrawn="1"/>
            </p:nvSpPr>
            <p:spPr bwMode="auto">
              <a:xfrm>
                <a:off x="6440784"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8DC8E8"/>
                    </a:solidFill>
                    <a:effectLst/>
                    <a:latin typeface="Segoe UI Black" panose="020B0A02040204020203" pitchFamily="34" charset="0"/>
                  </a:rPr>
                  <a:t>A</a:t>
                </a:r>
                <a:endParaRPr kumimoji="0" lang="en-US" altLang="en-US" sz="1800" b="0" i="0" u="none" strike="noStrike" cap="none" normalizeH="0" baseline="0" dirty="0">
                  <a:ln>
                    <a:noFill/>
                  </a:ln>
                  <a:solidFill>
                    <a:srgbClr val="8DC8E8"/>
                  </a:solidFill>
                  <a:effectLst/>
                  <a:latin typeface="Arial" panose="020B0604020202020204" pitchFamily="34" charset="0"/>
                </a:endParaRPr>
              </a:p>
            </p:txBody>
          </p:sp>
          <p:sp>
            <p:nvSpPr>
              <p:cNvPr id="77" name="Rectangle 71">
                <a:extLst>
                  <a:ext uri="{FF2B5EF4-FFF2-40B4-BE49-F238E27FC236}">
                    <a16:creationId xmlns:a16="http://schemas.microsoft.com/office/drawing/2014/main" id="{C336D1AC-24F2-3D85-B4EA-6CEF1387CA23}"/>
                  </a:ext>
                </a:extLst>
              </p:cNvPr>
              <p:cNvSpPr>
                <a:spLocks noChangeArrowheads="1"/>
              </p:cNvSpPr>
              <p:nvPr userDrawn="1"/>
            </p:nvSpPr>
            <p:spPr bwMode="auto">
              <a:xfrm>
                <a:off x="6545559"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8" name="Rectangle 72">
                <a:extLst>
                  <a:ext uri="{FF2B5EF4-FFF2-40B4-BE49-F238E27FC236}">
                    <a16:creationId xmlns:a16="http://schemas.microsoft.com/office/drawing/2014/main" id="{B487530C-87BB-6282-289D-CD211AE8C887}"/>
                  </a:ext>
                </a:extLst>
              </p:cNvPr>
              <p:cNvSpPr>
                <a:spLocks noChangeArrowheads="1"/>
              </p:cNvSpPr>
              <p:nvPr userDrawn="1"/>
            </p:nvSpPr>
            <p:spPr bwMode="auto">
              <a:xfrm>
                <a:off x="6440784" y="4841618"/>
                <a:ext cx="21480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FFFFFF"/>
                    </a:solidFill>
                    <a:effectLst/>
                    <a:latin typeface="Segoe UI" panose="020B0502040204020203" pitchFamily="34" charset="0"/>
                  </a:rPr>
                  <a:t>2A446F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140" name="Group 139">
              <a:extLst>
                <a:ext uri="{FF2B5EF4-FFF2-40B4-BE49-F238E27FC236}">
                  <a16:creationId xmlns:a16="http://schemas.microsoft.com/office/drawing/2014/main" id="{C6B358CB-8244-C3C8-2F51-79969683929B}"/>
                </a:ext>
              </a:extLst>
            </p:cNvPr>
            <p:cNvGrpSpPr/>
            <p:nvPr userDrawn="1"/>
          </p:nvGrpSpPr>
          <p:grpSpPr>
            <a:xfrm>
              <a:off x="6455085" y="4235797"/>
              <a:ext cx="222818" cy="207246"/>
              <a:chOff x="6440784" y="4222259"/>
              <a:chExt cx="222818" cy="207246"/>
            </a:xfrm>
          </p:grpSpPr>
          <p:sp>
            <p:nvSpPr>
              <p:cNvPr id="80" name="Rectangle 74">
                <a:extLst>
                  <a:ext uri="{FF2B5EF4-FFF2-40B4-BE49-F238E27FC236}">
                    <a16:creationId xmlns:a16="http://schemas.microsoft.com/office/drawing/2014/main" id="{F8EEFBD4-BCC8-9B51-82E9-5FEE4E034CF5}"/>
                  </a:ext>
                </a:extLst>
              </p:cNvPr>
              <p:cNvSpPr>
                <a:spLocks noChangeArrowheads="1"/>
              </p:cNvSpPr>
              <p:nvPr userDrawn="1"/>
            </p:nvSpPr>
            <p:spPr bwMode="auto">
              <a:xfrm>
                <a:off x="6440784"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2A446F"/>
                    </a:solidFill>
                    <a:effectLst/>
                    <a:latin typeface="Segoe UI Black" panose="020B0A02040204020203" pitchFamily="34" charset="0"/>
                  </a:rPr>
                  <a:t>A</a:t>
                </a:r>
                <a:endParaRPr kumimoji="0" lang="en-US" altLang="en-US" sz="1800" b="0" i="0" u="none" strike="noStrike" cap="none" normalizeH="0" baseline="0" dirty="0">
                  <a:ln>
                    <a:noFill/>
                  </a:ln>
                  <a:solidFill>
                    <a:srgbClr val="2A446F"/>
                  </a:solidFill>
                  <a:effectLst/>
                  <a:latin typeface="Arial" panose="020B0604020202020204" pitchFamily="34" charset="0"/>
                </a:endParaRPr>
              </a:p>
            </p:txBody>
          </p:sp>
          <p:sp>
            <p:nvSpPr>
              <p:cNvPr id="81" name="Rectangle 75">
                <a:extLst>
                  <a:ext uri="{FF2B5EF4-FFF2-40B4-BE49-F238E27FC236}">
                    <a16:creationId xmlns:a16="http://schemas.microsoft.com/office/drawing/2014/main" id="{5B380C53-82FA-1B4B-30BF-798A5B2F88F5}"/>
                  </a:ext>
                </a:extLst>
              </p:cNvPr>
              <p:cNvSpPr>
                <a:spLocks noChangeArrowheads="1"/>
              </p:cNvSpPr>
              <p:nvPr userDrawn="1"/>
            </p:nvSpPr>
            <p:spPr bwMode="auto">
              <a:xfrm>
                <a:off x="6545559"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6">
                <a:extLst>
                  <a:ext uri="{FF2B5EF4-FFF2-40B4-BE49-F238E27FC236}">
                    <a16:creationId xmlns:a16="http://schemas.microsoft.com/office/drawing/2014/main" id="{5220604C-6208-C2D5-0A1F-68306385E1FB}"/>
                  </a:ext>
                </a:extLst>
              </p:cNvPr>
              <p:cNvSpPr>
                <a:spLocks noChangeArrowheads="1"/>
              </p:cNvSpPr>
              <p:nvPr userDrawn="1"/>
            </p:nvSpPr>
            <p:spPr bwMode="auto">
              <a:xfrm>
                <a:off x="6440784" y="4352561"/>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0" name="Group 109">
              <a:extLst>
                <a:ext uri="{FF2B5EF4-FFF2-40B4-BE49-F238E27FC236}">
                  <a16:creationId xmlns:a16="http://schemas.microsoft.com/office/drawing/2014/main" id="{059EE6F8-A27B-1F22-044B-E55CC3E02DA7}"/>
                </a:ext>
              </a:extLst>
            </p:cNvPr>
            <p:cNvGrpSpPr>
              <a:grpSpLocks/>
            </p:cNvGrpSpPr>
            <p:nvPr userDrawn="1"/>
          </p:nvGrpSpPr>
          <p:grpSpPr>
            <a:xfrm>
              <a:off x="5282703" y="3983653"/>
              <a:ext cx="2263775" cy="231837"/>
              <a:chOff x="5282703" y="3983653"/>
              <a:chExt cx="2263775" cy="231837"/>
            </a:xfrm>
          </p:grpSpPr>
          <p:sp>
            <p:nvSpPr>
              <p:cNvPr id="83" name="Rectangle 80">
                <a:extLst>
                  <a:ext uri="{FF2B5EF4-FFF2-40B4-BE49-F238E27FC236}">
                    <a16:creationId xmlns:a16="http://schemas.microsoft.com/office/drawing/2014/main" id="{3D2A98B8-E200-678A-E8D0-7F915BF24E8A}"/>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
                <a:extLst>
                  <a:ext uri="{FF2B5EF4-FFF2-40B4-BE49-F238E27FC236}">
                    <a16:creationId xmlns:a16="http://schemas.microsoft.com/office/drawing/2014/main" id="{0A33A553-B149-6F5D-639E-0E68F58F1780}"/>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C8B6E6AD-D8D0-9276-C59C-36AE25B7F95C}"/>
                  </a:ext>
                </a:extLst>
              </p:cNvPr>
              <p:cNvSpPr>
                <a:spLocks noEditPoints="1"/>
              </p:cNvSpPr>
              <p:nvPr/>
            </p:nvSpPr>
            <p:spPr bwMode="auto">
              <a:xfrm>
                <a:off x="5282703" y="3983653"/>
                <a:ext cx="2263775" cy="231837"/>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0926B1ED-665F-EE39-BA4D-70CE150DA6C2}"/>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6" name="Group 145">
              <a:extLst>
                <a:ext uri="{FF2B5EF4-FFF2-40B4-BE49-F238E27FC236}">
                  <a16:creationId xmlns:a16="http://schemas.microsoft.com/office/drawing/2014/main" id="{03A39392-6759-F08C-7000-160D5DC0E292}"/>
                </a:ext>
              </a:extLst>
            </p:cNvPr>
            <p:cNvGrpSpPr/>
            <p:nvPr userDrawn="1"/>
          </p:nvGrpSpPr>
          <p:grpSpPr>
            <a:xfrm>
              <a:off x="5313659" y="4005084"/>
              <a:ext cx="498534" cy="192016"/>
              <a:chOff x="5300959" y="3988730"/>
              <a:chExt cx="498534" cy="192016"/>
            </a:xfrm>
          </p:grpSpPr>
          <p:sp>
            <p:nvSpPr>
              <p:cNvPr id="87" name="Rectangle 84">
                <a:extLst>
                  <a:ext uri="{FF2B5EF4-FFF2-40B4-BE49-F238E27FC236}">
                    <a16:creationId xmlns:a16="http://schemas.microsoft.com/office/drawing/2014/main" id="{E74C6C74-AA24-4BED-2DE9-C3CEEE41E22E}"/>
                  </a:ext>
                </a:extLst>
              </p:cNvPr>
              <p:cNvSpPr>
                <a:spLocks noChangeArrowheads="1"/>
              </p:cNvSpPr>
              <p:nvPr userDrawn="1"/>
            </p:nvSpPr>
            <p:spPr bwMode="auto">
              <a:xfrm>
                <a:off x="5300959" y="3988730"/>
                <a:ext cx="498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rgbClr val="FFFFFF"/>
                    </a:solidFill>
                    <a:effectLst/>
                    <a:latin typeface="Segoe UI" panose="020B0502040204020203" pitchFamily="34" charset="0"/>
                  </a:rPr>
                  <a:t>Blue Black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8" name="Rectangle 85">
                <a:extLst>
                  <a:ext uri="{FF2B5EF4-FFF2-40B4-BE49-F238E27FC236}">
                    <a16:creationId xmlns:a16="http://schemas.microsoft.com/office/drawing/2014/main" id="{254A3C47-E33D-DC85-0DD1-1F09A870D429}"/>
                  </a:ext>
                </a:extLst>
              </p:cNvPr>
              <p:cNvSpPr>
                <a:spLocks noChangeArrowheads="1"/>
              </p:cNvSpPr>
              <p:nvPr userDrawn="1"/>
            </p:nvSpPr>
            <p:spPr bwMode="auto">
              <a:xfrm>
                <a:off x="5300959" y="4103802"/>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3" name="Group 142">
              <a:extLst>
                <a:ext uri="{FF2B5EF4-FFF2-40B4-BE49-F238E27FC236}">
                  <a16:creationId xmlns:a16="http://schemas.microsoft.com/office/drawing/2014/main" id="{E479D2A2-9248-FADA-F6A8-80F2958F0621}"/>
                </a:ext>
              </a:extLst>
            </p:cNvPr>
            <p:cNvGrpSpPr/>
            <p:nvPr userDrawn="1"/>
          </p:nvGrpSpPr>
          <p:grpSpPr>
            <a:xfrm>
              <a:off x="5313659" y="4724853"/>
              <a:ext cx="211596" cy="207246"/>
              <a:chOff x="5294609" y="4714700"/>
              <a:chExt cx="211596" cy="207246"/>
            </a:xfrm>
          </p:grpSpPr>
          <p:sp>
            <p:nvSpPr>
              <p:cNvPr id="93" name="Rectangle 90">
                <a:extLst>
                  <a:ext uri="{FF2B5EF4-FFF2-40B4-BE49-F238E27FC236}">
                    <a16:creationId xmlns:a16="http://schemas.microsoft.com/office/drawing/2014/main" id="{7C14974B-01E7-053F-C185-D7AF06732E9F}"/>
                  </a:ext>
                </a:extLst>
              </p:cNvPr>
              <p:cNvSpPr>
                <a:spLocks noChangeArrowheads="1"/>
              </p:cNvSpPr>
              <p:nvPr userDrawn="1"/>
            </p:nvSpPr>
            <p:spPr bwMode="auto">
              <a:xfrm>
                <a:off x="5294609"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CD9BCF"/>
                    </a:solidFill>
                    <a:effectLst/>
                    <a:latin typeface="Segoe UI Black" panose="020B0A02040204020203" pitchFamily="34" charset="0"/>
                  </a:rPr>
                  <a:t>A</a:t>
                </a:r>
                <a:endParaRPr kumimoji="0" lang="en-US" altLang="en-US" sz="1800" b="0" i="0" u="none" strike="noStrike" cap="none" normalizeH="0" baseline="0" dirty="0">
                  <a:ln>
                    <a:noFill/>
                  </a:ln>
                  <a:solidFill>
                    <a:srgbClr val="CD9BCF"/>
                  </a:solidFill>
                  <a:effectLst/>
                  <a:latin typeface="Arial" panose="020B0604020202020204" pitchFamily="34" charset="0"/>
                </a:endParaRPr>
              </a:p>
            </p:txBody>
          </p:sp>
          <p:sp>
            <p:nvSpPr>
              <p:cNvPr id="94" name="Rectangle 91">
                <a:extLst>
                  <a:ext uri="{FF2B5EF4-FFF2-40B4-BE49-F238E27FC236}">
                    <a16:creationId xmlns:a16="http://schemas.microsoft.com/office/drawing/2014/main" id="{549DD738-C45C-386A-8917-EAAC0DA91431}"/>
                  </a:ext>
                </a:extLst>
              </p:cNvPr>
              <p:cNvSpPr>
                <a:spLocks noChangeArrowheads="1"/>
              </p:cNvSpPr>
              <p:nvPr userDrawn="1"/>
            </p:nvSpPr>
            <p:spPr bwMode="auto">
              <a:xfrm>
                <a:off x="5399384"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5" name="Rectangle 92">
                <a:extLst>
                  <a:ext uri="{FF2B5EF4-FFF2-40B4-BE49-F238E27FC236}">
                    <a16:creationId xmlns:a16="http://schemas.microsoft.com/office/drawing/2014/main" id="{61D59B05-DAD6-BBC5-343C-A42D46F9CD87}"/>
                  </a:ext>
                </a:extLst>
              </p:cNvPr>
              <p:cNvSpPr>
                <a:spLocks noChangeArrowheads="1"/>
              </p:cNvSpPr>
              <p:nvPr userDrawn="1"/>
            </p:nvSpPr>
            <p:spPr bwMode="auto">
              <a:xfrm>
                <a:off x="5294609" y="4845002"/>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9" name="Group 138">
              <a:extLst>
                <a:ext uri="{FF2B5EF4-FFF2-40B4-BE49-F238E27FC236}">
                  <a16:creationId xmlns:a16="http://schemas.microsoft.com/office/drawing/2014/main" id="{0FB38F0E-9447-70F7-2C96-EE118D6178E7}"/>
                </a:ext>
              </a:extLst>
            </p:cNvPr>
            <p:cNvGrpSpPr/>
            <p:nvPr userDrawn="1"/>
          </p:nvGrpSpPr>
          <p:grpSpPr>
            <a:xfrm>
              <a:off x="5313659" y="4235797"/>
              <a:ext cx="229230" cy="208939"/>
              <a:chOff x="5294609" y="4225643"/>
              <a:chExt cx="229230" cy="208939"/>
            </a:xfrm>
          </p:grpSpPr>
          <p:sp>
            <p:nvSpPr>
              <p:cNvPr id="97" name="Rectangle 94">
                <a:extLst>
                  <a:ext uri="{FF2B5EF4-FFF2-40B4-BE49-F238E27FC236}">
                    <a16:creationId xmlns:a16="http://schemas.microsoft.com/office/drawing/2014/main" id="{43BBB099-87DC-5BA5-BC4D-B2C9646D644E}"/>
                  </a:ext>
                </a:extLst>
              </p:cNvPr>
              <p:cNvSpPr>
                <a:spLocks noChangeArrowheads="1"/>
              </p:cNvSpPr>
              <p:nvPr userDrawn="1"/>
            </p:nvSpPr>
            <p:spPr bwMode="auto">
              <a:xfrm>
                <a:off x="5294609"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02573"/>
                    </a:solidFill>
                    <a:effectLst/>
                    <a:latin typeface="Segoe UI Black" panose="020B0A02040204020203" pitchFamily="34" charset="0"/>
                  </a:rPr>
                  <a:t>A</a:t>
                </a:r>
                <a:endParaRPr kumimoji="0" lang="en-US" altLang="en-US" sz="1800" b="0" i="0" u="none" strike="noStrike" cap="none" normalizeH="0" baseline="0" dirty="0">
                  <a:ln>
                    <a:noFill/>
                  </a:ln>
                  <a:solidFill>
                    <a:srgbClr val="702573"/>
                  </a:solidFill>
                  <a:effectLst/>
                  <a:latin typeface="Arial" panose="020B0604020202020204" pitchFamily="34" charset="0"/>
                </a:endParaRPr>
              </a:p>
            </p:txBody>
          </p:sp>
          <p:sp>
            <p:nvSpPr>
              <p:cNvPr id="98" name="Rectangle 95">
                <a:extLst>
                  <a:ext uri="{FF2B5EF4-FFF2-40B4-BE49-F238E27FC236}">
                    <a16:creationId xmlns:a16="http://schemas.microsoft.com/office/drawing/2014/main" id="{264AF6E2-1295-4160-DA19-2585B363120A}"/>
                  </a:ext>
                </a:extLst>
              </p:cNvPr>
              <p:cNvSpPr>
                <a:spLocks noChangeArrowheads="1"/>
              </p:cNvSpPr>
              <p:nvPr userDrawn="1"/>
            </p:nvSpPr>
            <p:spPr bwMode="auto">
              <a:xfrm>
                <a:off x="5399384"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9" name="Rectangle 96">
                <a:extLst>
                  <a:ext uri="{FF2B5EF4-FFF2-40B4-BE49-F238E27FC236}">
                    <a16:creationId xmlns:a16="http://schemas.microsoft.com/office/drawing/2014/main" id="{C0386FF5-BA0F-B1F4-88CA-8E64D2C66F76}"/>
                  </a:ext>
                </a:extLst>
              </p:cNvPr>
              <p:cNvSpPr>
                <a:spLocks noChangeArrowheads="1"/>
              </p:cNvSpPr>
              <p:nvPr userDrawn="1"/>
            </p:nvSpPr>
            <p:spPr bwMode="auto">
              <a:xfrm>
                <a:off x="5294609" y="4357638"/>
                <a:ext cx="2292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CD9BCF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113" name="Group 112">
              <a:extLst>
                <a:ext uri="{FF2B5EF4-FFF2-40B4-BE49-F238E27FC236}">
                  <a16:creationId xmlns:a16="http://schemas.microsoft.com/office/drawing/2014/main" id="{74DB690E-251B-681D-745F-89FC4E1C51B3}"/>
                </a:ext>
              </a:extLst>
            </p:cNvPr>
            <p:cNvGrpSpPr/>
            <p:nvPr userDrawn="1"/>
          </p:nvGrpSpPr>
          <p:grpSpPr>
            <a:xfrm>
              <a:off x="5280323" y="4976997"/>
              <a:ext cx="2263775" cy="231837"/>
              <a:chOff x="5280323" y="4976997"/>
              <a:chExt cx="2263775" cy="231837"/>
            </a:xfrm>
          </p:grpSpPr>
          <p:sp>
            <p:nvSpPr>
              <p:cNvPr id="100" name="Rectangle 97">
                <a:extLst>
                  <a:ext uri="{FF2B5EF4-FFF2-40B4-BE49-F238E27FC236}">
                    <a16:creationId xmlns:a16="http://schemas.microsoft.com/office/drawing/2014/main" id="{9FC9884F-56BC-C520-8E0E-60C18D1D943A}"/>
                  </a:ext>
                </a:extLst>
              </p:cNvPr>
              <p:cNvSpPr>
                <a:spLocks noChangeArrowheads="1"/>
              </p:cNvSpPr>
              <p:nvPr/>
            </p:nvSpPr>
            <p:spPr bwMode="auto">
              <a:xfrm>
                <a:off x="5280323" y="4976997"/>
                <a:ext cx="2263775" cy="2318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5EBE61B3-D140-8057-1328-6C3FE7AD74AB}"/>
                  </a:ext>
                </a:extLst>
              </p:cNvPr>
              <p:cNvSpPr>
                <a:spLocks noChangeArrowheads="1"/>
              </p:cNvSpPr>
              <p:nvPr/>
            </p:nvSpPr>
            <p:spPr bwMode="auto">
              <a:xfrm>
                <a:off x="5280323" y="4976997"/>
                <a:ext cx="2263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2" name="Rectangle 99">
              <a:extLst>
                <a:ext uri="{FF2B5EF4-FFF2-40B4-BE49-F238E27FC236}">
                  <a16:creationId xmlns:a16="http://schemas.microsoft.com/office/drawing/2014/main" id="{EE5B0239-44FF-64AE-A0A3-E7AEC4F719D0}"/>
                </a:ext>
              </a:extLst>
            </p:cNvPr>
            <p:cNvSpPr>
              <a:spLocks noChangeArrowheads="1"/>
            </p:cNvSpPr>
            <p:nvPr userDrawn="1"/>
          </p:nvSpPr>
          <p:spPr bwMode="auto">
            <a:xfrm>
              <a:off x="5311279" y="4998428"/>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chemeClr val="bg1"/>
                  </a:solidFill>
                  <a:effectLst/>
                  <a:latin typeface="Segoe UI" panose="020B0502040204020203" pitchFamily="34" charset="0"/>
                </a:rPr>
                <a:t>000000</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grpSp>
          <p:nvGrpSpPr>
            <p:cNvPr id="111" name="Group 110">
              <a:extLst>
                <a:ext uri="{FF2B5EF4-FFF2-40B4-BE49-F238E27FC236}">
                  <a16:creationId xmlns:a16="http://schemas.microsoft.com/office/drawing/2014/main" id="{287256CD-A0D0-C353-3C91-F51DC6CEAA74}"/>
                </a:ext>
              </a:extLst>
            </p:cNvPr>
            <p:cNvGrpSpPr>
              <a:grpSpLocks/>
            </p:cNvGrpSpPr>
            <p:nvPr userDrawn="1"/>
          </p:nvGrpSpPr>
          <p:grpSpPr>
            <a:xfrm>
              <a:off x="2987973" y="3983653"/>
              <a:ext cx="2263775" cy="231837"/>
              <a:chOff x="2987972" y="3987038"/>
              <a:chExt cx="2268538" cy="230144"/>
            </a:xfrm>
          </p:grpSpPr>
          <p:sp>
            <p:nvSpPr>
              <p:cNvPr id="103" name="Rectangle 100">
                <a:extLst>
                  <a:ext uri="{FF2B5EF4-FFF2-40B4-BE49-F238E27FC236}">
                    <a16:creationId xmlns:a16="http://schemas.microsoft.com/office/drawing/2014/main" id="{9CADF0D7-2065-1313-DBFF-EB0C09C03DB9}"/>
                  </a:ext>
                </a:extLst>
              </p:cNvPr>
              <p:cNvSpPr>
                <a:spLocks noChangeArrowheads="1"/>
              </p:cNvSpPr>
              <p:nvPr/>
            </p:nvSpPr>
            <p:spPr bwMode="auto">
              <a:xfrm>
                <a:off x="2987972" y="3987038"/>
                <a:ext cx="2268538" cy="230144"/>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101">
                <a:extLst>
                  <a:ext uri="{FF2B5EF4-FFF2-40B4-BE49-F238E27FC236}">
                    <a16:creationId xmlns:a16="http://schemas.microsoft.com/office/drawing/2014/main" id="{213DC802-E7FC-525B-6021-DF572FA385D6}"/>
                  </a:ext>
                </a:extLst>
              </p:cNvPr>
              <p:cNvSpPr>
                <a:spLocks noChangeArrowheads="1"/>
              </p:cNvSpPr>
              <p:nvPr/>
            </p:nvSpPr>
            <p:spPr bwMode="auto">
              <a:xfrm>
                <a:off x="2987972" y="3987038"/>
                <a:ext cx="2268538" cy="230144"/>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144">
              <a:extLst>
                <a:ext uri="{FF2B5EF4-FFF2-40B4-BE49-F238E27FC236}">
                  <a16:creationId xmlns:a16="http://schemas.microsoft.com/office/drawing/2014/main" id="{18F04B8B-7F04-6D66-32DA-88D780BD0093}"/>
                </a:ext>
              </a:extLst>
            </p:cNvPr>
            <p:cNvGrpSpPr/>
            <p:nvPr userDrawn="1"/>
          </p:nvGrpSpPr>
          <p:grpSpPr>
            <a:xfrm>
              <a:off x="3018929" y="4005084"/>
              <a:ext cx="615553" cy="190324"/>
              <a:chOff x="3002259" y="3980269"/>
              <a:chExt cx="615553" cy="190324"/>
            </a:xfrm>
          </p:grpSpPr>
          <p:sp>
            <p:nvSpPr>
              <p:cNvPr id="105" name="Rectangle 102">
                <a:extLst>
                  <a:ext uri="{FF2B5EF4-FFF2-40B4-BE49-F238E27FC236}">
                    <a16:creationId xmlns:a16="http://schemas.microsoft.com/office/drawing/2014/main" id="{BB53E1AC-8C2B-8E90-2391-F13AB0E7DBCC}"/>
                  </a:ext>
                </a:extLst>
              </p:cNvPr>
              <p:cNvSpPr>
                <a:spLocks noChangeArrowheads="1"/>
              </p:cNvSpPr>
              <p:nvPr userDrawn="1"/>
            </p:nvSpPr>
            <p:spPr bwMode="auto">
              <a:xfrm>
                <a:off x="3002259" y="3980269"/>
                <a:ext cx="61555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rgbClr val="1A1A1A"/>
                    </a:solidFill>
                    <a:effectLst/>
                    <a:latin typeface="Segoe UI" panose="020B0502040204020203" pitchFamily="34" charset="0"/>
                  </a:rPr>
                  <a:t>Neutral Gray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6" name="Rectangle 103">
                <a:extLst>
                  <a:ext uri="{FF2B5EF4-FFF2-40B4-BE49-F238E27FC236}">
                    <a16:creationId xmlns:a16="http://schemas.microsoft.com/office/drawing/2014/main" id="{A24372CE-4853-1243-3F7B-9DA51361BDF1}"/>
                  </a:ext>
                </a:extLst>
              </p:cNvPr>
              <p:cNvSpPr>
                <a:spLocks noChangeArrowheads="1"/>
              </p:cNvSpPr>
              <p:nvPr userDrawn="1"/>
            </p:nvSpPr>
            <p:spPr bwMode="auto">
              <a:xfrm>
                <a:off x="3002259" y="4093649"/>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6" name="Group 135">
              <a:extLst>
                <a:ext uri="{FF2B5EF4-FFF2-40B4-BE49-F238E27FC236}">
                  <a16:creationId xmlns:a16="http://schemas.microsoft.com/office/drawing/2014/main" id="{3C8DABFC-1CEB-07F7-BB5C-77B402457E04}"/>
                </a:ext>
              </a:extLst>
            </p:cNvPr>
            <p:cNvGrpSpPr/>
            <p:nvPr userDrawn="1"/>
          </p:nvGrpSpPr>
          <p:grpSpPr>
            <a:xfrm>
              <a:off x="4161941" y="4479479"/>
              <a:ext cx="213200" cy="208939"/>
              <a:chOff x="4150022" y="4465941"/>
              <a:chExt cx="213200" cy="208939"/>
            </a:xfrm>
          </p:grpSpPr>
          <p:sp>
            <p:nvSpPr>
              <p:cNvPr id="34" name="Rectangle 33">
                <a:extLst>
                  <a:ext uri="{FF2B5EF4-FFF2-40B4-BE49-F238E27FC236}">
                    <a16:creationId xmlns:a16="http://schemas.microsoft.com/office/drawing/2014/main" id="{009D7676-24C9-D284-7745-1E0476D2DEBF}"/>
                  </a:ext>
                </a:extLst>
              </p:cNvPr>
              <p:cNvSpPr>
                <a:spLocks noChangeArrowheads="1"/>
              </p:cNvSpPr>
              <p:nvPr userDrawn="1"/>
            </p:nvSpPr>
            <p:spPr bwMode="auto">
              <a:xfrm>
                <a:off x="41500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latin typeface="Segoe UI Black" panose="020B0A02040204020203" pitchFamily="34" charset="0"/>
                  </a:rPr>
                  <a:t>A</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2E067B62-8905-E5CF-2CE1-AFF4CC56BBBE}"/>
                  </a:ext>
                </a:extLst>
              </p:cNvPr>
              <p:cNvSpPr>
                <a:spLocks noChangeArrowheads="1"/>
              </p:cNvSpPr>
              <p:nvPr userDrawn="1"/>
            </p:nvSpPr>
            <p:spPr bwMode="auto">
              <a:xfrm>
                <a:off x="4150022" y="4597936"/>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107" name="Rectangle 14">
                <a:extLst>
                  <a:ext uri="{FF2B5EF4-FFF2-40B4-BE49-F238E27FC236}">
                    <a16:creationId xmlns:a16="http://schemas.microsoft.com/office/drawing/2014/main" id="{2ED8ED90-F6E9-2DDA-1208-72514C2421A6}"/>
                  </a:ext>
                </a:extLst>
              </p:cNvPr>
              <p:cNvSpPr>
                <a:spLocks noChangeArrowheads="1"/>
              </p:cNvSpPr>
              <p:nvPr userDrawn="1"/>
            </p:nvSpPr>
            <p:spPr bwMode="auto">
              <a:xfrm>
                <a:off x="4253209" y="4469325"/>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141" name="Group 140">
              <a:extLst>
                <a:ext uri="{FF2B5EF4-FFF2-40B4-BE49-F238E27FC236}">
                  <a16:creationId xmlns:a16="http://schemas.microsoft.com/office/drawing/2014/main" id="{C6A5BD4A-5654-7FD6-88CD-CC557137A7E1}"/>
                </a:ext>
              </a:extLst>
            </p:cNvPr>
            <p:cNvGrpSpPr/>
            <p:nvPr userDrawn="1"/>
          </p:nvGrpSpPr>
          <p:grpSpPr>
            <a:xfrm>
              <a:off x="5313659" y="4479479"/>
              <a:ext cx="222818" cy="212323"/>
              <a:chOff x="5294609" y="4467633"/>
              <a:chExt cx="222818" cy="212323"/>
            </a:xfrm>
          </p:grpSpPr>
          <p:sp>
            <p:nvSpPr>
              <p:cNvPr id="90" name="Rectangle 87">
                <a:extLst>
                  <a:ext uri="{FF2B5EF4-FFF2-40B4-BE49-F238E27FC236}">
                    <a16:creationId xmlns:a16="http://schemas.microsoft.com/office/drawing/2014/main" id="{FA7F27EC-A77A-8BF3-4B0F-B4D399479DE1}"/>
                  </a:ext>
                </a:extLst>
              </p:cNvPr>
              <p:cNvSpPr>
                <a:spLocks noChangeArrowheads="1"/>
              </p:cNvSpPr>
              <p:nvPr userDrawn="1"/>
            </p:nvSpPr>
            <p:spPr bwMode="auto">
              <a:xfrm>
                <a:off x="5294609"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1" name="Rectangle 88">
                <a:extLst>
                  <a:ext uri="{FF2B5EF4-FFF2-40B4-BE49-F238E27FC236}">
                    <a16:creationId xmlns:a16="http://schemas.microsoft.com/office/drawing/2014/main" id="{7C28F47B-8AD2-FB82-20F0-2CB83DCA9D13}"/>
                  </a:ext>
                </a:extLst>
              </p:cNvPr>
              <p:cNvSpPr>
                <a:spLocks noChangeArrowheads="1"/>
              </p:cNvSpPr>
              <p:nvPr userDrawn="1"/>
            </p:nvSpPr>
            <p:spPr bwMode="auto">
              <a:xfrm>
                <a:off x="5294609" y="4603012"/>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108" name="Rectangle 95">
                <a:extLst>
                  <a:ext uri="{FF2B5EF4-FFF2-40B4-BE49-F238E27FC236}">
                    <a16:creationId xmlns:a16="http://schemas.microsoft.com/office/drawing/2014/main" id="{0397442F-6B46-BE99-3B0D-0CDBCE463173}"/>
                  </a:ext>
                </a:extLst>
              </p:cNvPr>
              <p:cNvSpPr>
                <a:spLocks noChangeArrowheads="1"/>
              </p:cNvSpPr>
              <p:nvPr userDrawn="1"/>
            </p:nvSpPr>
            <p:spPr bwMode="auto">
              <a:xfrm>
                <a:off x="5399384"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sp>
        <p:nvSpPr>
          <p:cNvPr id="149" name="Footer Placeholder 2">
            <a:extLst>
              <a:ext uri="{FF2B5EF4-FFF2-40B4-BE49-F238E27FC236}">
                <a16:creationId xmlns:a16="http://schemas.microsoft.com/office/drawing/2014/main" id="{D484F4D1-D679-5A64-EFBC-0310E92E663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dirty="0"/>
              <a:t>© Copyright Microsoft Corporation. All rights reserved.</a:t>
            </a:r>
          </a:p>
        </p:txBody>
      </p:sp>
    </p:spTree>
    <p:extLst>
      <p:ext uri="{BB962C8B-B14F-4D97-AF65-F5344CB8AC3E}">
        <p14:creationId xmlns:p14="http://schemas.microsoft.com/office/powerpoint/2010/main" val="10041870"/>
      </p:ext>
    </p:extLst>
  </p:cSld>
  <p:clrMap bg1="lt1" tx1="dk1" bg2="lt2" tx2="dk2" accent1="accent1" accent2="accent2" accent3="accent3" accent4="accent4" accent5="accent5" accent6="accent6" hlink="hlink" folHlink="folHlink"/>
  <p:sldLayoutIdLst>
    <p:sldLayoutId id="2147485529" r:id="rId1"/>
    <p:sldLayoutId id="2147485530" r:id="rId2"/>
    <p:sldLayoutId id="2147485531" r:id="rId3"/>
    <p:sldLayoutId id="2147485532" r:id="rId4"/>
    <p:sldLayoutId id="2147485533" r:id="rId5"/>
    <p:sldLayoutId id="2147485534" r:id="rId6"/>
    <p:sldLayoutId id="2147485535" r:id="rId7"/>
    <p:sldLayoutId id="2147485536" r:id="rId8"/>
    <p:sldLayoutId id="2147485537" r:id="rId9"/>
    <p:sldLayoutId id="2147485538" r:id="rId10"/>
    <p:sldLayoutId id="2147485539" r:id="rId11"/>
    <p:sldLayoutId id="2147485540" r:id="rId12"/>
    <p:sldLayoutId id="2147485541" r:id="rId13"/>
    <p:sldLayoutId id="2147485542" r:id="rId14"/>
    <p:sldLayoutId id="2147485543" r:id="rId15"/>
    <p:sldLayoutId id="2147485544" r:id="rId16"/>
    <p:sldLayoutId id="2147485545" r:id="rId17"/>
    <p:sldLayoutId id="2147485546" r:id="rId18"/>
    <p:sldLayoutId id="2147485547" r:id="rId19"/>
    <p:sldLayoutId id="2147485548" r:id="rId20"/>
    <p:sldLayoutId id="2147485549" r:id="rId21"/>
    <p:sldLayoutId id="2147485550" r:id="rId22"/>
    <p:sldLayoutId id="2147485551" r:id="rId23"/>
    <p:sldLayoutId id="2147485552" r:id="rId24"/>
    <p:sldLayoutId id="2147485553" r:id="rId25"/>
    <p:sldLayoutId id="2147485554" r:id="rId26"/>
    <p:sldLayoutId id="2147485555" r:id="rId27"/>
    <p:sldLayoutId id="2147485556" r:id="rId28"/>
    <p:sldLayoutId id="2147485557" r:id="rId29"/>
    <p:sldLayoutId id="2147485558" r:id="rId30"/>
    <p:sldLayoutId id="2147485559" r:id="rId31"/>
    <p:sldLayoutId id="2147485560" r:id="rId32"/>
    <p:sldLayoutId id="2147485561" r:id="rId33"/>
    <p:sldLayoutId id="2147485562" r:id="rId34"/>
    <p:sldLayoutId id="2147485563" r:id="rId35"/>
    <p:sldLayoutId id="2147485564" r:id="rId36"/>
    <p:sldLayoutId id="2147485565" r:id="rId37"/>
    <p:sldLayoutId id="2147485566" r:id="rId38"/>
    <p:sldLayoutId id="2147485567" r:id="rId39"/>
    <p:sldLayoutId id="2147485568" r:id="rId40"/>
    <p:sldLayoutId id="2147485569" r:id="rId41"/>
    <p:sldLayoutId id="2147485570" r:id="rId42"/>
    <p:sldLayoutId id="2147485571" r:id="rId43"/>
    <p:sldLayoutId id="2147485572" r:id="rId44"/>
    <p:sldLayoutId id="2147485573" r:id="rId45"/>
    <p:sldLayoutId id="2147485574" r:id="rId46"/>
    <p:sldLayoutId id="2147485575" r:id="rId47"/>
    <p:sldLayoutId id="2147485576" r:id="rId48"/>
    <p:sldLayoutId id="2147485577" r:id="rId49"/>
    <p:sldLayoutId id="2147485578" r:id="rId50"/>
    <p:sldLayoutId id="2147485579" r:id="rId51"/>
    <p:sldLayoutId id="2147485580" r:id="rId52"/>
    <p:sldLayoutId id="2147485581" r:id="rId53"/>
  </p:sldLayoutIdLst>
  <p:transition>
    <p:fade/>
  </p:transition>
  <p:hf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3.xml"/><Relationship Id="rId1" Type="http://schemas.openxmlformats.org/officeDocument/2006/relationships/slideLayout" Target="../slideLayouts/slideLayout43.xml"/><Relationship Id="rId5" Type="http://schemas.openxmlformats.org/officeDocument/2006/relationships/image" Target="../media/image17.emf"/><Relationship Id="rId4" Type="http://schemas.openxmlformats.org/officeDocument/2006/relationships/image" Target="../media/image16.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22.emf"/><Relationship Id="rId2" Type="http://schemas.openxmlformats.org/officeDocument/2006/relationships/notesSlide" Target="../notesSlides/notesSlide5.xml"/><Relationship Id="rId1" Type="http://schemas.openxmlformats.org/officeDocument/2006/relationships/slideLayout" Target="../slideLayouts/slideLayout43.xml"/><Relationship Id="rId6" Type="http://schemas.openxmlformats.org/officeDocument/2006/relationships/image" Target="../media/image21.wmf"/><Relationship Id="rId5" Type="http://schemas.openxmlformats.org/officeDocument/2006/relationships/image" Target="../media/image20.emf"/><Relationship Id="rId4" Type="http://schemas.openxmlformats.org/officeDocument/2006/relationships/image" Target="../media/image19.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8.xml"/><Relationship Id="rId1" Type="http://schemas.openxmlformats.org/officeDocument/2006/relationships/slideLayout" Target="../slideLayouts/slideLayout36.xml"/><Relationship Id="rId5" Type="http://schemas.openxmlformats.org/officeDocument/2006/relationships/image" Target="../media/image25.wmf"/><Relationship Id="rId4" Type="http://schemas.openxmlformats.org/officeDocument/2006/relationships/image" Target="../media/image24.wmf"/></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9.sv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6.svg"/><Relationship Id="rId4" Type="http://schemas.openxmlformats.org/officeDocument/2006/relationships/image" Target="../media/image32.svg"/><Relationship Id="rId9"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18.xml"/><Relationship Id="rId1" Type="http://schemas.openxmlformats.org/officeDocument/2006/relationships/slideLayout" Target="../slideLayouts/slideLayout36.xml"/><Relationship Id="rId6" Type="http://schemas.openxmlformats.org/officeDocument/2006/relationships/image" Target="../media/image40.wmf"/><Relationship Id="rId5" Type="http://schemas.openxmlformats.org/officeDocument/2006/relationships/image" Target="../media/image39.emf"/><Relationship Id="rId4" Type="http://schemas.openxmlformats.org/officeDocument/2006/relationships/image" Target="../media/image38.wmf"/></Relationships>
</file>

<file path=ppt/slides/_rels/slide19.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43.wmf"/><Relationship Id="rId4" Type="http://schemas.openxmlformats.org/officeDocument/2006/relationships/image" Target="../media/image42.wmf"/></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21.xml"/><Relationship Id="rId1" Type="http://schemas.openxmlformats.org/officeDocument/2006/relationships/slideLayout" Target="../slideLayouts/slideLayout36.xml"/><Relationship Id="rId4" Type="http://schemas.openxmlformats.org/officeDocument/2006/relationships/image" Target="../media/image46.wmf"/></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25.xml"/><Relationship Id="rId1" Type="http://schemas.openxmlformats.org/officeDocument/2006/relationships/slideLayout" Target="../slideLayouts/slideLayout36.xml"/><Relationship Id="rId4" Type="http://schemas.openxmlformats.org/officeDocument/2006/relationships/image" Target="../media/image49.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27.xml"/><Relationship Id="rId1" Type="http://schemas.openxmlformats.org/officeDocument/2006/relationships/slideLayout" Target="../slideLayouts/slideLayout40.xml"/><Relationship Id="rId5" Type="http://schemas.openxmlformats.org/officeDocument/2006/relationships/image" Target="../media/image52.wmf"/><Relationship Id="rId4" Type="http://schemas.openxmlformats.org/officeDocument/2006/relationships/image" Target="../media/image51.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notesSlide" Target="../notesSlides/notesSlide30.xml"/><Relationship Id="rId1" Type="http://schemas.openxmlformats.org/officeDocument/2006/relationships/slideLayout" Target="../slideLayouts/slideLayout43.xml"/><Relationship Id="rId6" Type="http://schemas.openxmlformats.org/officeDocument/2006/relationships/image" Target="../media/image56.png"/><Relationship Id="rId5" Type="http://schemas.openxmlformats.org/officeDocument/2006/relationships/image" Target="../media/image55.emf"/><Relationship Id="rId4" Type="http://schemas.openxmlformats.org/officeDocument/2006/relationships/image" Target="../media/image54.wmf"/></Relationships>
</file>

<file path=ppt/slides/_rels/slide31.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61.emf"/><Relationship Id="rId5" Type="http://schemas.openxmlformats.org/officeDocument/2006/relationships/image" Target="../media/image60.wmf"/><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sv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65.sv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73.png"/></Relationships>
</file>

<file path=ppt/slides/_rels/slide34.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34.xml"/><Relationship Id="rId1" Type="http://schemas.openxmlformats.org/officeDocument/2006/relationships/slideLayout" Target="../slideLayouts/slideLayout8.xml"/><Relationship Id="rId6" Type="http://schemas.openxmlformats.org/officeDocument/2006/relationships/image" Target="../media/image76.png"/><Relationship Id="rId5" Type="http://schemas.openxmlformats.org/officeDocument/2006/relationships/image" Target="../media/image61.emf"/><Relationship Id="rId4" Type="http://schemas.openxmlformats.org/officeDocument/2006/relationships/image" Target="../media/image75.png"/></Relationships>
</file>

<file path=ppt/slides/_rels/slide35.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35.xml"/><Relationship Id="rId1" Type="http://schemas.openxmlformats.org/officeDocument/2006/relationships/slideLayout" Target="../slideLayouts/slideLayout17.xml"/><Relationship Id="rId6" Type="http://schemas.openxmlformats.org/officeDocument/2006/relationships/image" Target="../media/image80.svg"/><Relationship Id="rId5" Type="http://schemas.openxmlformats.org/officeDocument/2006/relationships/image" Target="../media/image79.png"/><Relationship Id="rId10" Type="http://schemas.openxmlformats.org/officeDocument/2006/relationships/image" Target="../media/image84.svg"/><Relationship Id="rId4" Type="http://schemas.openxmlformats.org/officeDocument/2006/relationships/image" Target="../media/image78.svg"/><Relationship Id="rId9" Type="http://schemas.openxmlformats.org/officeDocument/2006/relationships/image" Target="../media/image83.png"/></Relationships>
</file>

<file path=ppt/slides/_rels/slide3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notesSlide" Target="../notesSlides/notesSlide39.xml"/><Relationship Id="rId1" Type="http://schemas.openxmlformats.org/officeDocument/2006/relationships/slideLayout" Target="../slideLayouts/slideLayout8.xml"/><Relationship Id="rId5" Type="http://schemas.openxmlformats.org/officeDocument/2006/relationships/image" Target="../media/image88.wmf"/><Relationship Id="rId4" Type="http://schemas.openxmlformats.org/officeDocument/2006/relationships/image" Target="../media/image87.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1.xml"/><Relationship Id="rId1" Type="http://schemas.openxmlformats.org/officeDocument/2006/relationships/slideLayout" Target="../slideLayouts/slideLayout3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4.xml"/><Relationship Id="rId1" Type="http://schemas.openxmlformats.org/officeDocument/2006/relationships/slideLayout" Target="../slideLayouts/slideLayout8.xml"/><Relationship Id="rId5" Type="http://schemas.openxmlformats.org/officeDocument/2006/relationships/image" Target="../media/image92.png"/><Relationship Id="rId4" Type="http://schemas.openxmlformats.org/officeDocument/2006/relationships/image" Target="../media/image9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7.xml"/></Relationships>
</file>

<file path=ppt/slides/_rels/slide46.x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notesSlide" Target="../notesSlides/notesSlide46.xml"/><Relationship Id="rId1" Type="http://schemas.openxmlformats.org/officeDocument/2006/relationships/slideLayout" Target="../slideLayouts/slideLayout8.xml"/><Relationship Id="rId6" Type="http://schemas.openxmlformats.org/officeDocument/2006/relationships/image" Target="../media/image87.wmf"/><Relationship Id="rId5" Type="http://schemas.openxmlformats.org/officeDocument/2006/relationships/image" Target="../media/image95.wmf"/><Relationship Id="rId4" Type="http://schemas.openxmlformats.org/officeDocument/2006/relationships/image" Target="../media/image94.wmf"/></Relationships>
</file>

<file path=ppt/slides/_rels/slide47.x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notesSlide" Target="../notesSlides/notesSlide47.xml"/><Relationship Id="rId1" Type="http://schemas.openxmlformats.org/officeDocument/2006/relationships/slideLayout" Target="../slideLayouts/slideLayout41.xml"/><Relationship Id="rId5" Type="http://schemas.openxmlformats.org/officeDocument/2006/relationships/image" Target="../media/image98.png"/><Relationship Id="rId4" Type="http://schemas.openxmlformats.org/officeDocument/2006/relationships/image" Target="../media/image97.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98.png"/><Relationship Id="rId2" Type="http://schemas.openxmlformats.org/officeDocument/2006/relationships/notesSlide" Target="../notesSlides/notesSlide50.xml"/><Relationship Id="rId1" Type="http://schemas.openxmlformats.org/officeDocument/2006/relationships/slideLayout" Target="../slideLayouts/slideLayout43.xml"/><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s>
</file>

<file path=ppt/slides/_rels/slide51.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notesSlide" Target="../notesSlides/notesSlide51.xml"/><Relationship Id="rId1" Type="http://schemas.openxmlformats.org/officeDocument/2006/relationships/slideLayout" Target="../slideLayouts/slideLayout8.xml"/><Relationship Id="rId5" Type="http://schemas.openxmlformats.org/officeDocument/2006/relationships/image" Target="../media/image105.wmf"/><Relationship Id="rId4" Type="http://schemas.openxmlformats.org/officeDocument/2006/relationships/image" Target="../media/image104.wmf"/></Relationships>
</file>

<file path=ppt/slides/_rels/slide5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2.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3.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110.emf"/><Relationship Id="rId2" Type="http://schemas.openxmlformats.org/officeDocument/2006/relationships/notesSlide" Target="../notesSlides/notesSlide58.xml"/><Relationship Id="rId1" Type="http://schemas.openxmlformats.org/officeDocument/2006/relationships/slideLayout" Target="../slideLayouts/slideLayout8.xml"/><Relationship Id="rId5" Type="http://schemas.openxmlformats.org/officeDocument/2006/relationships/image" Target="../media/image112.emf"/><Relationship Id="rId4" Type="http://schemas.openxmlformats.org/officeDocument/2006/relationships/image" Target="../media/image111.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6.xml"/></Relationships>
</file>

<file path=ppt/slides/_rels/slide60.xml.rels><?xml version="1.0" encoding="UTF-8" standalone="yes"?>
<Relationships xmlns="http://schemas.openxmlformats.org/package/2006/relationships"><Relationship Id="rId3" Type="http://schemas.openxmlformats.org/officeDocument/2006/relationships/image" Target="../media/image110.emf"/><Relationship Id="rId2" Type="http://schemas.openxmlformats.org/officeDocument/2006/relationships/notesSlide" Target="../notesSlides/notesSlide60.xml"/><Relationship Id="rId1" Type="http://schemas.openxmlformats.org/officeDocument/2006/relationships/slideLayout" Target="../slideLayouts/slideLayout8.xml"/><Relationship Id="rId5" Type="http://schemas.openxmlformats.org/officeDocument/2006/relationships/image" Target="../media/image112.emf"/><Relationship Id="rId4" Type="http://schemas.openxmlformats.org/officeDocument/2006/relationships/image" Target="../media/image111.emf"/></Relationships>
</file>

<file path=ppt/slides/_rels/slide61.xml.rels><?xml version="1.0" encoding="UTF-8" standalone="yes"?>
<Relationships xmlns="http://schemas.openxmlformats.org/package/2006/relationships"><Relationship Id="rId8" Type="http://schemas.openxmlformats.org/officeDocument/2006/relationships/image" Target="../media/image118.sv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notesSlide" Target="../notesSlides/notesSlide61.xml"/><Relationship Id="rId1" Type="http://schemas.openxmlformats.org/officeDocument/2006/relationships/slideLayout" Target="../slideLayouts/slideLayout16.xml"/><Relationship Id="rId6" Type="http://schemas.openxmlformats.org/officeDocument/2006/relationships/image" Target="../media/image116.svg"/><Relationship Id="rId5" Type="http://schemas.openxmlformats.org/officeDocument/2006/relationships/image" Target="../media/image115.png"/><Relationship Id="rId10" Type="http://schemas.openxmlformats.org/officeDocument/2006/relationships/image" Target="../media/image120.svg"/><Relationship Id="rId4" Type="http://schemas.openxmlformats.org/officeDocument/2006/relationships/image" Target="../media/image114.svg"/><Relationship Id="rId9" Type="http://schemas.openxmlformats.org/officeDocument/2006/relationships/image" Target="../media/image119.png"/></Relationships>
</file>

<file path=ppt/slides/_rels/slide6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2.xml"/><Relationship Id="rId1" Type="http://schemas.openxmlformats.org/officeDocument/2006/relationships/slideLayout" Target="../slideLayouts/slideLayout8.xml"/><Relationship Id="rId4" Type="http://schemas.openxmlformats.org/officeDocument/2006/relationships/image" Target="../media/image122.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67.xml"/><Relationship Id="rId1" Type="http://schemas.openxmlformats.org/officeDocument/2006/relationships/slideLayout" Target="../slideLayouts/slideLayout41.xml"/><Relationship Id="rId5" Type="http://schemas.openxmlformats.org/officeDocument/2006/relationships/image" Target="../media/image98.png"/><Relationship Id="rId4" Type="http://schemas.openxmlformats.org/officeDocument/2006/relationships/image" Target="../media/image127.wmf"/></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hyperlink" Target="https://learn.microsoft.com/sql/relationaldatabases/security/encryption/always-encrypted-database-engine?view=sql-server-ver15" TargetMode="External"/><Relationship Id="rId2" Type="http://schemas.openxmlformats.org/officeDocument/2006/relationships/notesSlide" Target="../notesSlides/notesSlide69.xml"/><Relationship Id="rId1" Type="http://schemas.openxmlformats.org/officeDocument/2006/relationships/slideLayout" Target="../slideLayouts/slideLayout36.xml"/><Relationship Id="rId5" Type="http://schemas.openxmlformats.org/officeDocument/2006/relationships/hyperlink" Target="https://learn.microsoft.com/azure/sql-database/sql-database-threat-detection-overview" TargetMode="External"/><Relationship Id="rId4" Type="http://schemas.openxmlformats.org/officeDocument/2006/relationships/hyperlink" Target="https://learn.microsoft.com/azure/key-vault/general/basic-concepts" TargetMode="Externa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9912" y="1890117"/>
            <a:ext cx="5686955" cy="2462213"/>
          </a:xfrm>
        </p:spPr>
        <p:txBody>
          <a:bodyPr/>
          <a:lstStyle/>
          <a:p>
            <a:r>
              <a:rPr lang="en-US" dirty="0">
                <a:solidFill>
                  <a:schemeClr val="tx1"/>
                </a:solidFill>
              </a:rPr>
              <a:t>DP-300 </a:t>
            </a:r>
            <a:br>
              <a:rPr lang="en-US">
                <a:solidFill>
                  <a:schemeClr val="tx1"/>
                </a:solidFill>
              </a:rPr>
            </a:br>
            <a:r>
              <a:rPr lang="en-US"/>
              <a:t>Implement scalable database solutions using Azure SQL</a:t>
            </a:r>
            <a:endParaRPr lang="en-US" dirty="0">
              <a:solidFill>
                <a:schemeClr val="tx1"/>
              </a:solidFill>
            </a:endParaRPr>
          </a:p>
        </p:txBody>
      </p:sp>
    </p:spTree>
    <p:extLst>
      <p:ext uri="{BB962C8B-B14F-4D97-AF65-F5344CB8AC3E}">
        <p14:creationId xmlns:p14="http://schemas.microsoft.com/office/powerpoint/2010/main" val="46220457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9D37DD-921E-04F1-0ECC-2BEFACE6B675}"/>
              </a:ext>
            </a:extLst>
          </p:cNvPr>
          <p:cNvSpPr>
            <a:spLocks noGrp="1"/>
          </p:cNvSpPr>
          <p:nvPr>
            <p:ph type="title"/>
          </p:nvPr>
        </p:nvSpPr>
        <p:spPr>
          <a:xfrm>
            <a:off x="569911" y="2769057"/>
            <a:ext cx="7354889" cy="1231106"/>
          </a:xfrm>
        </p:spPr>
        <p:txBody>
          <a:bodyPr/>
          <a:lstStyle/>
          <a:p>
            <a:r>
              <a:rPr lang="fr-FR" dirty="0" err="1"/>
              <a:t>Implement</a:t>
            </a:r>
            <a:r>
              <a:rPr lang="fr-FR" dirty="0"/>
              <a:t> a </a:t>
            </a:r>
            <a:r>
              <a:rPr lang="fr-FR" dirty="0" err="1"/>
              <a:t>secure</a:t>
            </a:r>
            <a:r>
              <a:rPr lang="fr-FR" dirty="0"/>
              <a:t> </a:t>
            </a:r>
            <a:r>
              <a:rPr lang="fr-FR" dirty="0" err="1"/>
              <a:t>environment</a:t>
            </a:r>
            <a:r>
              <a:rPr lang="fr-FR" dirty="0"/>
              <a:t> for </a:t>
            </a:r>
            <a:r>
              <a:rPr lang="fr-FR"/>
              <a:t>a database </a:t>
            </a:r>
            <a:r>
              <a:rPr lang="fr-FR" dirty="0"/>
              <a:t>service </a:t>
            </a:r>
            <a:endParaRPr lang="en-US" dirty="0"/>
          </a:p>
        </p:txBody>
      </p:sp>
      <p:sp>
        <p:nvSpPr>
          <p:cNvPr id="2" name="TextBox 1">
            <a:extLst>
              <a:ext uri="{FF2B5EF4-FFF2-40B4-BE49-F238E27FC236}">
                <a16:creationId xmlns:a16="http://schemas.microsoft.com/office/drawing/2014/main" id="{0E82D8F7-3EB5-102A-BD4B-4E841E9DEE96}"/>
              </a:ext>
            </a:extLst>
          </p:cNvPr>
          <p:cNvSpPr txBox="1"/>
          <p:nvPr/>
        </p:nvSpPr>
        <p:spPr>
          <a:xfrm>
            <a:off x="569911" y="4811150"/>
            <a:ext cx="5898124" cy="615553"/>
          </a:xfrm>
          <a:prstGeom prst="rect">
            <a:avLst/>
          </a:prstGeom>
          <a:noFill/>
        </p:spPr>
        <p:txBody>
          <a:bodyPr wrap="square" lIns="0" tIns="0" rIns="0" bIns="0" rtlCol="0">
            <a:spAutoFit/>
          </a:bodyPr>
          <a:lstStyle/>
          <a:p>
            <a:pPr algn="l"/>
            <a:r>
              <a:rPr lang="en-US" sz="2000" dirty="0">
                <a:solidFill>
                  <a:schemeClr val="accent2"/>
                </a:solidFill>
              </a:rPr>
              <a:t>https://learn.microsoft.com/training/paths/implement-secure-environment-database-service/</a:t>
            </a:r>
          </a:p>
        </p:txBody>
      </p:sp>
    </p:spTree>
    <p:extLst>
      <p:ext uri="{BB962C8B-B14F-4D97-AF65-F5344CB8AC3E}">
        <p14:creationId xmlns:p14="http://schemas.microsoft.com/office/powerpoint/2010/main" val="207765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C712147F-14B2-6643-7129-A46AB3C38B3F}"/>
              </a:ext>
            </a:extLst>
          </p:cNvPr>
          <p:cNvSpPr>
            <a:spLocks noGrp="1"/>
          </p:cNvSpPr>
          <p:nvPr>
            <p:ph type="title"/>
          </p:nvPr>
        </p:nvSpPr>
        <p:spPr/>
        <p:txBody>
          <a:bodyPr/>
          <a:lstStyle/>
          <a:p>
            <a:r>
              <a:rPr lang="en-US" dirty="0"/>
              <a:t>Objectives</a:t>
            </a:r>
          </a:p>
        </p:txBody>
      </p:sp>
      <p:pic>
        <p:nvPicPr>
          <p:cNvPr id="2" name="Picture 1" descr="Icon of a bulb">
            <a:extLst>
              <a:ext uri="{FF2B5EF4-FFF2-40B4-BE49-F238E27FC236}">
                <a16:creationId xmlns:a16="http://schemas.microsoft.com/office/drawing/2014/main" id="{10489FB7-3A01-B367-6CEE-98168CF89AC3}"/>
              </a:ext>
            </a:extLst>
          </p:cNvPr>
          <p:cNvPicPr>
            <a:picLocks/>
          </p:cNvPicPr>
          <p:nvPr/>
        </p:nvPicPr>
        <p:blipFill>
          <a:blip r:embed="rId3">
            <a:duotone>
              <a:schemeClr val="accent3">
                <a:shade val="45000"/>
                <a:satMod val="135000"/>
              </a:schemeClr>
              <a:prstClr val="white"/>
            </a:duotone>
          </a:blip>
          <a:stretch>
            <a:fillRect/>
          </a:stretch>
        </p:blipFill>
        <p:spPr>
          <a:xfrm>
            <a:off x="588262" y="1561801"/>
            <a:ext cx="731520" cy="731520"/>
          </a:xfrm>
          <a:prstGeom prst="rect">
            <a:avLst/>
          </a:prstGeom>
        </p:spPr>
      </p:pic>
      <p:sp>
        <p:nvSpPr>
          <p:cNvPr id="8" name="TextBox 7">
            <a:extLst>
              <a:ext uri="{FF2B5EF4-FFF2-40B4-BE49-F238E27FC236}">
                <a16:creationId xmlns:a16="http://schemas.microsoft.com/office/drawing/2014/main" id="{20E3F7EC-E39F-449B-8062-5FD39AAEE365}"/>
              </a:ext>
            </a:extLst>
          </p:cNvPr>
          <p:cNvSpPr txBox="1">
            <a:spLocks/>
          </p:cNvSpPr>
          <p:nvPr/>
        </p:nvSpPr>
        <p:spPr>
          <a:xfrm>
            <a:off x="1574800" y="1619784"/>
            <a:ext cx="9690100" cy="615553"/>
          </a:xfrm>
          <a:prstGeom prst="rect">
            <a:avLst/>
          </a:prstGeom>
          <a:noFill/>
        </p:spPr>
        <p:txBody>
          <a:bodyPr wrap="square" lIns="0" tIns="0" rIns="0" bIns="0" anchor="ctr">
            <a:spAutoFit/>
          </a:bodyPr>
          <a:lstStyle/>
          <a:p>
            <a:pPr marL="0" indent="0">
              <a:buNone/>
            </a:pPr>
            <a:r>
              <a:rPr lang="en-US" sz="2000" dirty="0"/>
              <a:t>Understand the differences between Windows, SQL Server and Microsoft </a:t>
            </a:r>
            <a:r>
              <a:rPr lang="en-US" sz="2000" dirty="0" err="1"/>
              <a:t>Entra</a:t>
            </a:r>
            <a:r>
              <a:rPr lang="en-US" sz="2000" dirty="0"/>
              <a:t> authentication </a:t>
            </a:r>
          </a:p>
        </p:txBody>
      </p:sp>
      <p:pic>
        <p:nvPicPr>
          <p:cNvPr id="3" name="Picture 2" descr="Icon of a document">
            <a:extLst>
              <a:ext uri="{FF2B5EF4-FFF2-40B4-BE49-F238E27FC236}">
                <a16:creationId xmlns:a16="http://schemas.microsoft.com/office/drawing/2014/main" id="{058D4297-7960-F74E-032A-5A47677E4555}"/>
              </a:ext>
            </a:extLst>
          </p:cNvPr>
          <p:cNvPicPr>
            <a:picLocks/>
          </p:cNvPicPr>
          <p:nvPr/>
        </p:nvPicPr>
        <p:blipFill>
          <a:blip r:embed="rId4">
            <a:duotone>
              <a:schemeClr val="accent3">
                <a:shade val="45000"/>
                <a:satMod val="135000"/>
              </a:schemeClr>
              <a:prstClr val="white"/>
            </a:duotone>
          </a:blip>
          <a:stretch>
            <a:fillRect/>
          </a:stretch>
        </p:blipFill>
        <p:spPr>
          <a:xfrm>
            <a:off x="588262" y="2666958"/>
            <a:ext cx="731520" cy="731520"/>
          </a:xfrm>
          <a:prstGeom prst="rect">
            <a:avLst/>
          </a:prstGeom>
        </p:spPr>
      </p:pic>
      <p:sp>
        <p:nvSpPr>
          <p:cNvPr id="12" name="TextBox 11">
            <a:extLst>
              <a:ext uri="{FF2B5EF4-FFF2-40B4-BE49-F238E27FC236}">
                <a16:creationId xmlns:a16="http://schemas.microsoft.com/office/drawing/2014/main" id="{E96F08EE-67D8-7A89-44D3-70B0E0A6D42C}"/>
              </a:ext>
            </a:extLst>
          </p:cNvPr>
          <p:cNvSpPr txBox="1">
            <a:spLocks/>
          </p:cNvSpPr>
          <p:nvPr/>
        </p:nvSpPr>
        <p:spPr>
          <a:xfrm>
            <a:off x="1574800" y="2724941"/>
            <a:ext cx="9690100" cy="615553"/>
          </a:xfrm>
          <a:prstGeom prst="rect">
            <a:avLst/>
          </a:prstGeom>
          <a:noFill/>
        </p:spPr>
        <p:txBody>
          <a:bodyPr wrap="square" lIns="0" tIns="0" rIns="0" bIns="0" anchor="ctr">
            <a:spAutoFit/>
          </a:bodyPr>
          <a:lstStyle/>
          <a:p>
            <a:pPr marL="0" indent="0">
              <a:buNone/>
            </a:pPr>
            <a:r>
              <a:rPr lang="en-US" sz="2000" dirty="0"/>
              <a:t>Describe and configure both data-at-rest encryption solutions as well as </a:t>
            </a:r>
            <a:r>
              <a:rPr lang="en-US" sz="2000"/>
              <a:t>data-in-transit encryption </a:t>
            </a:r>
            <a:r>
              <a:rPr lang="en-US" sz="2000" dirty="0"/>
              <a:t>solutions </a:t>
            </a:r>
          </a:p>
        </p:txBody>
      </p:sp>
      <p:pic>
        <p:nvPicPr>
          <p:cNvPr id="4" name="Picture 3" descr="Icon of a gear and a arrow going across it">
            <a:extLst>
              <a:ext uri="{FF2B5EF4-FFF2-40B4-BE49-F238E27FC236}">
                <a16:creationId xmlns:a16="http://schemas.microsoft.com/office/drawing/2014/main" id="{91619BF6-0C35-DDA2-578B-2CBF1C5E924A}"/>
              </a:ext>
            </a:extLst>
          </p:cNvPr>
          <p:cNvPicPr>
            <a:picLocks/>
          </p:cNvPicPr>
          <p:nvPr/>
        </p:nvPicPr>
        <p:blipFill>
          <a:blip r:embed="rId5">
            <a:duotone>
              <a:schemeClr val="accent3">
                <a:shade val="45000"/>
                <a:satMod val="135000"/>
              </a:schemeClr>
              <a:prstClr val="white"/>
            </a:duotone>
          </a:blip>
          <a:stretch>
            <a:fillRect/>
          </a:stretch>
        </p:blipFill>
        <p:spPr>
          <a:xfrm>
            <a:off x="588262" y="3772115"/>
            <a:ext cx="731520" cy="731520"/>
          </a:xfrm>
          <a:prstGeom prst="rect">
            <a:avLst/>
          </a:prstGeom>
        </p:spPr>
      </p:pic>
      <p:sp>
        <p:nvSpPr>
          <p:cNvPr id="16" name="TextBox 15">
            <a:extLst>
              <a:ext uri="{FF2B5EF4-FFF2-40B4-BE49-F238E27FC236}">
                <a16:creationId xmlns:a16="http://schemas.microsoft.com/office/drawing/2014/main" id="{F863A306-D308-7C38-7340-D27573022799}"/>
              </a:ext>
            </a:extLst>
          </p:cNvPr>
          <p:cNvSpPr txBox="1">
            <a:spLocks/>
          </p:cNvSpPr>
          <p:nvPr/>
        </p:nvSpPr>
        <p:spPr>
          <a:xfrm>
            <a:off x="1574800" y="3983987"/>
            <a:ext cx="9690100" cy="307777"/>
          </a:xfrm>
          <a:prstGeom prst="rect">
            <a:avLst/>
          </a:prstGeom>
          <a:noFill/>
        </p:spPr>
        <p:txBody>
          <a:bodyPr wrap="square" lIns="0" tIns="0" rIns="0" bIns="0" anchor="ctr">
            <a:spAutoFit/>
          </a:bodyPr>
          <a:lstStyle/>
          <a:p>
            <a:pPr marL="0" indent="0">
              <a:buNone/>
            </a:pPr>
            <a:r>
              <a:rPr lang="en-US" sz="2000" dirty="0"/>
              <a:t>Implement a data sensitivity solution</a:t>
            </a:r>
          </a:p>
        </p:txBody>
      </p:sp>
    </p:spTree>
    <p:extLst>
      <p:ext uri="{BB962C8B-B14F-4D97-AF65-F5344CB8AC3E}">
        <p14:creationId xmlns:p14="http://schemas.microsoft.com/office/powerpoint/2010/main" val="134138402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9D7D3-5BF9-CA49-AC03-EAE5E0DE411B}"/>
              </a:ext>
            </a:extLst>
          </p:cNvPr>
          <p:cNvSpPr>
            <a:spLocks noGrp="1"/>
          </p:cNvSpPr>
          <p:nvPr>
            <p:ph type="title"/>
          </p:nvPr>
        </p:nvSpPr>
        <p:spPr>
          <a:xfrm>
            <a:off x="569911" y="2813447"/>
            <a:ext cx="7383918" cy="1231106"/>
          </a:xfrm>
        </p:spPr>
        <p:txBody>
          <a:bodyPr anchor="t" anchorCtr="0"/>
          <a:lstStyle/>
          <a:p>
            <a:r>
              <a:rPr lang="en-US" dirty="0"/>
              <a:t>Configure database authentication and authorization</a:t>
            </a:r>
          </a:p>
        </p:txBody>
      </p:sp>
      <p:sp>
        <p:nvSpPr>
          <p:cNvPr id="4" name="TextBox 3">
            <a:extLst>
              <a:ext uri="{FF2B5EF4-FFF2-40B4-BE49-F238E27FC236}">
                <a16:creationId xmlns:a16="http://schemas.microsoft.com/office/drawing/2014/main" id="{68D15C9F-86E5-B7BD-E89B-188457FAF085}"/>
              </a:ext>
            </a:extLst>
          </p:cNvPr>
          <p:cNvSpPr txBox="1"/>
          <p:nvPr/>
        </p:nvSpPr>
        <p:spPr>
          <a:xfrm>
            <a:off x="569911" y="4811150"/>
            <a:ext cx="5898124" cy="615553"/>
          </a:xfrm>
          <a:prstGeom prst="rect">
            <a:avLst/>
          </a:prstGeom>
          <a:noFill/>
        </p:spPr>
        <p:txBody>
          <a:bodyPr wrap="square" lIns="0" tIns="0" rIns="0" bIns="0" rtlCol="0">
            <a:spAutoFit/>
          </a:bodyPr>
          <a:lstStyle/>
          <a:p>
            <a:pPr algn="l"/>
            <a:r>
              <a:rPr lang="en-US" sz="2000" dirty="0">
                <a:solidFill>
                  <a:schemeClr val="accent2"/>
                </a:solidFill>
              </a:rPr>
              <a:t>https://learn.microsoft.com/training/modules/configure-database-authentication-authorization/</a:t>
            </a:r>
          </a:p>
        </p:txBody>
      </p:sp>
    </p:spTree>
    <p:extLst>
      <p:ext uri="{BB962C8B-B14F-4D97-AF65-F5344CB8AC3E}">
        <p14:creationId xmlns:p14="http://schemas.microsoft.com/office/powerpoint/2010/main" val="2526548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2C8BF0D3-150E-FB18-4F89-FEDFAEE48DA7}"/>
              </a:ext>
            </a:extLst>
          </p:cNvPr>
          <p:cNvSpPr>
            <a:spLocks noGrp="1"/>
          </p:cNvSpPr>
          <p:nvPr>
            <p:ph type="title"/>
          </p:nvPr>
        </p:nvSpPr>
        <p:spPr>
          <a:xfrm>
            <a:off x="588262" y="585216"/>
            <a:ext cx="11011600" cy="492443"/>
          </a:xfrm>
        </p:spPr>
        <p:txBody>
          <a:bodyPr/>
          <a:lstStyle/>
          <a:p>
            <a:r>
              <a:rPr lang="en-US"/>
              <a:t>Objectives </a:t>
            </a:r>
            <a:endParaRPr lang="en-US" dirty="0"/>
          </a:p>
        </p:txBody>
      </p:sp>
      <p:pic>
        <p:nvPicPr>
          <p:cNvPr id="2" name="Picture 1" descr="Icon of check mark enclosed by an arc">
            <a:extLst>
              <a:ext uri="{FF2B5EF4-FFF2-40B4-BE49-F238E27FC236}">
                <a16:creationId xmlns:a16="http://schemas.microsoft.com/office/drawing/2014/main" id="{E56F5166-BF23-A279-E36F-51A20050FF1C}"/>
              </a:ext>
            </a:extLst>
          </p:cNvPr>
          <p:cNvPicPr>
            <a:picLocks/>
          </p:cNvPicPr>
          <p:nvPr/>
        </p:nvPicPr>
        <p:blipFill>
          <a:blip r:embed="rId3">
            <a:duotone>
              <a:schemeClr val="accent3">
                <a:shade val="45000"/>
                <a:satMod val="135000"/>
              </a:schemeClr>
              <a:prstClr val="white"/>
            </a:duotone>
          </a:blip>
          <a:stretch>
            <a:fillRect/>
          </a:stretch>
        </p:blipFill>
        <p:spPr>
          <a:xfrm>
            <a:off x="588262" y="1393348"/>
            <a:ext cx="731520" cy="731520"/>
          </a:xfrm>
          <a:prstGeom prst="rect">
            <a:avLst/>
          </a:prstGeom>
        </p:spPr>
      </p:pic>
      <p:sp>
        <p:nvSpPr>
          <p:cNvPr id="21" name="TextBox 20">
            <a:extLst>
              <a:ext uri="{FF2B5EF4-FFF2-40B4-BE49-F238E27FC236}">
                <a16:creationId xmlns:a16="http://schemas.microsoft.com/office/drawing/2014/main" id="{225D3B6E-29E4-FB50-9B46-5B24D16EF113}"/>
              </a:ext>
            </a:extLst>
          </p:cNvPr>
          <p:cNvSpPr txBox="1">
            <a:spLocks/>
          </p:cNvSpPr>
          <p:nvPr/>
        </p:nvSpPr>
        <p:spPr>
          <a:xfrm>
            <a:off x="1447800" y="1605219"/>
            <a:ext cx="9817100" cy="307777"/>
          </a:xfrm>
          <a:prstGeom prst="rect">
            <a:avLst/>
          </a:prstGeom>
          <a:noFill/>
        </p:spPr>
        <p:txBody>
          <a:bodyPr wrap="square" lIns="0" tIns="0" rIns="0" bIns="0" anchor="ctr">
            <a:spAutoFit/>
          </a:bodyPr>
          <a:lstStyle/>
          <a:p>
            <a:pPr marL="0" indent="0">
              <a:buNone/>
            </a:pPr>
            <a:r>
              <a:rPr lang="en-US" sz="2000" dirty="0"/>
              <a:t>Authentication options for Azure SQL Database </a:t>
            </a:r>
          </a:p>
        </p:txBody>
      </p:sp>
      <p:pic>
        <p:nvPicPr>
          <p:cNvPr id="3" name="Picture 2" descr="Icon of a security lock">
            <a:extLst>
              <a:ext uri="{FF2B5EF4-FFF2-40B4-BE49-F238E27FC236}">
                <a16:creationId xmlns:a16="http://schemas.microsoft.com/office/drawing/2014/main" id="{AE9D8EE7-D2A2-0B5A-C00F-BFA39DBEE6DF}"/>
              </a:ext>
            </a:extLst>
          </p:cNvPr>
          <p:cNvPicPr>
            <a:picLocks/>
          </p:cNvPicPr>
          <p:nvPr/>
        </p:nvPicPr>
        <p:blipFill>
          <a:blip r:embed="rId4">
            <a:duotone>
              <a:schemeClr val="accent3">
                <a:shade val="45000"/>
                <a:satMod val="135000"/>
              </a:schemeClr>
              <a:prstClr val="white"/>
            </a:duotone>
          </a:blip>
          <a:stretch>
            <a:fillRect/>
          </a:stretch>
        </p:blipFill>
        <p:spPr>
          <a:xfrm>
            <a:off x="588262" y="2313964"/>
            <a:ext cx="731520" cy="731520"/>
          </a:xfrm>
          <a:prstGeom prst="rect">
            <a:avLst/>
          </a:prstGeom>
        </p:spPr>
      </p:pic>
      <p:sp>
        <p:nvSpPr>
          <p:cNvPr id="24" name="TextBox 23">
            <a:extLst>
              <a:ext uri="{FF2B5EF4-FFF2-40B4-BE49-F238E27FC236}">
                <a16:creationId xmlns:a16="http://schemas.microsoft.com/office/drawing/2014/main" id="{5F0C9BB3-60F2-2FDD-D197-723E455B0033}"/>
              </a:ext>
            </a:extLst>
          </p:cNvPr>
          <p:cNvSpPr txBox="1">
            <a:spLocks/>
          </p:cNvSpPr>
          <p:nvPr/>
        </p:nvSpPr>
        <p:spPr>
          <a:xfrm>
            <a:off x="1447800" y="2525836"/>
            <a:ext cx="9817100" cy="307777"/>
          </a:xfrm>
          <a:prstGeom prst="rect">
            <a:avLst/>
          </a:prstGeom>
          <a:noFill/>
        </p:spPr>
        <p:txBody>
          <a:bodyPr wrap="square" lIns="0" tIns="0" rIns="0" bIns="0" anchor="ctr">
            <a:spAutoFit/>
          </a:bodyPr>
          <a:lstStyle/>
          <a:p>
            <a:pPr marL="0" indent="0">
              <a:buNone/>
            </a:pPr>
            <a:r>
              <a:rPr lang="en-US" sz="2000" dirty="0"/>
              <a:t>Security principals</a:t>
            </a:r>
          </a:p>
        </p:txBody>
      </p:sp>
      <p:pic>
        <p:nvPicPr>
          <p:cNvPr id="4" name="Picture 3" descr="Icon of a server with cloud in the middle">
            <a:extLst>
              <a:ext uri="{FF2B5EF4-FFF2-40B4-BE49-F238E27FC236}">
                <a16:creationId xmlns:a16="http://schemas.microsoft.com/office/drawing/2014/main" id="{15099AC2-7745-B30E-6633-7E2FE10EAC4E}"/>
              </a:ext>
            </a:extLst>
          </p:cNvPr>
          <p:cNvPicPr>
            <a:picLocks/>
          </p:cNvPicPr>
          <p:nvPr/>
        </p:nvPicPr>
        <p:blipFill>
          <a:blip r:embed="rId5">
            <a:duotone>
              <a:schemeClr val="accent3">
                <a:shade val="45000"/>
                <a:satMod val="135000"/>
              </a:schemeClr>
              <a:prstClr val="white"/>
            </a:duotone>
          </a:blip>
          <a:stretch>
            <a:fillRect/>
          </a:stretch>
        </p:blipFill>
        <p:spPr>
          <a:xfrm>
            <a:off x="588262" y="3234580"/>
            <a:ext cx="731520" cy="731520"/>
          </a:xfrm>
          <a:prstGeom prst="rect">
            <a:avLst/>
          </a:prstGeom>
        </p:spPr>
      </p:pic>
      <p:sp>
        <p:nvSpPr>
          <p:cNvPr id="26" name="TextBox 25">
            <a:extLst>
              <a:ext uri="{FF2B5EF4-FFF2-40B4-BE49-F238E27FC236}">
                <a16:creationId xmlns:a16="http://schemas.microsoft.com/office/drawing/2014/main" id="{D12744F1-0C68-7D97-98CA-2BE111B235F8}"/>
              </a:ext>
            </a:extLst>
          </p:cNvPr>
          <p:cNvSpPr txBox="1">
            <a:spLocks/>
          </p:cNvSpPr>
          <p:nvPr/>
        </p:nvSpPr>
        <p:spPr>
          <a:xfrm>
            <a:off x="1447800" y="3446452"/>
            <a:ext cx="9817100" cy="307777"/>
          </a:xfrm>
          <a:prstGeom prst="rect">
            <a:avLst/>
          </a:prstGeom>
          <a:noFill/>
        </p:spPr>
        <p:txBody>
          <a:bodyPr wrap="square" lIns="0" tIns="0" rIns="0" bIns="0" anchor="ctr">
            <a:spAutoFit/>
          </a:bodyPr>
          <a:lstStyle/>
          <a:p>
            <a:pPr marL="0" indent="0">
              <a:buNone/>
            </a:pPr>
            <a:r>
              <a:rPr lang="en-US" sz="2000" dirty="0"/>
              <a:t>Roles in Azure SQL Database</a:t>
            </a:r>
          </a:p>
        </p:txBody>
      </p:sp>
      <p:pic>
        <p:nvPicPr>
          <p:cNvPr id="5" name="Picture 4" descr="Icon of a document with a checkmark">
            <a:extLst>
              <a:ext uri="{FF2B5EF4-FFF2-40B4-BE49-F238E27FC236}">
                <a16:creationId xmlns:a16="http://schemas.microsoft.com/office/drawing/2014/main" id="{BBCB46FF-ABE3-95B4-12E5-B21E5BCC87D9}"/>
              </a:ext>
            </a:extLst>
          </p:cNvPr>
          <p:cNvPicPr>
            <a:picLocks/>
          </p:cNvPicPr>
          <p:nvPr/>
        </p:nvPicPr>
        <p:blipFill>
          <a:blip r:embed="rId6">
            <a:duotone>
              <a:schemeClr val="accent3">
                <a:shade val="45000"/>
                <a:satMod val="135000"/>
              </a:schemeClr>
              <a:prstClr val="white"/>
            </a:duotone>
          </a:blip>
          <a:stretch>
            <a:fillRect/>
          </a:stretch>
        </p:blipFill>
        <p:spPr>
          <a:xfrm>
            <a:off x="588262" y="4155196"/>
            <a:ext cx="731520" cy="731520"/>
          </a:xfrm>
          <a:prstGeom prst="rect">
            <a:avLst/>
          </a:prstGeom>
        </p:spPr>
      </p:pic>
      <p:sp>
        <p:nvSpPr>
          <p:cNvPr id="30" name="TextBox 29">
            <a:extLst>
              <a:ext uri="{FF2B5EF4-FFF2-40B4-BE49-F238E27FC236}">
                <a16:creationId xmlns:a16="http://schemas.microsoft.com/office/drawing/2014/main" id="{28C91E24-6A04-DB0F-4B21-8567398A7B95}"/>
              </a:ext>
            </a:extLst>
          </p:cNvPr>
          <p:cNvSpPr txBox="1">
            <a:spLocks/>
          </p:cNvSpPr>
          <p:nvPr/>
        </p:nvSpPr>
        <p:spPr>
          <a:xfrm>
            <a:off x="1447800" y="4367068"/>
            <a:ext cx="9817100" cy="307777"/>
          </a:xfrm>
          <a:prstGeom prst="rect">
            <a:avLst/>
          </a:prstGeom>
          <a:noFill/>
        </p:spPr>
        <p:txBody>
          <a:bodyPr wrap="square" lIns="0" tIns="0" rIns="0" bIns="0" anchor="ctr">
            <a:spAutoFit/>
          </a:bodyPr>
          <a:lstStyle/>
          <a:p>
            <a:pPr marL="0" indent="0">
              <a:buNone/>
            </a:pPr>
            <a:r>
              <a:rPr lang="en-US" sz="2000" dirty="0"/>
              <a:t>Understand permissions within Azure SQL</a:t>
            </a:r>
          </a:p>
        </p:txBody>
      </p:sp>
      <p:pic>
        <p:nvPicPr>
          <p:cNvPr id="6" name="Picture 5" descr="Icon of a lightning bolt symbol inside a circle">
            <a:extLst>
              <a:ext uri="{FF2B5EF4-FFF2-40B4-BE49-F238E27FC236}">
                <a16:creationId xmlns:a16="http://schemas.microsoft.com/office/drawing/2014/main" id="{11B6461E-5BC4-AF31-ACAF-7C967E639749}"/>
              </a:ext>
            </a:extLst>
          </p:cNvPr>
          <p:cNvPicPr>
            <a:picLocks/>
          </p:cNvPicPr>
          <p:nvPr/>
        </p:nvPicPr>
        <p:blipFill>
          <a:blip r:embed="rId7">
            <a:duotone>
              <a:schemeClr val="accent3">
                <a:shade val="45000"/>
                <a:satMod val="135000"/>
              </a:schemeClr>
              <a:prstClr val="white"/>
            </a:duotone>
          </a:blip>
          <a:stretch>
            <a:fillRect/>
          </a:stretch>
        </p:blipFill>
        <p:spPr>
          <a:xfrm>
            <a:off x="588262" y="5075812"/>
            <a:ext cx="731520" cy="731520"/>
          </a:xfrm>
          <a:prstGeom prst="rect">
            <a:avLst/>
          </a:prstGeom>
        </p:spPr>
      </p:pic>
      <p:sp>
        <p:nvSpPr>
          <p:cNvPr id="31" name="TextBox 30">
            <a:extLst>
              <a:ext uri="{FF2B5EF4-FFF2-40B4-BE49-F238E27FC236}">
                <a16:creationId xmlns:a16="http://schemas.microsoft.com/office/drawing/2014/main" id="{9DB7275E-26E6-14DB-2BC7-7DB5AF19ED08}"/>
              </a:ext>
            </a:extLst>
          </p:cNvPr>
          <p:cNvSpPr txBox="1">
            <a:spLocks/>
          </p:cNvSpPr>
          <p:nvPr/>
        </p:nvSpPr>
        <p:spPr>
          <a:xfrm>
            <a:off x="1447800" y="5287683"/>
            <a:ext cx="9817100" cy="307777"/>
          </a:xfrm>
          <a:prstGeom prst="rect">
            <a:avLst/>
          </a:prstGeom>
          <a:noFill/>
        </p:spPr>
        <p:txBody>
          <a:bodyPr wrap="square" lIns="0" tIns="0" rIns="0" bIns="0" anchor="ctr">
            <a:spAutoFit/>
          </a:bodyPr>
          <a:lstStyle/>
          <a:p>
            <a:pPr marL="0" indent="0">
              <a:buNone/>
            </a:pPr>
            <a:r>
              <a:rPr lang="en-US" sz="2000" dirty="0"/>
              <a:t>Understand the concept of least privilege</a:t>
            </a:r>
          </a:p>
        </p:txBody>
      </p:sp>
    </p:spTree>
    <p:extLst>
      <p:ext uri="{BB962C8B-B14F-4D97-AF65-F5344CB8AC3E}">
        <p14:creationId xmlns:p14="http://schemas.microsoft.com/office/powerpoint/2010/main" val="337535907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C6E019-9998-066B-EB83-8CC50BCD9F6B}"/>
              </a:ext>
            </a:extLst>
          </p:cNvPr>
          <p:cNvSpPr>
            <a:spLocks noGrp="1"/>
          </p:cNvSpPr>
          <p:nvPr>
            <p:ph type="title"/>
          </p:nvPr>
        </p:nvSpPr>
        <p:spPr/>
        <p:txBody>
          <a:bodyPr/>
          <a:lstStyle/>
          <a:p>
            <a:r>
              <a:rPr lang="en-US" dirty="0"/>
              <a:t>Azure AD authentication options</a:t>
            </a:r>
          </a:p>
        </p:txBody>
      </p:sp>
      <p:sp>
        <p:nvSpPr>
          <p:cNvPr id="7" name="Rectangle 6">
            <a:extLst>
              <a:ext uri="{FF2B5EF4-FFF2-40B4-BE49-F238E27FC236}">
                <a16:creationId xmlns:a16="http://schemas.microsoft.com/office/drawing/2014/main" id="{A6B6EB35-E52A-E3E9-C834-6F977DCCA0F8}"/>
              </a:ext>
            </a:extLst>
          </p:cNvPr>
          <p:cNvSpPr/>
          <p:nvPr/>
        </p:nvSpPr>
        <p:spPr bwMode="auto">
          <a:xfrm>
            <a:off x="574943" y="1737152"/>
            <a:ext cx="3133457" cy="1554480"/>
          </a:xfrm>
          <a:prstGeom prst="rect">
            <a:avLst/>
          </a:prstGeom>
          <a:solidFill>
            <a:srgbClr val="FE9D8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2000" rIns="182880" bIns="72000" numCol="1" spcCol="0" rtlCol="0" fromWordArt="0" anchor="ctr" anchorCtr="0" forceAA="0" compatLnSpc="1">
            <a:prstTxWarp prst="textNoShape">
              <a:avLst/>
            </a:prstTxWarp>
            <a:noAutofit/>
          </a:bodyPr>
          <a:lstStyle/>
          <a:p>
            <a:pPr defTabSz="932472" fontAlgn="base">
              <a:spcBef>
                <a:spcPct val="0"/>
              </a:spcBef>
              <a:spcAft>
                <a:spcPct val="0"/>
              </a:spcAft>
            </a:pPr>
            <a:r>
              <a:rPr lang="en-US" sz="2000" dirty="0">
                <a:solidFill>
                  <a:schemeClr val="tx1"/>
                </a:solidFill>
                <a:latin typeface="+mj-lt"/>
              </a:rPr>
              <a:t>SQL Server authentication options</a:t>
            </a:r>
          </a:p>
        </p:txBody>
      </p:sp>
      <p:grpSp>
        <p:nvGrpSpPr>
          <p:cNvPr id="3" name="Group 2">
            <a:extLst>
              <a:ext uri="{FF2B5EF4-FFF2-40B4-BE49-F238E27FC236}">
                <a16:creationId xmlns:a16="http://schemas.microsoft.com/office/drawing/2014/main" id="{32E73ECB-9CF3-846D-98D6-A021B6FB2AEE}"/>
              </a:ext>
              <a:ext uri="{C183D7F6-B498-43B3-948B-1728B52AA6E4}">
                <adec:decorative xmlns:adec="http://schemas.microsoft.com/office/drawing/2017/decorative" val="1"/>
              </a:ext>
            </a:extLst>
          </p:cNvPr>
          <p:cNvGrpSpPr/>
          <p:nvPr/>
        </p:nvGrpSpPr>
        <p:grpSpPr>
          <a:xfrm>
            <a:off x="3708399" y="2097151"/>
            <a:ext cx="457200" cy="832477"/>
            <a:chOff x="3708400" y="2097151"/>
            <a:chExt cx="1027581" cy="832477"/>
          </a:xfrm>
        </p:grpSpPr>
        <p:cxnSp>
          <p:nvCxnSpPr>
            <p:cNvPr id="10" name="Connector: Elbow 9">
              <a:extLst>
                <a:ext uri="{FF2B5EF4-FFF2-40B4-BE49-F238E27FC236}">
                  <a16:creationId xmlns:a16="http://schemas.microsoft.com/office/drawing/2014/main" id="{4E38638F-859C-3C43-9AB0-9E81F0B85B34}"/>
                </a:ext>
                <a:ext uri="{C183D7F6-B498-43B3-948B-1728B52AA6E4}">
                  <adec:decorative xmlns:adec="http://schemas.microsoft.com/office/drawing/2017/decorative" val="1"/>
                </a:ext>
              </a:extLst>
            </p:cNvPr>
            <p:cNvCxnSpPr>
              <a:cxnSpLocks/>
              <a:stCxn id="7" idx="3"/>
              <a:endCxn id="8" idx="1"/>
            </p:cNvCxnSpPr>
            <p:nvPr/>
          </p:nvCxnSpPr>
          <p:spPr>
            <a:xfrm flipV="1">
              <a:off x="3708400" y="2097151"/>
              <a:ext cx="1019883" cy="417241"/>
            </a:xfrm>
            <a:prstGeom prst="bentConnector3">
              <a:avLst/>
            </a:prstGeom>
            <a:ln w="19050">
              <a:solidFill>
                <a:schemeClr val="bg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7A1FB048-8830-6426-D395-E0D793AA1E51}"/>
                </a:ext>
                <a:ext uri="{C183D7F6-B498-43B3-948B-1728B52AA6E4}">
                  <adec:decorative xmlns:adec="http://schemas.microsoft.com/office/drawing/2017/decorative" val="1"/>
                </a:ext>
              </a:extLst>
            </p:cNvPr>
            <p:cNvCxnSpPr>
              <a:cxnSpLocks/>
              <a:stCxn id="7" idx="3"/>
              <a:endCxn id="9" idx="1"/>
            </p:cNvCxnSpPr>
            <p:nvPr/>
          </p:nvCxnSpPr>
          <p:spPr>
            <a:xfrm>
              <a:off x="3708400" y="2514392"/>
              <a:ext cx="1027581" cy="415236"/>
            </a:xfrm>
            <a:prstGeom prst="bentConnector3">
              <a:avLst/>
            </a:prstGeom>
            <a:ln w="19050">
              <a:solidFill>
                <a:schemeClr val="bg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A4403A4F-97D6-E92C-ADEB-6AA8B5E279D8}"/>
              </a:ext>
            </a:extLst>
          </p:cNvPr>
          <p:cNvSpPr/>
          <p:nvPr/>
        </p:nvSpPr>
        <p:spPr bwMode="auto">
          <a:xfrm>
            <a:off x="4162175" y="1737151"/>
            <a:ext cx="7438137" cy="72000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r>
              <a:rPr lang="en-US" sz="1800" b="1" dirty="0">
                <a:solidFill>
                  <a:schemeClr val="tx1"/>
                </a:solidFill>
              </a:rPr>
              <a:t>Windows Authentication</a:t>
            </a:r>
          </a:p>
          <a:p>
            <a:r>
              <a:rPr lang="en-US" sz="1800" dirty="0">
                <a:solidFill>
                  <a:schemeClr val="tx1"/>
                </a:solidFill>
              </a:rPr>
              <a:t>User login information is stored in Microsoft </a:t>
            </a:r>
            <a:r>
              <a:rPr lang="en-US" sz="1800" dirty="0" err="1">
                <a:solidFill>
                  <a:schemeClr val="tx1"/>
                </a:solidFill>
              </a:rPr>
              <a:t>Entra</a:t>
            </a:r>
            <a:r>
              <a:rPr lang="en-US" sz="1800" dirty="0">
                <a:solidFill>
                  <a:schemeClr val="tx1"/>
                </a:solidFill>
              </a:rPr>
              <a:t> ID</a:t>
            </a:r>
          </a:p>
        </p:txBody>
      </p:sp>
      <p:sp>
        <p:nvSpPr>
          <p:cNvPr id="9" name="Rectangle 8">
            <a:extLst>
              <a:ext uri="{FF2B5EF4-FFF2-40B4-BE49-F238E27FC236}">
                <a16:creationId xmlns:a16="http://schemas.microsoft.com/office/drawing/2014/main" id="{9719F808-37D5-4347-5DBE-CA68FE731D40}"/>
              </a:ext>
            </a:extLst>
          </p:cNvPr>
          <p:cNvSpPr/>
          <p:nvPr/>
        </p:nvSpPr>
        <p:spPr bwMode="auto">
          <a:xfrm>
            <a:off x="4165600" y="2569628"/>
            <a:ext cx="7438137" cy="72000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r>
              <a:rPr lang="en-US" sz="1800" b="1" dirty="0">
                <a:solidFill>
                  <a:schemeClr val="tx1"/>
                </a:solidFill>
              </a:rPr>
              <a:t>SQL Server Authentication</a:t>
            </a:r>
          </a:p>
          <a:p>
            <a:r>
              <a:rPr lang="en-US" sz="1800" dirty="0">
                <a:solidFill>
                  <a:schemeClr val="tx1"/>
                </a:solidFill>
              </a:rPr>
              <a:t>User login information is stored in the Master or user database</a:t>
            </a:r>
          </a:p>
        </p:txBody>
      </p:sp>
      <p:sp>
        <p:nvSpPr>
          <p:cNvPr id="12" name="Rectangle 11">
            <a:extLst>
              <a:ext uri="{FF2B5EF4-FFF2-40B4-BE49-F238E27FC236}">
                <a16:creationId xmlns:a16="http://schemas.microsoft.com/office/drawing/2014/main" id="{4D8E2229-56B6-B157-AADB-1E68B843C2B6}"/>
              </a:ext>
            </a:extLst>
          </p:cNvPr>
          <p:cNvSpPr/>
          <p:nvPr/>
        </p:nvSpPr>
        <p:spPr bwMode="auto">
          <a:xfrm>
            <a:off x="574943" y="3646248"/>
            <a:ext cx="3133457" cy="1554480"/>
          </a:xfrm>
          <a:prstGeom prst="rect">
            <a:avLst/>
          </a:prstGeom>
          <a:solidFill>
            <a:schemeClr val="accent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2000" rIns="182880" bIns="72000" numCol="1" spcCol="0" rtlCol="0" fromWordArt="0" anchor="ctr" anchorCtr="0" forceAA="0" compatLnSpc="1">
            <a:prstTxWarp prst="textNoShape">
              <a:avLst/>
            </a:prstTxWarp>
            <a:noAutofit/>
          </a:bodyPr>
          <a:lstStyle/>
          <a:p>
            <a:pPr defTabSz="932472" fontAlgn="base">
              <a:spcBef>
                <a:spcPct val="0"/>
              </a:spcBef>
              <a:spcAft>
                <a:spcPct val="0"/>
              </a:spcAft>
            </a:pPr>
            <a:r>
              <a:rPr lang="en-US" sz="2000" dirty="0">
                <a:solidFill>
                  <a:schemeClr val="tx1"/>
                </a:solidFill>
                <a:latin typeface="+mj-lt"/>
              </a:rPr>
              <a:t>Azure SQL Database and Managed Instance authentication options</a:t>
            </a:r>
          </a:p>
        </p:txBody>
      </p:sp>
      <p:grpSp>
        <p:nvGrpSpPr>
          <p:cNvPr id="4" name="Group 3">
            <a:extLst>
              <a:ext uri="{FF2B5EF4-FFF2-40B4-BE49-F238E27FC236}">
                <a16:creationId xmlns:a16="http://schemas.microsoft.com/office/drawing/2014/main" id="{359FC397-B957-64A4-FDC2-DF9486B4057C}"/>
              </a:ext>
              <a:ext uri="{C183D7F6-B498-43B3-948B-1728B52AA6E4}">
                <adec:decorative xmlns:adec="http://schemas.microsoft.com/office/drawing/2017/decorative" val="1"/>
              </a:ext>
            </a:extLst>
          </p:cNvPr>
          <p:cNvGrpSpPr/>
          <p:nvPr/>
        </p:nvGrpSpPr>
        <p:grpSpPr>
          <a:xfrm>
            <a:off x="3708401" y="4006249"/>
            <a:ext cx="443880" cy="832477"/>
            <a:chOff x="3708400" y="4006249"/>
            <a:chExt cx="997642" cy="832477"/>
          </a:xfrm>
        </p:grpSpPr>
        <p:cxnSp>
          <p:nvCxnSpPr>
            <p:cNvPr id="18" name="Connector: Elbow 17">
              <a:extLst>
                <a:ext uri="{FF2B5EF4-FFF2-40B4-BE49-F238E27FC236}">
                  <a16:creationId xmlns:a16="http://schemas.microsoft.com/office/drawing/2014/main" id="{EA23C971-A331-D6D1-26A1-943F23C5910B}"/>
                </a:ext>
                <a:ext uri="{C183D7F6-B498-43B3-948B-1728B52AA6E4}">
                  <adec:decorative xmlns:adec="http://schemas.microsoft.com/office/drawing/2017/decorative" val="1"/>
                </a:ext>
              </a:extLst>
            </p:cNvPr>
            <p:cNvCxnSpPr>
              <a:cxnSpLocks/>
              <a:stCxn id="12" idx="3"/>
              <a:endCxn id="14" idx="1"/>
            </p:cNvCxnSpPr>
            <p:nvPr/>
          </p:nvCxnSpPr>
          <p:spPr>
            <a:xfrm flipV="1">
              <a:off x="3708400" y="4006249"/>
              <a:ext cx="989944" cy="417239"/>
            </a:xfrm>
            <a:prstGeom prst="bentConnector3">
              <a:avLst/>
            </a:prstGeom>
            <a:ln w="19050">
              <a:solidFill>
                <a:schemeClr val="bg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434A1F8F-596A-C056-9AFE-8CB1895DDEAC}"/>
                </a:ext>
                <a:ext uri="{C183D7F6-B498-43B3-948B-1728B52AA6E4}">
                  <adec:decorative xmlns:adec="http://schemas.microsoft.com/office/drawing/2017/decorative" val="1"/>
                </a:ext>
              </a:extLst>
            </p:cNvPr>
            <p:cNvCxnSpPr>
              <a:cxnSpLocks/>
              <a:stCxn id="12" idx="3"/>
              <a:endCxn id="16" idx="1"/>
            </p:cNvCxnSpPr>
            <p:nvPr/>
          </p:nvCxnSpPr>
          <p:spPr>
            <a:xfrm>
              <a:off x="3708400" y="4423488"/>
              <a:ext cx="997642" cy="415238"/>
            </a:xfrm>
            <a:prstGeom prst="bentConnector3">
              <a:avLst/>
            </a:prstGeom>
            <a:ln w="19050">
              <a:solidFill>
                <a:schemeClr val="bg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5118F63C-2F93-4FCD-4529-B54F1748B4DA}"/>
              </a:ext>
            </a:extLst>
          </p:cNvPr>
          <p:cNvSpPr/>
          <p:nvPr/>
        </p:nvSpPr>
        <p:spPr bwMode="auto">
          <a:xfrm>
            <a:off x="4148855" y="3646249"/>
            <a:ext cx="7438137" cy="72000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r>
              <a:rPr lang="en-US" sz="1800" b="1" dirty="0">
                <a:solidFill>
                  <a:schemeClr val="tx1"/>
                </a:solidFill>
              </a:rPr>
              <a:t>Microsoft </a:t>
            </a:r>
            <a:r>
              <a:rPr lang="en-US" sz="1800" b="1" dirty="0" err="1">
                <a:solidFill>
                  <a:schemeClr val="tx1"/>
                </a:solidFill>
              </a:rPr>
              <a:t>Entra</a:t>
            </a:r>
            <a:r>
              <a:rPr lang="en-US" sz="1800" b="1" dirty="0">
                <a:solidFill>
                  <a:schemeClr val="tx1"/>
                </a:solidFill>
              </a:rPr>
              <a:t> Authentication</a:t>
            </a:r>
          </a:p>
          <a:p>
            <a:r>
              <a:rPr lang="en-US" sz="1800" dirty="0">
                <a:solidFill>
                  <a:schemeClr val="tx1"/>
                </a:solidFill>
              </a:rPr>
              <a:t>User information is stored in Microsoft </a:t>
            </a:r>
            <a:r>
              <a:rPr lang="en-US" sz="1800" dirty="0" err="1">
                <a:solidFill>
                  <a:schemeClr val="tx1"/>
                </a:solidFill>
              </a:rPr>
              <a:t>Entra</a:t>
            </a:r>
            <a:r>
              <a:rPr lang="en-US" sz="1800" dirty="0">
                <a:solidFill>
                  <a:schemeClr val="tx1"/>
                </a:solidFill>
              </a:rPr>
              <a:t> ID </a:t>
            </a:r>
          </a:p>
        </p:txBody>
      </p:sp>
      <p:sp>
        <p:nvSpPr>
          <p:cNvPr id="16" name="Rectangle 15">
            <a:extLst>
              <a:ext uri="{FF2B5EF4-FFF2-40B4-BE49-F238E27FC236}">
                <a16:creationId xmlns:a16="http://schemas.microsoft.com/office/drawing/2014/main" id="{B7F98216-53D4-06B5-B9CE-35A097898CCF}"/>
              </a:ext>
            </a:extLst>
          </p:cNvPr>
          <p:cNvSpPr/>
          <p:nvPr/>
        </p:nvSpPr>
        <p:spPr bwMode="auto">
          <a:xfrm>
            <a:off x="4152280" y="4478726"/>
            <a:ext cx="7438137" cy="72000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r>
              <a:rPr lang="en-US" sz="1800" b="1" dirty="0">
                <a:solidFill>
                  <a:schemeClr val="tx1"/>
                </a:solidFill>
              </a:rPr>
              <a:t>SQL Server Authentication</a:t>
            </a:r>
          </a:p>
          <a:p>
            <a:r>
              <a:rPr lang="en-US" sz="1800" dirty="0">
                <a:solidFill>
                  <a:schemeClr val="tx1"/>
                </a:solidFill>
              </a:rPr>
              <a:t>User login information is stored in the master or user database</a:t>
            </a:r>
          </a:p>
        </p:txBody>
      </p:sp>
    </p:spTree>
    <p:extLst>
      <p:ext uri="{BB962C8B-B14F-4D97-AF65-F5344CB8AC3E}">
        <p14:creationId xmlns:p14="http://schemas.microsoft.com/office/powerpoint/2010/main" val="354305202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59F6AA-10C6-9232-7E57-30269550B205}"/>
              </a:ext>
            </a:extLst>
          </p:cNvPr>
          <p:cNvSpPr>
            <a:spLocks noGrp="1"/>
          </p:cNvSpPr>
          <p:nvPr>
            <p:ph type="title"/>
          </p:nvPr>
        </p:nvSpPr>
        <p:spPr>
          <a:xfrm>
            <a:off x="588261" y="585216"/>
            <a:ext cx="11011601" cy="984885"/>
          </a:xfrm>
        </p:spPr>
        <p:txBody>
          <a:bodyPr/>
          <a:lstStyle/>
          <a:p>
            <a:r>
              <a:rPr lang="en-US" dirty="0"/>
              <a:t>What’s the difference between Active Directory and Microsoft </a:t>
            </a:r>
            <a:r>
              <a:rPr lang="en-US" dirty="0" err="1"/>
              <a:t>Entra</a:t>
            </a:r>
            <a:r>
              <a:rPr lang="en-US" dirty="0"/>
              <a:t> ID?</a:t>
            </a:r>
            <a:endParaRPr lang="en-US" sz="4000" dirty="0"/>
          </a:p>
        </p:txBody>
      </p:sp>
      <p:graphicFrame>
        <p:nvGraphicFramePr>
          <p:cNvPr id="7" name="Table 6">
            <a:extLst>
              <a:ext uri="{FF2B5EF4-FFF2-40B4-BE49-F238E27FC236}">
                <a16:creationId xmlns:a16="http://schemas.microsoft.com/office/drawing/2014/main" id="{BA876971-C9EF-C598-2A44-AFD3467C2A60}"/>
              </a:ext>
            </a:extLst>
          </p:cNvPr>
          <p:cNvGraphicFramePr>
            <a:graphicFrameLocks noGrp="1"/>
          </p:cNvGraphicFramePr>
          <p:nvPr/>
        </p:nvGraphicFramePr>
        <p:xfrm>
          <a:off x="586740" y="1732338"/>
          <a:ext cx="11018520" cy="4145280"/>
        </p:xfrm>
        <a:graphic>
          <a:graphicData uri="http://schemas.openxmlformats.org/drawingml/2006/table">
            <a:tbl>
              <a:tblPr firstRow="1">
                <a:tableStyleId>{2D5ABB26-0587-4C30-8999-92F81FD0307C}</a:tableStyleId>
              </a:tblPr>
              <a:tblGrid>
                <a:gridCol w="3312598">
                  <a:extLst>
                    <a:ext uri="{9D8B030D-6E8A-4147-A177-3AD203B41FA5}">
                      <a16:colId xmlns:a16="http://schemas.microsoft.com/office/drawing/2014/main" val="475770266"/>
                    </a:ext>
                  </a:extLst>
                </a:gridCol>
                <a:gridCol w="4355662">
                  <a:extLst>
                    <a:ext uri="{9D8B030D-6E8A-4147-A177-3AD203B41FA5}">
                      <a16:colId xmlns:a16="http://schemas.microsoft.com/office/drawing/2014/main" val="2582994158"/>
                    </a:ext>
                  </a:extLst>
                </a:gridCol>
                <a:gridCol w="3350260">
                  <a:extLst>
                    <a:ext uri="{9D8B030D-6E8A-4147-A177-3AD203B41FA5}">
                      <a16:colId xmlns:a16="http://schemas.microsoft.com/office/drawing/2014/main" val="3090625460"/>
                    </a:ext>
                  </a:extLst>
                </a:gridCol>
              </a:tblGrid>
              <a:tr h="0">
                <a:tc>
                  <a:txBody>
                    <a:bodyPr/>
                    <a:lstStyle/>
                    <a:p>
                      <a:endParaRPr lang="en-US" sz="2000" dirty="0">
                        <a:solidFill>
                          <a:schemeClr val="tx1"/>
                        </a:solidFill>
                        <a:latin typeface="+mj-lt"/>
                      </a:endParaRPr>
                    </a:p>
                  </a:txBody>
                  <a:tcPr marL="182880" marR="182880" marT="137160" marB="1371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FE9D88"/>
                    </a:solidFill>
                  </a:tcPr>
                </a:tc>
                <a:tc>
                  <a:txBody>
                    <a:bodyPr/>
                    <a:lstStyle/>
                    <a:p>
                      <a:r>
                        <a:rPr lang="en-US" sz="2000" dirty="0">
                          <a:solidFill>
                            <a:schemeClr val="tx1"/>
                          </a:solidFill>
                          <a:latin typeface="+mj-lt"/>
                        </a:rPr>
                        <a:t>Active Directory Domain Services</a:t>
                      </a:r>
                    </a:p>
                  </a:txBody>
                  <a:tcPr marL="182880" marR="182880" marT="137160" marB="1371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D988DC"/>
                    </a:solidFill>
                  </a:tcPr>
                </a:tc>
                <a:tc>
                  <a:txBody>
                    <a:bodyPr/>
                    <a:lstStyle/>
                    <a:p>
                      <a:r>
                        <a:rPr lang="en-US" sz="2000" dirty="0">
                          <a:solidFill>
                            <a:schemeClr val="tx1"/>
                          </a:solidFill>
                          <a:latin typeface="+mj-lt"/>
                        </a:rPr>
                        <a:t>Microsoft </a:t>
                      </a:r>
                      <a:r>
                        <a:rPr lang="en-US" sz="2000" dirty="0" err="1">
                          <a:solidFill>
                            <a:schemeClr val="tx1"/>
                          </a:solidFill>
                          <a:latin typeface="+mj-lt"/>
                        </a:rPr>
                        <a:t>Entra</a:t>
                      </a:r>
                      <a:r>
                        <a:rPr lang="en-US" sz="2000" dirty="0">
                          <a:solidFill>
                            <a:schemeClr val="tx1"/>
                          </a:solidFill>
                          <a:latin typeface="+mj-lt"/>
                        </a:rPr>
                        <a:t> ID</a:t>
                      </a:r>
                    </a:p>
                  </a:txBody>
                  <a:tcPr marL="182880" marR="182880" marT="137160" marB="1371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8DC8E8"/>
                    </a:solidFill>
                  </a:tcPr>
                </a:tc>
                <a:extLst>
                  <a:ext uri="{0D108BD9-81ED-4DB2-BD59-A6C34878D82A}">
                    <a16:rowId xmlns:a16="http://schemas.microsoft.com/office/drawing/2014/main" val="182173788"/>
                  </a:ext>
                </a:extLst>
              </a:tr>
              <a:tr h="370840">
                <a:tc>
                  <a:txBody>
                    <a:bodyPr/>
                    <a:lstStyle/>
                    <a:p>
                      <a:r>
                        <a:rPr lang="en-US" sz="1800" dirty="0">
                          <a:solidFill>
                            <a:schemeClr val="tx1"/>
                          </a:solidFill>
                          <a:latin typeface="+mj-lt"/>
                        </a:rPr>
                        <a:t>User Management</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Yes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Yes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32386946"/>
                  </a:ext>
                </a:extLst>
              </a:tr>
              <a:tr h="370840">
                <a:tc>
                  <a:txBody>
                    <a:bodyPr/>
                    <a:lstStyle/>
                    <a:p>
                      <a:r>
                        <a:rPr lang="en-US" sz="1800" dirty="0">
                          <a:solidFill>
                            <a:schemeClr val="tx1"/>
                          </a:solidFill>
                          <a:latin typeface="+mj-lt"/>
                        </a:rPr>
                        <a:t>Authentication</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NTLM and Kerberos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OpenID Connect, SAML, OAuth</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9601922"/>
                  </a:ext>
                </a:extLst>
              </a:tr>
              <a:tr h="370840">
                <a:tc>
                  <a:txBody>
                    <a:bodyPr/>
                    <a:lstStyle/>
                    <a:p>
                      <a:r>
                        <a:rPr lang="en-US" sz="1800" dirty="0">
                          <a:solidFill>
                            <a:schemeClr val="tx1"/>
                          </a:solidFill>
                          <a:latin typeface="+mj-lt"/>
                        </a:rPr>
                        <a:t>Groups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Yes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Yes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0327320"/>
                  </a:ext>
                </a:extLst>
              </a:tr>
              <a:tr h="370840">
                <a:tc>
                  <a:txBody>
                    <a:bodyPr/>
                    <a:lstStyle/>
                    <a:p>
                      <a:r>
                        <a:rPr lang="en-US" sz="1800" dirty="0">
                          <a:solidFill>
                            <a:schemeClr val="tx1"/>
                          </a:solidFill>
                          <a:latin typeface="+mj-lt"/>
                        </a:rPr>
                        <a:t>Object Hierarchy</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Yes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No</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41462541"/>
                  </a:ext>
                </a:extLst>
              </a:tr>
              <a:tr h="370840">
                <a:tc>
                  <a:txBody>
                    <a:bodyPr/>
                    <a:lstStyle/>
                    <a:p>
                      <a:r>
                        <a:rPr lang="en-US" sz="1800" dirty="0">
                          <a:solidFill>
                            <a:schemeClr val="tx1"/>
                          </a:solidFill>
                          <a:latin typeface="+mj-lt"/>
                        </a:rPr>
                        <a:t>Service Principals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Yes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Yes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95794623"/>
                  </a:ext>
                </a:extLst>
              </a:tr>
              <a:tr h="370840">
                <a:tc>
                  <a:txBody>
                    <a:bodyPr/>
                    <a:lstStyle/>
                    <a:p>
                      <a:r>
                        <a:rPr lang="en-US" sz="1800" dirty="0">
                          <a:solidFill>
                            <a:schemeClr val="tx1"/>
                          </a:solidFill>
                          <a:latin typeface="+mj-lt"/>
                        </a:rPr>
                        <a:t>Query AD programmatically</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LDAP</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AD Graph API (REST API)</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9505089"/>
                  </a:ext>
                </a:extLst>
              </a:tr>
            </a:tbl>
          </a:graphicData>
        </a:graphic>
      </p:graphicFrame>
    </p:spTree>
    <p:extLst>
      <p:ext uri="{BB962C8B-B14F-4D97-AF65-F5344CB8AC3E}">
        <p14:creationId xmlns:p14="http://schemas.microsoft.com/office/powerpoint/2010/main" val="2388358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F811D5-CDAB-16ED-911D-BF2E2CBC224B}"/>
              </a:ext>
            </a:extLst>
          </p:cNvPr>
          <p:cNvSpPr>
            <a:spLocks noGrp="1"/>
          </p:cNvSpPr>
          <p:nvPr>
            <p:ph type="title"/>
          </p:nvPr>
        </p:nvSpPr>
        <p:spPr/>
        <p:txBody>
          <a:bodyPr/>
          <a:lstStyle/>
          <a:p>
            <a:r>
              <a:rPr lang="en-US" dirty="0"/>
              <a:t>Authentication and identities</a:t>
            </a:r>
          </a:p>
        </p:txBody>
      </p:sp>
      <p:pic>
        <p:nvPicPr>
          <p:cNvPr id="3" name="Picture 2" descr="Icon of a person sitting in a desk">
            <a:extLst>
              <a:ext uri="{FF2B5EF4-FFF2-40B4-BE49-F238E27FC236}">
                <a16:creationId xmlns:a16="http://schemas.microsoft.com/office/drawing/2014/main" id="{684E3CDC-0FC7-121F-B106-0F08970C6DC2}"/>
              </a:ext>
            </a:extLst>
          </p:cNvPr>
          <p:cNvPicPr>
            <a:picLocks/>
          </p:cNvPicPr>
          <p:nvPr/>
        </p:nvPicPr>
        <p:blipFill>
          <a:blip r:embed="rId3"/>
          <a:stretch>
            <a:fillRect/>
          </a:stretch>
        </p:blipFill>
        <p:spPr>
          <a:xfrm>
            <a:off x="588261" y="1561801"/>
            <a:ext cx="640080" cy="640080"/>
          </a:xfrm>
          <a:prstGeom prst="rect">
            <a:avLst/>
          </a:prstGeom>
        </p:spPr>
      </p:pic>
      <p:sp>
        <p:nvSpPr>
          <p:cNvPr id="13" name="Rectangle 12">
            <a:extLst>
              <a:ext uri="{FF2B5EF4-FFF2-40B4-BE49-F238E27FC236}">
                <a16:creationId xmlns:a16="http://schemas.microsoft.com/office/drawing/2014/main" id="{93699637-613A-96CC-5E95-9823F5BCDC73}"/>
              </a:ext>
            </a:extLst>
          </p:cNvPr>
          <p:cNvSpPr>
            <a:spLocks/>
          </p:cNvSpPr>
          <p:nvPr/>
        </p:nvSpPr>
        <p:spPr bwMode="auto">
          <a:xfrm>
            <a:off x="1474572" y="1712564"/>
            <a:ext cx="10273627" cy="33855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200" b="1" dirty="0">
                <a:solidFill>
                  <a:schemeClr val="tx1"/>
                </a:solidFill>
              </a:rPr>
              <a:t>Authentication</a:t>
            </a:r>
            <a:r>
              <a:rPr lang="en-US" sz="2200" dirty="0">
                <a:solidFill>
                  <a:schemeClr val="tx1"/>
                </a:solidFill>
              </a:rPr>
              <a:t> is the process of proving a user or service is who they say there are</a:t>
            </a:r>
          </a:p>
        </p:txBody>
      </p:sp>
      <p:pic>
        <p:nvPicPr>
          <p:cNvPr id="4" name="Picture 3" descr="Icon of a key">
            <a:extLst>
              <a:ext uri="{FF2B5EF4-FFF2-40B4-BE49-F238E27FC236}">
                <a16:creationId xmlns:a16="http://schemas.microsoft.com/office/drawing/2014/main" id="{AEBBB1EC-E83D-345E-ED36-3448C69E74B7}"/>
              </a:ext>
            </a:extLst>
          </p:cNvPr>
          <p:cNvPicPr>
            <a:picLocks/>
          </p:cNvPicPr>
          <p:nvPr/>
        </p:nvPicPr>
        <p:blipFill>
          <a:blip r:embed="rId4"/>
          <a:stretch>
            <a:fillRect/>
          </a:stretch>
        </p:blipFill>
        <p:spPr>
          <a:xfrm>
            <a:off x="588261" y="2624006"/>
            <a:ext cx="640080" cy="640080"/>
          </a:xfrm>
          <a:prstGeom prst="rect">
            <a:avLst/>
          </a:prstGeom>
        </p:spPr>
      </p:pic>
      <p:sp>
        <p:nvSpPr>
          <p:cNvPr id="17" name="Rectangle 16">
            <a:extLst>
              <a:ext uri="{FF2B5EF4-FFF2-40B4-BE49-F238E27FC236}">
                <a16:creationId xmlns:a16="http://schemas.microsoft.com/office/drawing/2014/main" id="{25F8C5E7-DA38-86E5-6CC3-571D55E6FE37}"/>
              </a:ext>
            </a:extLst>
          </p:cNvPr>
          <p:cNvSpPr>
            <a:spLocks/>
          </p:cNvSpPr>
          <p:nvPr/>
        </p:nvSpPr>
        <p:spPr bwMode="auto">
          <a:xfrm>
            <a:off x="1474573" y="2605493"/>
            <a:ext cx="10273627" cy="67710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200" b="1" dirty="0">
                <a:solidFill>
                  <a:schemeClr val="tx1"/>
                </a:solidFill>
              </a:rPr>
              <a:t>Authorization</a:t>
            </a:r>
            <a:r>
              <a:rPr lang="en-US" sz="2200" dirty="0">
                <a:solidFill>
                  <a:schemeClr val="tx1"/>
                </a:solidFill>
              </a:rPr>
              <a:t> is a process that occurs after a user is authenticated, and grants them their specified access to resources</a:t>
            </a:r>
          </a:p>
        </p:txBody>
      </p:sp>
      <p:pic>
        <p:nvPicPr>
          <p:cNvPr id="5" name="Picture 4" descr="Icon of a person">
            <a:extLst>
              <a:ext uri="{FF2B5EF4-FFF2-40B4-BE49-F238E27FC236}">
                <a16:creationId xmlns:a16="http://schemas.microsoft.com/office/drawing/2014/main" id="{DC3F21BA-98A4-DAA8-8BA1-E61963BA21A0}"/>
              </a:ext>
            </a:extLst>
          </p:cNvPr>
          <p:cNvPicPr>
            <a:picLocks/>
          </p:cNvPicPr>
          <p:nvPr/>
        </p:nvPicPr>
        <p:blipFill>
          <a:blip r:embed="rId5"/>
          <a:stretch>
            <a:fillRect/>
          </a:stretch>
        </p:blipFill>
        <p:spPr>
          <a:xfrm>
            <a:off x="588261" y="3686211"/>
            <a:ext cx="640080" cy="640080"/>
          </a:xfrm>
          <a:prstGeom prst="rect">
            <a:avLst/>
          </a:prstGeom>
        </p:spPr>
      </p:pic>
      <p:sp>
        <p:nvSpPr>
          <p:cNvPr id="20" name="Rectangle 19">
            <a:extLst>
              <a:ext uri="{FF2B5EF4-FFF2-40B4-BE49-F238E27FC236}">
                <a16:creationId xmlns:a16="http://schemas.microsoft.com/office/drawing/2014/main" id="{0413622B-ED67-9CE1-732E-93E418CD901C}"/>
              </a:ext>
            </a:extLst>
          </p:cNvPr>
          <p:cNvSpPr>
            <a:spLocks/>
          </p:cNvSpPr>
          <p:nvPr/>
        </p:nvSpPr>
        <p:spPr bwMode="auto">
          <a:xfrm>
            <a:off x="1474572" y="3836975"/>
            <a:ext cx="10273627" cy="33855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200" b="1" dirty="0">
                <a:solidFill>
                  <a:schemeClr val="tx1"/>
                </a:solidFill>
              </a:rPr>
              <a:t>Identities</a:t>
            </a:r>
            <a:r>
              <a:rPr lang="en-US" sz="2200" dirty="0">
                <a:solidFill>
                  <a:schemeClr val="tx1"/>
                </a:solidFill>
              </a:rPr>
              <a:t> can represent users, service principals, or computers</a:t>
            </a:r>
          </a:p>
        </p:txBody>
      </p:sp>
    </p:spTree>
    <p:extLst>
      <p:ext uri="{BB962C8B-B14F-4D97-AF65-F5344CB8AC3E}">
        <p14:creationId xmlns:p14="http://schemas.microsoft.com/office/powerpoint/2010/main" val="330235838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E7F78B-9026-C2F9-714E-4266F73F160B}"/>
              </a:ext>
            </a:extLst>
          </p:cNvPr>
          <p:cNvSpPr>
            <a:spLocks noGrp="1"/>
          </p:cNvSpPr>
          <p:nvPr>
            <p:ph type="title"/>
          </p:nvPr>
        </p:nvSpPr>
        <p:spPr>
          <a:xfrm>
            <a:off x="588262" y="585216"/>
            <a:ext cx="11692638" cy="492443"/>
          </a:xfrm>
        </p:spPr>
        <p:txBody>
          <a:bodyPr/>
          <a:lstStyle/>
          <a:p>
            <a:r>
              <a:rPr lang="en-US" dirty="0"/>
              <a:t>Microsoft Entra admin configuration</a:t>
            </a:r>
          </a:p>
        </p:txBody>
      </p:sp>
      <p:pic>
        <p:nvPicPr>
          <p:cNvPr id="1026" name="Picture 2" descr="Screenshot shows the option to set the Microsoft Entra admin for SQL servers.">
            <a:extLst>
              <a:ext uri="{FF2B5EF4-FFF2-40B4-BE49-F238E27FC236}">
                <a16:creationId xmlns:a16="http://schemas.microsoft.com/office/drawing/2014/main" id="{3B77EED6-C40A-8F55-0881-CCD7893EE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1716" y="1385225"/>
            <a:ext cx="8868568" cy="4554353"/>
          </a:xfrm>
          <a:prstGeom prst="rect">
            <a:avLst/>
          </a:prstGeom>
          <a:noFill/>
          <a:ln w="38100">
            <a:solidFill>
              <a:schemeClr val="accent1">
                <a:lumMod val="60000"/>
                <a:lumOff val="4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67281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0D8BB50-EEE3-24A6-D457-1F044ED9B3D0}"/>
              </a:ext>
            </a:extLst>
          </p:cNvPr>
          <p:cNvSpPr>
            <a:spLocks noGrp="1"/>
          </p:cNvSpPr>
          <p:nvPr>
            <p:ph type="title"/>
          </p:nvPr>
        </p:nvSpPr>
        <p:spPr/>
        <p:txBody>
          <a:bodyPr/>
          <a:lstStyle/>
          <a:p>
            <a:r>
              <a:rPr lang="en-US" altLang="zh-CN" dirty="0"/>
              <a:t>Demo: Configure Azure AD admin</a:t>
            </a:r>
            <a:endParaRPr lang="en-US" dirty="0"/>
          </a:p>
        </p:txBody>
      </p:sp>
      <p:sp>
        <p:nvSpPr>
          <p:cNvPr id="4" name="Rectangle 3">
            <a:extLst>
              <a:ext uri="{FF2B5EF4-FFF2-40B4-BE49-F238E27FC236}">
                <a16:creationId xmlns:a16="http://schemas.microsoft.com/office/drawing/2014/main" id="{9099B03E-EEB7-941A-DBFC-F018337974D7}"/>
              </a:ext>
              <a:ext uri="{C183D7F6-B498-43B3-948B-1728B52AA6E4}">
                <adec:decorative xmlns:adec="http://schemas.microsoft.com/office/drawing/2017/decorative" val="1"/>
              </a:ext>
            </a:extLst>
          </p:cNvPr>
          <p:cNvSpPr>
            <a:spLocks/>
          </p:cNvSpPr>
          <p:nvPr/>
        </p:nvSpPr>
        <p:spPr bwMode="auto">
          <a:xfrm>
            <a:off x="590199" y="1872342"/>
            <a:ext cx="11011602" cy="4400441"/>
          </a:xfrm>
          <a:prstGeom prst="rect">
            <a:avLst/>
          </a:prstGeom>
          <a:solidFill>
            <a:schemeClr val="bg1"/>
          </a:solidFill>
          <a:ln w="38100">
            <a:solidFill>
              <a:srgbClr val="C73ECC"/>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C8047945-6356-6C04-5165-F3EFCB8D552B}"/>
              </a:ext>
            </a:extLst>
          </p:cNvPr>
          <p:cNvSpPr txBox="1">
            <a:spLocks/>
          </p:cNvSpPr>
          <p:nvPr/>
        </p:nvSpPr>
        <p:spPr>
          <a:xfrm>
            <a:off x="3157281" y="3641675"/>
            <a:ext cx="5873560" cy="861774"/>
          </a:xfrm>
          <a:prstGeom prst="rect">
            <a:avLst/>
          </a:prstGeom>
        </p:spPr>
        <p:txBody>
          <a:bodyPr vert="horz" wrap="square" lIns="0" tIns="0" rIns="0" bIns="0" rtlCol="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1200"/>
              </a:spcBef>
              <a:buNone/>
            </a:pPr>
            <a:r>
              <a:rPr lang="en-US" dirty="0">
                <a:latin typeface="+mj-lt"/>
              </a:rPr>
              <a:t>Configure Microsoft Entra admin for an Azure SQL Database</a:t>
            </a:r>
          </a:p>
        </p:txBody>
      </p:sp>
    </p:spTree>
    <p:extLst>
      <p:ext uri="{BB962C8B-B14F-4D97-AF65-F5344CB8AC3E}">
        <p14:creationId xmlns:p14="http://schemas.microsoft.com/office/powerpoint/2010/main" val="323744437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49A06BD5-1D3A-9081-E190-52AE50FFA901}"/>
              </a:ext>
            </a:extLst>
          </p:cNvPr>
          <p:cNvSpPr>
            <a:spLocks noGrp="1"/>
          </p:cNvSpPr>
          <p:nvPr>
            <p:ph type="title"/>
          </p:nvPr>
        </p:nvSpPr>
        <p:spPr>
          <a:xfrm>
            <a:off x="588261" y="585216"/>
            <a:ext cx="11011601" cy="492443"/>
          </a:xfrm>
        </p:spPr>
        <p:txBody>
          <a:bodyPr/>
          <a:lstStyle/>
          <a:p>
            <a:r>
              <a:rPr lang="en-US" dirty="0"/>
              <a:t>SQL Server Security overview</a:t>
            </a:r>
          </a:p>
        </p:txBody>
      </p:sp>
      <p:sp>
        <p:nvSpPr>
          <p:cNvPr id="11" name="Text Placeholder 11">
            <a:extLst>
              <a:ext uri="{FF2B5EF4-FFF2-40B4-BE49-F238E27FC236}">
                <a16:creationId xmlns:a16="http://schemas.microsoft.com/office/drawing/2014/main" id="{6E9AE8AE-1036-7682-89A3-44A34F519356}"/>
              </a:ext>
            </a:extLst>
          </p:cNvPr>
          <p:cNvSpPr txBox="1">
            <a:spLocks/>
          </p:cNvSpPr>
          <p:nvPr/>
        </p:nvSpPr>
        <p:spPr>
          <a:xfrm>
            <a:off x="588261" y="1594154"/>
            <a:ext cx="2572151" cy="3021390"/>
          </a:xfrm>
          <a:prstGeom prst="rect">
            <a:avLst/>
          </a:prstGeom>
          <a:ln w="38100">
            <a:solidFill>
              <a:srgbClr val="C73ECC"/>
            </a:solidFill>
          </a:ln>
        </p:spPr>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Aft>
                <a:spcPts val="600"/>
              </a:spcAft>
            </a:pPr>
            <a:r>
              <a:rPr lang="en-US" dirty="0" err="1"/>
              <a:t>Securables</a:t>
            </a:r>
            <a:endParaRPr lang="en-US" dirty="0"/>
          </a:p>
          <a:p>
            <a:pPr marL="0" indent="0" algn="ctr">
              <a:spcAft>
                <a:spcPts val="600"/>
              </a:spcAft>
              <a:buNone/>
            </a:pPr>
            <a:r>
              <a:rPr lang="en-US" sz="2000" dirty="0">
                <a:latin typeface="+mn-lt"/>
              </a:rPr>
              <a:t>Object to which access must </a:t>
            </a:r>
            <a:br>
              <a:rPr lang="en-US" sz="2000" dirty="0">
                <a:latin typeface="+mn-lt"/>
              </a:rPr>
            </a:br>
            <a:r>
              <a:rPr lang="en-US" sz="2000" dirty="0">
                <a:latin typeface="+mn-lt"/>
              </a:rPr>
              <a:t>be secured</a:t>
            </a:r>
          </a:p>
        </p:txBody>
      </p:sp>
      <p:sp>
        <p:nvSpPr>
          <p:cNvPr id="12" name="Text Placeholder 12">
            <a:extLst>
              <a:ext uri="{FF2B5EF4-FFF2-40B4-BE49-F238E27FC236}">
                <a16:creationId xmlns:a16="http://schemas.microsoft.com/office/drawing/2014/main" id="{C18872C3-E46B-6952-9AA9-5F6780157074}"/>
              </a:ext>
            </a:extLst>
          </p:cNvPr>
          <p:cNvSpPr txBox="1">
            <a:spLocks/>
          </p:cNvSpPr>
          <p:nvPr/>
        </p:nvSpPr>
        <p:spPr>
          <a:xfrm>
            <a:off x="3401411" y="1594154"/>
            <a:ext cx="2572151" cy="3021389"/>
          </a:xfrm>
          <a:prstGeom prst="rect">
            <a:avLst/>
          </a:prstGeom>
          <a:ln w="38100">
            <a:solidFill>
              <a:srgbClr val="C73ECC"/>
            </a:solidFill>
          </a:ln>
        </p:spPr>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Aft>
                <a:spcPts val="600"/>
              </a:spcAft>
            </a:pPr>
            <a:r>
              <a:rPr lang="en-US" dirty="0"/>
              <a:t>Principals</a:t>
            </a:r>
          </a:p>
          <a:p>
            <a:pPr algn="ctr">
              <a:spcAft>
                <a:spcPts val="600"/>
              </a:spcAft>
            </a:pPr>
            <a:r>
              <a:rPr lang="en-US" sz="2000" dirty="0">
                <a:latin typeface="+mn-lt"/>
              </a:rPr>
              <a:t>Security identities </a:t>
            </a:r>
            <a:br>
              <a:rPr lang="en-US" sz="2000" dirty="0">
                <a:latin typeface="+mn-lt"/>
              </a:rPr>
            </a:br>
            <a:r>
              <a:rPr lang="en-US" sz="2000" dirty="0">
                <a:latin typeface="+mn-lt"/>
              </a:rPr>
              <a:t>(users, service principals, </a:t>
            </a:r>
            <a:br>
              <a:rPr lang="en-US" sz="2000" dirty="0">
                <a:latin typeface="+mn-lt"/>
              </a:rPr>
            </a:br>
            <a:r>
              <a:rPr lang="en-US" sz="2000" dirty="0">
                <a:latin typeface="+mn-lt"/>
              </a:rPr>
              <a:t>or computers) that </a:t>
            </a:r>
            <a:br>
              <a:rPr lang="en-US" sz="2000" dirty="0">
                <a:latin typeface="+mn-lt"/>
              </a:rPr>
            </a:br>
            <a:r>
              <a:rPr lang="en-US" sz="2000" dirty="0">
                <a:latin typeface="+mn-lt"/>
              </a:rPr>
              <a:t>access </a:t>
            </a:r>
            <a:r>
              <a:rPr lang="en-US" sz="2000" dirty="0" err="1">
                <a:latin typeface="+mn-lt"/>
              </a:rPr>
              <a:t>securables</a:t>
            </a:r>
            <a:r>
              <a:rPr lang="en-US" sz="2000" dirty="0">
                <a:latin typeface="+mn-lt"/>
              </a:rPr>
              <a:t> to perform actions</a:t>
            </a:r>
          </a:p>
        </p:txBody>
      </p:sp>
      <p:sp>
        <p:nvSpPr>
          <p:cNvPr id="15" name="Text Placeholder 11">
            <a:extLst>
              <a:ext uri="{FF2B5EF4-FFF2-40B4-BE49-F238E27FC236}">
                <a16:creationId xmlns:a16="http://schemas.microsoft.com/office/drawing/2014/main" id="{55D96ECD-5D61-6CEE-42F6-4D73405B0842}"/>
              </a:ext>
            </a:extLst>
          </p:cNvPr>
          <p:cNvSpPr txBox="1">
            <a:spLocks/>
          </p:cNvSpPr>
          <p:nvPr/>
        </p:nvSpPr>
        <p:spPr>
          <a:xfrm>
            <a:off x="6214561" y="1594154"/>
            <a:ext cx="2572151" cy="3021390"/>
          </a:xfrm>
          <a:prstGeom prst="rect">
            <a:avLst/>
          </a:prstGeom>
          <a:ln w="38100">
            <a:solidFill>
              <a:srgbClr val="C73ECC"/>
            </a:solidFill>
          </a:ln>
        </p:spPr>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Aft>
                <a:spcPts val="600"/>
              </a:spcAft>
            </a:pPr>
            <a:r>
              <a:rPr lang="en-US" dirty="0"/>
              <a:t>Permissions</a:t>
            </a:r>
          </a:p>
          <a:p>
            <a:pPr algn="ctr">
              <a:spcAft>
                <a:spcPts val="600"/>
              </a:spcAft>
            </a:pPr>
            <a:r>
              <a:rPr lang="en-US" sz="2000" dirty="0">
                <a:latin typeface="+mn-lt"/>
              </a:rPr>
              <a:t>Actions principals </a:t>
            </a:r>
            <a:br>
              <a:rPr lang="en-US" sz="2000" dirty="0">
                <a:latin typeface="+mn-lt"/>
              </a:rPr>
            </a:br>
            <a:r>
              <a:rPr lang="en-US" sz="2000" dirty="0">
                <a:latin typeface="+mn-lt"/>
              </a:rPr>
              <a:t>can perform on </a:t>
            </a:r>
            <a:r>
              <a:rPr lang="en-US" sz="2000" dirty="0" err="1">
                <a:latin typeface="+mn-lt"/>
              </a:rPr>
              <a:t>securables</a:t>
            </a:r>
            <a:endParaRPr lang="en-US" sz="2000" dirty="0">
              <a:latin typeface="+mn-lt"/>
            </a:endParaRPr>
          </a:p>
        </p:txBody>
      </p:sp>
      <p:sp>
        <p:nvSpPr>
          <p:cNvPr id="16" name="Text Placeholder 12">
            <a:extLst>
              <a:ext uri="{FF2B5EF4-FFF2-40B4-BE49-F238E27FC236}">
                <a16:creationId xmlns:a16="http://schemas.microsoft.com/office/drawing/2014/main" id="{ED30D17A-2107-87B4-957F-E099664B327A}"/>
              </a:ext>
            </a:extLst>
          </p:cNvPr>
          <p:cNvSpPr txBox="1">
            <a:spLocks/>
          </p:cNvSpPr>
          <p:nvPr/>
        </p:nvSpPr>
        <p:spPr>
          <a:xfrm>
            <a:off x="9027711" y="1594154"/>
            <a:ext cx="2572151" cy="3021389"/>
          </a:xfrm>
          <a:prstGeom prst="rect">
            <a:avLst/>
          </a:prstGeom>
          <a:ln w="38100">
            <a:solidFill>
              <a:srgbClr val="C73ECC"/>
            </a:solidFill>
          </a:ln>
        </p:spPr>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Aft>
                <a:spcPts val="600"/>
              </a:spcAft>
            </a:pPr>
            <a:r>
              <a:rPr lang="en-US" dirty="0"/>
              <a:t>Security Hierarchies</a:t>
            </a:r>
          </a:p>
          <a:p>
            <a:pPr algn="ctr">
              <a:spcAft>
                <a:spcPts val="600"/>
              </a:spcAft>
            </a:pPr>
            <a:r>
              <a:rPr lang="en-US" sz="2000" dirty="0" err="1">
                <a:latin typeface="+mn-lt"/>
              </a:rPr>
              <a:t>Securables</a:t>
            </a:r>
            <a:r>
              <a:rPr lang="en-US" sz="2000" dirty="0">
                <a:latin typeface="+mn-lt"/>
              </a:rPr>
              <a:t> can contain other </a:t>
            </a:r>
            <a:r>
              <a:rPr lang="en-US" sz="2000" dirty="0" err="1">
                <a:latin typeface="+mn-lt"/>
              </a:rPr>
              <a:t>securables</a:t>
            </a:r>
            <a:r>
              <a:rPr lang="en-US" sz="2000" dirty="0">
                <a:latin typeface="+mn-lt"/>
              </a:rPr>
              <a:t>, and principals can </a:t>
            </a:r>
            <a:br>
              <a:rPr lang="en-US" sz="2000" dirty="0">
                <a:latin typeface="+mn-lt"/>
              </a:rPr>
            </a:br>
            <a:r>
              <a:rPr lang="en-US" sz="2000" dirty="0">
                <a:latin typeface="+mn-lt"/>
              </a:rPr>
              <a:t>contain other principals (roles) </a:t>
            </a:r>
          </a:p>
        </p:txBody>
      </p:sp>
    </p:spTree>
    <p:extLst>
      <p:ext uri="{BB962C8B-B14F-4D97-AF65-F5344CB8AC3E}">
        <p14:creationId xmlns:p14="http://schemas.microsoft.com/office/powerpoint/2010/main" val="235716109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165FA8A-3ED9-BF58-FE9D-34DF01AD2EF7}"/>
              </a:ext>
            </a:extLst>
          </p:cNvPr>
          <p:cNvSpPr>
            <a:spLocks noGrp="1"/>
          </p:cNvSpPr>
          <p:nvPr>
            <p:ph type="title"/>
          </p:nvPr>
        </p:nvSpPr>
        <p:spPr/>
        <p:txBody>
          <a:bodyPr/>
          <a:lstStyle/>
          <a:p>
            <a:r>
              <a:rPr lang="en-US" dirty="0"/>
              <a:t>Security principals</a:t>
            </a:r>
          </a:p>
        </p:txBody>
      </p:sp>
      <p:sp>
        <p:nvSpPr>
          <p:cNvPr id="17" name="Text Placeholder 16">
            <a:extLst>
              <a:ext uri="{FF2B5EF4-FFF2-40B4-BE49-F238E27FC236}">
                <a16:creationId xmlns:a16="http://schemas.microsoft.com/office/drawing/2014/main" id="{EFA3227F-179A-54F1-2E99-A9DDEF175DB3}"/>
              </a:ext>
            </a:extLst>
          </p:cNvPr>
          <p:cNvSpPr>
            <a:spLocks noGrp="1"/>
          </p:cNvSpPr>
          <p:nvPr>
            <p:ph type="body" sz="quarter" idx="15"/>
          </p:nvPr>
        </p:nvSpPr>
        <p:spPr>
          <a:xfrm>
            <a:off x="586389" y="1591056"/>
            <a:ext cx="11013474" cy="769441"/>
          </a:xfrm>
          <a:solidFill>
            <a:srgbClr val="FFA38B"/>
          </a:solidFill>
        </p:spPr>
        <p:txBody>
          <a:bodyPr lIns="91440" tIns="45720" rIns="91440" bIns="45720" anchor="ctr">
            <a:noAutofit/>
          </a:bodyPr>
          <a:lstStyle/>
          <a:p>
            <a:pPr marL="0" indent="0">
              <a:buNone/>
            </a:pPr>
            <a:r>
              <a:rPr lang="en-US" sz="2200" dirty="0"/>
              <a:t>Any login, user, group, or role within the server or database</a:t>
            </a:r>
          </a:p>
        </p:txBody>
      </p:sp>
      <p:grpSp>
        <p:nvGrpSpPr>
          <p:cNvPr id="7" name="Group 6">
            <a:extLst>
              <a:ext uri="{FF2B5EF4-FFF2-40B4-BE49-F238E27FC236}">
                <a16:creationId xmlns:a16="http://schemas.microsoft.com/office/drawing/2014/main" id="{67C4ABCE-BAE5-6F7E-9D82-2D36154499B8}"/>
              </a:ext>
              <a:ext uri="{C183D7F6-B498-43B3-948B-1728B52AA6E4}">
                <adec:decorative xmlns:adec="http://schemas.microsoft.com/office/drawing/2017/decorative" val="1"/>
              </a:ext>
            </a:extLst>
          </p:cNvPr>
          <p:cNvGrpSpPr/>
          <p:nvPr/>
        </p:nvGrpSpPr>
        <p:grpSpPr>
          <a:xfrm>
            <a:off x="762000" y="2345000"/>
            <a:ext cx="736600" cy="2369919"/>
            <a:chOff x="762000" y="2254397"/>
            <a:chExt cx="736600" cy="2369919"/>
          </a:xfrm>
        </p:grpSpPr>
        <p:sp>
          <p:nvSpPr>
            <p:cNvPr id="8" name="Arrow: Bent 7">
              <a:extLst>
                <a:ext uri="{FF2B5EF4-FFF2-40B4-BE49-F238E27FC236}">
                  <a16:creationId xmlns:a16="http://schemas.microsoft.com/office/drawing/2014/main" id="{21DBE15B-88CE-497D-0B0A-DE1C83E9908F}"/>
                </a:ext>
              </a:extLst>
            </p:cNvPr>
            <p:cNvSpPr>
              <a:spLocks/>
            </p:cNvSpPr>
            <p:nvPr/>
          </p:nvSpPr>
          <p:spPr bwMode="auto">
            <a:xfrm flipV="1">
              <a:off x="762000" y="2254397"/>
              <a:ext cx="736599" cy="2369919"/>
            </a:xfrm>
            <a:prstGeom prst="bentArrow">
              <a:avLst>
                <a:gd name="adj1" fmla="val 25000"/>
                <a:gd name="adj2" fmla="val 0"/>
                <a:gd name="adj3" fmla="val 25000"/>
                <a:gd name="adj4" fmla="val 0"/>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4C69BA36-1090-A99D-D0D0-7EB735AA08DD}"/>
                </a:ext>
              </a:extLst>
            </p:cNvPr>
            <p:cNvCxnSpPr>
              <a:cxnSpLocks/>
            </p:cNvCxnSpPr>
            <p:nvPr/>
          </p:nvCxnSpPr>
          <p:spPr>
            <a:xfrm flipH="1">
              <a:off x="762000" y="3692417"/>
              <a:ext cx="736600" cy="0"/>
            </a:xfrm>
            <a:prstGeom prst="line">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1" name="Straight Connector 10">
              <a:extLst>
                <a:ext uri="{FF2B5EF4-FFF2-40B4-BE49-F238E27FC236}">
                  <a16:creationId xmlns:a16="http://schemas.microsoft.com/office/drawing/2014/main" id="{9F097F6A-65E5-0DE8-E06A-6FA45D909D28}"/>
                </a:ext>
              </a:extLst>
            </p:cNvPr>
            <p:cNvCxnSpPr/>
            <p:nvPr/>
          </p:nvCxnSpPr>
          <p:spPr>
            <a:xfrm flipH="1">
              <a:off x="762000" y="2767126"/>
              <a:ext cx="736600" cy="0"/>
            </a:xfrm>
            <a:prstGeom prst="line">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
        <p:nvSpPr>
          <p:cNvPr id="13" name="Rectangle 12">
            <a:extLst>
              <a:ext uri="{FF2B5EF4-FFF2-40B4-BE49-F238E27FC236}">
                <a16:creationId xmlns:a16="http://schemas.microsoft.com/office/drawing/2014/main" id="{2ECFBC22-DCC3-211C-4A12-FA1669F2E14F}"/>
              </a:ext>
            </a:extLst>
          </p:cNvPr>
          <p:cNvSpPr>
            <a:spLocks/>
          </p:cNvSpPr>
          <p:nvPr/>
        </p:nvSpPr>
        <p:spPr bwMode="auto">
          <a:xfrm>
            <a:off x="1498600" y="2472395"/>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Users within the databases are either mapped to a login, or contained users within </a:t>
            </a:r>
            <a:br>
              <a:rPr lang="en-US" sz="1800" dirty="0">
                <a:solidFill>
                  <a:schemeClr val="tx1"/>
                </a:solidFill>
              </a:rPr>
            </a:br>
            <a:r>
              <a:rPr lang="en-US" sz="1800" dirty="0">
                <a:solidFill>
                  <a:schemeClr val="tx1"/>
                </a:solidFill>
              </a:rPr>
              <a:t>the database</a:t>
            </a:r>
          </a:p>
        </p:txBody>
      </p:sp>
      <p:sp>
        <p:nvSpPr>
          <p:cNvPr id="15" name="Rectangle 14">
            <a:extLst>
              <a:ext uri="{FF2B5EF4-FFF2-40B4-BE49-F238E27FC236}">
                <a16:creationId xmlns:a16="http://schemas.microsoft.com/office/drawing/2014/main" id="{902649B5-98DD-BBAD-E597-198E3BBC6486}"/>
              </a:ext>
            </a:extLst>
          </p:cNvPr>
          <p:cNvSpPr>
            <a:spLocks/>
          </p:cNvSpPr>
          <p:nvPr/>
        </p:nvSpPr>
        <p:spPr bwMode="auto">
          <a:xfrm>
            <a:off x="1498600" y="3416616"/>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Contained users can be based on SQL Authentication or Microsoft </a:t>
            </a:r>
            <a:r>
              <a:rPr lang="en-US" sz="1800" dirty="0" err="1">
                <a:solidFill>
                  <a:schemeClr val="tx1"/>
                </a:solidFill>
              </a:rPr>
              <a:t>Entra</a:t>
            </a:r>
            <a:r>
              <a:rPr lang="en-US" sz="1800" dirty="0">
                <a:solidFill>
                  <a:schemeClr val="tx1"/>
                </a:solidFill>
              </a:rPr>
              <a:t> ID</a:t>
            </a:r>
          </a:p>
        </p:txBody>
      </p:sp>
      <p:sp>
        <p:nvSpPr>
          <p:cNvPr id="16" name="Rectangle 15">
            <a:extLst>
              <a:ext uri="{FF2B5EF4-FFF2-40B4-BE49-F238E27FC236}">
                <a16:creationId xmlns:a16="http://schemas.microsoft.com/office/drawing/2014/main" id="{DF68DDB1-D26A-8804-7EF6-2A9A880191B5}"/>
              </a:ext>
            </a:extLst>
          </p:cNvPr>
          <p:cNvSpPr>
            <a:spLocks/>
          </p:cNvSpPr>
          <p:nvPr/>
        </p:nvSpPr>
        <p:spPr bwMode="auto">
          <a:xfrm>
            <a:off x="1498600" y="4360837"/>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Users can then be mapped to roles to give users centrally managed rights, or rights can be granted directly to a user</a:t>
            </a:r>
          </a:p>
        </p:txBody>
      </p:sp>
    </p:spTree>
    <p:extLst>
      <p:ext uri="{BB962C8B-B14F-4D97-AF65-F5344CB8AC3E}">
        <p14:creationId xmlns:p14="http://schemas.microsoft.com/office/powerpoint/2010/main" val="322755556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DCFE9D-EE54-7FF7-8093-368F45FBDEFB}"/>
              </a:ext>
            </a:extLst>
          </p:cNvPr>
          <p:cNvSpPr/>
          <p:nvPr/>
        </p:nvSpPr>
        <p:spPr bwMode="auto">
          <a:xfrm>
            <a:off x="2374900" y="2425700"/>
            <a:ext cx="7226300" cy="738664"/>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Title 15">
            <a:extLst>
              <a:ext uri="{FF2B5EF4-FFF2-40B4-BE49-F238E27FC236}">
                <a16:creationId xmlns:a16="http://schemas.microsoft.com/office/drawing/2014/main" id="{4333AE5B-8FFD-129B-3A86-78514BA83BA2}"/>
              </a:ext>
            </a:extLst>
          </p:cNvPr>
          <p:cNvSpPr>
            <a:spLocks noGrp="1"/>
          </p:cNvSpPr>
          <p:nvPr>
            <p:ph type="title"/>
          </p:nvPr>
        </p:nvSpPr>
        <p:spPr/>
        <p:txBody>
          <a:bodyPr/>
          <a:lstStyle/>
          <a:p>
            <a:r>
              <a:rPr lang="en-US" dirty="0" err="1"/>
              <a:t>Securables</a:t>
            </a:r>
            <a:r>
              <a:rPr lang="en-US" dirty="0"/>
              <a:t> and schemas</a:t>
            </a:r>
          </a:p>
        </p:txBody>
      </p:sp>
      <p:sp>
        <p:nvSpPr>
          <p:cNvPr id="24" name="Rectangle 23">
            <a:extLst>
              <a:ext uri="{FF2B5EF4-FFF2-40B4-BE49-F238E27FC236}">
                <a16:creationId xmlns:a16="http://schemas.microsoft.com/office/drawing/2014/main" id="{693FF583-7E54-56DD-21D0-43FAEB259F40}"/>
              </a:ext>
            </a:extLst>
          </p:cNvPr>
          <p:cNvSpPr>
            <a:spLocks/>
          </p:cNvSpPr>
          <p:nvPr/>
        </p:nvSpPr>
        <p:spPr bwMode="auto">
          <a:xfrm>
            <a:off x="469900" y="1750617"/>
            <a:ext cx="10132657" cy="276999"/>
          </a:xfrm>
          <a:prstGeom prst="rect">
            <a:avLst/>
          </a:prstGeom>
          <a:solidFill>
            <a:schemeClr val="bg1"/>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2400" dirty="0" err="1">
                <a:solidFill>
                  <a:schemeClr val="tx1"/>
                </a:solidFill>
              </a:rPr>
              <a:t>Securables</a:t>
            </a:r>
            <a:r>
              <a:rPr lang="en-US" sz="2400" dirty="0">
                <a:solidFill>
                  <a:schemeClr val="tx1"/>
                </a:solidFill>
              </a:rPr>
              <a:t> are resources within databases like tables, views, procedures that access is granted to. </a:t>
            </a:r>
          </a:p>
        </p:txBody>
      </p:sp>
      <p:sp>
        <p:nvSpPr>
          <p:cNvPr id="26" name="Rectangle 25">
            <a:extLst>
              <a:ext uri="{FF2B5EF4-FFF2-40B4-BE49-F238E27FC236}">
                <a16:creationId xmlns:a16="http://schemas.microsoft.com/office/drawing/2014/main" id="{F46A1781-2ED2-C2F6-4DFB-0843B6D98EBD}"/>
              </a:ext>
            </a:extLst>
          </p:cNvPr>
          <p:cNvSpPr>
            <a:spLocks/>
          </p:cNvSpPr>
          <p:nvPr/>
        </p:nvSpPr>
        <p:spPr bwMode="auto">
          <a:xfrm>
            <a:off x="2413000" y="2625399"/>
            <a:ext cx="7442200" cy="369332"/>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2400" b="1" dirty="0">
                <a:solidFill>
                  <a:schemeClr val="tx1"/>
                </a:solidFill>
                <a:latin typeface="Courier New" panose="02070309020205020404" pitchFamily="49" charset="0"/>
                <a:cs typeface="Courier New" panose="02070309020205020404" pitchFamily="49" charset="0"/>
              </a:rPr>
              <a:t>&lt;server&gt;.&lt;database&gt;.&lt;schema&gt;.&lt;object&gt;</a:t>
            </a:r>
          </a:p>
        </p:txBody>
      </p:sp>
      <p:sp>
        <p:nvSpPr>
          <p:cNvPr id="28" name="Rectangle 27">
            <a:extLst>
              <a:ext uri="{FF2B5EF4-FFF2-40B4-BE49-F238E27FC236}">
                <a16:creationId xmlns:a16="http://schemas.microsoft.com/office/drawing/2014/main" id="{DAD38BB4-5072-11EF-0266-0C935A626477}"/>
              </a:ext>
            </a:extLst>
          </p:cNvPr>
          <p:cNvSpPr>
            <a:spLocks/>
          </p:cNvSpPr>
          <p:nvPr/>
        </p:nvSpPr>
        <p:spPr bwMode="auto">
          <a:xfrm>
            <a:off x="469898" y="3829938"/>
            <a:ext cx="10132657" cy="738664"/>
          </a:xfrm>
          <a:prstGeom prst="rect">
            <a:avLst/>
          </a:prstGeom>
          <a:solidFill>
            <a:schemeClr val="bg1"/>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endParaRPr lang="en-US" sz="2400" dirty="0">
              <a:solidFill>
                <a:schemeClr val="tx1"/>
              </a:solidFill>
            </a:endParaRPr>
          </a:p>
        </p:txBody>
      </p:sp>
      <p:sp>
        <p:nvSpPr>
          <p:cNvPr id="31" name="Rectangle 30">
            <a:extLst>
              <a:ext uri="{FF2B5EF4-FFF2-40B4-BE49-F238E27FC236}">
                <a16:creationId xmlns:a16="http://schemas.microsoft.com/office/drawing/2014/main" id="{B9B5961F-99C5-2241-4174-B4C8A70994C9}"/>
              </a:ext>
            </a:extLst>
          </p:cNvPr>
          <p:cNvSpPr>
            <a:spLocks/>
          </p:cNvSpPr>
          <p:nvPr/>
        </p:nvSpPr>
        <p:spPr bwMode="auto">
          <a:xfrm>
            <a:off x="469898" y="3511648"/>
            <a:ext cx="6172202" cy="2190476"/>
          </a:xfrm>
          <a:prstGeom prst="rect">
            <a:avLst/>
          </a:prstGeom>
          <a:solidFill>
            <a:schemeClr val="bg1"/>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2400" dirty="0">
                <a:solidFill>
                  <a:schemeClr val="tx1"/>
                </a:solidFill>
              </a:rPr>
              <a:t>A schema is a collection of objects which allows objects to be grouped into separate namespaces.</a:t>
            </a:r>
          </a:p>
        </p:txBody>
      </p:sp>
      <p:pic>
        <p:nvPicPr>
          <p:cNvPr id="8" name="Picture 7">
            <a:extLst>
              <a:ext uri="{FF2B5EF4-FFF2-40B4-BE49-F238E27FC236}">
                <a16:creationId xmlns:a16="http://schemas.microsoft.com/office/drawing/2014/main" id="{C94836B1-9384-930C-8456-F487AC931542}"/>
              </a:ext>
            </a:extLst>
          </p:cNvPr>
          <p:cNvPicPr>
            <a:picLocks noChangeAspect="1"/>
          </p:cNvPicPr>
          <p:nvPr/>
        </p:nvPicPr>
        <p:blipFill>
          <a:blip r:embed="rId3"/>
          <a:stretch>
            <a:fillRect/>
          </a:stretch>
        </p:blipFill>
        <p:spPr>
          <a:xfrm>
            <a:off x="6906215" y="3562448"/>
            <a:ext cx="2694985" cy="2582694"/>
          </a:xfrm>
          <a:prstGeom prst="rect">
            <a:avLst/>
          </a:prstGeom>
          <a:ln w="38100">
            <a:solidFill>
              <a:schemeClr val="accent1">
                <a:lumMod val="60000"/>
                <a:lumOff val="40000"/>
              </a:schemeClr>
            </a:solidFill>
          </a:ln>
        </p:spPr>
      </p:pic>
    </p:spTree>
    <p:extLst>
      <p:ext uri="{BB962C8B-B14F-4D97-AF65-F5344CB8AC3E}">
        <p14:creationId xmlns:p14="http://schemas.microsoft.com/office/powerpoint/2010/main" val="269031819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DD6FAF2-3E91-585F-16A3-EE3570841375}"/>
              </a:ext>
            </a:extLst>
          </p:cNvPr>
          <p:cNvSpPr>
            <a:spLocks noGrp="1"/>
          </p:cNvSpPr>
          <p:nvPr>
            <p:ph type="title"/>
          </p:nvPr>
        </p:nvSpPr>
        <p:spPr/>
        <p:txBody>
          <a:bodyPr/>
          <a:lstStyle/>
          <a:p>
            <a:r>
              <a:rPr lang="en-US" dirty="0"/>
              <a:t>Logins and users</a:t>
            </a:r>
          </a:p>
        </p:txBody>
      </p:sp>
      <p:sp>
        <p:nvSpPr>
          <p:cNvPr id="32" name="Rectangle 31">
            <a:extLst>
              <a:ext uri="{FF2B5EF4-FFF2-40B4-BE49-F238E27FC236}">
                <a16:creationId xmlns:a16="http://schemas.microsoft.com/office/drawing/2014/main" id="{CD28E063-5909-10B8-5A5C-8F3CAA58A013}"/>
              </a:ext>
            </a:extLst>
          </p:cNvPr>
          <p:cNvSpPr>
            <a:spLocks/>
          </p:cNvSpPr>
          <p:nvPr/>
        </p:nvSpPr>
        <p:spPr bwMode="auto">
          <a:xfrm>
            <a:off x="1435100" y="1727952"/>
            <a:ext cx="10132657"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Logins are created in the </a:t>
            </a:r>
            <a:r>
              <a:rPr lang="en-US" sz="2000" b="1" dirty="0">
                <a:solidFill>
                  <a:schemeClr val="tx1"/>
                </a:solidFill>
              </a:rPr>
              <a:t>master</a:t>
            </a:r>
            <a:r>
              <a:rPr lang="en-US" sz="2000" dirty="0">
                <a:solidFill>
                  <a:schemeClr val="tx1"/>
                </a:solidFill>
              </a:rPr>
              <a:t> database and are used for server access</a:t>
            </a:r>
          </a:p>
        </p:txBody>
      </p:sp>
      <p:sp>
        <p:nvSpPr>
          <p:cNvPr id="34" name="Rectangle 33">
            <a:extLst>
              <a:ext uri="{FF2B5EF4-FFF2-40B4-BE49-F238E27FC236}">
                <a16:creationId xmlns:a16="http://schemas.microsoft.com/office/drawing/2014/main" id="{593DA5FC-10CC-0BA2-C7AA-0EE976EB6441}"/>
              </a:ext>
            </a:extLst>
          </p:cNvPr>
          <p:cNvSpPr>
            <a:spLocks/>
          </p:cNvSpPr>
          <p:nvPr/>
        </p:nvSpPr>
        <p:spPr bwMode="auto">
          <a:xfrm>
            <a:off x="1435100" y="2578952"/>
            <a:ext cx="10132657"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Instance level permissions are applied to logins</a:t>
            </a:r>
          </a:p>
        </p:txBody>
      </p:sp>
      <p:sp>
        <p:nvSpPr>
          <p:cNvPr id="36" name="Rectangle 35">
            <a:extLst>
              <a:ext uri="{FF2B5EF4-FFF2-40B4-BE49-F238E27FC236}">
                <a16:creationId xmlns:a16="http://schemas.microsoft.com/office/drawing/2014/main" id="{B2308EDC-A310-8501-264D-25A6C54A32A7}"/>
              </a:ext>
            </a:extLst>
          </p:cNvPr>
          <p:cNvSpPr>
            <a:spLocks/>
          </p:cNvSpPr>
          <p:nvPr/>
        </p:nvSpPr>
        <p:spPr bwMode="auto">
          <a:xfrm>
            <a:off x="1435100" y="3442653"/>
            <a:ext cx="10132657"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Database level permissions are applied to users</a:t>
            </a:r>
          </a:p>
        </p:txBody>
      </p:sp>
      <p:sp>
        <p:nvSpPr>
          <p:cNvPr id="38" name="Rectangle 37">
            <a:extLst>
              <a:ext uri="{FF2B5EF4-FFF2-40B4-BE49-F238E27FC236}">
                <a16:creationId xmlns:a16="http://schemas.microsoft.com/office/drawing/2014/main" id="{C26D9AD2-1B68-8C33-5E8E-3C59BE59FD70}"/>
              </a:ext>
            </a:extLst>
          </p:cNvPr>
          <p:cNvSpPr>
            <a:spLocks/>
          </p:cNvSpPr>
          <p:nvPr/>
        </p:nvSpPr>
        <p:spPr bwMode="auto">
          <a:xfrm>
            <a:off x="1435100" y="4319051"/>
            <a:ext cx="10132657"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Contained users are authenticated at the database</a:t>
            </a:r>
          </a:p>
        </p:txBody>
      </p:sp>
      <p:sp>
        <p:nvSpPr>
          <p:cNvPr id="40" name="Rectangle 39">
            <a:extLst>
              <a:ext uri="{FF2B5EF4-FFF2-40B4-BE49-F238E27FC236}">
                <a16:creationId xmlns:a16="http://schemas.microsoft.com/office/drawing/2014/main" id="{4347EBD6-50BC-7B00-8E65-863D409C4A81}"/>
              </a:ext>
            </a:extLst>
          </p:cNvPr>
          <p:cNvSpPr>
            <a:spLocks/>
          </p:cNvSpPr>
          <p:nvPr/>
        </p:nvSpPr>
        <p:spPr bwMode="auto">
          <a:xfrm>
            <a:off x="1435100" y="5193960"/>
            <a:ext cx="10132657"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A user has access only to the database in which they are created</a:t>
            </a:r>
          </a:p>
        </p:txBody>
      </p:sp>
      <p:pic>
        <p:nvPicPr>
          <p:cNvPr id="2" name="Graphic 1" descr="Checkmark with solid fill">
            <a:extLst>
              <a:ext uri="{FF2B5EF4-FFF2-40B4-BE49-F238E27FC236}">
                <a16:creationId xmlns:a16="http://schemas.microsoft.com/office/drawing/2014/main" id="{572FD613-C517-9C64-82D1-AD3DA2554F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259" y="3203765"/>
            <a:ext cx="679557" cy="679557"/>
          </a:xfrm>
          <a:prstGeom prst="rect">
            <a:avLst/>
          </a:prstGeom>
        </p:spPr>
      </p:pic>
      <p:pic>
        <p:nvPicPr>
          <p:cNvPr id="8" name="Graphic 7" descr="Checkmark with solid fill">
            <a:extLst>
              <a:ext uri="{FF2B5EF4-FFF2-40B4-BE49-F238E27FC236}">
                <a16:creationId xmlns:a16="http://schemas.microsoft.com/office/drawing/2014/main" id="{59B15FEB-A39C-6393-B564-0EB070CB4F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261" y="1542061"/>
            <a:ext cx="679557" cy="679557"/>
          </a:xfrm>
          <a:prstGeom prst="rect">
            <a:avLst/>
          </a:prstGeom>
        </p:spPr>
      </p:pic>
      <p:pic>
        <p:nvPicPr>
          <p:cNvPr id="9" name="Graphic 8" descr="Checkmark with solid fill">
            <a:extLst>
              <a:ext uri="{FF2B5EF4-FFF2-40B4-BE49-F238E27FC236}">
                <a16:creationId xmlns:a16="http://schemas.microsoft.com/office/drawing/2014/main" id="{8FED0F51-BDCB-C49E-3063-B7556FA6CD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260" y="2381243"/>
            <a:ext cx="679557" cy="679557"/>
          </a:xfrm>
          <a:prstGeom prst="rect">
            <a:avLst/>
          </a:prstGeom>
        </p:spPr>
      </p:pic>
      <p:pic>
        <p:nvPicPr>
          <p:cNvPr id="10" name="Graphic 9" descr="Checkmark with solid fill">
            <a:extLst>
              <a:ext uri="{FF2B5EF4-FFF2-40B4-BE49-F238E27FC236}">
                <a16:creationId xmlns:a16="http://schemas.microsoft.com/office/drawing/2014/main" id="{7245CF2A-E4C0-B7A5-06CC-C3FBB9A2EA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258" y="4038987"/>
            <a:ext cx="679557" cy="679557"/>
          </a:xfrm>
          <a:prstGeom prst="rect">
            <a:avLst/>
          </a:prstGeom>
        </p:spPr>
      </p:pic>
      <p:pic>
        <p:nvPicPr>
          <p:cNvPr id="11" name="Graphic 10" descr="Checkmark with solid fill">
            <a:extLst>
              <a:ext uri="{FF2B5EF4-FFF2-40B4-BE49-F238E27FC236}">
                <a16:creationId xmlns:a16="http://schemas.microsoft.com/office/drawing/2014/main" id="{D17C9510-EEDB-E901-B1D5-151A55B064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257" y="4976070"/>
            <a:ext cx="679557" cy="679557"/>
          </a:xfrm>
          <a:prstGeom prst="rect">
            <a:avLst/>
          </a:prstGeom>
        </p:spPr>
      </p:pic>
    </p:spTree>
    <p:extLst>
      <p:ext uri="{BB962C8B-B14F-4D97-AF65-F5344CB8AC3E}">
        <p14:creationId xmlns:p14="http://schemas.microsoft.com/office/powerpoint/2010/main" val="21372834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951BC82C-F895-A9F9-F631-1EAEE58D71F8}"/>
              </a:ext>
            </a:extLst>
          </p:cNvPr>
          <p:cNvPicPr>
            <a:picLocks noGrp="1" noChangeAspect="1"/>
          </p:cNvPicPr>
          <p:nvPr>
            <p:ph type="pic" sz="quarter" idx="20"/>
          </p:nvPr>
        </p:nvPicPr>
        <p:blipFill>
          <a:blip r:embed="rId3"/>
          <a:srcRect t="39365" b="2031"/>
          <a:stretch/>
        </p:blipFill>
        <p:spPr>
          <a:xfrm>
            <a:off x="7724775" y="2041526"/>
            <a:ext cx="4467225" cy="3311524"/>
          </a:xfrm>
        </p:spPr>
      </p:pic>
      <p:sp>
        <p:nvSpPr>
          <p:cNvPr id="16" name="Title 15">
            <a:extLst>
              <a:ext uri="{FF2B5EF4-FFF2-40B4-BE49-F238E27FC236}">
                <a16:creationId xmlns:a16="http://schemas.microsoft.com/office/drawing/2014/main" id="{A8D1DDB5-6BAD-B1EA-8C90-75E7A080AF29}"/>
              </a:ext>
            </a:extLst>
          </p:cNvPr>
          <p:cNvSpPr>
            <a:spLocks noGrp="1"/>
          </p:cNvSpPr>
          <p:nvPr>
            <p:ph type="title"/>
          </p:nvPr>
        </p:nvSpPr>
        <p:spPr/>
        <p:txBody>
          <a:bodyPr/>
          <a:lstStyle/>
          <a:p>
            <a:r>
              <a:rPr lang="en-US" dirty="0"/>
              <a:t>Built-in roles</a:t>
            </a:r>
          </a:p>
        </p:txBody>
      </p:sp>
      <p:sp>
        <p:nvSpPr>
          <p:cNvPr id="21" name="Rectangle 20">
            <a:extLst>
              <a:ext uri="{FF2B5EF4-FFF2-40B4-BE49-F238E27FC236}">
                <a16:creationId xmlns:a16="http://schemas.microsoft.com/office/drawing/2014/main" id="{380552D7-F176-6C83-3E6E-14AC2A517ACE}"/>
              </a:ext>
            </a:extLst>
          </p:cNvPr>
          <p:cNvSpPr>
            <a:spLocks/>
          </p:cNvSpPr>
          <p:nvPr/>
        </p:nvSpPr>
        <p:spPr bwMode="auto">
          <a:xfrm>
            <a:off x="588263" y="1764526"/>
            <a:ext cx="6045200"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Users may be added as members of one or more server/database roles</a:t>
            </a:r>
          </a:p>
        </p:txBody>
      </p:sp>
      <p:sp>
        <p:nvSpPr>
          <p:cNvPr id="23" name="Rectangle 22">
            <a:extLst>
              <a:ext uri="{FF2B5EF4-FFF2-40B4-BE49-F238E27FC236}">
                <a16:creationId xmlns:a16="http://schemas.microsoft.com/office/drawing/2014/main" id="{4B270FF9-A70A-8CC5-08DF-1FB6B0A2AE39}"/>
              </a:ext>
            </a:extLst>
          </p:cNvPr>
          <p:cNvSpPr>
            <a:spLocks/>
          </p:cNvSpPr>
          <p:nvPr/>
        </p:nvSpPr>
        <p:spPr bwMode="auto">
          <a:xfrm>
            <a:off x="588262" y="3965700"/>
            <a:ext cx="5791199"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The </a:t>
            </a:r>
            <a:r>
              <a:rPr lang="en-US" sz="1800" i="1" dirty="0">
                <a:solidFill>
                  <a:schemeClr val="tx1"/>
                </a:solidFill>
              </a:rPr>
              <a:t>master</a:t>
            </a:r>
            <a:r>
              <a:rPr lang="en-US" sz="1800" dirty="0">
                <a:solidFill>
                  <a:schemeClr val="tx1"/>
                </a:solidFill>
              </a:rPr>
              <a:t> database in Azure SQL Database has a couple of unique roles since the </a:t>
            </a:r>
            <a:r>
              <a:rPr lang="en-US" sz="1800" i="1" dirty="0">
                <a:solidFill>
                  <a:schemeClr val="tx1"/>
                </a:solidFill>
              </a:rPr>
              <a:t>sysadmin</a:t>
            </a:r>
            <a:r>
              <a:rPr lang="en-US" sz="1800" dirty="0">
                <a:solidFill>
                  <a:schemeClr val="tx1"/>
                </a:solidFill>
              </a:rPr>
              <a:t> role doesn’t exist</a:t>
            </a:r>
          </a:p>
        </p:txBody>
      </p:sp>
      <p:sp>
        <p:nvSpPr>
          <p:cNvPr id="25" name="Rectangle 24">
            <a:extLst>
              <a:ext uri="{FF2B5EF4-FFF2-40B4-BE49-F238E27FC236}">
                <a16:creationId xmlns:a16="http://schemas.microsoft.com/office/drawing/2014/main" id="{68D0BF5C-EF3C-446D-8115-8134F521C3F5}"/>
              </a:ext>
            </a:extLst>
          </p:cNvPr>
          <p:cNvSpPr>
            <a:spLocks/>
          </p:cNvSpPr>
          <p:nvPr/>
        </p:nvSpPr>
        <p:spPr bwMode="auto">
          <a:xfrm>
            <a:off x="588262" y="2588114"/>
            <a:ext cx="6045200" cy="110799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Server roles cannot be granted access to objects within a database directly and are only available in SQL Server and Azure SQL Managed Instance, but not in Azure SQL Database ​</a:t>
            </a:r>
          </a:p>
        </p:txBody>
      </p:sp>
    </p:spTree>
    <p:extLst>
      <p:ext uri="{BB962C8B-B14F-4D97-AF65-F5344CB8AC3E}">
        <p14:creationId xmlns:p14="http://schemas.microsoft.com/office/powerpoint/2010/main" val="81271875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AF05B83-5BFA-CE75-4EF5-5ABD8A78CEA2}"/>
              </a:ext>
            </a:extLst>
          </p:cNvPr>
          <p:cNvSpPr>
            <a:spLocks noGrp="1"/>
          </p:cNvSpPr>
          <p:nvPr>
            <p:ph type="title"/>
          </p:nvPr>
        </p:nvSpPr>
        <p:spPr/>
        <p:txBody>
          <a:bodyPr/>
          <a:lstStyle/>
          <a:p>
            <a:r>
              <a:rPr lang="en-US" dirty="0"/>
              <a:t>Database roles in SQL Server vs. Azure SQL Database</a:t>
            </a:r>
          </a:p>
        </p:txBody>
      </p:sp>
      <p:sp>
        <p:nvSpPr>
          <p:cNvPr id="19" name="Rectangle 18">
            <a:extLst>
              <a:ext uri="{FF2B5EF4-FFF2-40B4-BE49-F238E27FC236}">
                <a16:creationId xmlns:a16="http://schemas.microsoft.com/office/drawing/2014/main" id="{4665C835-37AD-DC51-A0E4-C6DBA8A46A2C}"/>
              </a:ext>
            </a:extLst>
          </p:cNvPr>
          <p:cNvSpPr>
            <a:spLocks/>
          </p:cNvSpPr>
          <p:nvPr/>
        </p:nvSpPr>
        <p:spPr bwMode="auto">
          <a:xfrm>
            <a:off x="1435100" y="1727952"/>
            <a:ext cx="10164763"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Roles are used to simplify the process of managing privileges in the database</a:t>
            </a:r>
          </a:p>
        </p:txBody>
      </p:sp>
      <p:sp>
        <p:nvSpPr>
          <p:cNvPr id="21" name="Rectangle 20">
            <a:extLst>
              <a:ext uri="{FF2B5EF4-FFF2-40B4-BE49-F238E27FC236}">
                <a16:creationId xmlns:a16="http://schemas.microsoft.com/office/drawing/2014/main" id="{064B8D8F-E488-08E6-56CF-DF8A24434090}"/>
              </a:ext>
            </a:extLst>
          </p:cNvPr>
          <p:cNvSpPr>
            <a:spLocks/>
          </p:cNvSpPr>
          <p:nvPr/>
        </p:nvSpPr>
        <p:spPr bwMode="auto">
          <a:xfrm>
            <a:off x="1435100" y="2577465"/>
            <a:ext cx="10164763"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In SQL Server and Managed Instance the scope of the role may be the </a:t>
            </a:r>
            <a:r>
              <a:rPr lang="en-US" sz="2000" b="1" dirty="0">
                <a:solidFill>
                  <a:schemeClr val="tx1"/>
                </a:solidFill>
              </a:rPr>
              <a:t>database</a:t>
            </a:r>
            <a:r>
              <a:rPr lang="en-US" sz="2000" dirty="0">
                <a:solidFill>
                  <a:schemeClr val="tx1"/>
                </a:solidFill>
              </a:rPr>
              <a:t> or </a:t>
            </a:r>
            <a:br>
              <a:rPr lang="en-US" sz="2000" dirty="0">
                <a:solidFill>
                  <a:schemeClr val="tx1"/>
                </a:solidFill>
              </a:rPr>
            </a:br>
            <a:r>
              <a:rPr lang="en-US" sz="2000" dirty="0">
                <a:solidFill>
                  <a:schemeClr val="tx1"/>
                </a:solidFill>
              </a:rPr>
              <a:t>the </a:t>
            </a:r>
            <a:r>
              <a:rPr lang="en-US" sz="2000" b="1" dirty="0">
                <a:solidFill>
                  <a:schemeClr val="tx1"/>
                </a:solidFill>
              </a:rPr>
              <a:t>server</a:t>
            </a:r>
          </a:p>
        </p:txBody>
      </p:sp>
      <p:sp>
        <p:nvSpPr>
          <p:cNvPr id="23" name="Rectangle 22">
            <a:extLst>
              <a:ext uri="{FF2B5EF4-FFF2-40B4-BE49-F238E27FC236}">
                <a16:creationId xmlns:a16="http://schemas.microsoft.com/office/drawing/2014/main" id="{1B522327-2589-5321-CADE-D3F19839CB87}"/>
              </a:ext>
            </a:extLst>
          </p:cNvPr>
          <p:cNvSpPr>
            <a:spLocks/>
          </p:cNvSpPr>
          <p:nvPr/>
        </p:nvSpPr>
        <p:spPr bwMode="auto">
          <a:xfrm>
            <a:off x="1435100" y="3734753"/>
            <a:ext cx="10164763"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In Azure SQL Database roles are scoped to the individual </a:t>
            </a:r>
            <a:r>
              <a:rPr lang="en-US" sz="2000" b="1" dirty="0">
                <a:solidFill>
                  <a:schemeClr val="tx1"/>
                </a:solidFill>
              </a:rPr>
              <a:t>database</a:t>
            </a:r>
          </a:p>
        </p:txBody>
      </p:sp>
      <p:sp>
        <p:nvSpPr>
          <p:cNvPr id="25" name="Rectangle 24">
            <a:extLst>
              <a:ext uri="{FF2B5EF4-FFF2-40B4-BE49-F238E27FC236}">
                <a16:creationId xmlns:a16="http://schemas.microsoft.com/office/drawing/2014/main" id="{A6596FCB-2360-282F-DFD8-C54012F8ADAF}"/>
              </a:ext>
            </a:extLst>
          </p:cNvPr>
          <p:cNvSpPr>
            <a:spLocks/>
          </p:cNvSpPr>
          <p:nvPr/>
        </p:nvSpPr>
        <p:spPr bwMode="auto">
          <a:xfrm>
            <a:off x="1435100" y="4584264"/>
            <a:ext cx="10164763"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Both SQL Server and Azure SQL Database include built-in </a:t>
            </a:r>
            <a:r>
              <a:rPr lang="en-US" sz="2000" b="1" dirty="0">
                <a:solidFill>
                  <a:schemeClr val="tx1"/>
                </a:solidFill>
              </a:rPr>
              <a:t>database roles</a:t>
            </a:r>
            <a:r>
              <a:rPr lang="en-US" sz="2000" dirty="0">
                <a:solidFill>
                  <a:schemeClr val="tx1"/>
                </a:solidFill>
              </a:rPr>
              <a:t>, and allow for the creation of custom roles</a:t>
            </a:r>
          </a:p>
        </p:txBody>
      </p:sp>
      <p:pic>
        <p:nvPicPr>
          <p:cNvPr id="7" name="Graphic 6" descr="Arrow circle with solid fill">
            <a:extLst>
              <a:ext uri="{FF2B5EF4-FFF2-40B4-BE49-F238E27FC236}">
                <a16:creationId xmlns:a16="http://schemas.microsoft.com/office/drawing/2014/main" id="{C0359D63-C163-4533-2CBE-52E2D7D06C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3700" y="1459361"/>
            <a:ext cx="914400" cy="914400"/>
          </a:xfrm>
          <a:prstGeom prst="rect">
            <a:avLst/>
          </a:prstGeom>
        </p:spPr>
      </p:pic>
      <p:pic>
        <p:nvPicPr>
          <p:cNvPr id="11" name="Graphic 10" descr="Checkmark with solid fill">
            <a:extLst>
              <a:ext uri="{FF2B5EF4-FFF2-40B4-BE49-F238E27FC236}">
                <a16:creationId xmlns:a16="http://schemas.microsoft.com/office/drawing/2014/main" id="{F9FDD452-660B-BE3E-474A-90DAD16B87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543" y="3567862"/>
            <a:ext cx="679557" cy="679557"/>
          </a:xfrm>
          <a:prstGeom prst="rect">
            <a:avLst/>
          </a:prstGeom>
        </p:spPr>
      </p:pic>
      <p:pic>
        <p:nvPicPr>
          <p:cNvPr id="15" name="Graphic 14" descr="Circles with lines with solid fill">
            <a:extLst>
              <a:ext uri="{FF2B5EF4-FFF2-40B4-BE49-F238E27FC236}">
                <a16:creationId xmlns:a16="http://schemas.microsoft.com/office/drawing/2014/main" id="{72DA526A-0AEB-5C02-E093-8B96E19C67D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9900" y="4434840"/>
            <a:ext cx="914400" cy="914400"/>
          </a:xfrm>
          <a:prstGeom prst="rect">
            <a:avLst/>
          </a:prstGeom>
        </p:spPr>
      </p:pic>
      <p:pic>
        <p:nvPicPr>
          <p:cNvPr id="18" name="Graphic 17" descr="Clipboard Checked with solid fill">
            <a:extLst>
              <a:ext uri="{FF2B5EF4-FFF2-40B4-BE49-F238E27FC236}">
                <a16:creationId xmlns:a16="http://schemas.microsoft.com/office/drawing/2014/main" id="{5CA6F383-8B62-B37F-D41C-4605BE91BB8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8843" y="2561183"/>
            <a:ext cx="819257" cy="819257"/>
          </a:xfrm>
          <a:prstGeom prst="rect">
            <a:avLst/>
          </a:prstGeom>
        </p:spPr>
      </p:pic>
    </p:spTree>
    <p:extLst>
      <p:ext uri="{BB962C8B-B14F-4D97-AF65-F5344CB8AC3E}">
        <p14:creationId xmlns:p14="http://schemas.microsoft.com/office/powerpoint/2010/main" val="73012350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0A06A6-C107-7EA2-2A18-B84B8131C62A}"/>
              </a:ext>
            </a:extLst>
          </p:cNvPr>
          <p:cNvSpPr>
            <a:spLocks noGrp="1"/>
          </p:cNvSpPr>
          <p:nvPr>
            <p:ph type="title"/>
          </p:nvPr>
        </p:nvSpPr>
        <p:spPr/>
        <p:txBody>
          <a:bodyPr/>
          <a:lstStyle/>
          <a:p>
            <a:r>
              <a:rPr lang="en-US" dirty="0"/>
              <a:t>Built-in </a:t>
            </a:r>
            <a:r>
              <a:rPr lang="en-US"/>
              <a:t>Database Roles </a:t>
            </a:r>
            <a:endParaRPr lang="en-US" dirty="0"/>
          </a:p>
        </p:txBody>
      </p:sp>
      <p:grpSp>
        <p:nvGrpSpPr>
          <p:cNvPr id="3" name="Group 2">
            <a:extLst>
              <a:ext uri="{FF2B5EF4-FFF2-40B4-BE49-F238E27FC236}">
                <a16:creationId xmlns:a16="http://schemas.microsoft.com/office/drawing/2014/main" id="{4DFD3902-41DD-1517-6986-7E9F09BD929D}"/>
              </a:ext>
              <a:ext uri="{C183D7F6-B498-43B3-948B-1728B52AA6E4}">
                <adec:decorative xmlns:adec="http://schemas.microsoft.com/office/drawing/2017/decorative" val="1"/>
              </a:ext>
            </a:extLst>
          </p:cNvPr>
          <p:cNvGrpSpPr>
            <a:grpSpLocks/>
          </p:cNvGrpSpPr>
          <p:nvPr/>
        </p:nvGrpSpPr>
        <p:grpSpPr>
          <a:xfrm>
            <a:off x="704415" y="1404717"/>
            <a:ext cx="702775" cy="708475"/>
            <a:chOff x="683513" y="1771650"/>
            <a:chExt cx="648000" cy="648000"/>
          </a:xfrm>
          <a:solidFill>
            <a:srgbClr val="8DC8E8"/>
          </a:solidFill>
        </p:grpSpPr>
        <p:sp>
          <p:nvSpPr>
            <p:cNvPr id="5" name="Oval 4">
              <a:extLst>
                <a:ext uri="{FF2B5EF4-FFF2-40B4-BE49-F238E27FC236}">
                  <a16:creationId xmlns:a16="http://schemas.microsoft.com/office/drawing/2014/main" id="{3AB05C86-78FD-36DA-41DC-92EF49650EE6}"/>
                </a:ext>
              </a:extLst>
            </p:cNvPr>
            <p:cNvSpPr>
              <a:spLocks noChangeAspect="1"/>
            </p:cNvSpPr>
            <p:nvPr/>
          </p:nvSpPr>
          <p:spPr bwMode="auto">
            <a:xfrm>
              <a:off x="683513" y="1771650"/>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24" name="people_5" title="Icon of a person with a box around them">
              <a:extLst>
                <a:ext uri="{FF2B5EF4-FFF2-40B4-BE49-F238E27FC236}">
                  <a16:creationId xmlns:a16="http://schemas.microsoft.com/office/drawing/2014/main" id="{F77867D9-9260-1C9B-FD21-90F805D0A7E6}"/>
                </a:ext>
              </a:extLst>
            </p:cNvPr>
            <p:cNvSpPr>
              <a:spLocks noChangeAspect="1" noEditPoints="1"/>
            </p:cNvSpPr>
            <p:nvPr/>
          </p:nvSpPr>
          <p:spPr bwMode="auto">
            <a:xfrm>
              <a:off x="844868" y="1933650"/>
              <a:ext cx="325291" cy="324000"/>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dirty="0"/>
            </a:p>
          </p:txBody>
        </p:sp>
      </p:grpSp>
      <p:sp>
        <p:nvSpPr>
          <p:cNvPr id="6" name="Rectangle 5">
            <a:extLst>
              <a:ext uri="{FF2B5EF4-FFF2-40B4-BE49-F238E27FC236}">
                <a16:creationId xmlns:a16="http://schemas.microsoft.com/office/drawing/2014/main" id="{4793F6AF-011B-0812-6995-05E155C093D1}"/>
              </a:ext>
            </a:extLst>
          </p:cNvPr>
          <p:cNvSpPr>
            <a:spLocks/>
          </p:cNvSpPr>
          <p:nvPr/>
        </p:nvSpPr>
        <p:spPr bwMode="auto">
          <a:xfrm>
            <a:off x="1581847" y="1559260"/>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defTabSz="914400">
              <a:spcAft>
                <a:spcPts val="300"/>
              </a:spcAft>
            </a:pPr>
            <a:r>
              <a:rPr lang="en-US" sz="2000" dirty="0" err="1">
                <a:solidFill>
                  <a:schemeClr val="tx1"/>
                </a:solidFill>
                <a:latin typeface="+mj-lt"/>
              </a:rPr>
              <a:t>db_owner</a:t>
            </a:r>
            <a:endParaRPr lang="en-US" sz="2000" dirty="0">
              <a:solidFill>
                <a:schemeClr val="tx1"/>
              </a:solidFill>
              <a:latin typeface="+mj-lt"/>
            </a:endParaRPr>
          </a:p>
        </p:txBody>
      </p:sp>
      <p:grpSp>
        <p:nvGrpSpPr>
          <p:cNvPr id="31" name="Group 30">
            <a:extLst>
              <a:ext uri="{FF2B5EF4-FFF2-40B4-BE49-F238E27FC236}">
                <a16:creationId xmlns:a16="http://schemas.microsoft.com/office/drawing/2014/main" id="{E985ABD1-C4AF-3B65-B3B1-CAE23A0AE9F6}"/>
              </a:ext>
              <a:ext uri="{C183D7F6-B498-43B3-948B-1728B52AA6E4}">
                <adec:decorative xmlns:adec="http://schemas.microsoft.com/office/drawing/2017/decorative" val="1"/>
              </a:ext>
            </a:extLst>
          </p:cNvPr>
          <p:cNvGrpSpPr>
            <a:grpSpLocks/>
          </p:cNvGrpSpPr>
          <p:nvPr/>
        </p:nvGrpSpPr>
        <p:grpSpPr>
          <a:xfrm>
            <a:off x="4117747" y="1404717"/>
            <a:ext cx="702775" cy="708475"/>
            <a:chOff x="4607813" y="1771650"/>
            <a:chExt cx="648000" cy="648000"/>
          </a:xfrm>
          <a:solidFill>
            <a:srgbClr val="8DC8E8"/>
          </a:solidFill>
        </p:grpSpPr>
        <p:sp>
          <p:nvSpPr>
            <p:cNvPr id="32" name="Oval 31">
              <a:extLst>
                <a:ext uri="{FF2B5EF4-FFF2-40B4-BE49-F238E27FC236}">
                  <a16:creationId xmlns:a16="http://schemas.microsoft.com/office/drawing/2014/main" id="{9EAEF369-6EF7-4F12-BF1C-41917BFCEC48}"/>
                </a:ext>
              </a:extLst>
            </p:cNvPr>
            <p:cNvSpPr>
              <a:spLocks noChangeAspect="1"/>
            </p:cNvSpPr>
            <p:nvPr/>
          </p:nvSpPr>
          <p:spPr bwMode="auto">
            <a:xfrm>
              <a:off x="4607813" y="1771650"/>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33" name="Mobile-first" title="Icon of two devices with an arrow connecting them">
              <a:extLst>
                <a:ext uri="{FF2B5EF4-FFF2-40B4-BE49-F238E27FC236}">
                  <a16:creationId xmlns:a16="http://schemas.microsoft.com/office/drawing/2014/main" id="{336FB34E-D866-2070-AC86-FB06CFA190A2}"/>
                </a:ext>
              </a:extLst>
            </p:cNvPr>
            <p:cNvSpPr>
              <a:spLocks noChangeAspect="1" noEditPoints="1"/>
            </p:cNvSpPr>
            <p:nvPr/>
          </p:nvSpPr>
          <p:spPr bwMode="auto">
            <a:xfrm>
              <a:off x="4707047" y="2005650"/>
              <a:ext cx="449533" cy="180000"/>
            </a:xfrm>
            <a:custGeom>
              <a:avLst/>
              <a:gdLst>
                <a:gd name="T0" fmla="*/ 273 w 482"/>
                <a:gd name="T1" fmla="*/ 160 h 193"/>
                <a:gd name="T2" fmla="*/ 27 w 482"/>
                <a:gd name="T3" fmla="*/ 160 h 193"/>
                <a:gd name="T4" fmla="*/ 27 w 482"/>
                <a:gd name="T5" fmla="*/ 0 h 193"/>
                <a:gd name="T6" fmla="*/ 273 w 482"/>
                <a:gd name="T7" fmla="*/ 0 h 193"/>
                <a:gd name="T8" fmla="*/ 273 w 482"/>
                <a:gd name="T9" fmla="*/ 160 h 193"/>
                <a:gd name="T10" fmla="*/ 482 w 482"/>
                <a:gd name="T11" fmla="*/ 2 h 193"/>
                <a:gd name="T12" fmla="*/ 345 w 482"/>
                <a:gd name="T13" fmla="*/ 2 h 193"/>
                <a:gd name="T14" fmla="*/ 345 w 482"/>
                <a:gd name="T15" fmla="*/ 193 h 193"/>
                <a:gd name="T16" fmla="*/ 482 w 482"/>
                <a:gd name="T17" fmla="*/ 193 h 193"/>
                <a:gd name="T18" fmla="*/ 482 w 482"/>
                <a:gd name="T19" fmla="*/ 2 h 193"/>
                <a:gd name="T20" fmla="*/ 0 w 482"/>
                <a:gd name="T21" fmla="*/ 193 h 193"/>
                <a:gd name="T22" fmla="*/ 301 w 482"/>
                <a:gd name="T23" fmla="*/ 193 h 193"/>
                <a:gd name="T24" fmla="*/ 403 w 482"/>
                <a:gd name="T25" fmla="*/ 157 h 193"/>
                <a:gd name="T26" fmla="*/ 425 w 482"/>
                <a:gd name="T27" fmla="*/ 157 h 193"/>
                <a:gd name="T28" fmla="*/ 173 w 482"/>
                <a:gd name="T29" fmla="*/ 50 h 193"/>
                <a:gd name="T30" fmla="*/ 143 w 482"/>
                <a:gd name="T31" fmla="*/ 82 h 193"/>
                <a:gd name="T32" fmla="*/ 173 w 482"/>
                <a:gd name="T33" fmla="*/ 114 h 193"/>
                <a:gd name="T34" fmla="*/ 387 w 482"/>
                <a:gd name="T35" fmla="*/ 114 h 193"/>
                <a:gd name="T36" fmla="*/ 419 w 482"/>
                <a:gd name="T37" fmla="*/ 82 h 193"/>
                <a:gd name="T38" fmla="*/ 387 w 482"/>
                <a:gd name="T39" fmla="*/ 50 h 193"/>
                <a:gd name="T40" fmla="*/ 143 w 482"/>
                <a:gd name="T41" fmla="*/ 82 h 193"/>
                <a:gd name="T42" fmla="*/ 419 w 482"/>
                <a:gd name="T43" fmla="*/ 82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2" h="193">
                  <a:moveTo>
                    <a:pt x="273" y="160"/>
                  </a:moveTo>
                  <a:lnTo>
                    <a:pt x="27" y="160"/>
                  </a:lnTo>
                  <a:lnTo>
                    <a:pt x="27" y="0"/>
                  </a:lnTo>
                  <a:lnTo>
                    <a:pt x="273" y="0"/>
                  </a:lnTo>
                  <a:lnTo>
                    <a:pt x="273" y="160"/>
                  </a:lnTo>
                  <a:moveTo>
                    <a:pt x="482" y="2"/>
                  </a:moveTo>
                  <a:lnTo>
                    <a:pt x="345" y="2"/>
                  </a:lnTo>
                  <a:lnTo>
                    <a:pt x="345" y="193"/>
                  </a:lnTo>
                  <a:lnTo>
                    <a:pt x="482" y="193"/>
                  </a:lnTo>
                  <a:lnTo>
                    <a:pt x="482" y="2"/>
                  </a:lnTo>
                  <a:moveTo>
                    <a:pt x="0" y="193"/>
                  </a:moveTo>
                  <a:lnTo>
                    <a:pt x="301" y="193"/>
                  </a:lnTo>
                  <a:moveTo>
                    <a:pt x="403" y="157"/>
                  </a:moveTo>
                  <a:lnTo>
                    <a:pt x="425" y="157"/>
                  </a:lnTo>
                  <a:moveTo>
                    <a:pt x="173" y="50"/>
                  </a:moveTo>
                  <a:lnTo>
                    <a:pt x="143" y="82"/>
                  </a:lnTo>
                  <a:lnTo>
                    <a:pt x="173" y="114"/>
                  </a:lnTo>
                  <a:moveTo>
                    <a:pt x="387" y="114"/>
                  </a:moveTo>
                  <a:lnTo>
                    <a:pt x="419" y="82"/>
                  </a:lnTo>
                  <a:lnTo>
                    <a:pt x="387" y="50"/>
                  </a:lnTo>
                  <a:moveTo>
                    <a:pt x="143" y="82"/>
                  </a:moveTo>
                  <a:lnTo>
                    <a:pt x="419" y="82"/>
                  </a:lnTo>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dirty="0"/>
            </a:p>
          </p:txBody>
        </p:sp>
      </p:grpSp>
      <p:sp>
        <p:nvSpPr>
          <p:cNvPr id="12" name="Rectangle 11">
            <a:extLst>
              <a:ext uri="{FF2B5EF4-FFF2-40B4-BE49-F238E27FC236}">
                <a16:creationId xmlns:a16="http://schemas.microsoft.com/office/drawing/2014/main" id="{8C4F08E9-1448-8AB6-405B-A823F8512AD7}"/>
              </a:ext>
            </a:extLst>
          </p:cNvPr>
          <p:cNvSpPr>
            <a:spLocks/>
          </p:cNvSpPr>
          <p:nvPr/>
        </p:nvSpPr>
        <p:spPr bwMode="auto">
          <a:xfrm>
            <a:off x="4976707" y="1635247"/>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000" dirty="0" err="1">
                <a:solidFill>
                  <a:schemeClr val="tx1"/>
                </a:solidFill>
                <a:latin typeface="+mj-lt"/>
              </a:rPr>
              <a:t>db_backupoperator</a:t>
            </a:r>
            <a:endParaRPr lang="en-US" sz="2000" dirty="0">
              <a:solidFill>
                <a:schemeClr val="tx1"/>
              </a:solidFill>
              <a:latin typeface="+mj-lt"/>
            </a:endParaRPr>
          </a:p>
        </p:txBody>
      </p:sp>
      <p:grpSp>
        <p:nvGrpSpPr>
          <p:cNvPr id="40" name="Group 39">
            <a:extLst>
              <a:ext uri="{FF2B5EF4-FFF2-40B4-BE49-F238E27FC236}">
                <a16:creationId xmlns:a16="http://schemas.microsoft.com/office/drawing/2014/main" id="{05384D0E-831B-464C-DD79-6E3F26A27EC9}"/>
              </a:ext>
              <a:ext uri="{C183D7F6-B498-43B3-948B-1728B52AA6E4}">
                <adec:decorative xmlns:adec="http://schemas.microsoft.com/office/drawing/2017/decorative" val="1"/>
              </a:ext>
            </a:extLst>
          </p:cNvPr>
          <p:cNvGrpSpPr>
            <a:grpSpLocks/>
          </p:cNvGrpSpPr>
          <p:nvPr/>
        </p:nvGrpSpPr>
        <p:grpSpPr>
          <a:xfrm>
            <a:off x="7584845" y="1418280"/>
            <a:ext cx="702775" cy="708475"/>
            <a:chOff x="8532113" y="1771650"/>
            <a:chExt cx="648000" cy="648000"/>
          </a:xfrm>
          <a:solidFill>
            <a:srgbClr val="8DC8E8"/>
          </a:solidFill>
        </p:grpSpPr>
        <p:sp>
          <p:nvSpPr>
            <p:cNvPr id="41" name="Oval 40">
              <a:extLst>
                <a:ext uri="{FF2B5EF4-FFF2-40B4-BE49-F238E27FC236}">
                  <a16:creationId xmlns:a16="http://schemas.microsoft.com/office/drawing/2014/main" id="{B1DF2A98-7F03-74AD-B096-D84579D5EC45}"/>
                </a:ext>
              </a:extLst>
            </p:cNvPr>
            <p:cNvSpPr>
              <a:spLocks noChangeAspect="1"/>
            </p:cNvSpPr>
            <p:nvPr/>
          </p:nvSpPr>
          <p:spPr bwMode="auto">
            <a:xfrm>
              <a:off x="8532113" y="1771650"/>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42" name="Browser_4" title="Icon of a website or an app window">
              <a:extLst>
                <a:ext uri="{FF2B5EF4-FFF2-40B4-BE49-F238E27FC236}">
                  <a16:creationId xmlns:a16="http://schemas.microsoft.com/office/drawing/2014/main" id="{DB1FB91C-DF13-B685-0C00-B5079DCD8D2C}"/>
                </a:ext>
              </a:extLst>
            </p:cNvPr>
            <p:cNvSpPr>
              <a:spLocks noChangeAspect="1" noEditPoints="1"/>
            </p:cNvSpPr>
            <p:nvPr/>
          </p:nvSpPr>
          <p:spPr bwMode="auto">
            <a:xfrm>
              <a:off x="8685858" y="1969650"/>
              <a:ext cx="340511" cy="252000"/>
            </a:xfrm>
            <a:custGeom>
              <a:avLst/>
              <a:gdLst>
                <a:gd name="T0" fmla="*/ 80 w 604"/>
                <a:gd name="T1" fmla="*/ 244 h 447"/>
                <a:gd name="T2" fmla="*/ 320 w 604"/>
                <a:gd name="T3" fmla="*/ 244 h 447"/>
                <a:gd name="T4" fmla="*/ 80 w 604"/>
                <a:gd name="T5" fmla="*/ 367 h 447"/>
                <a:gd name="T6" fmla="*/ 320 w 604"/>
                <a:gd name="T7" fmla="*/ 367 h 447"/>
                <a:gd name="T8" fmla="*/ 525 w 604"/>
                <a:gd name="T9" fmla="*/ 305 h 447"/>
                <a:gd name="T10" fmla="*/ 525 w 604"/>
                <a:gd name="T11" fmla="*/ 244 h 447"/>
                <a:gd name="T12" fmla="*/ 403 w 604"/>
                <a:gd name="T13" fmla="*/ 244 h 447"/>
                <a:gd name="T14" fmla="*/ 403 w 604"/>
                <a:gd name="T15" fmla="*/ 367 h 447"/>
                <a:gd name="T16" fmla="*/ 525 w 604"/>
                <a:gd name="T17" fmla="*/ 367 h 447"/>
                <a:gd name="T18" fmla="*/ 525 w 604"/>
                <a:gd name="T19" fmla="*/ 305 h 447"/>
                <a:gd name="T20" fmla="*/ 525 w 604"/>
                <a:gd name="T21" fmla="*/ 123 h 447"/>
                <a:gd name="T22" fmla="*/ 525 w 604"/>
                <a:gd name="T23" fmla="*/ 80 h 447"/>
                <a:gd name="T24" fmla="*/ 82 w 604"/>
                <a:gd name="T25" fmla="*/ 80 h 447"/>
                <a:gd name="T26" fmla="*/ 82 w 604"/>
                <a:gd name="T27" fmla="*/ 166 h 447"/>
                <a:gd name="T28" fmla="*/ 525 w 604"/>
                <a:gd name="T29" fmla="*/ 166 h 447"/>
                <a:gd name="T30" fmla="*/ 525 w 604"/>
                <a:gd name="T31" fmla="*/ 123 h 447"/>
                <a:gd name="T32" fmla="*/ 604 w 604"/>
                <a:gd name="T33" fmla="*/ 225 h 447"/>
                <a:gd name="T34" fmla="*/ 604 w 604"/>
                <a:gd name="T35" fmla="*/ 0 h 447"/>
                <a:gd name="T36" fmla="*/ 0 w 604"/>
                <a:gd name="T37" fmla="*/ 0 h 447"/>
                <a:gd name="T38" fmla="*/ 0 w 604"/>
                <a:gd name="T39" fmla="*/ 447 h 447"/>
                <a:gd name="T40" fmla="*/ 604 w 604"/>
                <a:gd name="T41" fmla="*/ 447 h 447"/>
                <a:gd name="T42" fmla="*/ 604 w 604"/>
                <a:gd name="T43" fmla="*/ 225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4" h="447">
                  <a:moveTo>
                    <a:pt x="80" y="244"/>
                  </a:moveTo>
                  <a:lnTo>
                    <a:pt x="320" y="244"/>
                  </a:lnTo>
                  <a:moveTo>
                    <a:pt x="80" y="367"/>
                  </a:moveTo>
                  <a:lnTo>
                    <a:pt x="320" y="367"/>
                  </a:lnTo>
                  <a:moveTo>
                    <a:pt x="525" y="305"/>
                  </a:moveTo>
                  <a:lnTo>
                    <a:pt x="525" y="244"/>
                  </a:lnTo>
                  <a:lnTo>
                    <a:pt x="403" y="244"/>
                  </a:lnTo>
                  <a:lnTo>
                    <a:pt x="403" y="367"/>
                  </a:lnTo>
                  <a:lnTo>
                    <a:pt x="525" y="367"/>
                  </a:lnTo>
                  <a:lnTo>
                    <a:pt x="525" y="305"/>
                  </a:lnTo>
                  <a:moveTo>
                    <a:pt x="525" y="123"/>
                  </a:moveTo>
                  <a:lnTo>
                    <a:pt x="525" y="80"/>
                  </a:lnTo>
                  <a:lnTo>
                    <a:pt x="82" y="80"/>
                  </a:lnTo>
                  <a:lnTo>
                    <a:pt x="82" y="166"/>
                  </a:lnTo>
                  <a:lnTo>
                    <a:pt x="525" y="166"/>
                  </a:lnTo>
                  <a:lnTo>
                    <a:pt x="525" y="123"/>
                  </a:lnTo>
                  <a:moveTo>
                    <a:pt x="604" y="225"/>
                  </a:moveTo>
                  <a:lnTo>
                    <a:pt x="604" y="0"/>
                  </a:lnTo>
                  <a:lnTo>
                    <a:pt x="0" y="0"/>
                  </a:lnTo>
                  <a:lnTo>
                    <a:pt x="0" y="447"/>
                  </a:lnTo>
                  <a:lnTo>
                    <a:pt x="604" y="447"/>
                  </a:lnTo>
                  <a:lnTo>
                    <a:pt x="604" y="225"/>
                  </a:lnTo>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a:p>
          </p:txBody>
        </p:sp>
      </p:grpSp>
      <p:sp>
        <p:nvSpPr>
          <p:cNvPr id="18" name="Rectangle 17">
            <a:extLst>
              <a:ext uri="{FF2B5EF4-FFF2-40B4-BE49-F238E27FC236}">
                <a16:creationId xmlns:a16="http://schemas.microsoft.com/office/drawing/2014/main" id="{EA893FF6-E344-A029-7928-4BE44C364D66}"/>
              </a:ext>
            </a:extLst>
          </p:cNvPr>
          <p:cNvSpPr>
            <a:spLocks/>
          </p:cNvSpPr>
          <p:nvPr/>
        </p:nvSpPr>
        <p:spPr bwMode="auto">
          <a:xfrm>
            <a:off x="8437127" y="1582014"/>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000" dirty="0" err="1">
                <a:solidFill>
                  <a:schemeClr val="tx1"/>
                </a:solidFill>
                <a:latin typeface="+mj-lt"/>
              </a:rPr>
              <a:t>db_datareader</a:t>
            </a:r>
            <a:endParaRPr lang="en-US" sz="2000" dirty="0">
              <a:solidFill>
                <a:schemeClr val="tx1"/>
              </a:solidFill>
              <a:latin typeface="+mj-lt"/>
            </a:endParaRPr>
          </a:p>
        </p:txBody>
      </p:sp>
      <p:grpSp>
        <p:nvGrpSpPr>
          <p:cNvPr id="25" name="Group 24">
            <a:extLst>
              <a:ext uri="{FF2B5EF4-FFF2-40B4-BE49-F238E27FC236}">
                <a16:creationId xmlns:a16="http://schemas.microsoft.com/office/drawing/2014/main" id="{DADB985D-31C9-FC25-7061-47EF475D75A0}"/>
              </a:ext>
              <a:ext uri="{C183D7F6-B498-43B3-948B-1728B52AA6E4}">
                <adec:decorative xmlns:adec="http://schemas.microsoft.com/office/drawing/2017/decorative" val="1"/>
              </a:ext>
            </a:extLst>
          </p:cNvPr>
          <p:cNvGrpSpPr>
            <a:grpSpLocks/>
          </p:cNvGrpSpPr>
          <p:nvPr/>
        </p:nvGrpSpPr>
        <p:grpSpPr>
          <a:xfrm>
            <a:off x="690127" y="2248582"/>
            <a:ext cx="702775" cy="708475"/>
            <a:chOff x="683513" y="2964102"/>
            <a:chExt cx="648000" cy="648000"/>
          </a:xfrm>
          <a:solidFill>
            <a:srgbClr val="8DC8E8"/>
          </a:solidFill>
        </p:grpSpPr>
        <p:sp>
          <p:nvSpPr>
            <p:cNvPr id="26" name="Oval 25">
              <a:extLst>
                <a:ext uri="{FF2B5EF4-FFF2-40B4-BE49-F238E27FC236}">
                  <a16:creationId xmlns:a16="http://schemas.microsoft.com/office/drawing/2014/main" id="{4AE49525-B174-B786-AA36-6E9FCEEE4B5C}"/>
                </a:ext>
              </a:extLst>
            </p:cNvPr>
            <p:cNvSpPr>
              <a:spLocks noChangeAspect="1"/>
            </p:cNvSpPr>
            <p:nvPr/>
          </p:nvSpPr>
          <p:spPr bwMode="auto">
            <a:xfrm>
              <a:off x="683513" y="2964102"/>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27" name="shield_3" title="Icon of a shield with an exclamation point inside">
              <a:extLst>
                <a:ext uri="{FF2B5EF4-FFF2-40B4-BE49-F238E27FC236}">
                  <a16:creationId xmlns:a16="http://schemas.microsoft.com/office/drawing/2014/main" id="{5FB8E14D-A8FC-2EA8-1CFE-C18969FF0D2B}"/>
                </a:ext>
              </a:extLst>
            </p:cNvPr>
            <p:cNvSpPr>
              <a:spLocks noChangeAspect="1" noEditPoints="1"/>
            </p:cNvSpPr>
            <p:nvPr/>
          </p:nvSpPr>
          <p:spPr bwMode="auto">
            <a:xfrm>
              <a:off x="847673" y="3135627"/>
              <a:ext cx="319680" cy="324000"/>
            </a:xfrm>
            <a:custGeom>
              <a:avLst/>
              <a:gdLst>
                <a:gd name="T0" fmla="*/ 55 w 322"/>
                <a:gd name="T1" fmla="*/ 246 h 329"/>
                <a:gd name="T2" fmla="*/ 4 w 322"/>
                <a:gd name="T3" fmla="*/ 101 h 329"/>
                <a:gd name="T4" fmla="*/ 4 w 322"/>
                <a:gd name="T5" fmla="*/ 44 h 329"/>
                <a:gd name="T6" fmla="*/ 72 w 322"/>
                <a:gd name="T7" fmla="*/ 34 h 329"/>
                <a:gd name="T8" fmla="*/ 161 w 322"/>
                <a:gd name="T9" fmla="*/ 0 h 329"/>
                <a:gd name="T10" fmla="*/ 250 w 322"/>
                <a:gd name="T11" fmla="*/ 34 h 329"/>
                <a:gd name="T12" fmla="*/ 318 w 322"/>
                <a:gd name="T13" fmla="*/ 44 h 329"/>
                <a:gd name="T14" fmla="*/ 318 w 322"/>
                <a:gd name="T15" fmla="*/ 101 h 329"/>
                <a:gd name="T16" fmla="*/ 267 w 322"/>
                <a:gd name="T17" fmla="*/ 246 h 329"/>
                <a:gd name="T18" fmla="*/ 161 w 322"/>
                <a:gd name="T19" fmla="*/ 329 h 329"/>
                <a:gd name="T20" fmla="*/ 55 w 322"/>
                <a:gd name="T21" fmla="*/ 246 h 329"/>
                <a:gd name="T22" fmla="*/ 161 w 322"/>
                <a:gd name="T23" fmla="*/ 53 h 329"/>
                <a:gd name="T24" fmla="*/ 161 w 322"/>
                <a:gd name="T25" fmla="*/ 207 h 329"/>
                <a:gd name="T26" fmla="*/ 161 w 322"/>
                <a:gd name="T27" fmla="*/ 231 h 329"/>
                <a:gd name="T28" fmla="*/ 161 w 322"/>
                <a:gd name="T29" fmla="*/ 25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2" h="329">
                  <a:moveTo>
                    <a:pt x="55" y="246"/>
                  </a:moveTo>
                  <a:cubicBezTo>
                    <a:pt x="0" y="179"/>
                    <a:pt x="4" y="101"/>
                    <a:pt x="4" y="101"/>
                  </a:cubicBezTo>
                  <a:cubicBezTo>
                    <a:pt x="4" y="44"/>
                    <a:pt x="4" y="44"/>
                    <a:pt x="4" y="44"/>
                  </a:cubicBezTo>
                  <a:cubicBezTo>
                    <a:pt x="4" y="44"/>
                    <a:pt x="38" y="45"/>
                    <a:pt x="72" y="34"/>
                  </a:cubicBezTo>
                  <a:cubicBezTo>
                    <a:pt x="107" y="22"/>
                    <a:pt x="124" y="0"/>
                    <a:pt x="161" y="0"/>
                  </a:cubicBezTo>
                  <a:cubicBezTo>
                    <a:pt x="198" y="0"/>
                    <a:pt x="215" y="22"/>
                    <a:pt x="250" y="34"/>
                  </a:cubicBezTo>
                  <a:cubicBezTo>
                    <a:pt x="284" y="45"/>
                    <a:pt x="318" y="44"/>
                    <a:pt x="318" y="44"/>
                  </a:cubicBezTo>
                  <a:cubicBezTo>
                    <a:pt x="318" y="101"/>
                    <a:pt x="318" y="101"/>
                    <a:pt x="318" y="101"/>
                  </a:cubicBezTo>
                  <a:cubicBezTo>
                    <a:pt x="318" y="101"/>
                    <a:pt x="322" y="179"/>
                    <a:pt x="267" y="246"/>
                  </a:cubicBezTo>
                  <a:cubicBezTo>
                    <a:pt x="234" y="286"/>
                    <a:pt x="161" y="329"/>
                    <a:pt x="161" y="329"/>
                  </a:cubicBezTo>
                  <a:cubicBezTo>
                    <a:pt x="161" y="329"/>
                    <a:pt x="88" y="286"/>
                    <a:pt x="55" y="246"/>
                  </a:cubicBezTo>
                  <a:close/>
                  <a:moveTo>
                    <a:pt x="161" y="53"/>
                  </a:moveTo>
                  <a:cubicBezTo>
                    <a:pt x="161" y="207"/>
                    <a:pt x="161" y="207"/>
                    <a:pt x="161" y="207"/>
                  </a:cubicBezTo>
                  <a:moveTo>
                    <a:pt x="161" y="231"/>
                  </a:moveTo>
                  <a:cubicBezTo>
                    <a:pt x="161" y="251"/>
                    <a:pt x="161" y="251"/>
                    <a:pt x="161" y="251"/>
                  </a:cubicBezTo>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a:p>
          </p:txBody>
        </p:sp>
      </p:grpSp>
      <p:sp>
        <p:nvSpPr>
          <p:cNvPr id="7" name="Rectangle 6">
            <a:extLst>
              <a:ext uri="{FF2B5EF4-FFF2-40B4-BE49-F238E27FC236}">
                <a16:creationId xmlns:a16="http://schemas.microsoft.com/office/drawing/2014/main" id="{115056CA-D9B0-8461-86C9-DE471FB55B7D}"/>
              </a:ext>
            </a:extLst>
          </p:cNvPr>
          <p:cNvSpPr>
            <a:spLocks/>
          </p:cNvSpPr>
          <p:nvPr/>
        </p:nvSpPr>
        <p:spPr bwMode="auto">
          <a:xfrm>
            <a:off x="1581847" y="2444640"/>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000" dirty="0" err="1">
                <a:solidFill>
                  <a:schemeClr val="tx1"/>
                </a:solidFill>
                <a:latin typeface="+mj-lt"/>
              </a:rPr>
              <a:t>db_securityadmin</a:t>
            </a:r>
            <a:endParaRPr lang="en-US" sz="2000" dirty="0">
              <a:solidFill>
                <a:schemeClr val="tx1"/>
              </a:solidFill>
              <a:latin typeface="+mj-lt"/>
            </a:endParaRPr>
          </a:p>
        </p:txBody>
      </p:sp>
      <p:grpSp>
        <p:nvGrpSpPr>
          <p:cNvPr id="34" name="Group 33">
            <a:extLst>
              <a:ext uri="{FF2B5EF4-FFF2-40B4-BE49-F238E27FC236}">
                <a16:creationId xmlns:a16="http://schemas.microsoft.com/office/drawing/2014/main" id="{5DC395BD-78BE-88AA-E1B5-1B942BA1657F}"/>
              </a:ext>
              <a:ext uri="{C183D7F6-B498-43B3-948B-1728B52AA6E4}">
                <adec:decorative xmlns:adec="http://schemas.microsoft.com/office/drawing/2017/decorative" val="1"/>
              </a:ext>
            </a:extLst>
          </p:cNvPr>
          <p:cNvGrpSpPr>
            <a:grpSpLocks/>
          </p:cNvGrpSpPr>
          <p:nvPr/>
        </p:nvGrpSpPr>
        <p:grpSpPr>
          <a:xfrm>
            <a:off x="4117746" y="2280469"/>
            <a:ext cx="702775" cy="708475"/>
            <a:chOff x="4607813" y="2964102"/>
            <a:chExt cx="648000" cy="648000"/>
          </a:xfrm>
          <a:solidFill>
            <a:srgbClr val="8DC8E8"/>
          </a:solidFill>
        </p:grpSpPr>
        <p:sp>
          <p:nvSpPr>
            <p:cNvPr id="35" name="Oval 34">
              <a:extLst>
                <a:ext uri="{FF2B5EF4-FFF2-40B4-BE49-F238E27FC236}">
                  <a16:creationId xmlns:a16="http://schemas.microsoft.com/office/drawing/2014/main" id="{DBC36792-0B23-5541-2F85-955BBB3D8796}"/>
                </a:ext>
              </a:extLst>
            </p:cNvPr>
            <p:cNvSpPr>
              <a:spLocks noChangeAspect="1"/>
            </p:cNvSpPr>
            <p:nvPr/>
          </p:nvSpPr>
          <p:spPr bwMode="auto">
            <a:xfrm>
              <a:off x="4607813" y="2964102"/>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36" name="bot_3" title="Icon of two chevron brackets with two dots between them">
              <a:extLst>
                <a:ext uri="{FF2B5EF4-FFF2-40B4-BE49-F238E27FC236}">
                  <a16:creationId xmlns:a16="http://schemas.microsoft.com/office/drawing/2014/main" id="{4936F7FE-668C-AAFA-8238-C1CD873FA4E6}"/>
                </a:ext>
              </a:extLst>
            </p:cNvPr>
            <p:cNvSpPr>
              <a:spLocks noChangeAspect="1" noEditPoints="1"/>
            </p:cNvSpPr>
            <p:nvPr/>
          </p:nvSpPr>
          <p:spPr bwMode="auto">
            <a:xfrm>
              <a:off x="4731118" y="3144102"/>
              <a:ext cx="401391" cy="288000"/>
            </a:xfrm>
            <a:custGeom>
              <a:avLst/>
              <a:gdLst>
                <a:gd name="T0" fmla="*/ 134 w 420"/>
                <a:gd name="T1" fmla="*/ 154 h 302"/>
                <a:gd name="T2" fmla="*/ 157 w 420"/>
                <a:gd name="T3" fmla="*/ 131 h 302"/>
                <a:gd name="T4" fmla="*/ 180 w 420"/>
                <a:gd name="T5" fmla="*/ 154 h 302"/>
                <a:gd name="T6" fmla="*/ 157 w 420"/>
                <a:gd name="T7" fmla="*/ 177 h 302"/>
                <a:gd name="T8" fmla="*/ 134 w 420"/>
                <a:gd name="T9" fmla="*/ 154 h 302"/>
                <a:gd name="T10" fmla="*/ 241 w 420"/>
                <a:gd name="T11" fmla="*/ 154 h 302"/>
                <a:gd name="T12" fmla="*/ 264 w 420"/>
                <a:gd name="T13" fmla="*/ 177 h 302"/>
                <a:gd name="T14" fmla="*/ 287 w 420"/>
                <a:gd name="T15" fmla="*/ 154 h 302"/>
                <a:gd name="T16" fmla="*/ 264 w 420"/>
                <a:gd name="T17" fmla="*/ 131 h 302"/>
                <a:gd name="T18" fmla="*/ 241 w 420"/>
                <a:gd name="T19" fmla="*/ 154 h 302"/>
                <a:gd name="T20" fmla="*/ 276 w 420"/>
                <a:gd name="T21" fmla="*/ 302 h 302"/>
                <a:gd name="T22" fmla="*/ 410 w 420"/>
                <a:gd name="T23" fmla="*/ 168 h 302"/>
                <a:gd name="T24" fmla="*/ 410 w 420"/>
                <a:gd name="T25" fmla="*/ 132 h 302"/>
                <a:gd name="T26" fmla="*/ 276 w 420"/>
                <a:gd name="T27" fmla="*/ 0 h 302"/>
                <a:gd name="T28" fmla="*/ 144 w 420"/>
                <a:gd name="T29" fmla="*/ 0 h 302"/>
                <a:gd name="T30" fmla="*/ 10 w 420"/>
                <a:gd name="T31" fmla="*/ 132 h 302"/>
                <a:gd name="T32" fmla="*/ 10 w 420"/>
                <a:gd name="T33" fmla="*/ 168 h 302"/>
                <a:gd name="T34" fmla="*/ 145 w 420"/>
                <a:gd name="T35"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0" h="302">
                  <a:moveTo>
                    <a:pt x="134" y="154"/>
                  </a:moveTo>
                  <a:cubicBezTo>
                    <a:pt x="134" y="141"/>
                    <a:pt x="144" y="131"/>
                    <a:pt x="157" y="131"/>
                  </a:cubicBezTo>
                  <a:cubicBezTo>
                    <a:pt x="169" y="131"/>
                    <a:pt x="180" y="141"/>
                    <a:pt x="180" y="154"/>
                  </a:cubicBezTo>
                  <a:cubicBezTo>
                    <a:pt x="180" y="167"/>
                    <a:pt x="169" y="177"/>
                    <a:pt x="157" y="177"/>
                  </a:cubicBezTo>
                  <a:cubicBezTo>
                    <a:pt x="144" y="177"/>
                    <a:pt x="134" y="167"/>
                    <a:pt x="134" y="154"/>
                  </a:cubicBezTo>
                  <a:close/>
                  <a:moveTo>
                    <a:pt x="241" y="154"/>
                  </a:moveTo>
                  <a:cubicBezTo>
                    <a:pt x="241" y="167"/>
                    <a:pt x="251" y="177"/>
                    <a:pt x="264" y="177"/>
                  </a:cubicBezTo>
                  <a:cubicBezTo>
                    <a:pt x="276" y="177"/>
                    <a:pt x="287" y="167"/>
                    <a:pt x="287" y="154"/>
                  </a:cubicBezTo>
                  <a:cubicBezTo>
                    <a:pt x="287" y="141"/>
                    <a:pt x="276" y="131"/>
                    <a:pt x="264" y="131"/>
                  </a:cubicBezTo>
                  <a:cubicBezTo>
                    <a:pt x="251" y="131"/>
                    <a:pt x="241" y="141"/>
                    <a:pt x="241" y="154"/>
                  </a:cubicBezTo>
                  <a:close/>
                  <a:moveTo>
                    <a:pt x="276" y="302"/>
                  </a:moveTo>
                  <a:cubicBezTo>
                    <a:pt x="276" y="302"/>
                    <a:pt x="276" y="302"/>
                    <a:pt x="410" y="168"/>
                  </a:cubicBezTo>
                  <a:cubicBezTo>
                    <a:pt x="420" y="158"/>
                    <a:pt x="420" y="142"/>
                    <a:pt x="410" y="132"/>
                  </a:cubicBezTo>
                  <a:cubicBezTo>
                    <a:pt x="410" y="132"/>
                    <a:pt x="410" y="132"/>
                    <a:pt x="276" y="0"/>
                  </a:cubicBezTo>
                  <a:moveTo>
                    <a:pt x="144" y="0"/>
                  </a:moveTo>
                  <a:cubicBezTo>
                    <a:pt x="10" y="132"/>
                    <a:pt x="10" y="132"/>
                    <a:pt x="10" y="132"/>
                  </a:cubicBezTo>
                  <a:cubicBezTo>
                    <a:pt x="0" y="142"/>
                    <a:pt x="0" y="158"/>
                    <a:pt x="10" y="168"/>
                  </a:cubicBezTo>
                  <a:cubicBezTo>
                    <a:pt x="145" y="302"/>
                    <a:pt x="145" y="302"/>
                    <a:pt x="145" y="302"/>
                  </a:cubicBezTo>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dirty="0"/>
            </a:p>
          </p:txBody>
        </p:sp>
      </p:grpSp>
      <p:sp>
        <p:nvSpPr>
          <p:cNvPr id="13" name="Rectangle 12">
            <a:extLst>
              <a:ext uri="{FF2B5EF4-FFF2-40B4-BE49-F238E27FC236}">
                <a16:creationId xmlns:a16="http://schemas.microsoft.com/office/drawing/2014/main" id="{E1C3A618-8F4F-FBAF-D788-E3C5229B81DD}"/>
              </a:ext>
            </a:extLst>
          </p:cNvPr>
          <p:cNvSpPr>
            <a:spLocks/>
          </p:cNvSpPr>
          <p:nvPr/>
        </p:nvSpPr>
        <p:spPr bwMode="auto">
          <a:xfrm>
            <a:off x="4968563" y="2509394"/>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000" dirty="0" err="1">
                <a:solidFill>
                  <a:schemeClr val="tx1"/>
                </a:solidFill>
                <a:latin typeface="+mj-lt"/>
              </a:rPr>
              <a:t>db_ddladmin</a:t>
            </a:r>
            <a:endParaRPr lang="en-US" sz="2000" dirty="0">
              <a:solidFill>
                <a:schemeClr val="tx1"/>
              </a:solidFill>
              <a:latin typeface="+mj-lt"/>
            </a:endParaRPr>
          </a:p>
        </p:txBody>
      </p:sp>
      <p:grpSp>
        <p:nvGrpSpPr>
          <p:cNvPr id="43" name="Group 42">
            <a:extLst>
              <a:ext uri="{FF2B5EF4-FFF2-40B4-BE49-F238E27FC236}">
                <a16:creationId xmlns:a16="http://schemas.microsoft.com/office/drawing/2014/main" id="{A02F99C2-183A-4633-E4A5-C2CC94C773E4}"/>
              </a:ext>
              <a:ext uri="{C183D7F6-B498-43B3-948B-1728B52AA6E4}">
                <adec:decorative xmlns:adec="http://schemas.microsoft.com/office/drawing/2017/decorative" val="1"/>
              </a:ext>
            </a:extLst>
          </p:cNvPr>
          <p:cNvGrpSpPr>
            <a:grpSpLocks/>
          </p:cNvGrpSpPr>
          <p:nvPr/>
        </p:nvGrpSpPr>
        <p:grpSpPr>
          <a:xfrm>
            <a:off x="7584845" y="2303874"/>
            <a:ext cx="702775" cy="708475"/>
            <a:chOff x="8532113" y="2964102"/>
            <a:chExt cx="648000" cy="648000"/>
          </a:xfrm>
          <a:solidFill>
            <a:srgbClr val="8DC8E8"/>
          </a:solidFill>
        </p:grpSpPr>
        <p:sp>
          <p:nvSpPr>
            <p:cNvPr id="44" name="Oval 43">
              <a:extLst>
                <a:ext uri="{FF2B5EF4-FFF2-40B4-BE49-F238E27FC236}">
                  <a16:creationId xmlns:a16="http://schemas.microsoft.com/office/drawing/2014/main" id="{E5C5A4B5-0D5B-8613-18C7-E48C9C0B618D}"/>
                </a:ext>
              </a:extLst>
            </p:cNvPr>
            <p:cNvSpPr>
              <a:spLocks noChangeAspect="1"/>
            </p:cNvSpPr>
            <p:nvPr/>
          </p:nvSpPr>
          <p:spPr bwMode="auto">
            <a:xfrm>
              <a:off x="8532113" y="2964102"/>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45" name="illegal" title="Icon of a circle with a diagonal line through it">
              <a:extLst>
                <a:ext uri="{FF2B5EF4-FFF2-40B4-BE49-F238E27FC236}">
                  <a16:creationId xmlns:a16="http://schemas.microsoft.com/office/drawing/2014/main" id="{FC112E97-A6F6-486B-83B8-6192177F5095}"/>
                </a:ext>
              </a:extLst>
            </p:cNvPr>
            <p:cNvSpPr>
              <a:spLocks noChangeAspect="1" noEditPoints="1"/>
            </p:cNvSpPr>
            <p:nvPr/>
          </p:nvSpPr>
          <p:spPr bwMode="auto">
            <a:xfrm>
              <a:off x="8693668" y="3126102"/>
              <a:ext cx="324890" cy="324000"/>
            </a:xfrm>
            <a:custGeom>
              <a:avLst/>
              <a:gdLst>
                <a:gd name="T0" fmla="*/ 265 w 265"/>
                <a:gd name="T1" fmla="*/ 133 h 265"/>
                <a:gd name="T2" fmla="*/ 132 w 265"/>
                <a:gd name="T3" fmla="*/ 265 h 265"/>
                <a:gd name="T4" fmla="*/ 0 w 265"/>
                <a:gd name="T5" fmla="*/ 133 h 265"/>
                <a:gd name="T6" fmla="*/ 132 w 265"/>
                <a:gd name="T7" fmla="*/ 0 h 265"/>
                <a:gd name="T8" fmla="*/ 265 w 265"/>
                <a:gd name="T9" fmla="*/ 133 h 265"/>
                <a:gd name="T10" fmla="*/ 226 w 265"/>
                <a:gd name="T11" fmla="*/ 227 h 265"/>
                <a:gd name="T12" fmla="*/ 39 w 265"/>
                <a:gd name="T13" fmla="*/ 39 h 265"/>
              </a:gdLst>
              <a:ahLst/>
              <a:cxnLst>
                <a:cxn ang="0">
                  <a:pos x="T0" y="T1"/>
                </a:cxn>
                <a:cxn ang="0">
                  <a:pos x="T2" y="T3"/>
                </a:cxn>
                <a:cxn ang="0">
                  <a:pos x="T4" y="T5"/>
                </a:cxn>
                <a:cxn ang="0">
                  <a:pos x="T6" y="T7"/>
                </a:cxn>
                <a:cxn ang="0">
                  <a:pos x="T8" y="T9"/>
                </a:cxn>
                <a:cxn ang="0">
                  <a:pos x="T10" y="T11"/>
                </a:cxn>
                <a:cxn ang="0">
                  <a:pos x="T12" y="T13"/>
                </a:cxn>
              </a:cxnLst>
              <a:rect l="0" t="0" r="r" b="b"/>
              <a:pathLst>
                <a:path w="265" h="265">
                  <a:moveTo>
                    <a:pt x="265" y="133"/>
                  </a:moveTo>
                  <a:cubicBezTo>
                    <a:pt x="265" y="206"/>
                    <a:pt x="205" y="265"/>
                    <a:pt x="132" y="265"/>
                  </a:cubicBezTo>
                  <a:cubicBezTo>
                    <a:pt x="59" y="265"/>
                    <a:pt x="0" y="206"/>
                    <a:pt x="0" y="133"/>
                  </a:cubicBezTo>
                  <a:cubicBezTo>
                    <a:pt x="0" y="60"/>
                    <a:pt x="59" y="0"/>
                    <a:pt x="132" y="0"/>
                  </a:cubicBezTo>
                  <a:cubicBezTo>
                    <a:pt x="205" y="0"/>
                    <a:pt x="265" y="60"/>
                    <a:pt x="265" y="133"/>
                  </a:cubicBezTo>
                  <a:close/>
                  <a:moveTo>
                    <a:pt x="226" y="227"/>
                  </a:moveTo>
                  <a:cubicBezTo>
                    <a:pt x="39" y="39"/>
                    <a:pt x="39" y="39"/>
                    <a:pt x="39" y="39"/>
                  </a:cubicBezTo>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a:p>
          </p:txBody>
        </p:sp>
      </p:grpSp>
      <p:sp>
        <p:nvSpPr>
          <p:cNvPr id="19" name="Rectangle 18">
            <a:extLst>
              <a:ext uri="{FF2B5EF4-FFF2-40B4-BE49-F238E27FC236}">
                <a16:creationId xmlns:a16="http://schemas.microsoft.com/office/drawing/2014/main" id="{740FA513-2B43-2E09-C052-9FDAD764EB2D}"/>
              </a:ext>
            </a:extLst>
          </p:cNvPr>
          <p:cNvSpPr>
            <a:spLocks/>
          </p:cNvSpPr>
          <p:nvPr/>
        </p:nvSpPr>
        <p:spPr bwMode="auto">
          <a:xfrm>
            <a:off x="8462831" y="2459345"/>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000" dirty="0" err="1">
                <a:solidFill>
                  <a:schemeClr val="tx1"/>
                </a:solidFill>
                <a:latin typeface="+mj-lt"/>
              </a:rPr>
              <a:t>db_denydatawriter</a:t>
            </a:r>
            <a:endParaRPr lang="en-US" sz="2000" dirty="0">
              <a:solidFill>
                <a:schemeClr val="tx1"/>
              </a:solidFill>
              <a:latin typeface="+mj-lt"/>
            </a:endParaRPr>
          </a:p>
        </p:txBody>
      </p:sp>
      <p:grpSp>
        <p:nvGrpSpPr>
          <p:cNvPr id="28" name="Group 27">
            <a:extLst>
              <a:ext uri="{FF2B5EF4-FFF2-40B4-BE49-F238E27FC236}">
                <a16:creationId xmlns:a16="http://schemas.microsoft.com/office/drawing/2014/main" id="{D7F129D9-1781-908D-3AE9-C4C9B60CB246}"/>
              </a:ext>
              <a:ext uri="{C183D7F6-B498-43B3-948B-1728B52AA6E4}">
                <adec:decorative xmlns:adec="http://schemas.microsoft.com/office/drawing/2017/decorative" val="1"/>
              </a:ext>
            </a:extLst>
          </p:cNvPr>
          <p:cNvGrpSpPr>
            <a:grpSpLocks/>
          </p:cNvGrpSpPr>
          <p:nvPr/>
        </p:nvGrpSpPr>
        <p:grpSpPr>
          <a:xfrm>
            <a:off x="709086" y="3144590"/>
            <a:ext cx="702775" cy="708475"/>
            <a:chOff x="683513" y="4156554"/>
            <a:chExt cx="648000" cy="648000"/>
          </a:xfrm>
          <a:solidFill>
            <a:srgbClr val="8DC8E8"/>
          </a:solidFill>
        </p:grpSpPr>
        <p:sp>
          <p:nvSpPr>
            <p:cNvPr id="29" name="Oval 28">
              <a:extLst>
                <a:ext uri="{FF2B5EF4-FFF2-40B4-BE49-F238E27FC236}">
                  <a16:creationId xmlns:a16="http://schemas.microsoft.com/office/drawing/2014/main" id="{B95527FB-5667-2119-9319-5460913679A1}"/>
                </a:ext>
              </a:extLst>
            </p:cNvPr>
            <p:cNvSpPr>
              <a:spLocks noChangeAspect="1"/>
            </p:cNvSpPr>
            <p:nvPr/>
          </p:nvSpPr>
          <p:spPr bwMode="auto">
            <a:xfrm>
              <a:off x="683513" y="4156554"/>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30" name="server_2" title="Icon of a server with a padlock in the lower right corner">
              <a:extLst>
                <a:ext uri="{FF2B5EF4-FFF2-40B4-BE49-F238E27FC236}">
                  <a16:creationId xmlns:a16="http://schemas.microsoft.com/office/drawing/2014/main" id="{9B6B6F2E-A225-0489-B1D0-5D6E4F71BF71}"/>
                </a:ext>
              </a:extLst>
            </p:cNvPr>
            <p:cNvSpPr>
              <a:spLocks noChangeAspect="1" noEditPoints="1"/>
            </p:cNvSpPr>
            <p:nvPr/>
          </p:nvSpPr>
          <p:spPr bwMode="auto">
            <a:xfrm>
              <a:off x="886372" y="4318554"/>
              <a:ext cx="261333" cy="324000"/>
            </a:xfrm>
            <a:custGeom>
              <a:avLst/>
              <a:gdLst>
                <a:gd name="T0" fmla="*/ 122 w 270"/>
                <a:gd name="T1" fmla="*/ 336 h 336"/>
                <a:gd name="T2" fmla="*/ 0 w 270"/>
                <a:gd name="T3" fmla="*/ 336 h 336"/>
                <a:gd name="T4" fmla="*/ 0 w 270"/>
                <a:gd name="T5" fmla="*/ 0 h 336"/>
                <a:gd name="T6" fmla="*/ 201 w 270"/>
                <a:gd name="T7" fmla="*/ 0 h 336"/>
                <a:gd name="T8" fmla="*/ 201 w 270"/>
                <a:gd name="T9" fmla="*/ 138 h 336"/>
                <a:gd name="T10" fmla="*/ 270 w 270"/>
                <a:gd name="T11" fmla="*/ 245 h 336"/>
                <a:gd name="T12" fmla="*/ 155 w 270"/>
                <a:gd name="T13" fmla="*/ 245 h 336"/>
                <a:gd name="T14" fmla="*/ 155 w 270"/>
                <a:gd name="T15" fmla="*/ 336 h 336"/>
                <a:gd name="T16" fmla="*/ 270 w 270"/>
                <a:gd name="T17" fmla="*/ 336 h 336"/>
                <a:gd name="T18" fmla="*/ 270 w 270"/>
                <a:gd name="T19" fmla="*/ 245 h 336"/>
                <a:gd name="T20" fmla="*/ 245 w 270"/>
                <a:gd name="T21" fmla="*/ 245 h 336"/>
                <a:gd name="T22" fmla="*/ 245 w 270"/>
                <a:gd name="T23" fmla="*/ 211 h 336"/>
                <a:gd name="T24" fmla="*/ 213 w 270"/>
                <a:gd name="T25" fmla="*/ 179 h 336"/>
                <a:gd name="T26" fmla="*/ 181 w 270"/>
                <a:gd name="T27" fmla="*/ 211 h 336"/>
                <a:gd name="T28" fmla="*/ 181 w 270"/>
                <a:gd name="T29" fmla="*/ 245 h 336"/>
                <a:gd name="T30" fmla="*/ 77 w 270"/>
                <a:gd name="T31" fmla="*/ 290 h 336"/>
                <a:gd name="T32" fmla="*/ 122 w 270"/>
                <a:gd name="T33" fmla="*/ 29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36">
                  <a:moveTo>
                    <a:pt x="122" y="336"/>
                  </a:moveTo>
                  <a:cubicBezTo>
                    <a:pt x="0" y="336"/>
                    <a:pt x="0" y="336"/>
                    <a:pt x="0" y="336"/>
                  </a:cubicBezTo>
                  <a:cubicBezTo>
                    <a:pt x="0" y="0"/>
                    <a:pt x="0" y="0"/>
                    <a:pt x="0" y="0"/>
                  </a:cubicBezTo>
                  <a:cubicBezTo>
                    <a:pt x="201" y="0"/>
                    <a:pt x="201" y="0"/>
                    <a:pt x="201" y="0"/>
                  </a:cubicBezTo>
                  <a:cubicBezTo>
                    <a:pt x="201" y="138"/>
                    <a:pt x="201" y="138"/>
                    <a:pt x="201" y="138"/>
                  </a:cubicBezTo>
                  <a:moveTo>
                    <a:pt x="270" y="245"/>
                  </a:moveTo>
                  <a:cubicBezTo>
                    <a:pt x="155" y="245"/>
                    <a:pt x="155" y="245"/>
                    <a:pt x="155" y="245"/>
                  </a:cubicBezTo>
                  <a:cubicBezTo>
                    <a:pt x="155" y="336"/>
                    <a:pt x="155" y="336"/>
                    <a:pt x="155" y="336"/>
                  </a:cubicBezTo>
                  <a:cubicBezTo>
                    <a:pt x="270" y="336"/>
                    <a:pt x="270" y="336"/>
                    <a:pt x="270" y="336"/>
                  </a:cubicBezTo>
                  <a:lnTo>
                    <a:pt x="270" y="245"/>
                  </a:lnTo>
                  <a:close/>
                  <a:moveTo>
                    <a:pt x="245" y="245"/>
                  </a:moveTo>
                  <a:cubicBezTo>
                    <a:pt x="245" y="211"/>
                    <a:pt x="245" y="211"/>
                    <a:pt x="245" y="211"/>
                  </a:cubicBezTo>
                  <a:cubicBezTo>
                    <a:pt x="245" y="193"/>
                    <a:pt x="230" y="179"/>
                    <a:pt x="213" y="179"/>
                  </a:cubicBezTo>
                  <a:cubicBezTo>
                    <a:pt x="195" y="179"/>
                    <a:pt x="181" y="193"/>
                    <a:pt x="181" y="211"/>
                  </a:cubicBezTo>
                  <a:cubicBezTo>
                    <a:pt x="181" y="245"/>
                    <a:pt x="181" y="245"/>
                    <a:pt x="181" y="245"/>
                  </a:cubicBezTo>
                  <a:moveTo>
                    <a:pt x="77" y="290"/>
                  </a:moveTo>
                  <a:cubicBezTo>
                    <a:pt x="122" y="290"/>
                    <a:pt x="122" y="290"/>
                    <a:pt x="122" y="290"/>
                  </a:cubicBezTo>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dirty="0">
                <a:gradFill>
                  <a:gsLst>
                    <a:gs pos="0">
                      <a:srgbClr val="505050"/>
                    </a:gs>
                    <a:gs pos="100000">
                      <a:srgbClr val="505050"/>
                    </a:gs>
                  </a:gsLst>
                </a:gradFill>
              </a:endParaRPr>
            </a:p>
          </p:txBody>
        </p:sp>
      </p:grpSp>
      <p:sp>
        <p:nvSpPr>
          <p:cNvPr id="8" name="Rectangle 7">
            <a:extLst>
              <a:ext uri="{FF2B5EF4-FFF2-40B4-BE49-F238E27FC236}">
                <a16:creationId xmlns:a16="http://schemas.microsoft.com/office/drawing/2014/main" id="{F92EFE95-74C8-CCC6-30D6-8B2F1988D0B9}"/>
              </a:ext>
            </a:extLst>
          </p:cNvPr>
          <p:cNvSpPr>
            <a:spLocks/>
          </p:cNvSpPr>
          <p:nvPr/>
        </p:nvSpPr>
        <p:spPr bwMode="auto">
          <a:xfrm>
            <a:off x="1570592" y="3344938"/>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000" dirty="0" err="1">
                <a:solidFill>
                  <a:schemeClr val="tx1"/>
                </a:solidFill>
                <a:latin typeface="+mj-lt"/>
              </a:rPr>
              <a:t>db_accessadmin</a:t>
            </a:r>
            <a:endParaRPr lang="en-US" sz="2000" dirty="0">
              <a:solidFill>
                <a:schemeClr val="tx1"/>
              </a:solidFill>
              <a:latin typeface="+mj-lt"/>
            </a:endParaRPr>
          </a:p>
        </p:txBody>
      </p:sp>
      <p:grpSp>
        <p:nvGrpSpPr>
          <p:cNvPr id="37" name="Group 36">
            <a:extLst>
              <a:ext uri="{FF2B5EF4-FFF2-40B4-BE49-F238E27FC236}">
                <a16:creationId xmlns:a16="http://schemas.microsoft.com/office/drawing/2014/main" id="{B02FB207-628C-1F4C-6EA0-93AD2F24B490}"/>
              </a:ext>
              <a:ext uri="{C183D7F6-B498-43B3-948B-1728B52AA6E4}">
                <adec:decorative xmlns:adec="http://schemas.microsoft.com/office/drawing/2017/decorative" val="1"/>
              </a:ext>
            </a:extLst>
          </p:cNvPr>
          <p:cNvGrpSpPr>
            <a:grpSpLocks/>
          </p:cNvGrpSpPr>
          <p:nvPr/>
        </p:nvGrpSpPr>
        <p:grpSpPr>
          <a:xfrm>
            <a:off x="4119038" y="3142658"/>
            <a:ext cx="702775" cy="708475"/>
            <a:chOff x="4607813" y="4156554"/>
            <a:chExt cx="648000" cy="648000"/>
          </a:xfrm>
          <a:solidFill>
            <a:srgbClr val="8DC8E8"/>
          </a:solidFill>
        </p:grpSpPr>
        <p:sp>
          <p:nvSpPr>
            <p:cNvPr id="38" name="Oval 37">
              <a:extLst>
                <a:ext uri="{FF2B5EF4-FFF2-40B4-BE49-F238E27FC236}">
                  <a16:creationId xmlns:a16="http://schemas.microsoft.com/office/drawing/2014/main" id="{01484CB9-88E6-40EB-CFDE-046DC23C7AE5}"/>
                </a:ext>
              </a:extLst>
            </p:cNvPr>
            <p:cNvSpPr>
              <a:spLocks noChangeAspect="1"/>
            </p:cNvSpPr>
            <p:nvPr/>
          </p:nvSpPr>
          <p:spPr bwMode="auto">
            <a:xfrm>
              <a:off x="4607813" y="4156554"/>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39" name="create" title="Icon of a pencil with an arrow around it pointing counterclockwise">
              <a:extLst>
                <a:ext uri="{FF2B5EF4-FFF2-40B4-BE49-F238E27FC236}">
                  <a16:creationId xmlns:a16="http://schemas.microsoft.com/office/drawing/2014/main" id="{797F0515-2024-8BF7-9C2A-68C463A378FB}"/>
                </a:ext>
              </a:extLst>
            </p:cNvPr>
            <p:cNvSpPr>
              <a:spLocks noChangeAspect="1" noEditPoints="1"/>
            </p:cNvSpPr>
            <p:nvPr/>
          </p:nvSpPr>
          <p:spPr bwMode="auto">
            <a:xfrm>
              <a:off x="4751813" y="4304258"/>
              <a:ext cx="360000" cy="352593"/>
            </a:xfrm>
            <a:custGeom>
              <a:avLst/>
              <a:gdLst>
                <a:gd name="T0" fmla="*/ 0 w 354"/>
                <a:gd name="T1" fmla="*/ 174 h 348"/>
                <a:gd name="T2" fmla="*/ 177 w 354"/>
                <a:gd name="T3" fmla="*/ 0 h 348"/>
                <a:gd name="T4" fmla="*/ 354 w 354"/>
                <a:gd name="T5" fmla="*/ 174 h 348"/>
                <a:gd name="T6" fmla="*/ 177 w 354"/>
                <a:gd name="T7" fmla="*/ 348 h 348"/>
                <a:gd name="T8" fmla="*/ 18 w 354"/>
                <a:gd name="T9" fmla="*/ 252 h 348"/>
                <a:gd name="T10" fmla="*/ 60 w 354"/>
                <a:gd name="T11" fmla="*/ 265 h 348"/>
                <a:gd name="T12" fmla="*/ 18 w 354"/>
                <a:gd name="T13" fmla="*/ 252 h 348"/>
                <a:gd name="T14" fmla="*/ 6 w 354"/>
                <a:gd name="T15" fmla="*/ 294 h 348"/>
                <a:gd name="T16" fmla="*/ 263 w 354"/>
                <a:gd name="T17" fmla="*/ 22 h 348"/>
                <a:gd name="T18" fmla="*/ 161 w 354"/>
                <a:gd name="T19" fmla="*/ 121 h 348"/>
                <a:gd name="T20" fmla="*/ 120 w 354"/>
                <a:gd name="T21" fmla="*/ 234 h 348"/>
                <a:gd name="T22" fmla="*/ 237 w 354"/>
                <a:gd name="T23" fmla="*/ 194 h 348"/>
                <a:gd name="T24" fmla="*/ 336 w 354"/>
                <a:gd name="T25" fmla="*/ 97 h 348"/>
                <a:gd name="T26" fmla="*/ 161 w 354"/>
                <a:gd name="T27" fmla="*/ 121 h 348"/>
                <a:gd name="T28" fmla="*/ 217 w 354"/>
                <a:gd name="T29" fmla="*/ 140 h 348"/>
                <a:gd name="T30" fmla="*/ 304 w 354"/>
                <a:gd name="T31" fmla="*/ 52 h 348"/>
                <a:gd name="T32" fmla="*/ 236 w 354"/>
                <a:gd name="T33" fmla="*/ 194 h 348"/>
                <a:gd name="T34" fmla="*/ 217 w 354"/>
                <a:gd name="T35" fmla="*/ 140 h 348"/>
                <a:gd name="T36" fmla="*/ 138 w 354"/>
                <a:gd name="T37" fmla="*/ 184 h 348"/>
                <a:gd name="T38" fmla="*/ 171 w 354"/>
                <a:gd name="T39" fmla="*/ 217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4" h="348">
                  <a:moveTo>
                    <a:pt x="0" y="174"/>
                  </a:moveTo>
                  <a:cubicBezTo>
                    <a:pt x="0" y="78"/>
                    <a:pt x="79" y="0"/>
                    <a:pt x="177" y="0"/>
                  </a:cubicBezTo>
                  <a:cubicBezTo>
                    <a:pt x="275" y="0"/>
                    <a:pt x="354" y="78"/>
                    <a:pt x="354" y="174"/>
                  </a:cubicBezTo>
                  <a:cubicBezTo>
                    <a:pt x="354" y="271"/>
                    <a:pt x="275" y="348"/>
                    <a:pt x="177" y="348"/>
                  </a:cubicBezTo>
                  <a:cubicBezTo>
                    <a:pt x="108" y="348"/>
                    <a:pt x="47" y="309"/>
                    <a:pt x="18" y="252"/>
                  </a:cubicBezTo>
                  <a:moveTo>
                    <a:pt x="60" y="265"/>
                  </a:moveTo>
                  <a:cubicBezTo>
                    <a:pt x="18" y="252"/>
                    <a:pt x="18" y="252"/>
                    <a:pt x="18" y="252"/>
                  </a:cubicBezTo>
                  <a:cubicBezTo>
                    <a:pt x="6" y="294"/>
                    <a:pt x="6" y="294"/>
                    <a:pt x="6" y="294"/>
                  </a:cubicBezTo>
                  <a:moveTo>
                    <a:pt x="263" y="22"/>
                  </a:moveTo>
                  <a:cubicBezTo>
                    <a:pt x="161" y="121"/>
                    <a:pt x="161" y="121"/>
                    <a:pt x="161" y="121"/>
                  </a:cubicBezTo>
                  <a:cubicBezTo>
                    <a:pt x="120" y="234"/>
                    <a:pt x="120" y="234"/>
                    <a:pt x="120" y="234"/>
                  </a:cubicBezTo>
                  <a:cubicBezTo>
                    <a:pt x="237" y="194"/>
                    <a:pt x="237" y="194"/>
                    <a:pt x="237" y="194"/>
                  </a:cubicBezTo>
                  <a:cubicBezTo>
                    <a:pt x="336" y="97"/>
                    <a:pt x="336" y="97"/>
                    <a:pt x="336" y="97"/>
                  </a:cubicBezTo>
                  <a:moveTo>
                    <a:pt x="161" y="121"/>
                  </a:moveTo>
                  <a:cubicBezTo>
                    <a:pt x="217" y="140"/>
                    <a:pt x="217" y="140"/>
                    <a:pt x="217" y="140"/>
                  </a:cubicBezTo>
                  <a:cubicBezTo>
                    <a:pt x="304" y="52"/>
                    <a:pt x="304" y="52"/>
                    <a:pt x="304" y="52"/>
                  </a:cubicBezTo>
                  <a:moveTo>
                    <a:pt x="236" y="194"/>
                  </a:moveTo>
                  <a:cubicBezTo>
                    <a:pt x="217" y="140"/>
                    <a:pt x="217" y="140"/>
                    <a:pt x="217" y="140"/>
                  </a:cubicBezTo>
                  <a:moveTo>
                    <a:pt x="138" y="184"/>
                  </a:moveTo>
                  <a:cubicBezTo>
                    <a:pt x="171" y="217"/>
                    <a:pt x="171" y="217"/>
                    <a:pt x="171" y="217"/>
                  </a:cubicBezTo>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dirty="0"/>
            </a:p>
          </p:txBody>
        </p:sp>
      </p:grpSp>
      <p:sp>
        <p:nvSpPr>
          <p:cNvPr id="14" name="Rectangle 13">
            <a:extLst>
              <a:ext uri="{FF2B5EF4-FFF2-40B4-BE49-F238E27FC236}">
                <a16:creationId xmlns:a16="http://schemas.microsoft.com/office/drawing/2014/main" id="{2FFDBA00-774F-A0E9-7DCA-6E82EE87DE40}"/>
              </a:ext>
            </a:extLst>
          </p:cNvPr>
          <p:cNvSpPr>
            <a:spLocks/>
          </p:cNvSpPr>
          <p:nvPr/>
        </p:nvSpPr>
        <p:spPr bwMode="auto">
          <a:xfrm>
            <a:off x="4976707" y="3320655"/>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000" dirty="0" err="1">
                <a:solidFill>
                  <a:schemeClr val="tx1"/>
                </a:solidFill>
                <a:latin typeface="+mj-lt"/>
              </a:rPr>
              <a:t>db_datawriter</a:t>
            </a:r>
            <a:endParaRPr lang="en-US" sz="2000" dirty="0">
              <a:solidFill>
                <a:schemeClr val="tx1"/>
              </a:solidFill>
              <a:latin typeface="+mj-lt"/>
            </a:endParaRPr>
          </a:p>
        </p:txBody>
      </p:sp>
      <p:sp>
        <p:nvSpPr>
          <p:cNvPr id="20" name="Rectangle 19">
            <a:extLst>
              <a:ext uri="{FF2B5EF4-FFF2-40B4-BE49-F238E27FC236}">
                <a16:creationId xmlns:a16="http://schemas.microsoft.com/office/drawing/2014/main" id="{75BC740A-4D40-C09F-3D93-6CE09E149776}"/>
              </a:ext>
            </a:extLst>
          </p:cNvPr>
          <p:cNvSpPr>
            <a:spLocks/>
          </p:cNvSpPr>
          <p:nvPr/>
        </p:nvSpPr>
        <p:spPr bwMode="auto">
          <a:xfrm>
            <a:off x="8459051" y="3344938"/>
            <a:ext cx="2585631"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000" dirty="0" err="1">
                <a:solidFill>
                  <a:schemeClr val="tx1"/>
                </a:solidFill>
                <a:latin typeface="+mj-lt"/>
              </a:rPr>
              <a:t>db_denydatareader</a:t>
            </a:r>
            <a:endParaRPr lang="en-US" sz="2000" dirty="0">
              <a:solidFill>
                <a:schemeClr val="tx1"/>
              </a:solidFill>
              <a:latin typeface="+mj-lt"/>
            </a:endParaRPr>
          </a:p>
        </p:txBody>
      </p:sp>
      <p:grpSp>
        <p:nvGrpSpPr>
          <p:cNvPr id="2" name="Group 1">
            <a:extLst>
              <a:ext uri="{FF2B5EF4-FFF2-40B4-BE49-F238E27FC236}">
                <a16:creationId xmlns:a16="http://schemas.microsoft.com/office/drawing/2014/main" id="{A5FCD69D-08D7-8906-5C54-B6E05A0539AF}"/>
              </a:ext>
              <a:ext uri="{C183D7F6-B498-43B3-948B-1728B52AA6E4}">
                <adec:decorative xmlns:adec="http://schemas.microsoft.com/office/drawing/2017/decorative" val="1"/>
              </a:ext>
            </a:extLst>
          </p:cNvPr>
          <p:cNvGrpSpPr>
            <a:grpSpLocks/>
          </p:cNvGrpSpPr>
          <p:nvPr/>
        </p:nvGrpSpPr>
        <p:grpSpPr>
          <a:xfrm>
            <a:off x="2863407" y="4955596"/>
            <a:ext cx="760708" cy="758669"/>
            <a:chOff x="683513" y="4156554"/>
            <a:chExt cx="648000" cy="648000"/>
          </a:xfrm>
          <a:solidFill>
            <a:srgbClr val="8DC8E8"/>
          </a:solidFill>
        </p:grpSpPr>
        <p:sp>
          <p:nvSpPr>
            <p:cNvPr id="9" name="Oval 8">
              <a:extLst>
                <a:ext uri="{FF2B5EF4-FFF2-40B4-BE49-F238E27FC236}">
                  <a16:creationId xmlns:a16="http://schemas.microsoft.com/office/drawing/2014/main" id="{A924AF2D-78A5-B272-0D5A-79CA9962455C}"/>
                </a:ext>
              </a:extLst>
            </p:cNvPr>
            <p:cNvSpPr>
              <a:spLocks noChangeAspect="1"/>
            </p:cNvSpPr>
            <p:nvPr/>
          </p:nvSpPr>
          <p:spPr bwMode="auto">
            <a:xfrm>
              <a:off x="683513" y="4156554"/>
              <a:ext cx="648000" cy="648000"/>
            </a:xfrm>
            <a:prstGeom prst="ellips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10" name="server_2" title="Icon of a server with a padlock in the lower right corner">
              <a:extLst>
                <a:ext uri="{FF2B5EF4-FFF2-40B4-BE49-F238E27FC236}">
                  <a16:creationId xmlns:a16="http://schemas.microsoft.com/office/drawing/2014/main" id="{C3F37D40-689B-E5FD-2BB5-9BF00D8EDB2D}"/>
                </a:ext>
              </a:extLst>
            </p:cNvPr>
            <p:cNvSpPr>
              <a:spLocks noChangeAspect="1" noEditPoints="1"/>
            </p:cNvSpPr>
            <p:nvPr/>
          </p:nvSpPr>
          <p:spPr bwMode="auto">
            <a:xfrm>
              <a:off x="886372" y="4318554"/>
              <a:ext cx="261333" cy="324000"/>
            </a:xfrm>
            <a:custGeom>
              <a:avLst/>
              <a:gdLst>
                <a:gd name="T0" fmla="*/ 122 w 270"/>
                <a:gd name="T1" fmla="*/ 336 h 336"/>
                <a:gd name="T2" fmla="*/ 0 w 270"/>
                <a:gd name="T3" fmla="*/ 336 h 336"/>
                <a:gd name="T4" fmla="*/ 0 w 270"/>
                <a:gd name="T5" fmla="*/ 0 h 336"/>
                <a:gd name="T6" fmla="*/ 201 w 270"/>
                <a:gd name="T7" fmla="*/ 0 h 336"/>
                <a:gd name="T8" fmla="*/ 201 w 270"/>
                <a:gd name="T9" fmla="*/ 138 h 336"/>
                <a:gd name="T10" fmla="*/ 270 w 270"/>
                <a:gd name="T11" fmla="*/ 245 h 336"/>
                <a:gd name="T12" fmla="*/ 155 w 270"/>
                <a:gd name="T13" fmla="*/ 245 h 336"/>
                <a:gd name="T14" fmla="*/ 155 w 270"/>
                <a:gd name="T15" fmla="*/ 336 h 336"/>
                <a:gd name="T16" fmla="*/ 270 w 270"/>
                <a:gd name="T17" fmla="*/ 336 h 336"/>
                <a:gd name="T18" fmla="*/ 270 w 270"/>
                <a:gd name="T19" fmla="*/ 245 h 336"/>
                <a:gd name="T20" fmla="*/ 245 w 270"/>
                <a:gd name="T21" fmla="*/ 245 h 336"/>
                <a:gd name="T22" fmla="*/ 245 w 270"/>
                <a:gd name="T23" fmla="*/ 211 h 336"/>
                <a:gd name="T24" fmla="*/ 213 w 270"/>
                <a:gd name="T25" fmla="*/ 179 h 336"/>
                <a:gd name="T26" fmla="*/ 181 w 270"/>
                <a:gd name="T27" fmla="*/ 211 h 336"/>
                <a:gd name="T28" fmla="*/ 181 w 270"/>
                <a:gd name="T29" fmla="*/ 245 h 336"/>
                <a:gd name="T30" fmla="*/ 77 w 270"/>
                <a:gd name="T31" fmla="*/ 290 h 336"/>
                <a:gd name="T32" fmla="*/ 122 w 270"/>
                <a:gd name="T33" fmla="*/ 29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36">
                  <a:moveTo>
                    <a:pt x="122" y="336"/>
                  </a:moveTo>
                  <a:cubicBezTo>
                    <a:pt x="0" y="336"/>
                    <a:pt x="0" y="336"/>
                    <a:pt x="0" y="336"/>
                  </a:cubicBezTo>
                  <a:cubicBezTo>
                    <a:pt x="0" y="0"/>
                    <a:pt x="0" y="0"/>
                    <a:pt x="0" y="0"/>
                  </a:cubicBezTo>
                  <a:cubicBezTo>
                    <a:pt x="201" y="0"/>
                    <a:pt x="201" y="0"/>
                    <a:pt x="201" y="0"/>
                  </a:cubicBezTo>
                  <a:cubicBezTo>
                    <a:pt x="201" y="138"/>
                    <a:pt x="201" y="138"/>
                    <a:pt x="201" y="138"/>
                  </a:cubicBezTo>
                  <a:moveTo>
                    <a:pt x="270" y="245"/>
                  </a:moveTo>
                  <a:cubicBezTo>
                    <a:pt x="155" y="245"/>
                    <a:pt x="155" y="245"/>
                    <a:pt x="155" y="245"/>
                  </a:cubicBezTo>
                  <a:cubicBezTo>
                    <a:pt x="155" y="336"/>
                    <a:pt x="155" y="336"/>
                    <a:pt x="155" y="336"/>
                  </a:cubicBezTo>
                  <a:cubicBezTo>
                    <a:pt x="270" y="336"/>
                    <a:pt x="270" y="336"/>
                    <a:pt x="270" y="336"/>
                  </a:cubicBezTo>
                  <a:lnTo>
                    <a:pt x="270" y="245"/>
                  </a:lnTo>
                  <a:close/>
                  <a:moveTo>
                    <a:pt x="245" y="245"/>
                  </a:moveTo>
                  <a:cubicBezTo>
                    <a:pt x="245" y="211"/>
                    <a:pt x="245" y="211"/>
                    <a:pt x="245" y="211"/>
                  </a:cubicBezTo>
                  <a:cubicBezTo>
                    <a:pt x="245" y="193"/>
                    <a:pt x="230" y="179"/>
                    <a:pt x="213" y="179"/>
                  </a:cubicBezTo>
                  <a:cubicBezTo>
                    <a:pt x="195" y="179"/>
                    <a:pt x="181" y="193"/>
                    <a:pt x="181" y="211"/>
                  </a:cubicBezTo>
                  <a:cubicBezTo>
                    <a:pt x="181" y="245"/>
                    <a:pt x="181" y="245"/>
                    <a:pt x="181" y="245"/>
                  </a:cubicBezTo>
                  <a:moveTo>
                    <a:pt x="77" y="290"/>
                  </a:moveTo>
                  <a:cubicBezTo>
                    <a:pt x="122" y="290"/>
                    <a:pt x="122" y="290"/>
                    <a:pt x="122" y="290"/>
                  </a:cubicBezTo>
                </a:path>
              </a:pathLst>
            </a:cu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en-US" sz="1800" dirty="0">
                <a:gradFill>
                  <a:gsLst>
                    <a:gs pos="0">
                      <a:srgbClr val="505050"/>
                    </a:gs>
                    <a:gs pos="100000">
                      <a:srgbClr val="505050"/>
                    </a:gs>
                  </a:gsLst>
                </a:gradFill>
              </a:endParaRPr>
            </a:p>
          </p:txBody>
        </p:sp>
      </p:grpSp>
      <p:grpSp>
        <p:nvGrpSpPr>
          <p:cNvPr id="11" name="Group 10">
            <a:extLst>
              <a:ext uri="{FF2B5EF4-FFF2-40B4-BE49-F238E27FC236}">
                <a16:creationId xmlns:a16="http://schemas.microsoft.com/office/drawing/2014/main" id="{7B593B04-6FB6-3867-FDD5-49B45584AFC2}"/>
              </a:ext>
              <a:ext uri="{C183D7F6-B498-43B3-948B-1728B52AA6E4}">
                <adec:decorative xmlns:adec="http://schemas.microsoft.com/office/drawing/2017/decorative" val="1"/>
              </a:ext>
            </a:extLst>
          </p:cNvPr>
          <p:cNvGrpSpPr>
            <a:grpSpLocks/>
          </p:cNvGrpSpPr>
          <p:nvPr/>
        </p:nvGrpSpPr>
        <p:grpSpPr>
          <a:xfrm>
            <a:off x="6114607" y="4956041"/>
            <a:ext cx="760708" cy="758669"/>
            <a:chOff x="8532113" y="1771650"/>
            <a:chExt cx="648000" cy="648000"/>
          </a:xfrm>
          <a:solidFill>
            <a:srgbClr val="8DC8E8"/>
          </a:solidFill>
        </p:grpSpPr>
        <p:sp>
          <p:nvSpPr>
            <p:cNvPr id="15" name="Oval 14">
              <a:extLst>
                <a:ext uri="{FF2B5EF4-FFF2-40B4-BE49-F238E27FC236}">
                  <a16:creationId xmlns:a16="http://schemas.microsoft.com/office/drawing/2014/main" id="{A578C57C-69A0-34AB-F15C-BF198339D49D}"/>
                </a:ext>
              </a:extLst>
            </p:cNvPr>
            <p:cNvSpPr>
              <a:spLocks noChangeAspect="1"/>
            </p:cNvSpPr>
            <p:nvPr/>
          </p:nvSpPr>
          <p:spPr bwMode="auto">
            <a:xfrm>
              <a:off x="8532113" y="1771650"/>
              <a:ext cx="648000" cy="648000"/>
            </a:xfrm>
            <a:prstGeom prst="ellips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16" name="Browser_4" title="Icon of a website or an app window">
              <a:extLst>
                <a:ext uri="{FF2B5EF4-FFF2-40B4-BE49-F238E27FC236}">
                  <a16:creationId xmlns:a16="http://schemas.microsoft.com/office/drawing/2014/main" id="{8C655C4D-437E-F5D4-B52D-CAE41C512901}"/>
                </a:ext>
              </a:extLst>
            </p:cNvPr>
            <p:cNvSpPr>
              <a:spLocks noChangeAspect="1" noEditPoints="1"/>
            </p:cNvSpPr>
            <p:nvPr/>
          </p:nvSpPr>
          <p:spPr bwMode="auto">
            <a:xfrm>
              <a:off x="8685858" y="1969650"/>
              <a:ext cx="340511" cy="252000"/>
            </a:xfrm>
            <a:custGeom>
              <a:avLst/>
              <a:gdLst>
                <a:gd name="T0" fmla="*/ 80 w 604"/>
                <a:gd name="T1" fmla="*/ 244 h 447"/>
                <a:gd name="T2" fmla="*/ 320 w 604"/>
                <a:gd name="T3" fmla="*/ 244 h 447"/>
                <a:gd name="T4" fmla="*/ 80 w 604"/>
                <a:gd name="T5" fmla="*/ 367 h 447"/>
                <a:gd name="T6" fmla="*/ 320 w 604"/>
                <a:gd name="T7" fmla="*/ 367 h 447"/>
                <a:gd name="T8" fmla="*/ 525 w 604"/>
                <a:gd name="T9" fmla="*/ 305 h 447"/>
                <a:gd name="T10" fmla="*/ 525 w 604"/>
                <a:gd name="T11" fmla="*/ 244 h 447"/>
                <a:gd name="T12" fmla="*/ 403 w 604"/>
                <a:gd name="T13" fmla="*/ 244 h 447"/>
                <a:gd name="T14" fmla="*/ 403 w 604"/>
                <a:gd name="T15" fmla="*/ 367 h 447"/>
                <a:gd name="T16" fmla="*/ 525 w 604"/>
                <a:gd name="T17" fmla="*/ 367 h 447"/>
                <a:gd name="T18" fmla="*/ 525 w 604"/>
                <a:gd name="T19" fmla="*/ 305 h 447"/>
                <a:gd name="T20" fmla="*/ 525 w 604"/>
                <a:gd name="T21" fmla="*/ 123 h 447"/>
                <a:gd name="T22" fmla="*/ 525 w 604"/>
                <a:gd name="T23" fmla="*/ 80 h 447"/>
                <a:gd name="T24" fmla="*/ 82 w 604"/>
                <a:gd name="T25" fmla="*/ 80 h 447"/>
                <a:gd name="T26" fmla="*/ 82 w 604"/>
                <a:gd name="T27" fmla="*/ 166 h 447"/>
                <a:gd name="T28" fmla="*/ 525 w 604"/>
                <a:gd name="T29" fmla="*/ 166 h 447"/>
                <a:gd name="T30" fmla="*/ 525 w 604"/>
                <a:gd name="T31" fmla="*/ 123 h 447"/>
                <a:gd name="T32" fmla="*/ 604 w 604"/>
                <a:gd name="T33" fmla="*/ 225 h 447"/>
                <a:gd name="T34" fmla="*/ 604 w 604"/>
                <a:gd name="T35" fmla="*/ 0 h 447"/>
                <a:gd name="T36" fmla="*/ 0 w 604"/>
                <a:gd name="T37" fmla="*/ 0 h 447"/>
                <a:gd name="T38" fmla="*/ 0 w 604"/>
                <a:gd name="T39" fmla="*/ 447 h 447"/>
                <a:gd name="T40" fmla="*/ 604 w 604"/>
                <a:gd name="T41" fmla="*/ 447 h 447"/>
                <a:gd name="T42" fmla="*/ 604 w 604"/>
                <a:gd name="T43" fmla="*/ 225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4" h="447">
                  <a:moveTo>
                    <a:pt x="80" y="244"/>
                  </a:moveTo>
                  <a:lnTo>
                    <a:pt x="320" y="244"/>
                  </a:lnTo>
                  <a:moveTo>
                    <a:pt x="80" y="367"/>
                  </a:moveTo>
                  <a:lnTo>
                    <a:pt x="320" y="367"/>
                  </a:lnTo>
                  <a:moveTo>
                    <a:pt x="525" y="305"/>
                  </a:moveTo>
                  <a:lnTo>
                    <a:pt x="525" y="244"/>
                  </a:lnTo>
                  <a:lnTo>
                    <a:pt x="403" y="244"/>
                  </a:lnTo>
                  <a:lnTo>
                    <a:pt x="403" y="367"/>
                  </a:lnTo>
                  <a:lnTo>
                    <a:pt x="525" y="367"/>
                  </a:lnTo>
                  <a:lnTo>
                    <a:pt x="525" y="305"/>
                  </a:lnTo>
                  <a:moveTo>
                    <a:pt x="525" y="123"/>
                  </a:moveTo>
                  <a:lnTo>
                    <a:pt x="525" y="80"/>
                  </a:lnTo>
                  <a:lnTo>
                    <a:pt x="82" y="80"/>
                  </a:lnTo>
                  <a:lnTo>
                    <a:pt x="82" y="166"/>
                  </a:lnTo>
                  <a:lnTo>
                    <a:pt x="525" y="166"/>
                  </a:lnTo>
                  <a:lnTo>
                    <a:pt x="525" y="123"/>
                  </a:lnTo>
                  <a:moveTo>
                    <a:pt x="604" y="225"/>
                  </a:moveTo>
                  <a:lnTo>
                    <a:pt x="604" y="0"/>
                  </a:lnTo>
                  <a:lnTo>
                    <a:pt x="0" y="0"/>
                  </a:lnTo>
                  <a:lnTo>
                    <a:pt x="0" y="447"/>
                  </a:lnTo>
                  <a:lnTo>
                    <a:pt x="604" y="447"/>
                  </a:lnTo>
                  <a:lnTo>
                    <a:pt x="604" y="225"/>
                  </a:lnTo>
                </a:path>
              </a:pathLst>
            </a:cu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en-US" sz="1800"/>
            </a:p>
          </p:txBody>
        </p:sp>
      </p:grpSp>
      <p:sp>
        <p:nvSpPr>
          <p:cNvPr id="22" name="Rectangle 21">
            <a:extLst>
              <a:ext uri="{FF2B5EF4-FFF2-40B4-BE49-F238E27FC236}">
                <a16:creationId xmlns:a16="http://schemas.microsoft.com/office/drawing/2014/main" id="{96B44EA7-8A84-A2C7-47F3-EE2F496BC5CD}"/>
              </a:ext>
            </a:extLst>
          </p:cNvPr>
          <p:cNvSpPr>
            <a:spLocks/>
          </p:cNvSpPr>
          <p:nvPr/>
        </p:nvSpPr>
        <p:spPr bwMode="auto">
          <a:xfrm>
            <a:off x="3872301" y="5133797"/>
            <a:ext cx="2585631" cy="33855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200" dirty="0" err="1">
                <a:solidFill>
                  <a:schemeClr val="tx1"/>
                </a:solidFill>
                <a:latin typeface="+mj-lt"/>
              </a:rPr>
              <a:t>dbmanager</a:t>
            </a:r>
            <a:endParaRPr lang="en-US" sz="2200" dirty="0">
              <a:solidFill>
                <a:schemeClr val="tx1"/>
              </a:solidFill>
              <a:latin typeface="+mj-lt"/>
            </a:endParaRPr>
          </a:p>
        </p:txBody>
      </p:sp>
      <p:sp>
        <p:nvSpPr>
          <p:cNvPr id="23" name="Rectangle 22">
            <a:extLst>
              <a:ext uri="{FF2B5EF4-FFF2-40B4-BE49-F238E27FC236}">
                <a16:creationId xmlns:a16="http://schemas.microsoft.com/office/drawing/2014/main" id="{7CBE85C9-63DD-EDD4-574E-984D3632B39E}"/>
              </a:ext>
            </a:extLst>
          </p:cNvPr>
          <p:cNvSpPr>
            <a:spLocks/>
          </p:cNvSpPr>
          <p:nvPr/>
        </p:nvSpPr>
        <p:spPr bwMode="auto">
          <a:xfrm>
            <a:off x="7053620" y="5142147"/>
            <a:ext cx="2585631" cy="33855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400">
              <a:spcAft>
                <a:spcPts val="300"/>
              </a:spcAft>
            </a:pPr>
            <a:r>
              <a:rPr lang="en-US" sz="2200" dirty="0" err="1">
                <a:solidFill>
                  <a:schemeClr val="tx1"/>
                </a:solidFill>
                <a:latin typeface="+mj-lt"/>
              </a:rPr>
              <a:t>loginmanager</a:t>
            </a:r>
            <a:endParaRPr lang="en-US" sz="2200" dirty="0">
              <a:solidFill>
                <a:schemeClr val="tx1"/>
              </a:solidFill>
              <a:latin typeface="+mj-lt"/>
            </a:endParaRPr>
          </a:p>
        </p:txBody>
      </p:sp>
      <p:sp>
        <p:nvSpPr>
          <p:cNvPr id="50" name="TextBox 49">
            <a:extLst>
              <a:ext uri="{FF2B5EF4-FFF2-40B4-BE49-F238E27FC236}">
                <a16:creationId xmlns:a16="http://schemas.microsoft.com/office/drawing/2014/main" id="{B1A831D3-359A-DAF0-1CBC-AD546A717D5B}"/>
              </a:ext>
            </a:extLst>
          </p:cNvPr>
          <p:cNvSpPr txBox="1"/>
          <p:nvPr/>
        </p:nvSpPr>
        <p:spPr>
          <a:xfrm>
            <a:off x="588262" y="4199025"/>
            <a:ext cx="6794500" cy="461665"/>
          </a:xfrm>
          <a:prstGeom prst="rect">
            <a:avLst/>
          </a:prstGeom>
          <a:noFill/>
        </p:spPr>
        <p:txBody>
          <a:bodyPr wrap="square">
            <a:spAutoFit/>
          </a:bodyPr>
          <a:lstStyle/>
          <a:p>
            <a:r>
              <a:rPr lang="en-US" sz="2400" dirty="0"/>
              <a:t>Special roles for Azure SQL Database </a:t>
            </a:r>
          </a:p>
        </p:txBody>
      </p:sp>
      <p:grpSp>
        <p:nvGrpSpPr>
          <p:cNvPr id="51" name="Group 50">
            <a:extLst>
              <a:ext uri="{FF2B5EF4-FFF2-40B4-BE49-F238E27FC236}">
                <a16:creationId xmlns:a16="http://schemas.microsoft.com/office/drawing/2014/main" id="{ED6145DE-B034-B433-84A5-F96083795F75}"/>
              </a:ext>
              <a:ext uri="{C183D7F6-B498-43B3-948B-1728B52AA6E4}">
                <adec:decorative xmlns:adec="http://schemas.microsoft.com/office/drawing/2017/decorative" val="1"/>
              </a:ext>
            </a:extLst>
          </p:cNvPr>
          <p:cNvGrpSpPr>
            <a:grpSpLocks/>
          </p:cNvGrpSpPr>
          <p:nvPr/>
        </p:nvGrpSpPr>
        <p:grpSpPr>
          <a:xfrm>
            <a:off x="7581282" y="3189468"/>
            <a:ext cx="702775" cy="708475"/>
            <a:chOff x="683513" y="1771650"/>
            <a:chExt cx="648000" cy="648000"/>
          </a:xfrm>
          <a:solidFill>
            <a:srgbClr val="8DC8E8"/>
          </a:solidFill>
        </p:grpSpPr>
        <p:sp>
          <p:nvSpPr>
            <p:cNvPr id="52" name="Oval 51">
              <a:extLst>
                <a:ext uri="{FF2B5EF4-FFF2-40B4-BE49-F238E27FC236}">
                  <a16:creationId xmlns:a16="http://schemas.microsoft.com/office/drawing/2014/main" id="{E9F2124C-0F26-376B-F1BA-33202F85DF6C}"/>
                </a:ext>
              </a:extLst>
            </p:cNvPr>
            <p:cNvSpPr>
              <a:spLocks noChangeAspect="1"/>
            </p:cNvSpPr>
            <p:nvPr/>
          </p:nvSpPr>
          <p:spPr bwMode="auto">
            <a:xfrm>
              <a:off x="683513" y="1771650"/>
              <a:ext cx="648000" cy="648000"/>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solidFill>
                  <a:srgbClr val="FFFFFF"/>
                </a:solidFill>
                <a:ea typeface="Segoe UI" pitchFamily="34" charset="0"/>
                <a:cs typeface="Segoe UI" pitchFamily="34" charset="0"/>
              </a:endParaRPr>
            </a:p>
          </p:txBody>
        </p:sp>
        <p:sp>
          <p:nvSpPr>
            <p:cNvPr id="53" name="people_5" title="Icon of a person with a box around them">
              <a:extLst>
                <a:ext uri="{FF2B5EF4-FFF2-40B4-BE49-F238E27FC236}">
                  <a16:creationId xmlns:a16="http://schemas.microsoft.com/office/drawing/2014/main" id="{466C4DB2-B0E6-E235-2919-63EEE0956A1B}"/>
                </a:ext>
              </a:extLst>
            </p:cNvPr>
            <p:cNvSpPr>
              <a:spLocks noChangeAspect="1" noEditPoints="1"/>
            </p:cNvSpPr>
            <p:nvPr/>
          </p:nvSpPr>
          <p:spPr bwMode="auto">
            <a:xfrm>
              <a:off x="844868" y="1933650"/>
              <a:ext cx="325291" cy="324000"/>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en-US" sz="1800" dirty="0"/>
            </a:p>
          </p:txBody>
        </p:sp>
      </p:grpSp>
    </p:spTree>
    <p:extLst>
      <p:ext uri="{BB962C8B-B14F-4D97-AF65-F5344CB8AC3E}">
        <p14:creationId xmlns:p14="http://schemas.microsoft.com/office/powerpoint/2010/main" val="259612256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6FBF2F26-2A48-23CA-AB28-A0DCA1B599D8}"/>
              </a:ext>
            </a:extLst>
          </p:cNvPr>
          <p:cNvSpPr>
            <a:spLocks noGrp="1"/>
          </p:cNvSpPr>
          <p:nvPr>
            <p:ph type="title"/>
          </p:nvPr>
        </p:nvSpPr>
        <p:spPr/>
        <p:txBody>
          <a:bodyPr/>
          <a:lstStyle/>
          <a:p>
            <a:r>
              <a:rPr lang="en-US" dirty="0"/>
              <a:t>Database and object permissions explained</a:t>
            </a:r>
          </a:p>
        </p:txBody>
      </p:sp>
      <p:pic>
        <p:nvPicPr>
          <p:cNvPr id="2" name="Picture 1" descr="Icon of four squares connected by lines ">
            <a:extLst>
              <a:ext uri="{FF2B5EF4-FFF2-40B4-BE49-F238E27FC236}">
                <a16:creationId xmlns:a16="http://schemas.microsoft.com/office/drawing/2014/main" id="{EA866BA3-8CE5-5ADC-5EF5-42120776848A}"/>
              </a:ext>
            </a:extLst>
          </p:cNvPr>
          <p:cNvPicPr>
            <a:picLocks/>
          </p:cNvPicPr>
          <p:nvPr/>
        </p:nvPicPr>
        <p:blipFill>
          <a:blip r:embed="rId3">
            <a:duotone>
              <a:schemeClr val="accent3">
                <a:shade val="45000"/>
                <a:satMod val="135000"/>
              </a:schemeClr>
              <a:prstClr val="white"/>
            </a:duotone>
          </a:blip>
          <a:stretch>
            <a:fillRect/>
          </a:stretch>
        </p:blipFill>
        <p:spPr>
          <a:xfrm>
            <a:off x="588261" y="1561801"/>
            <a:ext cx="640080" cy="640080"/>
          </a:xfrm>
          <a:prstGeom prst="rect">
            <a:avLst/>
          </a:prstGeom>
        </p:spPr>
      </p:pic>
      <p:sp>
        <p:nvSpPr>
          <p:cNvPr id="18" name="Rectangle 17">
            <a:extLst>
              <a:ext uri="{FF2B5EF4-FFF2-40B4-BE49-F238E27FC236}">
                <a16:creationId xmlns:a16="http://schemas.microsoft.com/office/drawing/2014/main" id="{67AB6149-1173-1668-9925-F5716464576E}"/>
              </a:ext>
            </a:extLst>
          </p:cNvPr>
          <p:cNvSpPr>
            <a:spLocks/>
          </p:cNvSpPr>
          <p:nvPr/>
        </p:nvSpPr>
        <p:spPr bwMode="auto">
          <a:xfrm>
            <a:off x="1397000" y="1727952"/>
            <a:ext cx="10299700"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b="1" dirty="0">
                <a:solidFill>
                  <a:schemeClr val="tx1"/>
                </a:solidFill>
              </a:rPr>
              <a:t>DML</a:t>
            </a:r>
            <a:r>
              <a:rPr lang="en-US" sz="2000" dirty="0">
                <a:solidFill>
                  <a:schemeClr val="tx1"/>
                </a:solidFill>
              </a:rPr>
              <a:t> permissions on tables and views – </a:t>
            </a:r>
            <a:r>
              <a:rPr lang="en-US" sz="2000" dirty="0">
                <a:solidFill>
                  <a:srgbClr val="0078D4"/>
                </a:solidFill>
              </a:rPr>
              <a:t>SELECT/INSERT/UPDATE/DELETE</a:t>
            </a:r>
          </a:p>
        </p:txBody>
      </p:sp>
      <p:pic>
        <p:nvPicPr>
          <p:cNvPr id="3" name="Picture 2" descr="Icon of a document">
            <a:extLst>
              <a:ext uri="{FF2B5EF4-FFF2-40B4-BE49-F238E27FC236}">
                <a16:creationId xmlns:a16="http://schemas.microsoft.com/office/drawing/2014/main" id="{DC014D3E-0C76-0B52-817F-D21C024C1F76}"/>
              </a:ext>
            </a:extLst>
          </p:cNvPr>
          <p:cNvPicPr>
            <a:picLocks/>
          </p:cNvPicPr>
          <p:nvPr/>
        </p:nvPicPr>
        <p:blipFill>
          <a:blip r:embed="rId4">
            <a:duotone>
              <a:schemeClr val="accent3">
                <a:shade val="45000"/>
                <a:satMod val="135000"/>
              </a:schemeClr>
              <a:prstClr val="white"/>
            </a:duotone>
          </a:blip>
          <a:stretch>
            <a:fillRect/>
          </a:stretch>
        </p:blipFill>
        <p:spPr>
          <a:xfrm>
            <a:off x="588261" y="2692942"/>
            <a:ext cx="640080" cy="640080"/>
          </a:xfrm>
          <a:prstGeom prst="rect">
            <a:avLst/>
          </a:prstGeom>
        </p:spPr>
      </p:pic>
      <p:sp>
        <p:nvSpPr>
          <p:cNvPr id="20" name="Rectangle 19">
            <a:extLst>
              <a:ext uri="{FF2B5EF4-FFF2-40B4-BE49-F238E27FC236}">
                <a16:creationId xmlns:a16="http://schemas.microsoft.com/office/drawing/2014/main" id="{D0E2E99A-BFEC-E20D-7D97-68FA246878CB}"/>
              </a:ext>
            </a:extLst>
          </p:cNvPr>
          <p:cNvSpPr>
            <a:spLocks/>
          </p:cNvSpPr>
          <p:nvPr/>
        </p:nvSpPr>
        <p:spPr bwMode="auto">
          <a:xfrm>
            <a:off x="1397000" y="2705206"/>
            <a:ext cx="10299699"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Stored procedures and functions have their own permissions – </a:t>
            </a:r>
            <a:r>
              <a:rPr lang="en-US" sz="2000" dirty="0">
                <a:solidFill>
                  <a:srgbClr val="0078D4"/>
                </a:solidFill>
              </a:rPr>
              <a:t>ALTER/CONTROL/EXECUTE/VIEW DEFINITION</a:t>
            </a:r>
          </a:p>
        </p:txBody>
      </p:sp>
      <p:pic>
        <p:nvPicPr>
          <p:cNvPr id="4" name="Picture 3" descr="Icon of a computer screen">
            <a:extLst>
              <a:ext uri="{FF2B5EF4-FFF2-40B4-BE49-F238E27FC236}">
                <a16:creationId xmlns:a16="http://schemas.microsoft.com/office/drawing/2014/main" id="{3AF6E134-0086-DF24-0886-A617A6241D25}"/>
              </a:ext>
            </a:extLst>
          </p:cNvPr>
          <p:cNvPicPr>
            <a:picLocks/>
          </p:cNvPicPr>
          <p:nvPr/>
        </p:nvPicPr>
        <p:blipFill>
          <a:blip r:embed="rId5">
            <a:duotone>
              <a:schemeClr val="accent3">
                <a:shade val="45000"/>
                <a:satMod val="135000"/>
              </a:schemeClr>
              <a:prstClr val="white"/>
            </a:duotone>
          </a:blip>
          <a:stretch>
            <a:fillRect/>
          </a:stretch>
        </p:blipFill>
        <p:spPr>
          <a:xfrm>
            <a:off x="588261" y="3824083"/>
            <a:ext cx="640080" cy="640080"/>
          </a:xfrm>
          <a:prstGeom prst="rect">
            <a:avLst/>
          </a:prstGeom>
        </p:spPr>
      </p:pic>
      <p:sp>
        <p:nvSpPr>
          <p:cNvPr id="22" name="Rectangle 21">
            <a:extLst>
              <a:ext uri="{FF2B5EF4-FFF2-40B4-BE49-F238E27FC236}">
                <a16:creationId xmlns:a16="http://schemas.microsoft.com/office/drawing/2014/main" id="{0171CBD0-1BA1-45B2-4760-1C38508B71E6}"/>
              </a:ext>
            </a:extLst>
          </p:cNvPr>
          <p:cNvSpPr>
            <a:spLocks/>
          </p:cNvSpPr>
          <p:nvPr/>
        </p:nvSpPr>
        <p:spPr bwMode="auto">
          <a:xfrm>
            <a:off x="1397000" y="3823522"/>
            <a:ext cx="10299700" cy="64120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b="1" dirty="0">
                <a:solidFill>
                  <a:schemeClr val="tx1"/>
                </a:solidFill>
              </a:rPr>
              <a:t>DCL</a:t>
            </a:r>
            <a:r>
              <a:rPr lang="en-US" sz="2000" dirty="0">
                <a:solidFill>
                  <a:schemeClr val="tx1"/>
                </a:solidFill>
              </a:rPr>
              <a:t> permissions – </a:t>
            </a:r>
            <a:r>
              <a:rPr lang="en-US" sz="2000" dirty="0">
                <a:solidFill>
                  <a:srgbClr val="0078D4"/>
                </a:solidFill>
              </a:rPr>
              <a:t>GRANT / DENY / REVOKE</a:t>
            </a:r>
            <a:r>
              <a:rPr lang="en-US" sz="2000" dirty="0">
                <a:solidFill>
                  <a:schemeClr val="tx1"/>
                </a:solidFill>
              </a:rPr>
              <a:t>​</a:t>
            </a:r>
          </a:p>
          <a:p>
            <a:pPr>
              <a:spcAft>
                <a:spcPts val="200"/>
              </a:spcAft>
            </a:pPr>
            <a:r>
              <a:rPr lang="en-US" sz="2000" b="1" dirty="0">
                <a:solidFill>
                  <a:schemeClr val="tx1"/>
                </a:solidFill>
              </a:rPr>
              <a:t>DDL</a:t>
            </a:r>
            <a:r>
              <a:rPr lang="en-US" sz="2000" dirty="0">
                <a:solidFill>
                  <a:schemeClr val="tx1"/>
                </a:solidFill>
              </a:rPr>
              <a:t> permissions – </a:t>
            </a:r>
            <a:r>
              <a:rPr lang="en-US" sz="2000" dirty="0">
                <a:solidFill>
                  <a:srgbClr val="0078D4"/>
                </a:solidFill>
              </a:rPr>
              <a:t>CREATE / ALTER / DROP</a:t>
            </a:r>
            <a:r>
              <a:rPr lang="en-US" sz="2000" dirty="0">
                <a:solidFill>
                  <a:schemeClr val="tx1"/>
                </a:solidFill>
              </a:rPr>
              <a:t> </a:t>
            </a:r>
          </a:p>
        </p:txBody>
      </p:sp>
      <p:pic>
        <p:nvPicPr>
          <p:cNvPr id="5" name="Picture 4" descr="Icon of a document with a checkmark">
            <a:extLst>
              <a:ext uri="{FF2B5EF4-FFF2-40B4-BE49-F238E27FC236}">
                <a16:creationId xmlns:a16="http://schemas.microsoft.com/office/drawing/2014/main" id="{FB9F3720-3508-9F9A-0BC7-31142657C450}"/>
              </a:ext>
            </a:extLst>
          </p:cNvPr>
          <p:cNvPicPr>
            <a:picLocks/>
          </p:cNvPicPr>
          <p:nvPr/>
        </p:nvPicPr>
        <p:blipFill>
          <a:blip r:embed="rId6">
            <a:duotone>
              <a:schemeClr val="accent3">
                <a:shade val="45000"/>
                <a:satMod val="135000"/>
              </a:schemeClr>
              <a:prstClr val="white"/>
            </a:duotone>
          </a:blip>
          <a:stretch>
            <a:fillRect/>
          </a:stretch>
        </p:blipFill>
        <p:spPr>
          <a:xfrm>
            <a:off x="588261" y="4955223"/>
            <a:ext cx="640080" cy="640080"/>
          </a:xfrm>
          <a:prstGeom prst="rect">
            <a:avLst/>
          </a:prstGeom>
        </p:spPr>
      </p:pic>
      <p:sp>
        <p:nvSpPr>
          <p:cNvPr id="24" name="Rectangle 23">
            <a:extLst>
              <a:ext uri="{FF2B5EF4-FFF2-40B4-BE49-F238E27FC236}">
                <a16:creationId xmlns:a16="http://schemas.microsoft.com/office/drawing/2014/main" id="{5114EC22-10D2-5DBA-440A-C5C8C0402148}"/>
              </a:ext>
            </a:extLst>
          </p:cNvPr>
          <p:cNvSpPr>
            <a:spLocks/>
          </p:cNvSpPr>
          <p:nvPr/>
        </p:nvSpPr>
        <p:spPr bwMode="auto">
          <a:xfrm>
            <a:off x="1397000" y="4967487"/>
            <a:ext cx="10299700"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Revoked</a:t>
            </a:r>
            <a:r>
              <a:rPr lang="en-US" sz="2000" dirty="0">
                <a:solidFill>
                  <a:srgbClr val="0078D4"/>
                </a:solidFill>
              </a:rPr>
              <a:t> </a:t>
            </a:r>
            <a:r>
              <a:rPr lang="en-US" sz="2000" dirty="0">
                <a:solidFill>
                  <a:schemeClr val="tx1"/>
                </a:solidFill>
              </a:rPr>
              <a:t>permissions remove any existing </a:t>
            </a:r>
            <a:r>
              <a:rPr lang="en-US" sz="2000" dirty="0">
                <a:solidFill>
                  <a:srgbClr val="0078D4"/>
                </a:solidFill>
              </a:rPr>
              <a:t>GRANT</a:t>
            </a:r>
            <a:r>
              <a:rPr lang="en-US" sz="2000" dirty="0">
                <a:solidFill>
                  <a:schemeClr val="tx1"/>
                </a:solidFill>
              </a:rPr>
              <a:t> or </a:t>
            </a:r>
            <a:r>
              <a:rPr lang="en-US" sz="2000" dirty="0">
                <a:solidFill>
                  <a:srgbClr val="0078D4"/>
                </a:solidFill>
              </a:rPr>
              <a:t>DENY</a:t>
            </a:r>
            <a:r>
              <a:rPr lang="en-US" sz="2000" dirty="0">
                <a:solidFill>
                  <a:schemeClr val="tx1"/>
                </a:solidFill>
              </a:rPr>
              <a:t> permission from </a:t>
            </a:r>
            <a:br>
              <a:rPr lang="en-US" sz="2000" dirty="0">
                <a:solidFill>
                  <a:schemeClr val="tx1"/>
                </a:solidFill>
              </a:rPr>
            </a:br>
            <a:r>
              <a:rPr lang="en-US" sz="2000" dirty="0">
                <a:solidFill>
                  <a:schemeClr val="tx1"/>
                </a:solidFill>
              </a:rPr>
              <a:t>the object</a:t>
            </a:r>
          </a:p>
        </p:txBody>
      </p:sp>
    </p:spTree>
    <p:extLst>
      <p:ext uri="{BB962C8B-B14F-4D97-AF65-F5344CB8AC3E}">
        <p14:creationId xmlns:p14="http://schemas.microsoft.com/office/powerpoint/2010/main" val="19425664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72CC2796-0CEA-EB12-AD34-F2E3B2C90F20}"/>
              </a:ext>
            </a:extLst>
          </p:cNvPr>
          <p:cNvSpPr>
            <a:spLocks noGrp="1"/>
          </p:cNvSpPr>
          <p:nvPr>
            <p:ph type="title"/>
          </p:nvPr>
        </p:nvSpPr>
        <p:spPr/>
        <p:txBody>
          <a:bodyPr/>
          <a:lstStyle/>
          <a:p>
            <a:r>
              <a:rPr lang="en-US" dirty="0"/>
              <a:t>Database and object permissions explained </a:t>
            </a:r>
          </a:p>
        </p:txBody>
      </p:sp>
      <p:pic>
        <p:nvPicPr>
          <p:cNvPr id="2" name="Picture 1" descr="Icon of three gears with varying sizes">
            <a:extLst>
              <a:ext uri="{FF2B5EF4-FFF2-40B4-BE49-F238E27FC236}">
                <a16:creationId xmlns:a16="http://schemas.microsoft.com/office/drawing/2014/main" id="{C9A5A2CC-1D38-01FF-0EF3-7281F3E6A0E3}"/>
              </a:ext>
            </a:extLst>
          </p:cNvPr>
          <p:cNvPicPr>
            <a:picLocks/>
          </p:cNvPicPr>
          <p:nvPr/>
        </p:nvPicPr>
        <p:blipFill>
          <a:blip r:embed="rId3">
            <a:duotone>
              <a:schemeClr val="accent2">
                <a:shade val="45000"/>
                <a:satMod val="135000"/>
              </a:schemeClr>
              <a:prstClr val="white"/>
            </a:duotone>
          </a:blip>
          <a:stretch>
            <a:fillRect/>
          </a:stretch>
        </p:blipFill>
        <p:spPr>
          <a:xfrm>
            <a:off x="588261" y="1561801"/>
            <a:ext cx="640080" cy="640080"/>
          </a:xfrm>
          <a:prstGeom prst="rect">
            <a:avLst/>
          </a:prstGeom>
        </p:spPr>
      </p:pic>
      <p:sp>
        <p:nvSpPr>
          <p:cNvPr id="17" name="Rectangle 16">
            <a:extLst>
              <a:ext uri="{FF2B5EF4-FFF2-40B4-BE49-F238E27FC236}">
                <a16:creationId xmlns:a16="http://schemas.microsoft.com/office/drawing/2014/main" id="{4AE1E8C4-14F2-7DEC-AAD5-A024AE11615F}"/>
              </a:ext>
            </a:extLst>
          </p:cNvPr>
          <p:cNvSpPr>
            <a:spLocks/>
          </p:cNvSpPr>
          <p:nvPr/>
        </p:nvSpPr>
        <p:spPr bwMode="auto">
          <a:xfrm>
            <a:off x="1397000" y="1727952"/>
            <a:ext cx="10299700"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Permissions can be assigned to users or roles within a database</a:t>
            </a:r>
          </a:p>
        </p:txBody>
      </p:sp>
      <p:pic>
        <p:nvPicPr>
          <p:cNvPr id="5" name="Picture 4" descr="Icon of a square with a smaller square positioned in the lower left corner">
            <a:extLst>
              <a:ext uri="{FF2B5EF4-FFF2-40B4-BE49-F238E27FC236}">
                <a16:creationId xmlns:a16="http://schemas.microsoft.com/office/drawing/2014/main" id="{2E895304-29F8-E82C-9062-BC9899A1BE13}"/>
              </a:ext>
            </a:extLst>
          </p:cNvPr>
          <p:cNvPicPr>
            <a:picLocks/>
          </p:cNvPicPr>
          <p:nvPr/>
        </p:nvPicPr>
        <p:blipFill>
          <a:blip r:embed="rId4">
            <a:duotone>
              <a:schemeClr val="accent2">
                <a:shade val="45000"/>
                <a:satMod val="135000"/>
              </a:schemeClr>
              <a:prstClr val="white"/>
            </a:duotone>
          </a:blip>
          <a:stretch>
            <a:fillRect/>
          </a:stretch>
        </p:blipFill>
        <p:spPr>
          <a:xfrm>
            <a:off x="588261" y="2686022"/>
            <a:ext cx="640080" cy="640080"/>
          </a:xfrm>
          <a:prstGeom prst="rect">
            <a:avLst/>
          </a:prstGeom>
        </p:spPr>
      </p:pic>
      <p:sp>
        <p:nvSpPr>
          <p:cNvPr id="21" name="Rectangle 20">
            <a:extLst>
              <a:ext uri="{FF2B5EF4-FFF2-40B4-BE49-F238E27FC236}">
                <a16:creationId xmlns:a16="http://schemas.microsoft.com/office/drawing/2014/main" id="{8E84EFE5-6C4D-556D-446C-F0ED5FBE9ED8}"/>
              </a:ext>
            </a:extLst>
          </p:cNvPr>
          <p:cNvSpPr>
            <a:spLocks/>
          </p:cNvSpPr>
          <p:nvPr/>
        </p:nvSpPr>
        <p:spPr bwMode="auto">
          <a:xfrm>
            <a:off x="1397000" y="2698285"/>
            <a:ext cx="10299700"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Permissions are additive, with permissions from multiple role memberships </a:t>
            </a:r>
            <a:br>
              <a:rPr lang="en-US" sz="2000" dirty="0">
                <a:solidFill>
                  <a:schemeClr val="tx1"/>
                </a:solidFill>
              </a:rPr>
            </a:br>
            <a:r>
              <a:rPr lang="en-US" sz="2000" dirty="0">
                <a:solidFill>
                  <a:schemeClr val="tx1"/>
                </a:solidFill>
              </a:rPr>
              <a:t>applied together </a:t>
            </a:r>
          </a:p>
        </p:txBody>
      </p:sp>
      <p:pic>
        <p:nvPicPr>
          <p:cNvPr id="6" name="Picture 5" descr="Icon of a security lock">
            <a:extLst>
              <a:ext uri="{FF2B5EF4-FFF2-40B4-BE49-F238E27FC236}">
                <a16:creationId xmlns:a16="http://schemas.microsoft.com/office/drawing/2014/main" id="{5D24E08C-576D-4D8B-7C42-FB7AAD66A22A}"/>
              </a:ext>
            </a:extLst>
          </p:cNvPr>
          <p:cNvPicPr>
            <a:picLocks/>
          </p:cNvPicPr>
          <p:nvPr/>
        </p:nvPicPr>
        <p:blipFill>
          <a:blip r:embed="rId5">
            <a:duotone>
              <a:schemeClr val="accent2">
                <a:shade val="45000"/>
                <a:satMod val="135000"/>
              </a:schemeClr>
              <a:prstClr val="white"/>
            </a:duotone>
          </a:blip>
          <a:stretch>
            <a:fillRect/>
          </a:stretch>
        </p:blipFill>
        <p:spPr>
          <a:xfrm>
            <a:off x="588261" y="3817162"/>
            <a:ext cx="640080" cy="640080"/>
          </a:xfrm>
          <a:prstGeom prst="rect">
            <a:avLst/>
          </a:prstGeom>
        </p:spPr>
      </p:pic>
      <p:sp>
        <p:nvSpPr>
          <p:cNvPr id="23" name="Rectangle 22">
            <a:extLst>
              <a:ext uri="{FF2B5EF4-FFF2-40B4-BE49-F238E27FC236}">
                <a16:creationId xmlns:a16="http://schemas.microsoft.com/office/drawing/2014/main" id="{68C46325-144B-2886-15E8-EF2814AEDFA0}"/>
              </a:ext>
            </a:extLst>
          </p:cNvPr>
          <p:cNvSpPr>
            <a:spLocks/>
          </p:cNvSpPr>
          <p:nvPr/>
        </p:nvSpPr>
        <p:spPr bwMode="auto">
          <a:xfrm>
            <a:off x="1397000" y="3983314"/>
            <a:ext cx="10299700"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Preventing access through a </a:t>
            </a:r>
            <a:r>
              <a:rPr lang="en-US" sz="2000" b="1" dirty="0">
                <a:solidFill>
                  <a:srgbClr val="0078D4"/>
                </a:solidFill>
              </a:rPr>
              <a:t>DENY</a:t>
            </a:r>
            <a:r>
              <a:rPr lang="en-US" sz="2000" dirty="0">
                <a:solidFill>
                  <a:schemeClr val="tx1"/>
                </a:solidFill>
              </a:rPr>
              <a:t> will override any </a:t>
            </a:r>
            <a:r>
              <a:rPr lang="en-US" sz="2000" b="1" dirty="0">
                <a:solidFill>
                  <a:srgbClr val="0078D4"/>
                </a:solidFill>
              </a:rPr>
              <a:t>GRANT</a:t>
            </a:r>
            <a:r>
              <a:rPr lang="en-US" sz="2000" dirty="0">
                <a:solidFill>
                  <a:schemeClr val="tx1"/>
                </a:solidFill>
              </a:rPr>
              <a:t> to that object</a:t>
            </a:r>
          </a:p>
        </p:txBody>
      </p:sp>
    </p:spTree>
    <p:extLst>
      <p:ext uri="{BB962C8B-B14F-4D97-AF65-F5344CB8AC3E}">
        <p14:creationId xmlns:p14="http://schemas.microsoft.com/office/powerpoint/2010/main" val="171467653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40C1AA7-2668-F89F-34EC-224D849CFD59}"/>
              </a:ext>
            </a:extLst>
          </p:cNvPr>
          <p:cNvSpPr>
            <a:spLocks noGrp="1"/>
          </p:cNvSpPr>
          <p:nvPr>
            <p:ph type="title"/>
          </p:nvPr>
        </p:nvSpPr>
        <p:spPr/>
        <p:txBody>
          <a:bodyPr/>
          <a:lstStyle/>
          <a:p>
            <a:r>
              <a:rPr lang="en-US" dirty="0"/>
              <a:t>GRANT/DENY example</a:t>
            </a:r>
          </a:p>
        </p:txBody>
      </p:sp>
      <p:pic>
        <p:nvPicPr>
          <p:cNvPr id="6" name="Picture 5" descr="Image showing the screenshot for GRANT / DENY example">
            <a:extLst>
              <a:ext uri="{FF2B5EF4-FFF2-40B4-BE49-F238E27FC236}">
                <a16:creationId xmlns:a16="http://schemas.microsoft.com/office/drawing/2014/main" id="{B795A515-3601-3C53-F02B-88AFFD99BF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78" t="-8606" r="-4078" b="-8606"/>
          <a:stretch/>
        </p:blipFill>
        <p:spPr bwMode="auto">
          <a:xfrm>
            <a:off x="588261" y="1581150"/>
            <a:ext cx="11011602" cy="4694238"/>
          </a:xfrm>
          <a:prstGeom prst="rect">
            <a:avLst/>
          </a:prstGeom>
          <a:ln w="38100">
            <a:solidFill>
              <a:srgbClr val="C73ECC"/>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16751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B86F4FD-60B0-894C-3490-B96C6318B1DB}"/>
              </a:ext>
            </a:extLst>
          </p:cNvPr>
          <p:cNvSpPr>
            <a:spLocks noGrp="1"/>
          </p:cNvSpPr>
          <p:nvPr>
            <p:ph type="title"/>
          </p:nvPr>
        </p:nvSpPr>
        <p:spPr>
          <a:xfrm>
            <a:off x="588262" y="585216"/>
            <a:ext cx="11011600" cy="492443"/>
          </a:xfrm>
        </p:spPr>
        <p:txBody>
          <a:bodyPr/>
          <a:lstStyle/>
          <a:p>
            <a:r>
              <a:rPr lang="en-US" dirty="0"/>
              <a:t>EXECUTE AS USER/EXECUTE AS LOGIN definition</a:t>
            </a:r>
          </a:p>
        </p:txBody>
      </p:sp>
      <p:pic>
        <p:nvPicPr>
          <p:cNvPr id="2" name="Picture 1" descr="Icon of two people">
            <a:extLst>
              <a:ext uri="{FF2B5EF4-FFF2-40B4-BE49-F238E27FC236}">
                <a16:creationId xmlns:a16="http://schemas.microsoft.com/office/drawing/2014/main" id="{521A7FE1-F456-3BFB-3138-784B68FA534C}"/>
              </a:ext>
            </a:extLst>
          </p:cNvPr>
          <p:cNvPicPr>
            <a:picLocks/>
          </p:cNvPicPr>
          <p:nvPr/>
        </p:nvPicPr>
        <p:blipFill>
          <a:blip r:embed="rId3">
            <a:duotone>
              <a:schemeClr val="accent3">
                <a:shade val="45000"/>
                <a:satMod val="135000"/>
              </a:schemeClr>
              <a:prstClr val="white"/>
            </a:duotone>
          </a:blip>
          <a:stretch>
            <a:fillRect/>
          </a:stretch>
        </p:blipFill>
        <p:spPr>
          <a:xfrm>
            <a:off x="588261" y="1561801"/>
            <a:ext cx="640080" cy="640080"/>
          </a:xfrm>
          <a:prstGeom prst="rect">
            <a:avLst/>
          </a:prstGeom>
        </p:spPr>
      </p:pic>
      <p:sp>
        <p:nvSpPr>
          <p:cNvPr id="13" name="Rectangle 12">
            <a:extLst>
              <a:ext uri="{FF2B5EF4-FFF2-40B4-BE49-F238E27FC236}">
                <a16:creationId xmlns:a16="http://schemas.microsoft.com/office/drawing/2014/main" id="{1CF7327C-C8A0-8433-C72B-C70E4A545332}"/>
              </a:ext>
            </a:extLst>
          </p:cNvPr>
          <p:cNvSpPr>
            <a:spLocks/>
          </p:cNvSpPr>
          <p:nvPr/>
        </p:nvSpPr>
        <p:spPr bwMode="auto">
          <a:xfrm>
            <a:off x="1384300" y="1574064"/>
            <a:ext cx="10183457"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b="1" dirty="0">
                <a:solidFill>
                  <a:srgbClr val="0078D4"/>
                </a:solidFill>
              </a:rPr>
              <a:t>EXECUTE AS USER </a:t>
            </a:r>
            <a:r>
              <a:rPr lang="en-US" sz="2000" dirty="0">
                <a:solidFill>
                  <a:schemeClr val="tx1"/>
                </a:solidFill>
              </a:rPr>
              <a:t>and </a:t>
            </a:r>
            <a:r>
              <a:rPr lang="en-US" sz="2000" b="1" dirty="0">
                <a:solidFill>
                  <a:srgbClr val="0078D4"/>
                </a:solidFill>
              </a:rPr>
              <a:t>EXECUTE AS LOGIN </a:t>
            </a:r>
            <a:r>
              <a:rPr lang="en-US" sz="2000" dirty="0">
                <a:solidFill>
                  <a:schemeClr val="tx1"/>
                </a:solidFill>
              </a:rPr>
              <a:t>allows a statement to be executed in the security context of another user or login</a:t>
            </a:r>
          </a:p>
        </p:txBody>
      </p:sp>
      <p:pic>
        <p:nvPicPr>
          <p:cNvPr id="3" name="Picture 2" descr="Icon of three gears with varying sizes">
            <a:extLst>
              <a:ext uri="{FF2B5EF4-FFF2-40B4-BE49-F238E27FC236}">
                <a16:creationId xmlns:a16="http://schemas.microsoft.com/office/drawing/2014/main" id="{0928F4D2-7A2D-6505-144F-830E1165C9D6}"/>
              </a:ext>
            </a:extLst>
          </p:cNvPr>
          <p:cNvPicPr>
            <a:picLocks/>
          </p:cNvPicPr>
          <p:nvPr/>
        </p:nvPicPr>
        <p:blipFill>
          <a:blip r:embed="rId4">
            <a:duotone>
              <a:schemeClr val="accent3">
                <a:shade val="45000"/>
                <a:satMod val="135000"/>
              </a:schemeClr>
              <a:prstClr val="white"/>
            </a:duotone>
          </a:blip>
          <a:stretch>
            <a:fillRect/>
          </a:stretch>
        </p:blipFill>
        <p:spPr>
          <a:xfrm>
            <a:off x="588261" y="2692942"/>
            <a:ext cx="640080" cy="640080"/>
          </a:xfrm>
          <a:prstGeom prst="rect">
            <a:avLst/>
          </a:prstGeom>
        </p:spPr>
      </p:pic>
      <p:sp>
        <p:nvSpPr>
          <p:cNvPr id="15" name="Rectangle 14">
            <a:extLst>
              <a:ext uri="{FF2B5EF4-FFF2-40B4-BE49-F238E27FC236}">
                <a16:creationId xmlns:a16="http://schemas.microsoft.com/office/drawing/2014/main" id="{6CAF8C69-28D5-BF90-C958-7EE1A63564FA}"/>
              </a:ext>
            </a:extLst>
          </p:cNvPr>
          <p:cNvSpPr>
            <a:spLocks/>
          </p:cNvSpPr>
          <p:nvPr/>
        </p:nvSpPr>
        <p:spPr bwMode="auto">
          <a:xfrm>
            <a:off x="1384301" y="2705206"/>
            <a:ext cx="10183456"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This capability allows for </a:t>
            </a:r>
            <a:r>
              <a:rPr lang="en-US" sz="2000" b="1" dirty="0">
                <a:solidFill>
                  <a:schemeClr val="tx1"/>
                </a:solidFill>
              </a:rPr>
              <a:t>testing</a:t>
            </a:r>
            <a:r>
              <a:rPr lang="en-US" sz="2000" dirty="0">
                <a:solidFill>
                  <a:schemeClr val="tx1"/>
                </a:solidFill>
              </a:rPr>
              <a:t> during the development process to ensure permissions are correctly implemented</a:t>
            </a:r>
          </a:p>
        </p:txBody>
      </p:sp>
    </p:spTree>
    <p:extLst>
      <p:ext uri="{BB962C8B-B14F-4D97-AF65-F5344CB8AC3E}">
        <p14:creationId xmlns:p14="http://schemas.microsoft.com/office/powerpoint/2010/main" val="318634257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C257A6-3ECA-C596-D426-1996F11C64D9}"/>
              </a:ext>
            </a:extLst>
          </p:cNvPr>
          <p:cNvSpPr>
            <a:spLocks noGrp="1"/>
          </p:cNvSpPr>
          <p:nvPr>
            <p:ph type="title"/>
          </p:nvPr>
        </p:nvSpPr>
        <p:spPr/>
        <p:txBody>
          <a:bodyPr/>
          <a:lstStyle/>
          <a:p>
            <a:r>
              <a:rPr lang="en-US" dirty="0"/>
              <a:t>Ownership chains</a:t>
            </a:r>
          </a:p>
        </p:txBody>
      </p:sp>
      <p:pic>
        <p:nvPicPr>
          <p:cNvPr id="9" name="Picture 8" descr="Image showing the diagram for Ownership chains explained">
            <a:extLst>
              <a:ext uri="{FF2B5EF4-FFF2-40B4-BE49-F238E27FC236}">
                <a16:creationId xmlns:a16="http://schemas.microsoft.com/office/drawing/2014/main" id="{98406747-2292-0188-5D4C-9CCA8232BA26}"/>
              </a:ext>
            </a:extLst>
          </p:cNvPr>
          <p:cNvPicPr>
            <a:picLocks/>
          </p:cNvPicPr>
          <p:nvPr/>
        </p:nvPicPr>
        <p:blipFill rotWithShape="1">
          <a:blip r:embed="rId3"/>
          <a:srcRect l="-29315" t="-2663" r="-29315" b="-2663"/>
          <a:stretch/>
        </p:blipFill>
        <p:spPr>
          <a:xfrm>
            <a:off x="588260" y="1290352"/>
            <a:ext cx="11011603" cy="4983733"/>
          </a:xfrm>
          <a:prstGeom prst="rect">
            <a:avLst/>
          </a:prstGeom>
          <a:solidFill>
            <a:schemeClr val="bg1"/>
          </a:solidFill>
          <a:ln w="38100">
            <a:solidFill>
              <a:srgbClr val="C73ECC"/>
            </a:solidFill>
            <a:headEnd type="none" w="med" len="med"/>
            <a:tailEnd type="none" w="med" len="med"/>
          </a:ln>
          <a:effectLst/>
        </p:spPr>
      </p:pic>
    </p:spTree>
    <p:extLst>
      <p:ext uri="{BB962C8B-B14F-4D97-AF65-F5344CB8AC3E}">
        <p14:creationId xmlns:p14="http://schemas.microsoft.com/office/powerpoint/2010/main" val="251172482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5FC18-B471-2244-A0BD-3D0FF2D40506}"/>
              </a:ext>
            </a:extLst>
          </p:cNvPr>
          <p:cNvSpPr>
            <a:spLocks noGrp="1"/>
          </p:cNvSpPr>
          <p:nvPr>
            <p:ph type="title"/>
          </p:nvPr>
        </p:nvSpPr>
        <p:spPr/>
        <p:txBody>
          <a:bodyPr/>
          <a:lstStyle/>
          <a:p>
            <a:r>
              <a:rPr lang="en-US" altLang="zh-CN" dirty="0"/>
              <a:t>Demo: </a:t>
            </a:r>
            <a:r>
              <a:rPr lang="en-US" dirty="0"/>
              <a:t>Permission chaining </a:t>
            </a:r>
          </a:p>
        </p:txBody>
      </p:sp>
      <p:sp>
        <p:nvSpPr>
          <p:cNvPr id="8" name="Rectangle 7">
            <a:extLst>
              <a:ext uri="{FF2B5EF4-FFF2-40B4-BE49-F238E27FC236}">
                <a16:creationId xmlns:a16="http://schemas.microsoft.com/office/drawing/2014/main" id="{ECA4F3F5-61C3-591B-813B-864E98C3A42E}"/>
              </a:ext>
              <a:ext uri="{C183D7F6-B498-43B3-948B-1728B52AA6E4}">
                <adec:decorative xmlns:adec="http://schemas.microsoft.com/office/drawing/2017/decorative" val="1"/>
              </a:ext>
            </a:extLst>
          </p:cNvPr>
          <p:cNvSpPr>
            <a:spLocks/>
          </p:cNvSpPr>
          <p:nvPr/>
        </p:nvSpPr>
        <p:spPr bwMode="auto">
          <a:xfrm>
            <a:off x="588260" y="1289050"/>
            <a:ext cx="11011603" cy="4983733"/>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4">
            <a:extLst>
              <a:ext uri="{FF2B5EF4-FFF2-40B4-BE49-F238E27FC236}">
                <a16:creationId xmlns:a16="http://schemas.microsoft.com/office/drawing/2014/main" id="{9B982EB3-4EF1-1786-196C-B798BB6563A8}"/>
              </a:ext>
            </a:extLst>
          </p:cNvPr>
          <p:cNvSpPr txBox="1">
            <a:spLocks/>
          </p:cNvSpPr>
          <p:nvPr/>
        </p:nvSpPr>
        <p:spPr>
          <a:xfrm>
            <a:off x="3157281" y="3350029"/>
            <a:ext cx="5873560" cy="861774"/>
          </a:xfrm>
          <a:prstGeom prst="rect">
            <a:avLst/>
          </a:prstGeom>
        </p:spPr>
        <p:txBody>
          <a:bodyPr vert="horz" wrap="square" lIns="0" tIns="0" rIns="0" bIns="0" rtlCol="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1200"/>
              </a:spcBef>
              <a:buNone/>
            </a:pPr>
            <a:r>
              <a:rPr lang="en-US" dirty="0">
                <a:latin typeface="+mj-lt"/>
              </a:rPr>
              <a:t>Execute a stored procedure as a </a:t>
            </a:r>
            <a:br>
              <a:rPr lang="en-US" dirty="0">
                <a:latin typeface="+mj-lt"/>
              </a:rPr>
            </a:br>
            <a:r>
              <a:rPr lang="en-US" dirty="0">
                <a:latin typeface="+mj-lt"/>
              </a:rPr>
              <a:t>lower privileged user</a:t>
            </a:r>
          </a:p>
        </p:txBody>
      </p:sp>
    </p:spTree>
    <p:extLst>
      <p:ext uri="{BB962C8B-B14F-4D97-AF65-F5344CB8AC3E}">
        <p14:creationId xmlns:p14="http://schemas.microsoft.com/office/powerpoint/2010/main" val="419041137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8727CCD-C911-5A2A-7AB1-3EBBD332B8BC}"/>
              </a:ext>
            </a:extLst>
          </p:cNvPr>
          <p:cNvSpPr>
            <a:spLocks noGrp="1"/>
          </p:cNvSpPr>
          <p:nvPr>
            <p:ph type="title"/>
          </p:nvPr>
        </p:nvSpPr>
        <p:spPr>
          <a:xfrm>
            <a:off x="588262" y="585216"/>
            <a:ext cx="4042761" cy="492443"/>
          </a:xfrm>
        </p:spPr>
        <p:txBody>
          <a:bodyPr>
            <a:spAutoFit/>
          </a:bodyPr>
          <a:lstStyle/>
          <a:p>
            <a:r>
              <a:rPr lang="en-US" dirty="0"/>
              <a:t>Dynamic SQL</a:t>
            </a:r>
          </a:p>
        </p:txBody>
      </p:sp>
      <p:sp>
        <p:nvSpPr>
          <p:cNvPr id="9" name="Text Placeholder 8">
            <a:extLst>
              <a:ext uri="{FF2B5EF4-FFF2-40B4-BE49-F238E27FC236}">
                <a16:creationId xmlns:a16="http://schemas.microsoft.com/office/drawing/2014/main" id="{12FCDC5A-98EA-1C01-A4CF-9A8EA866F019}"/>
              </a:ext>
            </a:extLst>
          </p:cNvPr>
          <p:cNvSpPr>
            <a:spLocks noGrp="1"/>
          </p:cNvSpPr>
          <p:nvPr>
            <p:ph type="body" sz="quarter" idx="15"/>
          </p:nvPr>
        </p:nvSpPr>
        <p:spPr>
          <a:xfrm>
            <a:off x="586389" y="1594155"/>
            <a:ext cx="4313857" cy="2523768"/>
          </a:xfrm>
        </p:spPr>
        <p:txBody>
          <a:bodyPr/>
          <a:lstStyle/>
          <a:p>
            <a:pPr marL="246063" indent="-246063" defTabSz="932472" fontAlgn="base">
              <a:spcBef>
                <a:spcPct val="0"/>
              </a:spcBef>
              <a:spcAft>
                <a:spcPts val="1200"/>
              </a:spcAft>
              <a:buFont typeface="Arial" panose="020B0604020202020204" pitchFamily="34" charset="0"/>
              <a:buChar char="•"/>
            </a:pPr>
            <a:r>
              <a:rPr lang="en-US" sz="2200" dirty="0">
                <a:ea typeface="Segoe UI" pitchFamily="34" charset="0"/>
              </a:rPr>
              <a:t>Dynamic SQL is a concept where queries are built programmatically and then executed in-line.</a:t>
            </a:r>
          </a:p>
          <a:p>
            <a:pPr marL="246063" indent="-246063" defTabSz="932472" fontAlgn="base">
              <a:spcBef>
                <a:spcPct val="0"/>
              </a:spcBef>
              <a:spcAft>
                <a:spcPts val="1200"/>
              </a:spcAft>
              <a:buFont typeface="Arial" panose="020B0604020202020204" pitchFamily="34" charset="0"/>
              <a:buChar char="•"/>
            </a:pPr>
            <a:r>
              <a:rPr lang="en-US" sz="2200" dirty="0">
                <a:ea typeface="Segoe UI" pitchFamily="34" charset="0"/>
              </a:rPr>
              <a:t>The sample on the right would generate statements to back up each database on a server.</a:t>
            </a:r>
          </a:p>
        </p:txBody>
      </p:sp>
      <p:sp>
        <p:nvSpPr>
          <p:cNvPr id="7" name="Text Placeholder 6">
            <a:extLst>
              <a:ext uri="{FF2B5EF4-FFF2-40B4-BE49-F238E27FC236}">
                <a16:creationId xmlns:a16="http://schemas.microsoft.com/office/drawing/2014/main" id="{997489E9-6E25-9E22-32D9-4F4916BF337A}"/>
              </a:ext>
            </a:extLst>
          </p:cNvPr>
          <p:cNvSpPr>
            <a:spLocks noGrp="1"/>
          </p:cNvSpPr>
          <p:nvPr>
            <p:ph type="body" sz="quarter" idx="11"/>
          </p:nvPr>
        </p:nvSpPr>
        <p:spPr>
          <a:ln w="38100">
            <a:solidFill>
              <a:srgbClr val="C73ECC"/>
            </a:solidFill>
          </a:ln>
        </p:spPr>
        <p:txBody>
          <a:bodyPr lIns="137160" tIns="91440" rIns="137160" bIns="91440">
            <a:noAutofit/>
          </a:bodyPr>
          <a:lstStyle/>
          <a:p>
            <a:pPr marL="0" marR="0" lvl="0" indent="0" algn="l" defTabSz="932597" rtl="0" eaLnBrk="1" fontAlgn="auto" latinLnBrk="0" hangingPunct="1">
              <a:lnSpc>
                <a:spcPct val="90000"/>
              </a:lnSpc>
              <a:spcBef>
                <a:spcPts val="102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FF"/>
                </a:solidFill>
                <a:effectLst/>
                <a:uLnTx/>
                <a:uFillTx/>
                <a:latin typeface="Consolas" panose="020B0609020204030204" pitchFamily="49" charset="0"/>
              </a:rPr>
              <a:t>SELECT</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A31515"/>
                </a:solidFill>
                <a:effectLst/>
                <a:uLnTx/>
                <a:uFillTx/>
                <a:latin typeface="Consolas" panose="020B0609020204030204" pitchFamily="49" charset="0"/>
              </a:rPr>
              <a:t>'BACKUP DATABASE '</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0000FF"/>
                </a:solidFill>
                <a:effectLst/>
                <a:uLnTx/>
                <a:uFillTx/>
                <a:latin typeface="Consolas" panose="020B0609020204030204" pitchFamily="49" charset="0"/>
              </a:rPr>
              <a:t>name</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A31515"/>
                </a:solidFill>
                <a:effectLst/>
                <a:uLnTx/>
                <a:uFillTx/>
                <a:latin typeface="Consolas" panose="020B0609020204030204" pitchFamily="49" charset="0"/>
              </a:rPr>
              <a:t>' TO DISK =''\\backup\sql1\'</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0000FF"/>
                </a:solidFill>
                <a:effectLst/>
                <a:uLnTx/>
                <a:uFillTx/>
                <a:latin typeface="Consolas" panose="020B0609020204030204" pitchFamily="49" charset="0"/>
              </a:rPr>
              <a:t>name</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a:ln>
                  <a:noFill/>
                </a:ln>
                <a:solidFill>
                  <a:srgbClr val="A31515"/>
                </a:solidFill>
                <a:effectLst/>
                <a:uLnTx/>
                <a:uFillTx/>
                <a:latin typeface="Consolas" panose="020B0609020204030204" pitchFamily="49" charset="0"/>
              </a:rPr>
              <a:t>'.</a:t>
            </a:r>
            <a:r>
              <a:rPr kumimoji="0" lang="en-US" sz="2800" b="0" i="0" u="none" strike="noStrike" kern="1200" cap="none" spc="0" normalizeH="0" baseline="0" noProof="0" dirty="0" err="1">
                <a:ln>
                  <a:noFill/>
                </a:ln>
                <a:solidFill>
                  <a:srgbClr val="A31515"/>
                </a:solidFill>
                <a:effectLst/>
                <a:uLnTx/>
                <a:uFillTx/>
                <a:latin typeface="Consolas" panose="020B0609020204030204" pitchFamily="49" charset="0"/>
              </a:rPr>
              <a:t>bak</a:t>
            </a:r>
            <a:r>
              <a:rPr kumimoji="0" lang="en-US" sz="2800" b="0" i="0" u="none" strike="noStrike" kern="1200" cap="none" spc="0" normalizeH="0" baseline="0" noProof="0" dirty="0">
                <a:ln>
                  <a:noFill/>
                </a:ln>
                <a:solidFill>
                  <a:srgbClr val="A31515"/>
                </a:solidFill>
                <a:effectLst/>
                <a:uLnTx/>
                <a:uFillTx/>
                <a:latin typeface="Consolas" panose="020B0609020204030204" pitchFamily="49" charset="0"/>
              </a:rPr>
              <a:t>'''</a:t>
            </a:r>
            <a:endParaRPr kumimoji="0" lang="en-US" sz="2800" b="0" i="0" u="none" strike="noStrike" kern="1200" cap="none" spc="0" normalizeH="0" baseline="0" noProof="0" dirty="0">
              <a:ln>
                <a:noFill/>
              </a:ln>
              <a:solidFill>
                <a:srgbClr val="212121"/>
              </a:solidFill>
              <a:effectLst/>
              <a:uLnTx/>
              <a:uFillTx/>
              <a:latin typeface="Consolas" panose="020B0609020204030204" pitchFamily="49" charset="0"/>
            </a:endParaRPr>
          </a:p>
          <a:p>
            <a:pPr marL="0" marR="0" lvl="0" indent="0" algn="l" defTabSz="932597" rtl="0" eaLnBrk="1" fontAlgn="auto" latinLnBrk="0" hangingPunct="1">
              <a:lnSpc>
                <a:spcPct val="90000"/>
              </a:lnSpc>
              <a:spcBef>
                <a:spcPts val="102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FF"/>
                </a:solidFill>
                <a:effectLst/>
                <a:uLnTx/>
                <a:uFillTx/>
                <a:latin typeface="Consolas" panose="020B0609020204030204" pitchFamily="49" charset="0"/>
              </a:rPr>
              <a:t>FROM</a:t>
            </a:r>
            <a:r>
              <a:rPr kumimoji="0" lang="en-US" sz="28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800" b="0" i="0" u="none" strike="noStrike" kern="1200" cap="none" spc="0" normalizeH="0" baseline="0" noProof="0" dirty="0" err="1">
                <a:ln>
                  <a:noFill/>
                </a:ln>
                <a:solidFill>
                  <a:srgbClr val="212121"/>
                </a:solidFill>
                <a:effectLst/>
                <a:uLnTx/>
                <a:uFillTx/>
                <a:latin typeface="Consolas" panose="020B0609020204030204" pitchFamily="49" charset="0"/>
              </a:rPr>
              <a:t>sys.databases</a:t>
            </a:r>
            <a:endParaRPr lang="en-US" sz="2800" dirty="0"/>
          </a:p>
        </p:txBody>
      </p:sp>
    </p:spTree>
    <p:extLst>
      <p:ext uri="{BB962C8B-B14F-4D97-AF65-F5344CB8AC3E}">
        <p14:creationId xmlns:p14="http://schemas.microsoft.com/office/powerpoint/2010/main" val="387881919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AF7EA25-E7EB-6DBB-BD4F-5DCFD6E2F9FA}"/>
              </a:ext>
            </a:extLst>
          </p:cNvPr>
          <p:cNvSpPr>
            <a:spLocks noGrp="1"/>
          </p:cNvSpPr>
          <p:nvPr>
            <p:ph type="title"/>
          </p:nvPr>
        </p:nvSpPr>
        <p:spPr/>
        <p:txBody>
          <a:bodyPr/>
          <a:lstStyle/>
          <a:p>
            <a:r>
              <a:rPr lang="en-US" dirty="0"/>
              <a:t>Least privilege</a:t>
            </a:r>
          </a:p>
        </p:txBody>
      </p:sp>
      <p:pic>
        <p:nvPicPr>
          <p:cNvPr id="2" name="Picture 1" descr="Icon of two people">
            <a:extLst>
              <a:ext uri="{FF2B5EF4-FFF2-40B4-BE49-F238E27FC236}">
                <a16:creationId xmlns:a16="http://schemas.microsoft.com/office/drawing/2014/main" id="{439979C6-AFEA-056A-F8B9-776D3CD88484}"/>
              </a:ext>
            </a:extLst>
          </p:cNvPr>
          <p:cNvPicPr>
            <a:picLocks/>
          </p:cNvPicPr>
          <p:nvPr/>
        </p:nvPicPr>
        <p:blipFill>
          <a:blip r:embed="rId3">
            <a:duotone>
              <a:schemeClr val="accent2">
                <a:shade val="45000"/>
                <a:satMod val="135000"/>
              </a:schemeClr>
              <a:prstClr val="white"/>
            </a:duotone>
          </a:blip>
          <a:stretch>
            <a:fillRect/>
          </a:stretch>
        </p:blipFill>
        <p:spPr>
          <a:xfrm>
            <a:off x="588261" y="1561801"/>
            <a:ext cx="640080" cy="640080"/>
          </a:xfrm>
          <a:prstGeom prst="rect">
            <a:avLst/>
          </a:prstGeom>
        </p:spPr>
      </p:pic>
      <p:sp>
        <p:nvSpPr>
          <p:cNvPr id="13" name="Rectangle 12">
            <a:extLst>
              <a:ext uri="{FF2B5EF4-FFF2-40B4-BE49-F238E27FC236}">
                <a16:creationId xmlns:a16="http://schemas.microsoft.com/office/drawing/2014/main" id="{66DFE7E9-464D-582E-4931-1AB0374A8CB9}"/>
              </a:ext>
            </a:extLst>
          </p:cNvPr>
          <p:cNvSpPr>
            <a:spLocks/>
          </p:cNvSpPr>
          <p:nvPr/>
        </p:nvSpPr>
        <p:spPr bwMode="auto">
          <a:xfrm>
            <a:off x="1384301" y="1604842"/>
            <a:ext cx="10183456"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The concept of “Least Privilege” means that users never have more permissions than they need to get the task done</a:t>
            </a:r>
          </a:p>
        </p:txBody>
      </p:sp>
      <p:pic>
        <p:nvPicPr>
          <p:cNvPr id="3" name="Picture 2" descr="Icon of a screen with binary codes">
            <a:extLst>
              <a:ext uri="{FF2B5EF4-FFF2-40B4-BE49-F238E27FC236}">
                <a16:creationId xmlns:a16="http://schemas.microsoft.com/office/drawing/2014/main" id="{2D5780ED-ED53-7805-D918-14C1DFC5A0C8}"/>
              </a:ext>
            </a:extLst>
          </p:cNvPr>
          <p:cNvPicPr>
            <a:picLocks/>
          </p:cNvPicPr>
          <p:nvPr/>
        </p:nvPicPr>
        <p:blipFill>
          <a:blip r:embed="rId4">
            <a:duotone>
              <a:schemeClr val="accent2">
                <a:shade val="45000"/>
                <a:satMod val="135000"/>
              </a:schemeClr>
              <a:prstClr val="white"/>
            </a:duotone>
          </a:blip>
          <a:stretch>
            <a:fillRect/>
          </a:stretch>
        </p:blipFill>
        <p:spPr>
          <a:xfrm>
            <a:off x="588261" y="2692942"/>
            <a:ext cx="640080" cy="640080"/>
          </a:xfrm>
          <a:prstGeom prst="rect">
            <a:avLst/>
          </a:prstGeom>
        </p:spPr>
      </p:pic>
      <p:sp>
        <p:nvSpPr>
          <p:cNvPr id="15" name="Rectangle 14">
            <a:extLst>
              <a:ext uri="{FF2B5EF4-FFF2-40B4-BE49-F238E27FC236}">
                <a16:creationId xmlns:a16="http://schemas.microsoft.com/office/drawing/2014/main" id="{8D1E70E1-8840-A191-7F18-38FB991043D5}"/>
              </a:ext>
            </a:extLst>
          </p:cNvPr>
          <p:cNvSpPr>
            <a:spLocks/>
          </p:cNvSpPr>
          <p:nvPr/>
        </p:nvSpPr>
        <p:spPr bwMode="auto">
          <a:xfrm>
            <a:off x="1384301" y="2735983"/>
            <a:ext cx="10183456"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If the user runs an application and the user only needs to use stored procedures, then the user should only have the EXECUTE permission for the stored procedure</a:t>
            </a:r>
          </a:p>
        </p:txBody>
      </p:sp>
    </p:spTree>
    <p:extLst>
      <p:ext uri="{BB962C8B-B14F-4D97-AF65-F5344CB8AC3E}">
        <p14:creationId xmlns:p14="http://schemas.microsoft.com/office/powerpoint/2010/main" val="327705986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367366-D3E3-60CD-1C32-12FEEB16F3DA}"/>
              </a:ext>
            </a:extLst>
          </p:cNvPr>
          <p:cNvSpPr>
            <a:spLocks noGrp="1"/>
          </p:cNvSpPr>
          <p:nvPr>
            <p:ph type="title"/>
          </p:nvPr>
        </p:nvSpPr>
        <p:spPr/>
        <p:txBody>
          <a:bodyPr/>
          <a:lstStyle/>
          <a:p>
            <a:r>
              <a:rPr lang="en-US" dirty="0"/>
              <a:t>Identify authentication and authorization failures</a:t>
            </a:r>
          </a:p>
        </p:txBody>
      </p:sp>
      <p:graphicFrame>
        <p:nvGraphicFramePr>
          <p:cNvPr id="8" name="Table 6">
            <a:extLst>
              <a:ext uri="{FF2B5EF4-FFF2-40B4-BE49-F238E27FC236}">
                <a16:creationId xmlns:a16="http://schemas.microsoft.com/office/drawing/2014/main" id="{03D64837-CBA9-4ECB-D703-E079ECA726B9}"/>
              </a:ext>
            </a:extLst>
          </p:cNvPr>
          <p:cNvGraphicFramePr>
            <a:graphicFrameLocks noGrp="1"/>
          </p:cNvGraphicFramePr>
          <p:nvPr>
            <p:extLst>
              <p:ext uri="{D42A27DB-BD31-4B8C-83A1-F6EECF244321}">
                <p14:modId xmlns:p14="http://schemas.microsoft.com/office/powerpoint/2010/main" val="563777518"/>
              </p:ext>
            </p:extLst>
          </p:nvPr>
        </p:nvGraphicFramePr>
        <p:xfrm>
          <a:off x="588261" y="1728000"/>
          <a:ext cx="11018520" cy="3352800"/>
        </p:xfrm>
        <a:graphic>
          <a:graphicData uri="http://schemas.openxmlformats.org/drawingml/2006/table">
            <a:tbl>
              <a:tblPr firstRow="1">
                <a:tableStyleId>{2D5ABB26-0587-4C30-8999-92F81FD0307C}</a:tableStyleId>
              </a:tblPr>
              <a:tblGrid>
                <a:gridCol w="3204424">
                  <a:extLst>
                    <a:ext uri="{9D8B030D-6E8A-4147-A177-3AD203B41FA5}">
                      <a16:colId xmlns:a16="http://schemas.microsoft.com/office/drawing/2014/main" val="2582994158"/>
                    </a:ext>
                  </a:extLst>
                </a:gridCol>
                <a:gridCol w="7814096">
                  <a:extLst>
                    <a:ext uri="{9D8B030D-6E8A-4147-A177-3AD203B41FA5}">
                      <a16:colId xmlns:a16="http://schemas.microsoft.com/office/drawing/2014/main" val="3090625460"/>
                    </a:ext>
                  </a:extLst>
                </a:gridCol>
              </a:tblGrid>
              <a:tr h="427410">
                <a:tc>
                  <a:txBody>
                    <a:bodyPr/>
                    <a:lstStyle/>
                    <a:p>
                      <a:r>
                        <a:rPr lang="en-US" sz="2200" dirty="0">
                          <a:solidFill>
                            <a:schemeClr val="tx1"/>
                          </a:solidFill>
                          <a:latin typeface="+mj-lt"/>
                        </a:rPr>
                        <a:t>Error</a:t>
                      </a:r>
                    </a:p>
                  </a:txBody>
                  <a:tcPr marL="182880" marR="182880" marT="137160" marB="1371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FE9D88"/>
                    </a:solidFill>
                  </a:tcPr>
                </a:tc>
                <a:tc>
                  <a:txBody>
                    <a:bodyPr/>
                    <a:lstStyle/>
                    <a:p>
                      <a:r>
                        <a:rPr lang="en-US" sz="2200" dirty="0">
                          <a:solidFill>
                            <a:schemeClr val="tx1"/>
                          </a:solidFill>
                          <a:latin typeface="+mj-lt"/>
                        </a:rPr>
                        <a:t>Action</a:t>
                      </a:r>
                    </a:p>
                  </a:txBody>
                  <a:tcPr marL="182880" marR="182880" marT="137160" marB="1371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D988DC"/>
                    </a:solidFill>
                  </a:tcPr>
                </a:tc>
                <a:extLst>
                  <a:ext uri="{0D108BD9-81ED-4DB2-BD59-A6C34878D82A}">
                    <a16:rowId xmlns:a16="http://schemas.microsoft.com/office/drawing/2014/main" val="182173788"/>
                  </a:ext>
                </a:extLst>
              </a:tr>
              <a:tr h="822960">
                <a:tc>
                  <a:txBody>
                    <a:bodyPr/>
                    <a:lstStyle/>
                    <a:p>
                      <a:r>
                        <a:rPr lang="en-US" sz="1800" dirty="0">
                          <a:solidFill>
                            <a:schemeClr val="tx1"/>
                          </a:solidFill>
                          <a:latin typeface="+mj-lt"/>
                        </a:rPr>
                        <a:t>Login failures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Look for any outages during the time when the application reported the errors at Microsoft Azure Service Dashboard.</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32386946"/>
                  </a:ext>
                </a:extLst>
              </a:tr>
              <a:tr h="822960">
                <a:tc>
                  <a:txBody>
                    <a:bodyPr/>
                    <a:lstStyle/>
                    <a:p>
                      <a:r>
                        <a:rPr lang="en-US" sz="1800" dirty="0">
                          <a:solidFill>
                            <a:schemeClr val="tx1"/>
                          </a:solidFill>
                          <a:latin typeface="+mj-lt"/>
                        </a:rPr>
                        <a:t>Database reaches </a:t>
                      </a:r>
                      <a:br>
                        <a:rPr lang="en-US" sz="1800" dirty="0">
                          <a:solidFill>
                            <a:schemeClr val="tx1"/>
                          </a:solidFill>
                          <a:latin typeface="+mj-lt"/>
                        </a:rPr>
                      </a:br>
                      <a:r>
                        <a:rPr lang="en-US" sz="1800" dirty="0">
                          <a:solidFill>
                            <a:schemeClr val="tx1"/>
                          </a:solidFill>
                          <a:latin typeface="+mj-lt"/>
                        </a:rPr>
                        <a:t>resource limits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Monitor your database's compute and storage resources carefully, and take action when it reaches its resource limits to prevent transient failures.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9601922"/>
                  </a:ext>
                </a:extLst>
              </a:tr>
              <a:tr h="427410">
                <a:tc>
                  <a:txBody>
                    <a:bodyPr/>
                    <a:lstStyle/>
                    <a:p>
                      <a:r>
                        <a:rPr lang="en-US" sz="1800" dirty="0">
                          <a:solidFill>
                            <a:schemeClr val="tx1"/>
                          </a:solidFill>
                          <a:latin typeface="+mj-lt"/>
                        </a:rPr>
                        <a:t>Extended authentication failures</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File an Azure support request through the Azure portal if your application encounters connectivity error for longer than 60 seconds or if it occurs more than once in a given day.</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0327320"/>
                  </a:ext>
                </a:extLst>
              </a:tr>
            </a:tbl>
          </a:graphicData>
        </a:graphic>
      </p:graphicFrame>
    </p:spTree>
    <p:extLst>
      <p:ext uri="{BB962C8B-B14F-4D97-AF65-F5344CB8AC3E}">
        <p14:creationId xmlns:p14="http://schemas.microsoft.com/office/powerpoint/2010/main" val="144564706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31A66B1D-5E18-0FF1-BE64-63F4ABD072A8}"/>
              </a:ext>
            </a:extLst>
          </p:cNvPr>
          <p:cNvSpPr>
            <a:spLocks noGrp="1"/>
          </p:cNvSpPr>
          <p:nvPr>
            <p:ph type="title"/>
          </p:nvPr>
        </p:nvSpPr>
        <p:spPr>
          <a:xfrm>
            <a:off x="588262" y="585216"/>
            <a:ext cx="11011600" cy="492443"/>
          </a:xfrm>
        </p:spPr>
        <p:txBody>
          <a:bodyPr/>
          <a:lstStyle/>
          <a:p>
            <a:r>
              <a:rPr lang="en-US" dirty="0"/>
              <a:t>Knowledge check</a:t>
            </a:r>
          </a:p>
        </p:txBody>
      </p:sp>
      <p:pic>
        <p:nvPicPr>
          <p:cNvPr id="2" name="Picture 1" descr="Icon of four circles connected by lines and arranged in a diamond pattern">
            <a:extLst>
              <a:ext uri="{FF2B5EF4-FFF2-40B4-BE49-F238E27FC236}">
                <a16:creationId xmlns:a16="http://schemas.microsoft.com/office/drawing/2014/main" id="{E2AF7D6B-259C-D6B9-4F12-68A22F39BC59}"/>
              </a:ext>
            </a:extLst>
          </p:cNvPr>
          <p:cNvPicPr>
            <a:picLocks/>
          </p:cNvPicPr>
          <p:nvPr/>
        </p:nvPicPr>
        <p:blipFill>
          <a:blip r:embed="rId3">
            <a:duotone>
              <a:schemeClr val="accent2">
                <a:shade val="45000"/>
                <a:satMod val="135000"/>
              </a:schemeClr>
              <a:prstClr val="white"/>
            </a:duotone>
          </a:blip>
          <a:stretch>
            <a:fillRect/>
          </a:stretch>
        </p:blipFill>
        <p:spPr>
          <a:xfrm>
            <a:off x="751433" y="1458030"/>
            <a:ext cx="548640" cy="548640"/>
          </a:xfrm>
          <a:prstGeom prst="rect">
            <a:avLst/>
          </a:prstGeom>
        </p:spPr>
      </p:pic>
      <p:sp>
        <p:nvSpPr>
          <p:cNvPr id="129" name="Text Placeholder 128">
            <a:extLst>
              <a:ext uri="{FF2B5EF4-FFF2-40B4-BE49-F238E27FC236}">
                <a16:creationId xmlns:a16="http://schemas.microsoft.com/office/drawing/2014/main" id="{9366B630-4F76-BDFB-78EF-D92B8329287E}"/>
              </a:ext>
            </a:extLst>
          </p:cNvPr>
          <p:cNvSpPr>
            <a:spLocks noGrp="1"/>
          </p:cNvSpPr>
          <p:nvPr>
            <p:ph type="body" sz="quarter" idx="17"/>
          </p:nvPr>
        </p:nvSpPr>
        <p:spPr>
          <a:xfrm>
            <a:off x="1478280" y="1593850"/>
            <a:ext cx="8535670" cy="276999"/>
          </a:xfrm>
        </p:spPr>
        <p:txBody>
          <a:bodyPr/>
          <a:lstStyle/>
          <a:p>
            <a:r>
              <a:rPr lang="en-US" sz="1800" dirty="0"/>
              <a:t>Which protocol is used by Microsoft </a:t>
            </a:r>
            <a:r>
              <a:rPr lang="en-US" sz="1800" dirty="0" err="1"/>
              <a:t>Entra</a:t>
            </a:r>
            <a:r>
              <a:rPr lang="en-US" sz="1800" dirty="0"/>
              <a:t> ID for Authorization?</a:t>
            </a:r>
          </a:p>
        </p:txBody>
      </p:sp>
      <p:sp>
        <p:nvSpPr>
          <p:cNvPr id="128" name="Text Placeholder 127">
            <a:extLst>
              <a:ext uri="{FF2B5EF4-FFF2-40B4-BE49-F238E27FC236}">
                <a16:creationId xmlns:a16="http://schemas.microsoft.com/office/drawing/2014/main" id="{BCA3533F-FB10-4E1A-361C-BA4FFE5FB8A0}"/>
              </a:ext>
            </a:extLst>
          </p:cNvPr>
          <p:cNvSpPr>
            <a:spLocks noGrp="1"/>
          </p:cNvSpPr>
          <p:nvPr>
            <p:ph type="body" sz="quarter" idx="15"/>
          </p:nvPr>
        </p:nvSpPr>
        <p:spPr>
          <a:xfrm>
            <a:off x="1478280" y="1896249"/>
            <a:ext cx="8535670" cy="815608"/>
          </a:xfrm>
        </p:spPr>
        <p:txBody>
          <a:bodyPr/>
          <a:lstStyle/>
          <a:p>
            <a:pPr>
              <a:spcBef>
                <a:spcPts val="0"/>
              </a:spcBef>
              <a:spcAft>
                <a:spcPts val="300"/>
              </a:spcAft>
            </a:pPr>
            <a:r>
              <a:rPr lang="en-US" sz="1600"/>
              <a:t>Kerberos</a:t>
            </a:r>
          </a:p>
          <a:p>
            <a:pPr>
              <a:spcBef>
                <a:spcPts val="0"/>
              </a:spcBef>
              <a:spcAft>
                <a:spcPts val="300"/>
              </a:spcAft>
            </a:pPr>
            <a:r>
              <a:rPr lang="en-US" sz="1600"/>
              <a:t>LDAP</a:t>
            </a:r>
          </a:p>
          <a:p>
            <a:pPr>
              <a:spcBef>
                <a:spcPts val="0"/>
              </a:spcBef>
              <a:spcAft>
                <a:spcPts val="300"/>
              </a:spcAft>
            </a:pPr>
            <a:r>
              <a:rPr lang="en-US" sz="1600"/>
              <a:t>OAuth</a:t>
            </a:r>
          </a:p>
        </p:txBody>
      </p:sp>
      <p:sp>
        <p:nvSpPr>
          <p:cNvPr id="171" name="Graphic 29">
            <a:extLst>
              <a:ext uri="{FF2B5EF4-FFF2-40B4-BE49-F238E27FC236}">
                <a16:creationId xmlns:a16="http://schemas.microsoft.com/office/drawing/2014/main" id="{127F8F96-9099-7550-F2C8-5CD1CCACBBE1}"/>
              </a:ext>
              <a:ext uri="{C183D7F6-B498-43B3-948B-1728B52AA6E4}">
                <adec:decorative xmlns:adec="http://schemas.microsoft.com/office/drawing/2017/decorative" val="1"/>
              </a:ext>
            </a:extLst>
          </p:cNvPr>
          <p:cNvSpPr>
            <a:spLocks noChangeAspect="1"/>
          </p:cNvSpPr>
          <p:nvPr/>
        </p:nvSpPr>
        <p:spPr>
          <a:xfrm>
            <a:off x="1507753" y="2463053"/>
            <a:ext cx="201861" cy="141783"/>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C73ECC"/>
          </a:solidFill>
          <a:ln w="15875" cap="flat">
            <a:solidFill>
              <a:srgbClr val="C73ECC"/>
            </a:solidFill>
            <a:prstDash val="solid"/>
            <a:miter/>
          </a:ln>
        </p:spPr>
        <p:txBody>
          <a:bodyPr rtlCol="0" anchor="ctr"/>
          <a:lstStyle/>
          <a:p>
            <a:endParaRPr lang="en-US" dirty="0"/>
          </a:p>
        </p:txBody>
      </p:sp>
      <p:pic>
        <p:nvPicPr>
          <p:cNvPr id="169" name="Picture 168" descr="Icon of a webpage showing a product symbol">
            <a:extLst>
              <a:ext uri="{FF2B5EF4-FFF2-40B4-BE49-F238E27FC236}">
                <a16:creationId xmlns:a16="http://schemas.microsoft.com/office/drawing/2014/main" id="{D606DEDB-6F0D-50E8-E269-E55F6892994F}"/>
              </a:ext>
            </a:extLst>
          </p:cNvPr>
          <p:cNvPicPr>
            <a:picLocks noChangeAspect="1"/>
          </p:cNvPicPr>
          <p:nvPr/>
        </p:nvPicPr>
        <p:blipFill>
          <a:blip r:embed="rId4">
            <a:duotone>
              <a:schemeClr val="accent2">
                <a:shade val="45000"/>
                <a:satMod val="135000"/>
              </a:schemeClr>
              <a:prstClr val="white"/>
            </a:duotone>
          </a:blip>
          <a:stretch>
            <a:fillRect/>
          </a:stretch>
        </p:blipFill>
        <p:spPr>
          <a:xfrm>
            <a:off x="751433" y="2982417"/>
            <a:ext cx="548640" cy="548640"/>
          </a:xfrm>
          <a:prstGeom prst="rect">
            <a:avLst/>
          </a:prstGeom>
        </p:spPr>
      </p:pic>
      <p:sp>
        <p:nvSpPr>
          <p:cNvPr id="132" name="Text Placeholder 131">
            <a:extLst>
              <a:ext uri="{FF2B5EF4-FFF2-40B4-BE49-F238E27FC236}">
                <a16:creationId xmlns:a16="http://schemas.microsoft.com/office/drawing/2014/main" id="{9BB3B586-5BB4-30B2-A8E0-F7F2C079D5AE}"/>
              </a:ext>
            </a:extLst>
          </p:cNvPr>
          <p:cNvSpPr>
            <a:spLocks noGrp="1"/>
          </p:cNvSpPr>
          <p:nvPr>
            <p:ph type="body" sz="quarter" idx="22"/>
          </p:nvPr>
        </p:nvSpPr>
        <p:spPr>
          <a:xfrm>
            <a:off x="1478280" y="2979738"/>
            <a:ext cx="8535670" cy="553998"/>
          </a:xfrm>
        </p:spPr>
        <p:txBody>
          <a:bodyPr/>
          <a:lstStyle/>
          <a:p>
            <a:r>
              <a:rPr lang="en-US" sz="1800"/>
              <a:t>What feature allows a user to execute a stored procedure even if she does not have permission to access the tables referenced in the stored procedure?</a:t>
            </a:r>
          </a:p>
        </p:txBody>
      </p:sp>
      <p:sp>
        <p:nvSpPr>
          <p:cNvPr id="133" name="Text Placeholder 132">
            <a:extLst>
              <a:ext uri="{FF2B5EF4-FFF2-40B4-BE49-F238E27FC236}">
                <a16:creationId xmlns:a16="http://schemas.microsoft.com/office/drawing/2014/main" id="{7FB86F25-FB42-BF6F-BF4B-6FE5C896F35F}"/>
              </a:ext>
            </a:extLst>
          </p:cNvPr>
          <p:cNvSpPr>
            <a:spLocks noGrp="1"/>
          </p:cNvSpPr>
          <p:nvPr>
            <p:ph type="body" sz="quarter" idx="23"/>
          </p:nvPr>
        </p:nvSpPr>
        <p:spPr>
          <a:xfrm>
            <a:off x="1478280" y="3559136"/>
            <a:ext cx="8535670" cy="815608"/>
          </a:xfrm>
        </p:spPr>
        <p:txBody>
          <a:bodyPr/>
          <a:lstStyle/>
          <a:p>
            <a:pPr>
              <a:spcBef>
                <a:spcPts val="0"/>
              </a:spcBef>
              <a:spcAft>
                <a:spcPts val="300"/>
              </a:spcAft>
            </a:pPr>
            <a:r>
              <a:rPr lang="en-US" sz="1600"/>
              <a:t>Ownership Chaining</a:t>
            </a:r>
          </a:p>
          <a:p>
            <a:pPr>
              <a:spcBef>
                <a:spcPts val="0"/>
              </a:spcBef>
              <a:spcAft>
                <a:spcPts val="300"/>
              </a:spcAft>
            </a:pPr>
            <a:r>
              <a:rPr lang="en-US" sz="1600"/>
              <a:t>Principal of Least Privilege </a:t>
            </a:r>
          </a:p>
          <a:p>
            <a:pPr>
              <a:spcBef>
                <a:spcPts val="0"/>
              </a:spcBef>
              <a:spcAft>
                <a:spcPts val="300"/>
              </a:spcAft>
            </a:pPr>
            <a:r>
              <a:rPr lang="en-US" sz="1600"/>
              <a:t>Granular Security</a:t>
            </a:r>
          </a:p>
        </p:txBody>
      </p:sp>
      <p:sp>
        <p:nvSpPr>
          <p:cNvPr id="172" name="Graphic 30">
            <a:extLst>
              <a:ext uri="{FF2B5EF4-FFF2-40B4-BE49-F238E27FC236}">
                <a16:creationId xmlns:a16="http://schemas.microsoft.com/office/drawing/2014/main" id="{0D6C4904-695C-C5CA-1AB6-58F9B7CEC81C}"/>
              </a:ext>
              <a:ext uri="{C183D7F6-B498-43B3-948B-1728B52AA6E4}">
                <adec:decorative xmlns:adec="http://schemas.microsoft.com/office/drawing/2017/decorative" val="1"/>
              </a:ext>
            </a:extLst>
          </p:cNvPr>
          <p:cNvSpPr/>
          <p:nvPr/>
        </p:nvSpPr>
        <p:spPr>
          <a:xfrm>
            <a:off x="1499261" y="3568136"/>
            <a:ext cx="215239" cy="141783"/>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C73ECC"/>
          </a:solidFill>
          <a:ln w="15875" cap="flat">
            <a:solidFill>
              <a:srgbClr val="C73ECC"/>
            </a:solidFill>
            <a:prstDash val="solid"/>
            <a:miter/>
          </a:ln>
        </p:spPr>
        <p:txBody>
          <a:bodyPr rtlCol="0" anchor="ctr"/>
          <a:lstStyle/>
          <a:p>
            <a:endParaRPr lang="en-US" dirty="0"/>
          </a:p>
        </p:txBody>
      </p:sp>
      <p:pic>
        <p:nvPicPr>
          <p:cNvPr id="170" name="Picture 169" descr="Icon of two people">
            <a:extLst>
              <a:ext uri="{FF2B5EF4-FFF2-40B4-BE49-F238E27FC236}">
                <a16:creationId xmlns:a16="http://schemas.microsoft.com/office/drawing/2014/main" id="{05D0D85A-F50C-E516-2DD6-56B7BCFE0B2B}"/>
              </a:ext>
            </a:extLst>
          </p:cNvPr>
          <p:cNvPicPr>
            <a:picLocks noChangeAspect="1"/>
          </p:cNvPicPr>
          <p:nvPr/>
        </p:nvPicPr>
        <p:blipFill>
          <a:blip r:embed="rId5">
            <a:duotone>
              <a:schemeClr val="accent2">
                <a:shade val="45000"/>
                <a:satMod val="135000"/>
              </a:schemeClr>
              <a:prstClr val="white"/>
            </a:duotone>
          </a:blip>
          <a:stretch>
            <a:fillRect/>
          </a:stretch>
        </p:blipFill>
        <p:spPr>
          <a:xfrm>
            <a:off x="751433" y="4471105"/>
            <a:ext cx="548640" cy="548640"/>
          </a:xfrm>
          <a:prstGeom prst="rect">
            <a:avLst/>
          </a:prstGeom>
        </p:spPr>
      </p:pic>
      <p:sp>
        <p:nvSpPr>
          <p:cNvPr id="130" name="Text Placeholder 129">
            <a:extLst>
              <a:ext uri="{FF2B5EF4-FFF2-40B4-BE49-F238E27FC236}">
                <a16:creationId xmlns:a16="http://schemas.microsoft.com/office/drawing/2014/main" id="{A05C652A-F20B-1A13-B152-7F24D55385F2}"/>
              </a:ext>
            </a:extLst>
          </p:cNvPr>
          <p:cNvSpPr>
            <a:spLocks noGrp="1"/>
          </p:cNvSpPr>
          <p:nvPr>
            <p:ph type="body" sz="quarter" idx="20"/>
          </p:nvPr>
        </p:nvSpPr>
        <p:spPr>
          <a:xfrm>
            <a:off x="1478280" y="4606925"/>
            <a:ext cx="8535670" cy="276999"/>
          </a:xfrm>
        </p:spPr>
        <p:txBody>
          <a:bodyPr/>
          <a:lstStyle/>
          <a:p>
            <a:r>
              <a:rPr lang="en-US" sz="1800"/>
              <a:t>Which role allows users to create users within a database?</a:t>
            </a:r>
          </a:p>
        </p:txBody>
      </p:sp>
      <p:sp>
        <p:nvSpPr>
          <p:cNvPr id="131" name="Text Placeholder 130">
            <a:extLst>
              <a:ext uri="{FF2B5EF4-FFF2-40B4-BE49-F238E27FC236}">
                <a16:creationId xmlns:a16="http://schemas.microsoft.com/office/drawing/2014/main" id="{0966CF1E-A357-3FA1-AFAF-7F6179CD37D4}"/>
              </a:ext>
            </a:extLst>
          </p:cNvPr>
          <p:cNvSpPr>
            <a:spLocks noGrp="1"/>
          </p:cNvSpPr>
          <p:nvPr>
            <p:ph type="body" sz="quarter" idx="21"/>
          </p:nvPr>
        </p:nvSpPr>
        <p:spPr>
          <a:xfrm>
            <a:off x="1478280" y="4909324"/>
            <a:ext cx="8535670" cy="815608"/>
          </a:xfrm>
        </p:spPr>
        <p:txBody>
          <a:bodyPr/>
          <a:lstStyle/>
          <a:p>
            <a:pPr>
              <a:spcBef>
                <a:spcPts val="0"/>
              </a:spcBef>
              <a:spcAft>
                <a:spcPts val="300"/>
              </a:spcAft>
            </a:pPr>
            <a:r>
              <a:rPr lang="en-US" sz="1600"/>
              <a:t>db_datareader</a:t>
            </a:r>
          </a:p>
          <a:p>
            <a:pPr>
              <a:spcBef>
                <a:spcPts val="0"/>
              </a:spcBef>
              <a:spcAft>
                <a:spcPts val="300"/>
              </a:spcAft>
            </a:pPr>
            <a:r>
              <a:rPr lang="en-US" sz="1600"/>
              <a:t>db_accessadmin</a:t>
            </a:r>
          </a:p>
          <a:p>
            <a:pPr>
              <a:spcBef>
                <a:spcPts val="0"/>
              </a:spcBef>
              <a:spcAft>
                <a:spcPts val="300"/>
              </a:spcAft>
            </a:pPr>
            <a:r>
              <a:rPr lang="en-US" sz="1600"/>
              <a:t>db_securityadmin</a:t>
            </a:r>
          </a:p>
        </p:txBody>
      </p:sp>
      <p:sp>
        <p:nvSpPr>
          <p:cNvPr id="173" name="Graphic 31">
            <a:extLst>
              <a:ext uri="{FF2B5EF4-FFF2-40B4-BE49-F238E27FC236}">
                <a16:creationId xmlns:a16="http://schemas.microsoft.com/office/drawing/2014/main" id="{B3990F48-EF33-B5FC-FE55-75EB77088AE3}"/>
              </a:ext>
              <a:ext uri="{C183D7F6-B498-43B3-948B-1728B52AA6E4}">
                <adec:decorative xmlns:adec="http://schemas.microsoft.com/office/drawing/2017/decorative" val="1"/>
              </a:ext>
            </a:extLst>
          </p:cNvPr>
          <p:cNvSpPr/>
          <p:nvPr/>
        </p:nvSpPr>
        <p:spPr>
          <a:xfrm>
            <a:off x="1499261" y="5192443"/>
            <a:ext cx="215239" cy="141783"/>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C73ECC"/>
          </a:solidFill>
          <a:ln w="15875" cap="flat">
            <a:solidFill>
              <a:srgbClr val="C73ECC"/>
            </a:solidFill>
            <a:prstDash val="solid"/>
            <a:miter/>
          </a:ln>
        </p:spPr>
        <p:txBody>
          <a:bodyPr rtlCol="0" anchor="ctr"/>
          <a:lstStyle/>
          <a:p>
            <a:endParaRPr lang="en-US" dirty="0"/>
          </a:p>
        </p:txBody>
      </p:sp>
    </p:spTree>
    <p:extLst>
      <p:ext uri="{BB962C8B-B14F-4D97-AF65-F5344CB8AC3E}">
        <p14:creationId xmlns:p14="http://schemas.microsoft.com/office/powerpoint/2010/main" val="26815519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fade">
                                      <p:cBhvr>
                                        <p:cTn id="12" dur="500"/>
                                        <p:tgtEl>
                                          <p:spTgt spid="1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3"/>
                                        </p:tgtEl>
                                        <p:attrNameLst>
                                          <p:attrName>style.visibility</p:attrName>
                                        </p:attrNameLst>
                                      </p:cBhvr>
                                      <p:to>
                                        <p:strVal val="visible"/>
                                      </p:to>
                                    </p:set>
                                    <p:animEffect transition="in" filter="fade">
                                      <p:cBhvr>
                                        <p:cTn id="17"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2" grpId="0" animBg="1"/>
      <p:bldP spid="17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CFF14E-B9EB-19E7-2FEF-8D9E17825FF8}"/>
              </a:ext>
            </a:extLst>
          </p:cNvPr>
          <p:cNvSpPr>
            <a:spLocks noGrp="1"/>
          </p:cNvSpPr>
          <p:nvPr>
            <p:ph type="title"/>
          </p:nvPr>
        </p:nvSpPr>
        <p:spPr>
          <a:xfrm>
            <a:off x="588261" y="585216"/>
            <a:ext cx="11011601" cy="984885"/>
          </a:xfrm>
        </p:spPr>
        <p:txBody>
          <a:bodyPr/>
          <a:lstStyle/>
          <a:p>
            <a:r>
              <a:rPr lang="en-US" altLang="zh-CN" dirty="0"/>
              <a:t>Instructor led labs: Authorize access to Azure SQL Database with Microsoft Entra ID</a:t>
            </a:r>
            <a:endParaRPr lang="en-US" sz="4000" dirty="0"/>
          </a:p>
        </p:txBody>
      </p:sp>
      <p:sp>
        <p:nvSpPr>
          <p:cNvPr id="3" name="Rectangle 2">
            <a:extLst>
              <a:ext uri="{FF2B5EF4-FFF2-40B4-BE49-F238E27FC236}">
                <a16:creationId xmlns:a16="http://schemas.microsoft.com/office/drawing/2014/main" id="{5EDD0368-B346-CF6B-A98F-6B7B6CF6E5F9}"/>
              </a:ext>
              <a:ext uri="{C183D7F6-B498-43B3-948B-1728B52AA6E4}">
                <adec:decorative xmlns:adec="http://schemas.microsoft.com/office/drawing/2017/decorative" val="1"/>
              </a:ext>
            </a:extLst>
          </p:cNvPr>
          <p:cNvSpPr>
            <a:spLocks/>
          </p:cNvSpPr>
          <p:nvPr/>
        </p:nvSpPr>
        <p:spPr bwMode="auto">
          <a:xfrm>
            <a:off x="588260" y="1698170"/>
            <a:ext cx="11011602" cy="4574613"/>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4">
            <a:extLst>
              <a:ext uri="{FF2B5EF4-FFF2-40B4-BE49-F238E27FC236}">
                <a16:creationId xmlns:a16="http://schemas.microsoft.com/office/drawing/2014/main" id="{1B64E4FF-0814-2EBB-ECC7-178A1A932A75}"/>
              </a:ext>
            </a:extLst>
          </p:cNvPr>
          <p:cNvSpPr txBox="1">
            <a:spLocks/>
          </p:cNvSpPr>
          <p:nvPr/>
        </p:nvSpPr>
        <p:spPr>
          <a:xfrm>
            <a:off x="1034061" y="3261744"/>
            <a:ext cx="10119999" cy="1015663"/>
          </a:xfrm>
          <a:prstGeom prst="rect">
            <a:avLst/>
          </a:prstGeom>
        </p:spPr>
        <p:txBody>
          <a:bodyPr vert="horz" wrap="square" lIns="0" tIns="0" rIns="0" bIns="0" rtlCol="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1200"/>
              </a:spcBef>
              <a:buNone/>
            </a:pPr>
            <a:r>
              <a:rPr lang="en-US" dirty="0">
                <a:latin typeface="+mj-lt"/>
              </a:rPr>
              <a:t>Authorize access to Azure SQL Database with Microsoft Entra</a:t>
            </a:r>
          </a:p>
          <a:p>
            <a:pPr marL="0" indent="0" algn="ctr">
              <a:spcBef>
                <a:spcPts val="1200"/>
              </a:spcBef>
              <a:buNone/>
            </a:pPr>
            <a:r>
              <a:rPr lang="en-US" dirty="0">
                <a:latin typeface="+mj-lt"/>
              </a:rPr>
              <a:t>Manage access to database objects</a:t>
            </a:r>
          </a:p>
        </p:txBody>
      </p:sp>
    </p:spTree>
    <p:extLst>
      <p:ext uri="{BB962C8B-B14F-4D97-AF65-F5344CB8AC3E}">
        <p14:creationId xmlns:p14="http://schemas.microsoft.com/office/powerpoint/2010/main" val="271117701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9D7D3-5BF9-CA49-AC03-EAE5E0DE411B}"/>
              </a:ext>
            </a:extLst>
          </p:cNvPr>
          <p:cNvSpPr>
            <a:spLocks noGrp="1"/>
          </p:cNvSpPr>
          <p:nvPr>
            <p:ph type="title"/>
          </p:nvPr>
        </p:nvSpPr>
        <p:spPr>
          <a:xfrm>
            <a:off x="569911" y="2813447"/>
            <a:ext cx="6345239" cy="1231106"/>
          </a:xfrm>
        </p:spPr>
        <p:txBody>
          <a:bodyPr anchor="t" anchorCtr="0"/>
          <a:lstStyle/>
          <a:p>
            <a:r>
              <a:rPr lang="en-US" dirty="0"/>
              <a:t>Protect data in-transit </a:t>
            </a:r>
            <a:br>
              <a:rPr lang="en-US" dirty="0"/>
            </a:br>
            <a:r>
              <a:rPr lang="en-US" dirty="0"/>
              <a:t>and at rest</a:t>
            </a:r>
          </a:p>
        </p:txBody>
      </p:sp>
      <p:sp>
        <p:nvSpPr>
          <p:cNvPr id="3" name="TextBox 2">
            <a:extLst>
              <a:ext uri="{FF2B5EF4-FFF2-40B4-BE49-F238E27FC236}">
                <a16:creationId xmlns:a16="http://schemas.microsoft.com/office/drawing/2014/main" id="{73B66FB4-2C2C-7F64-50F3-70D360F8FE03}"/>
              </a:ext>
            </a:extLst>
          </p:cNvPr>
          <p:cNvSpPr txBox="1"/>
          <p:nvPr/>
        </p:nvSpPr>
        <p:spPr>
          <a:xfrm>
            <a:off x="569911" y="4811150"/>
            <a:ext cx="5221289" cy="615553"/>
          </a:xfrm>
          <a:prstGeom prst="rect">
            <a:avLst/>
          </a:prstGeom>
          <a:noFill/>
        </p:spPr>
        <p:txBody>
          <a:bodyPr wrap="square" lIns="0" tIns="0" rIns="0" bIns="0" rtlCol="0">
            <a:spAutoFit/>
          </a:bodyPr>
          <a:lstStyle/>
          <a:p>
            <a:pPr algn="l"/>
            <a:r>
              <a:rPr lang="en-US" sz="2000" dirty="0">
                <a:solidFill>
                  <a:schemeClr val="accent2"/>
                </a:solidFill>
              </a:rPr>
              <a:t>https://learn.microsoft.com/training/modules/protect-data-transit-rest/</a:t>
            </a:r>
          </a:p>
        </p:txBody>
      </p:sp>
    </p:spTree>
    <p:extLst>
      <p:ext uri="{BB962C8B-B14F-4D97-AF65-F5344CB8AC3E}">
        <p14:creationId xmlns:p14="http://schemas.microsoft.com/office/powerpoint/2010/main" val="2509620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95AAE8-1DDC-1D11-B23F-4E4F87D7C4AE}"/>
              </a:ext>
            </a:extLst>
          </p:cNvPr>
          <p:cNvSpPr>
            <a:spLocks noGrp="1"/>
          </p:cNvSpPr>
          <p:nvPr>
            <p:ph type="title"/>
          </p:nvPr>
        </p:nvSpPr>
        <p:spPr>
          <a:xfrm>
            <a:off x="588262" y="585216"/>
            <a:ext cx="11011600" cy="492443"/>
          </a:xfrm>
        </p:spPr>
        <p:txBody>
          <a:bodyPr/>
          <a:lstStyle/>
          <a:p>
            <a:r>
              <a:rPr lang="en-US"/>
              <a:t>Objectives  </a:t>
            </a:r>
            <a:endParaRPr lang="en-US" dirty="0"/>
          </a:p>
        </p:txBody>
      </p:sp>
      <p:pic>
        <p:nvPicPr>
          <p:cNvPr id="2" name="Picture 1" descr="Icon of a series of bars forming a chart">
            <a:extLst>
              <a:ext uri="{FF2B5EF4-FFF2-40B4-BE49-F238E27FC236}">
                <a16:creationId xmlns:a16="http://schemas.microsoft.com/office/drawing/2014/main" id="{647AF2FF-A625-DFA7-A117-2601D11B8283}"/>
              </a:ext>
            </a:extLst>
          </p:cNvPr>
          <p:cNvPicPr>
            <a:picLocks/>
          </p:cNvPicPr>
          <p:nvPr/>
        </p:nvPicPr>
        <p:blipFill>
          <a:blip r:embed="rId3">
            <a:duotone>
              <a:schemeClr val="accent3">
                <a:shade val="45000"/>
                <a:satMod val="135000"/>
              </a:schemeClr>
              <a:prstClr val="white"/>
            </a:duotone>
          </a:blip>
          <a:stretch>
            <a:fillRect/>
          </a:stretch>
        </p:blipFill>
        <p:spPr>
          <a:xfrm>
            <a:off x="588262" y="1533099"/>
            <a:ext cx="615190" cy="615190"/>
          </a:xfrm>
          <a:prstGeom prst="rect">
            <a:avLst/>
          </a:prstGeom>
        </p:spPr>
      </p:pic>
      <p:sp>
        <p:nvSpPr>
          <p:cNvPr id="28" name="TextBox 27">
            <a:extLst>
              <a:ext uri="{FF2B5EF4-FFF2-40B4-BE49-F238E27FC236}">
                <a16:creationId xmlns:a16="http://schemas.microsoft.com/office/drawing/2014/main" id="{571053CC-9D22-8445-B294-85AD199B626C}"/>
              </a:ext>
            </a:extLst>
          </p:cNvPr>
          <p:cNvSpPr txBox="1">
            <a:spLocks/>
          </p:cNvSpPr>
          <p:nvPr/>
        </p:nvSpPr>
        <p:spPr>
          <a:xfrm>
            <a:off x="1278671" y="1656028"/>
            <a:ext cx="9986230" cy="369332"/>
          </a:xfrm>
          <a:prstGeom prst="rect">
            <a:avLst/>
          </a:prstGeom>
          <a:noFill/>
        </p:spPr>
        <p:txBody>
          <a:bodyPr wrap="square" anchor="ctr">
            <a:spAutoFit/>
          </a:bodyPr>
          <a:lstStyle/>
          <a:p>
            <a:pPr marL="0" indent="0">
              <a:buNone/>
            </a:pPr>
            <a:r>
              <a:rPr lang="en-US" sz="1800" dirty="0"/>
              <a:t>Explore data encryption options available in the various platforms </a:t>
            </a:r>
          </a:p>
        </p:txBody>
      </p:sp>
      <p:pic>
        <p:nvPicPr>
          <p:cNvPr id="3" name="Picture 2" descr="Icon of a bulb">
            <a:extLst>
              <a:ext uri="{FF2B5EF4-FFF2-40B4-BE49-F238E27FC236}">
                <a16:creationId xmlns:a16="http://schemas.microsoft.com/office/drawing/2014/main" id="{32F111E2-27E8-1DB6-50BF-737733D44959}"/>
              </a:ext>
            </a:extLst>
          </p:cNvPr>
          <p:cNvPicPr>
            <a:picLocks/>
          </p:cNvPicPr>
          <p:nvPr/>
        </p:nvPicPr>
        <p:blipFill>
          <a:blip r:embed="rId4">
            <a:duotone>
              <a:schemeClr val="accent3">
                <a:shade val="45000"/>
                <a:satMod val="135000"/>
              </a:schemeClr>
              <a:prstClr val="white"/>
            </a:duotone>
          </a:blip>
          <a:stretch>
            <a:fillRect/>
          </a:stretch>
        </p:blipFill>
        <p:spPr>
          <a:xfrm>
            <a:off x="588262" y="2373502"/>
            <a:ext cx="615190" cy="615190"/>
          </a:xfrm>
          <a:prstGeom prst="rect">
            <a:avLst/>
          </a:prstGeom>
        </p:spPr>
      </p:pic>
      <p:sp>
        <p:nvSpPr>
          <p:cNvPr id="30" name="TextBox 29">
            <a:extLst>
              <a:ext uri="{FF2B5EF4-FFF2-40B4-BE49-F238E27FC236}">
                <a16:creationId xmlns:a16="http://schemas.microsoft.com/office/drawing/2014/main" id="{175E4B2C-E1C4-493D-7B3A-E1F9F2BA6D4B}"/>
              </a:ext>
            </a:extLst>
          </p:cNvPr>
          <p:cNvSpPr txBox="1">
            <a:spLocks/>
          </p:cNvSpPr>
          <p:nvPr/>
        </p:nvSpPr>
        <p:spPr>
          <a:xfrm>
            <a:off x="1278671" y="2496430"/>
            <a:ext cx="9986230" cy="369332"/>
          </a:xfrm>
          <a:prstGeom prst="rect">
            <a:avLst/>
          </a:prstGeom>
          <a:noFill/>
        </p:spPr>
        <p:txBody>
          <a:bodyPr wrap="square" anchor="ctr">
            <a:spAutoFit/>
          </a:bodyPr>
          <a:lstStyle/>
          <a:p>
            <a:pPr marL="0" indent="0">
              <a:buNone/>
            </a:pPr>
            <a:r>
              <a:rPr lang="en-US" sz="1800" dirty="0"/>
              <a:t>Understand how to configure data at rest encryption for Microsoft SQL Server </a:t>
            </a:r>
          </a:p>
        </p:txBody>
      </p:sp>
      <p:pic>
        <p:nvPicPr>
          <p:cNvPr id="4" name="Picture 3" descr="Icon of a lightning bolt symbol inside a circle">
            <a:extLst>
              <a:ext uri="{FF2B5EF4-FFF2-40B4-BE49-F238E27FC236}">
                <a16:creationId xmlns:a16="http://schemas.microsoft.com/office/drawing/2014/main" id="{0A645981-17A4-6B67-EDA0-6283F0507ED1}"/>
              </a:ext>
            </a:extLst>
          </p:cNvPr>
          <p:cNvPicPr>
            <a:picLocks/>
          </p:cNvPicPr>
          <p:nvPr/>
        </p:nvPicPr>
        <p:blipFill>
          <a:blip r:embed="rId5">
            <a:duotone>
              <a:schemeClr val="accent3">
                <a:shade val="45000"/>
                <a:satMod val="135000"/>
              </a:schemeClr>
              <a:prstClr val="white"/>
            </a:duotone>
          </a:blip>
          <a:stretch>
            <a:fillRect/>
          </a:stretch>
        </p:blipFill>
        <p:spPr>
          <a:xfrm>
            <a:off x="588262" y="3239305"/>
            <a:ext cx="615190" cy="615190"/>
          </a:xfrm>
          <a:prstGeom prst="rect">
            <a:avLst/>
          </a:prstGeom>
        </p:spPr>
      </p:pic>
      <p:sp>
        <p:nvSpPr>
          <p:cNvPr id="32" name="TextBox 31">
            <a:extLst>
              <a:ext uri="{FF2B5EF4-FFF2-40B4-BE49-F238E27FC236}">
                <a16:creationId xmlns:a16="http://schemas.microsoft.com/office/drawing/2014/main" id="{0BDFCF63-5A87-9DB2-4ADD-6E8B753826D2}"/>
              </a:ext>
            </a:extLst>
          </p:cNvPr>
          <p:cNvSpPr txBox="1">
            <a:spLocks/>
          </p:cNvSpPr>
          <p:nvPr/>
        </p:nvSpPr>
        <p:spPr>
          <a:xfrm>
            <a:off x="1278671" y="3362234"/>
            <a:ext cx="9986229" cy="369332"/>
          </a:xfrm>
          <a:prstGeom prst="rect">
            <a:avLst/>
          </a:prstGeom>
          <a:noFill/>
        </p:spPr>
        <p:txBody>
          <a:bodyPr wrap="square" anchor="ctr">
            <a:spAutoFit/>
          </a:bodyPr>
          <a:lstStyle/>
          <a:p>
            <a:pPr marL="0" indent="0">
              <a:buNone/>
            </a:pPr>
            <a:r>
              <a:rPr lang="en-US" sz="1800" dirty="0"/>
              <a:t>Learn how to configure SQL Server to use Azure Key Vault</a:t>
            </a:r>
          </a:p>
        </p:txBody>
      </p:sp>
      <p:pic>
        <p:nvPicPr>
          <p:cNvPr id="7" name="Picture 6" descr="Icon of char build by blocks of square with the letter SQL on it">
            <a:extLst>
              <a:ext uri="{FF2B5EF4-FFF2-40B4-BE49-F238E27FC236}">
                <a16:creationId xmlns:a16="http://schemas.microsoft.com/office/drawing/2014/main" id="{3441F355-33C0-8DAA-6983-29D1D72D39A0}"/>
              </a:ext>
            </a:extLst>
          </p:cNvPr>
          <p:cNvPicPr>
            <a:picLocks/>
          </p:cNvPicPr>
          <p:nvPr/>
        </p:nvPicPr>
        <p:blipFill>
          <a:blip r:embed="rId6">
            <a:duotone>
              <a:schemeClr val="accent3">
                <a:shade val="45000"/>
                <a:satMod val="135000"/>
              </a:schemeClr>
              <a:prstClr val="white"/>
            </a:duotone>
          </a:blip>
          <a:stretch>
            <a:fillRect/>
          </a:stretch>
        </p:blipFill>
        <p:spPr>
          <a:xfrm>
            <a:off x="588262" y="4041608"/>
            <a:ext cx="615190" cy="615190"/>
          </a:xfrm>
          <a:prstGeom prst="rect">
            <a:avLst/>
          </a:prstGeom>
        </p:spPr>
      </p:pic>
      <p:sp>
        <p:nvSpPr>
          <p:cNvPr id="35" name="TextBox 34">
            <a:extLst>
              <a:ext uri="{FF2B5EF4-FFF2-40B4-BE49-F238E27FC236}">
                <a16:creationId xmlns:a16="http://schemas.microsoft.com/office/drawing/2014/main" id="{AF0188DA-5093-CCE3-FAC6-22E4400ADCE8}"/>
              </a:ext>
            </a:extLst>
          </p:cNvPr>
          <p:cNvSpPr txBox="1">
            <a:spLocks/>
          </p:cNvSpPr>
          <p:nvPr/>
        </p:nvSpPr>
        <p:spPr>
          <a:xfrm>
            <a:off x="1278671" y="4177236"/>
            <a:ext cx="9986229" cy="369332"/>
          </a:xfrm>
          <a:prstGeom prst="rect">
            <a:avLst/>
          </a:prstGeom>
          <a:noFill/>
        </p:spPr>
        <p:txBody>
          <a:bodyPr wrap="square" anchor="ctr">
            <a:spAutoFit/>
          </a:bodyPr>
          <a:lstStyle/>
          <a:p>
            <a:pPr marL="0" indent="0">
              <a:buNone/>
            </a:pPr>
            <a:r>
              <a:rPr lang="en-US" sz="1800" dirty="0"/>
              <a:t>Explore database and instance firewalls in Azure SQL Database</a:t>
            </a:r>
          </a:p>
        </p:txBody>
      </p:sp>
      <p:pic>
        <p:nvPicPr>
          <p:cNvPr id="6" name="Picture 5" descr="Icon of a screen with line charts">
            <a:extLst>
              <a:ext uri="{FF2B5EF4-FFF2-40B4-BE49-F238E27FC236}">
                <a16:creationId xmlns:a16="http://schemas.microsoft.com/office/drawing/2014/main" id="{3D61E8D6-89C9-F500-A76F-9951FDBDB4F4}"/>
              </a:ext>
            </a:extLst>
          </p:cNvPr>
          <p:cNvPicPr>
            <a:picLocks/>
          </p:cNvPicPr>
          <p:nvPr/>
        </p:nvPicPr>
        <p:blipFill>
          <a:blip r:embed="rId7">
            <a:duotone>
              <a:schemeClr val="accent3">
                <a:shade val="45000"/>
                <a:satMod val="135000"/>
              </a:schemeClr>
              <a:prstClr val="white"/>
            </a:duotone>
          </a:blip>
          <a:stretch>
            <a:fillRect/>
          </a:stretch>
        </p:blipFill>
        <p:spPr>
          <a:xfrm>
            <a:off x="588262" y="4932810"/>
            <a:ext cx="615190" cy="615190"/>
          </a:xfrm>
          <a:prstGeom prst="rect">
            <a:avLst/>
          </a:prstGeom>
        </p:spPr>
      </p:pic>
      <p:sp>
        <p:nvSpPr>
          <p:cNvPr id="36" name="TextBox 35">
            <a:extLst>
              <a:ext uri="{FF2B5EF4-FFF2-40B4-BE49-F238E27FC236}">
                <a16:creationId xmlns:a16="http://schemas.microsoft.com/office/drawing/2014/main" id="{93A8608D-8C19-F60F-4BDA-A4877D6D0A4E}"/>
              </a:ext>
            </a:extLst>
          </p:cNvPr>
          <p:cNvSpPr txBox="1">
            <a:spLocks/>
          </p:cNvSpPr>
          <p:nvPr/>
        </p:nvSpPr>
        <p:spPr>
          <a:xfrm>
            <a:off x="1278671" y="5068439"/>
            <a:ext cx="9986229" cy="369332"/>
          </a:xfrm>
          <a:prstGeom prst="rect">
            <a:avLst/>
          </a:prstGeom>
          <a:noFill/>
        </p:spPr>
        <p:txBody>
          <a:bodyPr wrap="square" anchor="ctr">
            <a:spAutoFit/>
          </a:bodyPr>
          <a:lstStyle/>
          <a:p>
            <a:pPr marL="0" indent="0">
              <a:buNone/>
            </a:pPr>
            <a:r>
              <a:rPr lang="en-US" sz="1800" dirty="0"/>
              <a:t>Understand what Dynamic Data Encryption is used for and how to configure it</a:t>
            </a:r>
          </a:p>
        </p:txBody>
      </p:sp>
    </p:spTree>
    <p:extLst>
      <p:ext uri="{BB962C8B-B14F-4D97-AF65-F5344CB8AC3E}">
        <p14:creationId xmlns:p14="http://schemas.microsoft.com/office/powerpoint/2010/main" val="77926418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7B8179AE-313A-0129-142F-3CF1E475E278}"/>
              </a:ext>
            </a:extLst>
          </p:cNvPr>
          <p:cNvSpPr>
            <a:spLocks noGrp="1"/>
          </p:cNvSpPr>
          <p:nvPr>
            <p:ph type="title"/>
          </p:nvPr>
        </p:nvSpPr>
        <p:spPr/>
        <p:txBody>
          <a:bodyPr/>
          <a:lstStyle/>
          <a:p>
            <a:r>
              <a:rPr lang="en-US" dirty="0"/>
              <a:t>Encryption at rest</a:t>
            </a:r>
          </a:p>
        </p:txBody>
      </p:sp>
      <p:pic>
        <p:nvPicPr>
          <p:cNvPr id="2" name="Picture 1" descr="Icon of a security lock">
            <a:extLst>
              <a:ext uri="{FF2B5EF4-FFF2-40B4-BE49-F238E27FC236}">
                <a16:creationId xmlns:a16="http://schemas.microsoft.com/office/drawing/2014/main" id="{9311ADD4-B9CF-5121-4938-6CEDC83AD40A}"/>
              </a:ext>
            </a:extLst>
          </p:cNvPr>
          <p:cNvPicPr>
            <a:picLocks/>
          </p:cNvPicPr>
          <p:nvPr/>
        </p:nvPicPr>
        <p:blipFill>
          <a:blip r:embed="rId3">
            <a:duotone>
              <a:schemeClr val="accent2">
                <a:shade val="45000"/>
                <a:satMod val="135000"/>
              </a:schemeClr>
              <a:prstClr val="white"/>
            </a:duotone>
          </a:blip>
          <a:stretch>
            <a:fillRect/>
          </a:stretch>
        </p:blipFill>
        <p:spPr>
          <a:xfrm>
            <a:off x="589533" y="1561801"/>
            <a:ext cx="612648" cy="612648"/>
          </a:xfrm>
          <a:prstGeom prst="rect">
            <a:avLst/>
          </a:prstGeom>
        </p:spPr>
      </p:pic>
      <p:sp>
        <p:nvSpPr>
          <p:cNvPr id="19" name="Rectangle 18">
            <a:extLst>
              <a:ext uri="{FF2B5EF4-FFF2-40B4-BE49-F238E27FC236}">
                <a16:creationId xmlns:a16="http://schemas.microsoft.com/office/drawing/2014/main" id="{A1093422-3C70-830B-6899-A52088EAEE63}"/>
              </a:ext>
            </a:extLst>
          </p:cNvPr>
          <p:cNvSpPr>
            <a:spLocks/>
          </p:cNvSpPr>
          <p:nvPr/>
        </p:nvSpPr>
        <p:spPr bwMode="auto">
          <a:xfrm>
            <a:off x="1322172" y="1702195"/>
            <a:ext cx="10273627"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Protects data files, transaction log files, and backup files by requiring a certificate to bring them online</a:t>
            </a:r>
          </a:p>
        </p:txBody>
      </p:sp>
      <p:pic>
        <p:nvPicPr>
          <p:cNvPr id="3" name="Picture 2" descr="Icon of two gears with different sizes">
            <a:extLst>
              <a:ext uri="{FF2B5EF4-FFF2-40B4-BE49-F238E27FC236}">
                <a16:creationId xmlns:a16="http://schemas.microsoft.com/office/drawing/2014/main" id="{C22ADCDB-F366-E973-B851-BAD59F7C9EF8}"/>
              </a:ext>
            </a:extLst>
          </p:cNvPr>
          <p:cNvPicPr>
            <a:picLocks/>
          </p:cNvPicPr>
          <p:nvPr/>
        </p:nvPicPr>
        <p:blipFill>
          <a:blip r:embed="rId4">
            <a:duotone>
              <a:schemeClr val="accent2">
                <a:shade val="45000"/>
                <a:satMod val="135000"/>
              </a:schemeClr>
              <a:prstClr val="white"/>
            </a:duotone>
          </a:blip>
          <a:stretch>
            <a:fillRect/>
          </a:stretch>
        </p:blipFill>
        <p:spPr>
          <a:xfrm>
            <a:off x="589533" y="2503356"/>
            <a:ext cx="612648" cy="612648"/>
          </a:xfrm>
          <a:prstGeom prst="rect">
            <a:avLst/>
          </a:prstGeom>
        </p:spPr>
      </p:pic>
      <p:sp>
        <p:nvSpPr>
          <p:cNvPr id="21" name="Rectangle 20">
            <a:extLst>
              <a:ext uri="{FF2B5EF4-FFF2-40B4-BE49-F238E27FC236}">
                <a16:creationId xmlns:a16="http://schemas.microsoft.com/office/drawing/2014/main" id="{DF60F008-8E1C-A7D8-0400-622AD64AF9DA}"/>
              </a:ext>
            </a:extLst>
          </p:cNvPr>
          <p:cNvSpPr>
            <a:spLocks/>
          </p:cNvSpPr>
          <p:nvPr/>
        </p:nvSpPr>
        <p:spPr bwMode="auto">
          <a:xfrm>
            <a:off x="1322173" y="2505250"/>
            <a:ext cx="10273626"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SQL Server and Azure SQL Database implement this through a feature called Transparent </a:t>
            </a:r>
            <a:br>
              <a:rPr lang="en-US" sz="1800" dirty="0">
                <a:solidFill>
                  <a:schemeClr val="tx1"/>
                </a:solidFill>
              </a:rPr>
            </a:br>
            <a:r>
              <a:rPr lang="en-US" sz="1800" dirty="0">
                <a:solidFill>
                  <a:schemeClr val="tx1"/>
                </a:solidFill>
              </a:rPr>
              <a:t>Data Encryption (TDE)</a:t>
            </a:r>
          </a:p>
        </p:txBody>
      </p:sp>
      <p:pic>
        <p:nvPicPr>
          <p:cNvPr id="4" name="Picture 3" descr="Icon of a webpage showing a product symbol">
            <a:extLst>
              <a:ext uri="{FF2B5EF4-FFF2-40B4-BE49-F238E27FC236}">
                <a16:creationId xmlns:a16="http://schemas.microsoft.com/office/drawing/2014/main" id="{4475CAFA-61E0-D45A-C35C-3B2DC3DE3AC4}"/>
              </a:ext>
            </a:extLst>
          </p:cNvPr>
          <p:cNvPicPr>
            <a:picLocks/>
          </p:cNvPicPr>
          <p:nvPr/>
        </p:nvPicPr>
        <p:blipFill>
          <a:blip r:embed="rId5">
            <a:duotone>
              <a:schemeClr val="accent2">
                <a:shade val="45000"/>
                <a:satMod val="135000"/>
              </a:schemeClr>
              <a:prstClr val="white"/>
            </a:duotone>
          </a:blip>
          <a:stretch>
            <a:fillRect/>
          </a:stretch>
        </p:blipFill>
        <p:spPr>
          <a:xfrm>
            <a:off x="589533" y="3444911"/>
            <a:ext cx="612648" cy="612648"/>
          </a:xfrm>
          <a:prstGeom prst="rect">
            <a:avLst/>
          </a:prstGeom>
        </p:spPr>
      </p:pic>
      <p:sp>
        <p:nvSpPr>
          <p:cNvPr id="23" name="Rectangle 22">
            <a:extLst>
              <a:ext uri="{FF2B5EF4-FFF2-40B4-BE49-F238E27FC236}">
                <a16:creationId xmlns:a16="http://schemas.microsoft.com/office/drawing/2014/main" id="{947AED40-F891-9949-EC87-BEC67A2AA3DD}"/>
              </a:ext>
            </a:extLst>
          </p:cNvPr>
          <p:cNvSpPr>
            <a:spLocks/>
          </p:cNvSpPr>
          <p:nvPr/>
        </p:nvSpPr>
        <p:spPr bwMode="auto">
          <a:xfrm>
            <a:off x="1322172" y="3446805"/>
            <a:ext cx="10273627"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You can also encrypt your Azure VM disks to provide an additional level of protection beyond TDE for your SQL Servers</a:t>
            </a:r>
          </a:p>
        </p:txBody>
      </p:sp>
      <p:pic>
        <p:nvPicPr>
          <p:cNvPr id="5" name="Picture 4" descr="Icon of a document">
            <a:extLst>
              <a:ext uri="{FF2B5EF4-FFF2-40B4-BE49-F238E27FC236}">
                <a16:creationId xmlns:a16="http://schemas.microsoft.com/office/drawing/2014/main" id="{079DCDC9-A45E-0E3B-CEAA-CB2686760F55}"/>
              </a:ext>
            </a:extLst>
          </p:cNvPr>
          <p:cNvPicPr>
            <a:picLocks/>
          </p:cNvPicPr>
          <p:nvPr/>
        </p:nvPicPr>
        <p:blipFill>
          <a:blip r:embed="rId6">
            <a:duotone>
              <a:schemeClr val="accent2">
                <a:shade val="45000"/>
                <a:satMod val="135000"/>
              </a:schemeClr>
              <a:prstClr val="white"/>
            </a:duotone>
          </a:blip>
          <a:stretch>
            <a:fillRect/>
          </a:stretch>
        </p:blipFill>
        <p:spPr>
          <a:xfrm>
            <a:off x="589533" y="4386466"/>
            <a:ext cx="612648" cy="612648"/>
          </a:xfrm>
          <a:prstGeom prst="rect">
            <a:avLst/>
          </a:prstGeom>
        </p:spPr>
      </p:pic>
      <p:sp>
        <p:nvSpPr>
          <p:cNvPr id="25" name="Rectangle 24">
            <a:extLst>
              <a:ext uri="{FF2B5EF4-FFF2-40B4-BE49-F238E27FC236}">
                <a16:creationId xmlns:a16="http://schemas.microsoft.com/office/drawing/2014/main" id="{117739AA-4475-39F4-89ED-646EAE15D7A2}"/>
              </a:ext>
            </a:extLst>
          </p:cNvPr>
          <p:cNvSpPr>
            <a:spLocks/>
          </p:cNvSpPr>
          <p:nvPr/>
        </p:nvSpPr>
        <p:spPr bwMode="auto">
          <a:xfrm>
            <a:off x="1322172" y="4526859"/>
            <a:ext cx="10273627"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Encrypt drives before you write sensitive data​</a:t>
            </a:r>
          </a:p>
        </p:txBody>
      </p:sp>
    </p:spTree>
    <p:extLst>
      <p:ext uri="{BB962C8B-B14F-4D97-AF65-F5344CB8AC3E}">
        <p14:creationId xmlns:p14="http://schemas.microsoft.com/office/powerpoint/2010/main" val="322458034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ABC1EA2-5AEC-5262-E373-129C6FC47EBB}"/>
              </a:ext>
            </a:extLst>
          </p:cNvPr>
          <p:cNvSpPr>
            <a:spLocks noGrp="1"/>
          </p:cNvSpPr>
          <p:nvPr>
            <p:ph type="title"/>
          </p:nvPr>
        </p:nvSpPr>
        <p:spPr/>
        <p:txBody>
          <a:bodyPr/>
          <a:lstStyle/>
          <a:p>
            <a:r>
              <a:rPr lang="en-US" dirty="0"/>
              <a:t>Data at rest vs. Data in transit</a:t>
            </a:r>
          </a:p>
        </p:txBody>
      </p:sp>
      <p:sp>
        <p:nvSpPr>
          <p:cNvPr id="9" name="Text Placeholder 8">
            <a:extLst>
              <a:ext uri="{FF2B5EF4-FFF2-40B4-BE49-F238E27FC236}">
                <a16:creationId xmlns:a16="http://schemas.microsoft.com/office/drawing/2014/main" id="{CA9D0892-60DD-9618-609E-983002CE41BB}"/>
              </a:ext>
            </a:extLst>
          </p:cNvPr>
          <p:cNvSpPr>
            <a:spLocks noGrp="1"/>
          </p:cNvSpPr>
          <p:nvPr>
            <p:ph type="body" sz="quarter" idx="16"/>
          </p:nvPr>
        </p:nvSpPr>
        <p:spPr>
          <a:xfrm>
            <a:off x="584200" y="1594155"/>
            <a:ext cx="5219700" cy="338554"/>
          </a:xfrm>
        </p:spPr>
        <p:txBody>
          <a:bodyPr/>
          <a:lstStyle/>
          <a:p>
            <a:r>
              <a:rPr lang="en-US" sz="2200" dirty="0"/>
              <a:t>Data at rest</a:t>
            </a:r>
          </a:p>
        </p:txBody>
      </p:sp>
      <p:sp>
        <p:nvSpPr>
          <p:cNvPr id="7" name="Text Placeholder 6">
            <a:extLst>
              <a:ext uri="{FF2B5EF4-FFF2-40B4-BE49-F238E27FC236}">
                <a16:creationId xmlns:a16="http://schemas.microsoft.com/office/drawing/2014/main" id="{70B41165-BA02-46A5-F2FD-5A55844065B8}"/>
              </a:ext>
            </a:extLst>
          </p:cNvPr>
          <p:cNvSpPr>
            <a:spLocks noGrp="1"/>
          </p:cNvSpPr>
          <p:nvPr>
            <p:ph type="body" sz="quarter" idx="15"/>
          </p:nvPr>
        </p:nvSpPr>
        <p:spPr>
          <a:xfrm>
            <a:off x="586390" y="2085764"/>
            <a:ext cx="5217510" cy="276999"/>
          </a:xfrm>
        </p:spPr>
        <p:txBody>
          <a:bodyPr/>
          <a:lstStyle/>
          <a:p>
            <a:pPr marL="0" indent="0">
              <a:buNone/>
            </a:pPr>
            <a:r>
              <a:rPr lang="en-US" sz="1800" dirty="0"/>
              <a:t>Encrypts data while it's on storage</a:t>
            </a:r>
          </a:p>
        </p:txBody>
      </p:sp>
      <p:sp>
        <p:nvSpPr>
          <p:cNvPr id="11" name="Text Placeholder 10">
            <a:extLst>
              <a:ext uri="{FF2B5EF4-FFF2-40B4-BE49-F238E27FC236}">
                <a16:creationId xmlns:a16="http://schemas.microsoft.com/office/drawing/2014/main" id="{4449C22A-0C68-6393-6FFB-56785CC571C7}"/>
              </a:ext>
            </a:extLst>
          </p:cNvPr>
          <p:cNvSpPr>
            <a:spLocks noGrp="1"/>
          </p:cNvSpPr>
          <p:nvPr>
            <p:ph type="body" sz="quarter" idx="19"/>
          </p:nvPr>
        </p:nvSpPr>
        <p:spPr>
          <a:xfrm>
            <a:off x="6244220" y="1594155"/>
            <a:ext cx="5219700" cy="338554"/>
          </a:xfrm>
        </p:spPr>
        <p:txBody>
          <a:bodyPr/>
          <a:lstStyle/>
          <a:p>
            <a:r>
              <a:rPr lang="en-US" sz="2200" dirty="0"/>
              <a:t>Data in transit</a:t>
            </a:r>
          </a:p>
        </p:txBody>
      </p:sp>
      <p:sp>
        <p:nvSpPr>
          <p:cNvPr id="13" name="Text Placeholder 12">
            <a:extLst>
              <a:ext uri="{FF2B5EF4-FFF2-40B4-BE49-F238E27FC236}">
                <a16:creationId xmlns:a16="http://schemas.microsoft.com/office/drawing/2014/main" id="{0DFDE32E-4B1D-F3BA-DBF3-DC05C260FCED}"/>
              </a:ext>
            </a:extLst>
          </p:cNvPr>
          <p:cNvSpPr>
            <a:spLocks noGrp="1"/>
          </p:cNvSpPr>
          <p:nvPr>
            <p:ph type="body" sz="quarter" idx="20"/>
          </p:nvPr>
        </p:nvSpPr>
        <p:spPr>
          <a:xfrm>
            <a:off x="6244220" y="2085764"/>
            <a:ext cx="5187106" cy="553998"/>
          </a:xfrm>
        </p:spPr>
        <p:txBody>
          <a:bodyPr/>
          <a:lstStyle/>
          <a:p>
            <a:pPr marL="0" indent="0">
              <a:buNone/>
            </a:pPr>
            <a:r>
              <a:rPr lang="en-US" sz="1800" dirty="0">
                <a:solidFill>
                  <a:schemeClr val="tx1"/>
                </a:solidFill>
                <a:ea typeface="Segoe UI" pitchFamily="34" charset="0"/>
                <a:cs typeface="Segoe UI" pitchFamily="34" charset="0"/>
              </a:rPr>
              <a:t>Encrypts data while it travels through private or public network communication channels</a:t>
            </a:r>
          </a:p>
        </p:txBody>
      </p:sp>
      <p:grpSp>
        <p:nvGrpSpPr>
          <p:cNvPr id="2" name="Group 1" descr="Diagram for Data at rest">
            <a:extLst>
              <a:ext uri="{FF2B5EF4-FFF2-40B4-BE49-F238E27FC236}">
                <a16:creationId xmlns:a16="http://schemas.microsoft.com/office/drawing/2014/main" id="{B90BC260-9C5E-D6FB-7494-45E72702A4BC}"/>
              </a:ext>
            </a:extLst>
          </p:cNvPr>
          <p:cNvGrpSpPr/>
          <p:nvPr/>
        </p:nvGrpSpPr>
        <p:grpSpPr>
          <a:xfrm>
            <a:off x="2209477" y="3080146"/>
            <a:ext cx="2067914" cy="2289970"/>
            <a:chOff x="2262081" y="1770596"/>
            <a:chExt cx="2067914" cy="2289970"/>
          </a:xfrm>
        </p:grpSpPr>
        <p:pic>
          <p:nvPicPr>
            <p:cNvPr id="3" name="Graphic 2">
              <a:extLst>
                <a:ext uri="{FF2B5EF4-FFF2-40B4-BE49-F238E27FC236}">
                  <a16:creationId xmlns:a16="http://schemas.microsoft.com/office/drawing/2014/main" id="{83A92CDA-34DE-3465-8AC5-1B45D9262F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79454" y="2795751"/>
              <a:ext cx="1102678" cy="1125651"/>
            </a:xfrm>
            <a:prstGeom prst="rect">
              <a:avLst/>
            </a:prstGeom>
          </p:spPr>
        </p:pic>
        <p:pic>
          <p:nvPicPr>
            <p:cNvPr id="4" name="Graphic 3">
              <a:extLst>
                <a:ext uri="{FF2B5EF4-FFF2-40B4-BE49-F238E27FC236}">
                  <a16:creationId xmlns:a16="http://schemas.microsoft.com/office/drawing/2014/main" id="{09685D6E-DD21-F091-878F-19781CF6E4F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44861" y="3322950"/>
              <a:ext cx="737616" cy="737616"/>
            </a:xfrm>
            <a:prstGeom prst="rect">
              <a:avLst/>
            </a:prstGeom>
          </p:spPr>
        </p:pic>
        <p:sp>
          <p:nvSpPr>
            <p:cNvPr id="5" name="Rectangle 4">
              <a:extLst>
                <a:ext uri="{FF2B5EF4-FFF2-40B4-BE49-F238E27FC236}">
                  <a16:creationId xmlns:a16="http://schemas.microsoft.com/office/drawing/2014/main" id="{FA81224C-22B3-E387-0AE5-83DC5D3497E1}"/>
                </a:ext>
              </a:extLst>
            </p:cNvPr>
            <p:cNvSpPr/>
            <p:nvPr/>
          </p:nvSpPr>
          <p:spPr bwMode="auto">
            <a:xfrm>
              <a:off x="2262081" y="1770596"/>
              <a:ext cx="2067914" cy="468000"/>
            </a:xfrm>
            <a:prstGeom prst="rect">
              <a:avLst/>
            </a:prstGeom>
            <a:solidFill>
              <a:srgbClr val="FFA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solidFill>
                    <a:schemeClr val="tx1"/>
                  </a:solidFill>
                  <a:ea typeface="Segoe UI" pitchFamily="34" charset="0"/>
                  <a:cs typeface="Segoe UI" pitchFamily="34" charset="0"/>
                </a:rPr>
                <a:t>Encrypt Data</a:t>
              </a:r>
            </a:p>
          </p:txBody>
        </p:sp>
        <p:sp>
          <p:nvSpPr>
            <p:cNvPr id="8" name="Arrow: Down 7">
              <a:extLst>
                <a:ext uri="{FF2B5EF4-FFF2-40B4-BE49-F238E27FC236}">
                  <a16:creationId xmlns:a16="http://schemas.microsoft.com/office/drawing/2014/main" id="{1FB4382F-9E97-B894-8403-2599A65688E1}"/>
                </a:ext>
              </a:extLst>
            </p:cNvPr>
            <p:cNvSpPr/>
            <p:nvPr/>
          </p:nvSpPr>
          <p:spPr bwMode="auto">
            <a:xfrm>
              <a:off x="3464203" y="2227979"/>
              <a:ext cx="370474" cy="1008000"/>
            </a:xfrm>
            <a:prstGeom prst="downArrow">
              <a:avLst>
                <a:gd name="adj1" fmla="val 44326"/>
                <a:gd name="adj2" fmla="val 50000"/>
              </a:avLst>
            </a:prstGeom>
            <a:solidFill>
              <a:srgbClr val="FFA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grpSp>
      <p:grpSp>
        <p:nvGrpSpPr>
          <p:cNvPr id="10" name="Group 9" descr="Diagram for Data in transit">
            <a:extLst>
              <a:ext uri="{FF2B5EF4-FFF2-40B4-BE49-F238E27FC236}">
                <a16:creationId xmlns:a16="http://schemas.microsoft.com/office/drawing/2014/main" id="{971DBD8B-81C7-FC7B-4389-5995F525C5D4}"/>
              </a:ext>
            </a:extLst>
          </p:cNvPr>
          <p:cNvGrpSpPr/>
          <p:nvPr/>
        </p:nvGrpSpPr>
        <p:grpSpPr>
          <a:xfrm>
            <a:off x="6762135" y="3052300"/>
            <a:ext cx="4356987" cy="2345664"/>
            <a:chOff x="6814208" y="1693776"/>
            <a:chExt cx="4356987" cy="2345664"/>
          </a:xfrm>
        </p:grpSpPr>
        <p:pic>
          <p:nvPicPr>
            <p:cNvPr id="12" name="Graphic 11">
              <a:extLst>
                <a:ext uri="{FF2B5EF4-FFF2-40B4-BE49-F238E27FC236}">
                  <a16:creationId xmlns:a16="http://schemas.microsoft.com/office/drawing/2014/main" id="{4C39C8AD-09FD-49EC-A25E-8A527C2089D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14208" y="2890795"/>
              <a:ext cx="1148645" cy="1148645"/>
            </a:xfrm>
            <a:prstGeom prst="rect">
              <a:avLst/>
            </a:prstGeom>
          </p:spPr>
        </p:pic>
        <p:pic>
          <p:nvPicPr>
            <p:cNvPr id="14" name="Graphic 13">
              <a:extLst>
                <a:ext uri="{FF2B5EF4-FFF2-40B4-BE49-F238E27FC236}">
                  <a16:creationId xmlns:a16="http://schemas.microsoft.com/office/drawing/2014/main" id="{A2BA9371-6DF5-B28F-356A-8D26AC15DD3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22915" y="3057439"/>
              <a:ext cx="788380" cy="788380"/>
            </a:xfrm>
            <a:prstGeom prst="rect">
              <a:avLst/>
            </a:prstGeom>
          </p:spPr>
        </p:pic>
        <p:pic>
          <p:nvPicPr>
            <p:cNvPr id="17" name="Graphic 16">
              <a:extLst>
                <a:ext uri="{FF2B5EF4-FFF2-40B4-BE49-F238E27FC236}">
                  <a16:creationId xmlns:a16="http://schemas.microsoft.com/office/drawing/2014/main" id="{100D7E4E-FAD8-1255-B47F-DC92FB5B6B2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122915" y="1693776"/>
              <a:ext cx="788381" cy="788381"/>
            </a:xfrm>
            <a:prstGeom prst="rect">
              <a:avLst/>
            </a:prstGeom>
          </p:spPr>
        </p:pic>
        <p:sp>
          <p:nvSpPr>
            <p:cNvPr id="18" name="TextBox 17">
              <a:extLst>
                <a:ext uri="{FF2B5EF4-FFF2-40B4-BE49-F238E27FC236}">
                  <a16:creationId xmlns:a16="http://schemas.microsoft.com/office/drawing/2014/main" id="{42CA3DFA-87E8-C644-8D14-9CEEC9F06323}"/>
                </a:ext>
              </a:extLst>
            </p:cNvPr>
            <p:cNvSpPr txBox="1"/>
            <p:nvPr/>
          </p:nvSpPr>
          <p:spPr>
            <a:xfrm>
              <a:off x="9863015" y="2463919"/>
              <a:ext cx="1308180" cy="215444"/>
            </a:xfrm>
            <a:prstGeom prst="rect">
              <a:avLst/>
            </a:prstGeom>
            <a:noFill/>
          </p:spPr>
          <p:txBody>
            <a:bodyPr wrap="none" lIns="0" tIns="0" rIns="0" bIns="0" rtlCol="0">
              <a:spAutoFit/>
            </a:bodyPr>
            <a:lstStyle/>
            <a:p>
              <a:pPr algn="ctr"/>
              <a:r>
                <a:rPr lang="en-US" sz="1400" dirty="0">
                  <a:solidFill>
                    <a:schemeClr val="tx1"/>
                  </a:solidFill>
                  <a:latin typeface="+mj-lt"/>
                  <a:ea typeface="Segoe UI" pitchFamily="34" charset="0"/>
                  <a:cs typeface="Segoe UI" pitchFamily="34" charset="0"/>
                </a:rPr>
                <a:t>Private Network</a:t>
              </a:r>
              <a:endParaRPr lang="en-US" sz="1400" dirty="0">
                <a:latin typeface="+mj-lt"/>
              </a:endParaRPr>
            </a:p>
          </p:txBody>
        </p:sp>
        <p:sp>
          <p:nvSpPr>
            <p:cNvPr id="19" name="TextBox 18">
              <a:extLst>
                <a:ext uri="{FF2B5EF4-FFF2-40B4-BE49-F238E27FC236}">
                  <a16:creationId xmlns:a16="http://schemas.microsoft.com/office/drawing/2014/main" id="{4D4E30BA-754F-25DD-94A6-C96F26B89800}"/>
                </a:ext>
              </a:extLst>
            </p:cNvPr>
            <p:cNvSpPr txBox="1"/>
            <p:nvPr/>
          </p:nvSpPr>
          <p:spPr>
            <a:xfrm>
              <a:off x="9894690" y="3773057"/>
              <a:ext cx="1244829" cy="215444"/>
            </a:xfrm>
            <a:prstGeom prst="rect">
              <a:avLst/>
            </a:prstGeom>
            <a:noFill/>
          </p:spPr>
          <p:txBody>
            <a:bodyPr wrap="none" lIns="0" tIns="0" rIns="0" bIns="0" rtlCol="0">
              <a:spAutoFit/>
            </a:bodyPr>
            <a:lstStyle/>
            <a:p>
              <a:pPr algn="ctr"/>
              <a:r>
                <a:rPr lang="en-US" sz="1400" dirty="0">
                  <a:solidFill>
                    <a:schemeClr val="tx1"/>
                  </a:solidFill>
                  <a:latin typeface="+mj-lt"/>
                  <a:ea typeface="Segoe UI" pitchFamily="34" charset="0"/>
                  <a:cs typeface="Segoe UI" pitchFamily="34" charset="0"/>
                </a:rPr>
                <a:t>Public Network</a:t>
              </a:r>
              <a:endParaRPr lang="en-US" sz="1400" dirty="0">
                <a:latin typeface="+mj-lt"/>
              </a:endParaRPr>
            </a:p>
          </p:txBody>
        </p:sp>
        <p:grpSp>
          <p:nvGrpSpPr>
            <p:cNvPr id="24" name="Group 23">
              <a:extLst>
                <a:ext uri="{FF2B5EF4-FFF2-40B4-BE49-F238E27FC236}">
                  <a16:creationId xmlns:a16="http://schemas.microsoft.com/office/drawing/2014/main" id="{4CD251E0-DBD5-874D-D2B8-27923108B1D5}"/>
                </a:ext>
              </a:extLst>
            </p:cNvPr>
            <p:cNvGrpSpPr/>
            <p:nvPr/>
          </p:nvGrpSpPr>
          <p:grpSpPr>
            <a:xfrm rot="20507996">
              <a:off x="8027025" y="2893315"/>
              <a:ext cx="1584000" cy="144950"/>
              <a:chOff x="8124497" y="2502947"/>
              <a:chExt cx="1584000" cy="144950"/>
            </a:xfrm>
          </p:grpSpPr>
          <p:cxnSp>
            <p:nvCxnSpPr>
              <p:cNvPr id="46" name="Straight Arrow Connector 45">
                <a:extLst>
                  <a:ext uri="{FF2B5EF4-FFF2-40B4-BE49-F238E27FC236}">
                    <a16:creationId xmlns:a16="http://schemas.microsoft.com/office/drawing/2014/main" id="{D0B7A9A3-BC4E-90F3-551C-16A8612B02E4}"/>
                  </a:ext>
                </a:extLst>
              </p:cNvPr>
              <p:cNvCxnSpPr>
                <a:cxnSpLocks/>
              </p:cNvCxnSpPr>
              <p:nvPr/>
            </p:nvCxnSpPr>
            <p:spPr>
              <a:xfrm>
                <a:off x="8124497" y="2502947"/>
                <a:ext cx="1584000" cy="0"/>
              </a:xfrm>
              <a:prstGeom prst="straightConnector1">
                <a:avLst/>
              </a:prstGeom>
              <a:ln>
                <a:solidFill>
                  <a:schemeClr val="bg1">
                    <a:lumMod val="6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CAF85C6-E693-0388-560E-E7C6BD2708D8}"/>
                  </a:ext>
                </a:extLst>
              </p:cNvPr>
              <p:cNvCxnSpPr>
                <a:cxnSpLocks/>
              </p:cNvCxnSpPr>
              <p:nvPr/>
            </p:nvCxnSpPr>
            <p:spPr>
              <a:xfrm flipH="1">
                <a:off x="8124497" y="2647897"/>
                <a:ext cx="1584000" cy="0"/>
              </a:xfrm>
              <a:prstGeom prst="straightConnector1">
                <a:avLst/>
              </a:prstGeom>
              <a:ln>
                <a:solidFill>
                  <a:schemeClr val="bg1">
                    <a:lumMod val="6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221BD767-1ACA-EEF8-442C-2D7005334F22}"/>
                </a:ext>
              </a:extLst>
            </p:cNvPr>
            <p:cNvGrpSpPr/>
            <p:nvPr/>
          </p:nvGrpSpPr>
          <p:grpSpPr>
            <a:xfrm>
              <a:off x="8044011" y="3638617"/>
              <a:ext cx="1594510" cy="134440"/>
              <a:chOff x="8124497" y="3288594"/>
              <a:chExt cx="1594510" cy="134440"/>
            </a:xfrm>
          </p:grpSpPr>
          <p:cxnSp>
            <p:nvCxnSpPr>
              <p:cNvPr id="38" name="Straight Arrow Connector 37">
                <a:extLst>
                  <a:ext uri="{FF2B5EF4-FFF2-40B4-BE49-F238E27FC236}">
                    <a16:creationId xmlns:a16="http://schemas.microsoft.com/office/drawing/2014/main" id="{C759D7F1-306E-697B-DBAD-84BF80B417BD}"/>
                  </a:ext>
                </a:extLst>
              </p:cNvPr>
              <p:cNvCxnSpPr>
                <a:cxnSpLocks/>
              </p:cNvCxnSpPr>
              <p:nvPr/>
            </p:nvCxnSpPr>
            <p:spPr>
              <a:xfrm>
                <a:off x="8135007" y="3288594"/>
                <a:ext cx="1584000" cy="0"/>
              </a:xfrm>
              <a:prstGeom prst="straightConnector1">
                <a:avLst/>
              </a:prstGeom>
              <a:ln>
                <a:solidFill>
                  <a:schemeClr val="bg1">
                    <a:lumMod val="6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AC0CC65-A7C8-3CB2-E02F-01C9186CB3D6}"/>
                  </a:ext>
                </a:extLst>
              </p:cNvPr>
              <p:cNvCxnSpPr>
                <a:cxnSpLocks/>
              </p:cNvCxnSpPr>
              <p:nvPr/>
            </p:nvCxnSpPr>
            <p:spPr>
              <a:xfrm flipH="1">
                <a:off x="8124497" y="3423034"/>
                <a:ext cx="1584000" cy="0"/>
              </a:xfrm>
              <a:prstGeom prst="straightConnector1">
                <a:avLst/>
              </a:prstGeom>
              <a:ln>
                <a:solidFill>
                  <a:schemeClr val="bg1">
                    <a:lumMod val="6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07B068BB-3011-71C4-E019-7D77B6DBB9DA}"/>
                </a:ext>
              </a:extLst>
            </p:cNvPr>
            <p:cNvSpPr/>
            <p:nvPr/>
          </p:nvSpPr>
          <p:spPr bwMode="auto">
            <a:xfrm>
              <a:off x="6954217" y="1756398"/>
              <a:ext cx="2067914" cy="468000"/>
            </a:xfrm>
            <a:prstGeom prst="rect">
              <a:avLst/>
            </a:prstGeom>
            <a:solidFill>
              <a:srgbClr val="FFA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solidFill>
                    <a:schemeClr val="tx1"/>
                  </a:solidFill>
                  <a:ea typeface="Segoe UI" pitchFamily="34" charset="0"/>
                  <a:cs typeface="Segoe UI" pitchFamily="34" charset="0"/>
                </a:rPr>
                <a:t>Encrypt Data</a:t>
              </a:r>
            </a:p>
          </p:txBody>
        </p:sp>
        <p:sp>
          <p:nvSpPr>
            <p:cNvPr id="32" name="Arrow: Down 31">
              <a:extLst>
                <a:ext uri="{FF2B5EF4-FFF2-40B4-BE49-F238E27FC236}">
                  <a16:creationId xmlns:a16="http://schemas.microsoft.com/office/drawing/2014/main" id="{FD3C218C-EC19-44DD-497F-FD5DD1D95DF2}"/>
                </a:ext>
              </a:extLst>
            </p:cNvPr>
            <p:cNvSpPr/>
            <p:nvPr/>
          </p:nvSpPr>
          <p:spPr bwMode="auto">
            <a:xfrm rot="20574271">
              <a:off x="8540614" y="2124452"/>
              <a:ext cx="259069" cy="778603"/>
            </a:xfrm>
            <a:prstGeom prst="downArrow">
              <a:avLst>
                <a:gd name="adj1" fmla="val 44326"/>
                <a:gd name="adj2" fmla="val 50000"/>
              </a:avLst>
            </a:prstGeom>
            <a:solidFill>
              <a:srgbClr val="FFA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33" name="Arrow: Down 32">
              <a:extLst>
                <a:ext uri="{FF2B5EF4-FFF2-40B4-BE49-F238E27FC236}">
                  <a16:creationId xmlns:a16="http://schemas.microsoft.com/office/drawing/2014/main" id="{13CF21DE-289A-1F95-F350-B3A8023D8BBF}"/>
                </a:ext>
              </a:extLst>
            </p:cNvPr>
            <p:cNvSpPr/>
            <p:nvPr/>
          </p:nvSpPr>
          <p:spPr bwMode="auto">
            <a:xfrm rot="20574271">
              <a:off x="8241826" y="2072127"/>
              <a:ext cx="259069" cy="1588427"/>
            </a:xfrm>
            <a:prstGeom prst="downArrow">
              <a:avLst>
                <a:gd name="adj1" fmla="val 44326"/>
                <a:gd name="adj2" fmla="val 50000"/>
              </a:avLst>
            </a:prstGeom>
            <a:solidFill>
              <a:srgbClr val="FFA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grpSp>
      <p:grpSp>
        <p:nvGrpSpPr>
          <p:cNvPr id="48" name="Group 47">
            <a:extLst>
              <a:ext uri="{FF2B5EF4-FFF2-40B4-BE49-F238E27FC236}">
                <a16:creationId xmlns:a16="http://schemas.microsoft.com/office/drawing/2014/main" id="{6B70509F-EF0F-2BF1-07B7-38071A24772E}"/>
              </a:ext>
              <a:ext uri="{C183D7F6-B498-43B3-948B-1728B52AA6E4}">
                <adec:decorative xmlns:adec="http://schemas.microsoft.com/office/drawing/2017/decorative" val="1"/>
              </a:ext>
            </a:extLst>
          </p:cNvPr>
          <p:cNvGrpSpPr/>
          <p:nvPr/>
        </p:nvGrpSpPr>
        <p:grpSpPr>
          <a:xfrm>
            <a:off x="584199" y="2882900"/>
            <a:ext cx="11015664" cy="2684463"/>
            <a:chOff x="584199" y="2882900"/>
            <a:chExt cx="11015664" cy="2684463"/>
          </a:xfrm>
          <a:noFill/>
        </p:grpSpPr>
        <p:sp>
          <p:nvSpPr>
            <p:cNvPr id="15" name="Rectangle 14">
              <a:extLst>
                <a:ext uri="{FF2B5EF4-FFF2-40B4-BE49-F238E27FC236}">
                  <a16:creationId xmlns:a16="http://schemas.microsoft.com/office/drawing/2014/main" id="{B4ED99B6-6975-287B-1D3E-EE93573628FC}"/>
                </a:ext>
              </a:extLst>
            </p:cNvPr>
            <p:cNvSpPr/>
            <p:nvPr/>
          </p:nvSpPr>
          <p:spPr bwMode="auto">
            <a:xfrm>
              <a:off x="584199" y="2882900"/>
              <a:ext cx="5318469" cy="2684463"/>
            </a:xfrm>
            <a:prstGeom prst="rect">
              <a:avLst/>
            </a:prstGeom>
            <a:grp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a:extLst>
                <a:ext uri="{FF2B5EF4-FFF2-40B4-BE49-F238E27FC236}">
                  <a16:creationId xmlns:a16="http://schemas.microsoft.com/office/drawing/2014/main" id="{34F99809-C39A-4AFC-26B5-275557719F8C}"/>
                </a:ext>
              </a:extLst>
            </p:cNvPr>
            <p:cNvSpPr/>
            <p:nvPr/>
          </p:nvSpPr>
          <p:spPr bwMode="auto">
            <a:xfrm>
              <a:off x="6281394" y="2882900"/>
              <a:ext cx="5318469" cy="2684463"/>
            </a:xfrm>
            <a:prstGeom prst="rect">
              <a:avLst/>
            </a:prstGeom>
            <a:grp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8613305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7B1E34-B5D0-6952-0447-96B875800EED}"/>
              </a:ext>
            </a:extLst>
          </p:cNvPr>
          <p:cNvSpPr>
            <a:spLocks noGrp="1"/>
          </p:cNvSpPr>
          <p:nvPr>
            <p:ph type="title"/>
          </p:nvPr>
        </p:nvSpPr>
        <p:spPr/>
        <p:txBody>
          <a:bodyPr/>
          <a:lstStyle/>
          <a:p>
            <a:r>
              <a:rPr lang="en-US" dirty="0"/>
              <a:t>Transparent Data Encryption architecture</a:t>
            </a:r>
          </a:p>
        </p:txBody>
      </p:sp>
      <p:pic>
        <p:nvPicPr>
          <p:cNvPr id="8" name="Picture 7" descr="Image showing the diagram for Transparent Data Encryption Architecture">
            <a:extLst>
              <a:ext uri="{FF2B5EF4-FFF2-40B4-BE49-F238E27FC236}">
                <a16:creationId xmlns:a16="http://schemas.microsoft.com/office/drawing/2014/main" id="{1ACC1DFF-8653-04E5-833B-0D7E8AD2ED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 t="-2299" r="-4957" b="-2299"/>
          <a:stretch/>
        </p:blipFill>
        <p:spPr bwMode="auto">
          <a:xfrm>
            <a:off x="6731000" y="1466851"/>
            <a:ext cx="4368800" cy="4694238"/>
          </a:xfrm>
          <a:prstGeom prst="rect">
            <a:avLst/>
          </a:prstGeom>
          <a:solidFill>
            <a:srgbClr val="FFFFFF"/>
          </a:solidFill>
          <a:ln w="38100">
            <a:solidFill>
              <a:srgbClr val="C73ECC"/>
            </a:solidFill>
          </a:ln>
          <a:effectLst/>
        </p:spPr>
      </p:pic>
      <p:pic>
        <p:nvPicPr>
          <p:cNvPr id="3" name="Picture 2">
            <a:extLst>
              <a:ext uri="{FF2B5EF4-FFF2-40B4-BE49-F238E27FC236}">
                <a16:creationId xmlns:a16="http://schemas.microsoft.com/office/drawing/2014/main" id="{56975B84-9985-4FDB-BD14-307FE741FAF6}"/>
              </a:ext>
            </a:extLst>
          </p:cNvPr>
          <p:cNvPicPr>
            <a:picLocks noChangeAspect="1"/>
          </p:cNvPicPr>
          <p:nvPr/>
        </p:nvPicPr>
        <p:blipFill>
          <a:blip r:embed="rId4"/>
          <a:stretch>
            <a:fillRect/>
          </a:stretch>
        </p:blipFill>
        <p:spPr>
          <a:xfrm>
            <a:off x="1092200" y="1747289"/>
            <a:ext cx="5304762" cy="3904762"/>
          </a:xfrm>
          <a:prstGeom prst="rect">
            <a:avLst/>
          </a:prstGeom>
          <a:ln w="38100">
            <a:solidFill>
              <a:schemeClr val="accent1">
                <a:lumMod val="60000"/>
                <a:lumOff val="40000"/>
              </a:schemeClr>
            </a:solidFill>
          </a:ln>
        </p:spPr>
      </p:pic>
    </p:spTree>
    <p:extLst>
      <p:ext uri="{BB962C8B-B14F-4D97-AF65-F5344CB8AC3E}">
        <p14:creationId xmlns:p14="http://schemas.microsoft.com/office/powerpoint/2010/main" val="86396938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71BEA825-0C01-1C9C-B258-2D9CA367DA5C}"/>
              </a:ext>
            </a:extLst>
          </p:cNvPr>
          <p:cNvSpPr>
            <a:spLocks noGrp="1"/>
          </p:cNvSpPr>
          <p:nvPr>
            <p:ph type="title"/>
          </p:nvPr>
        </p:nvSpPr>
        <p:spPr/>
        <p:txBody>
          <a:bodyPr/>
          <a:lstStyle/>
          <a:p>
            <a:r>
              <a:rPr lang="en-US" dirty="0"/>
              <a:t>Managing TDE</a:t>
            </a:r>
          </a:p>
        </p:txBody>
      </p:sp>
      <p:pic>
        <p:nvPicPr>
          <p:cNvPr id="2" name="Picture 1" descr="Icon of a screen with square, isosceles triangle and circle shapes in it">
            <a:extLst>
              <a:ext uri="{FF2B5EF4-FFF2-40B4-BE49-F238E27FC236}">
                <a16:creationId xmlns:a16="http://schemas.microsoft.com/office/drawing/2014/main" id="{D550E054-EAEB-D5FD-F1A5-710CB0CFF7E5}"/>
              </a:ext>
            </a:extLst>
          </p:cNvPr>
          <p:cNvPicPr>
            <a:picLocks/>
          </p:cNvPicPr>
          <p:nvPr/>
        </p:nvPicPr>
        <p:blipFill>
          <a:blip r:embed="rId3">
            <a:duotone>
              <a:schemeClr val="accent3">
                <a:shade val="45000"/>
                <a:satMod val="135000"/>
              </a:schemeClr>
              <a:prstClr val="white"/>
            </a:duotone>
          </a:blip>
          <a:stretch>
            <a:fillRect/>
          </a:stretch>
        </p:blipFill>
        <p:spPr>
          <a:xfrm>
            <a:off x="624243" y="1561801"/>
            <a:ext cx="640080" cy="640080"/>
          </a:xfrm>
          <a:prstGeom prst="rect">
            <a:avLst/>
          </a:prstGeom>
        </p:spPr>
      </p:pic>
      <p:sp>
        <p:nvSpPr>
          <p:cNvPr id="17" name="Rectangle 16">
            <a:extLst>
              <a:ext uri="{FF2B5EF4-FFF2-40B4-BE49-F238E27FC236}">
                <a16:creationId xmlns:a16="http://schemas.microsoft.com/office/drawing/2014/main" id="{0CEDBE09-5E56-A401-2F06-D6C28673F962}"/>
              </a:ext>
            </a:extLst>
          </p:cNvPr>
          <p:cNvSpPr>
            <a:spLocks/>
          </p:cNvSpPr>
          <p:nvPr/>
        </p:nvSpPr>
        <p:spPr bwMode="auto">
          <a:xfrm>
            <a:off x="1447799" y="1727952"/>
            <a:ext cx="10148000"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Always backup the certificate that is created in the master database</a:t>
            </a:r>
          </a:p>
        </p:txBody>
      </p:sp>
      <p:pic>
        <p:nvPicPr>
          <p:cNvPr id="3" name="Picture 2" descr="Icon of a gear and a arrow going across it">
            <a:extLst>
              <a:ext uri="{FF2B5EF4-FFF2-40B4-BE49-F238E27FC236}">
                <a16:creationId xmlns:a16="http://schemas.microsoft.com/office/drawing/2014/main" id="{5B792676-856E-3CFE-1D1A-12545068171B}"/>
              </a:ext>
            </a:extLst>
          </p:cNvPr>
          <p:cNvPicPr>
            <a:picLocks/>
          </p:cNvPicPr>
          <p:nvPr/>
        </p:nvPicPr>
        <p:blipFill>
          <a:blip r:embed="rId4">
            <a:duotone>
              <a:schemeClr val="accent3">
                <a:shade val="45000"/>
                <a:satMod val="135000"/>
              </a:schemeClr>
              <a:prstClr val="white"/>
            </a:duotone>
          </a:blip>
          <a:stretch>
            <a:fillRect/>
          </a:stretch>
        </p:blipFill>
        <p:spPr>
          <a:xfrm>
            <a:off x="624243" y="2655481"/>
            <a:ext cx="640080" cy="640080"/>
          </a:xfrm>
          <a:prstGeom prst="rect">
            <a:avLst/>
          </a:prstGeom>
        </p:spPr>
      </p:pic>
      <p:sp>
        <p:nvSpPr>
          <p:cNvPr id="19" name="Rectangle 18">
            <a:extLst>
              <a:ext uri="{FF2B5EF4-FFF2-40B4-BE49-F238E27FC236}">
                <a16:creationId xmlns:a16="http://schemas.microsoft.com/office/drawing/2014/main" id="{0C3005DE-FA83-243B-16C4-040E8C08F3C0}"/>
              </a:ext>
            </a:extLst>
          </p:cNvPr>
          <p:cNvSpPr>
            <a:spLocks/>
          </p:cNvSpPr>
          <p:nvPr/>
        </p:nvSpPr>
        <p:spPr bwMode="auto">
          <a:xfrm>
            <a:off x="1447799" y="2667745"/>
            <a:ext cx="10147999"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You won’t be able to restore this database to the same, or another server without first restoring the certificate</a:t>
            </a:r>
          </a:p>
        </p:txBody>
      </p:sp>
      <p:pic>
        <p:nvPicPr>
          <p:cNvPr id="4" name="Picture 3" descr="Icon of a document">
            <a:extLst>
              <a:ext uri="{FF2B5EF4-FFF2-40B4-BE49-F238E27FC236}">
                <a16:creationId xmlns:a16="http://schemas.microsoft.com/office/drawing/2014/main" id="{F3ACDB01-7455-10D7-0A10-E6E7BD06B888}"/>
              </a:ext>
            </a:extLst>
          </p:cNvPr>
          <p:cNvPicPr>
            <a:picLocks/>
          </p:cNvPicPr>
          <p:nvPr/>
        </p:nvPicPr>
        <p:blipFill>
          <a:blip r:embed="rId5">
            <a:duotone>
              <a:schemeClr val="accent3">
                <a:shade val="45000"/>
                <a:satMod val="135000"/>
              </a:schemeClr>
              <a:prstClr val="white"/>
            </a:duotone>
          </a:blip>
          <a:stretch>
            <a:fillRect/>
          </a:stretch>
        </p:blipFill>
        <p:spPr>
          <a:xfrm>
            <a:off x="624243" y="3749161"/>
            <a:ext cx="640080" cy="640080"/>
          </a:xfrm>
          <a:prstGeom prst="rect">
            <a:avLst/>
          </a:prstGeom>
        </p:spPr>
      </p:pic>
      <p:sp>
        <p:nvSpPr>
          <p:cNvPr id="21" name="Rectangle 20">
            <a:extLst>
              <a:ext uri="{FF2B5EF4-FFF2-40B4-BE49-F238E27FC236}">
                <a16:creationId xmlns:a16="http://schemas.microsoft.com/office/drawing/2014/main" id="{AD4EF459-E732-8794-3E17-C64E0F4FE64D}"/>
              </a:ext>
            </a:extLst>
          </p:cNvPr>
          <p:cNvSpPr>
            <a:spLocks/>
          </p:cNvSpPr>
          <p:nvPr/>
        </p:nvSpPr>
        <p:spPr bwMode="auto">
          <a:xfrm>
            <a:off x="1447799" y="3761425"/>
            <a:ext cx="10148000"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Without a certificate, you won’t be able to restore or read the database from backup or attach the data or log files</a:t>
            </a:r>
          </a:p>
        </p:txBody>
      </p:sp>
      <p:pic>
        <p:nvPicPr>
          <p:cNvPr id="5" name="Picture 4" descr="Icon of a wrench and a clipboard">
            <a:extLst>
              <a:ext uri="{FF2B5EF4-FFF2-40B4-BE49-F238E27FC236}">
                <a16:creationId xmlns:a16="http://schemas.microsoft.com/office/drawing/2014/main" id="{9267BFF9-B136-654D-420D-D98829C33A77}"/>
              </a:ext>
            </a:extLst>
          </p:cNvPr>
          <p:cNvPicPr>
            <a:picLocks/>
          </p:cNvPicPr>
          <p:nvPr/>
        </p:nvPicPr>
        <p:blipFill>
          <a:blip r:embed="rId6">
            <a:duotone>
              <a:schemeClr val="accent3">
                <a:shade val="45000"/>
                <a:satMod val="135000"/>
              </a:schemeClr>
              <a:prstClr val="white"/>
            </a:duotone>
          </a:blip>
          <a:stretch>
            <a:fillRect/>
          </a:stretch>
        </p:blipFill>
        <p:spPr>
          <a:xfrm>
            <a:off x="624243" y="4842842"/>
            <a:ext cx="640080" cy="640080"/>
          </a:xfrm>
          <a:prstGeom prst="rect">
            <a:avLst/>
          </a:prstGeom>
        </p:spPr>
      </p:pic>
      <p:sp>
        <p:nvSpPr>
          <p:cNvPr id="23" name="Rectangle 22">
            <a:extLst>
              <a:ext uri="{FF2B5EF4-FFF2-40B4-BE49-F238E27FC236}">
                <a16:creationId xmlns:a16="http://schemas.microsoft.com/office/drawing/2014/main" id="{C6C40BD9-50FA-98ED-0A32-984E18AFD657}"/>
              </a:ext>
            </a:extLst>
          </p:cNvPr>
          <p:cNvSpPr>
            <a:spLocks/>
          </p:cNvSpPr>
          <p:nvPr/>
        </p:nvSpPr>
        <p:spPr bwMode="auto">
          <a:xfrm>
            <a:off x="1447799" y="4855106"/>
            <a:ext cx="10148000"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When setting up a database within an Availability Group, restore this certificate to each server within the Availability Group</a:t>
            </a:r>
          </a:p>
        </p:txBody>
      </p:sp>
    </p:spTree>
    <p:extLst>
      <p:ext uri="{BB962C8B-B14F-4D97-AF65-F5344CB8AC3E}">
        <p14:creationId xmlns:p14="http://schemas.microsoft.com/office/powerpoint/2010/main" val="400490058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3FBE16E-5408-734D-881E-05DD3AA9B1B1}"/>
              </a:ext>
            </a:extLst>
          </p:cNvPr>
          <p:cNvSpPr>
            <a:spLocks noGrp="1"/>
          </p:cNvSpPr>
          <p:nvPr>
            <p:ph type="title"/>
          </p:nvPr>
        </p:nvSpPr>
        <p:spPr/>
        <p:txBody>
          <a:bodyPr/>
          <a:lstStyle/>
          <a:p>
            <a:r>
              <a:rPr lang="en-US" dirty="0"/>
              <a:t>Configure server and database firewall rules</a:t>
            </a:r>
          </a:p>
        </p:txBody>
      </p:sp>
      <p:sp>
        <p:nvSpPr>
          <p:cNvPr id="16" name="Text Placeholder 15">
            <a:extLst>
              <a:ext uri="{FF2B5EF4-FFF2-40B4-BE49-F238E27FC236}">
                <a16:creationId xmlns:a16="http://schemas.microsoft.com/office/drawing/2014/main" id="{5FAF41CB-1C68-8695-EF2A-82EB8DA26CFE}"/>
              </a:ext>
            </a:extLst>
          </p:cNvPr>
          <p:cNvSpPr>
            <a:spLocks noGrp="1"/>
          </p:cNvSpPr>
          <p:nvPr>
            <p:ph type="body" sz="quarter" idx="15"/>
          </p:nvPr>
        </p:nvSpPr>
        <p:spPr>
          <a:xfrm>
            <a:off x="749123" y="1764060"/>
            <a:ext cx="3174143" cy="3465564"/>
          </a:xfrm>
        </p:spPr>
        <p:txBody>
          <a:bodyPr>
            <a:spAutoFit/>
          </a:bodyPr>
          <a:lstStyle/>
          <a:p>
            <a:pPr marL="228600" indent="-228600">
              <a:spcAft>
                <a:spcPts val="1200"/>
              </a:spcAft>
              <a:buFont typeface="Arial" panose="020B0604020202020204" pitchFamily="34" charset="0"/>
              <a:buChar char="•"/>
            </a:pPr>
            <a:r>
              <a:rPr lang="en-US" sz="1800" dirty="0">
                <a:latin typeface="+mn-lt"/>
              </a:rPr>
              <a:t>Each Azure SQL Database has a public IP address hosted by Microsoft. Firewalls prevent unauthorized access to resources.</a:t>
            </a:r>
          </a:p>
          <a:p>
            <a:pPr marL="228600" indent="-228600">
              <a:spcAft>
                <a:spcPts val="1200"/>
              </a:spcAft>
              <a:buFont typeface="Arial" panose="020B0604020202020204" pitchFamily="34" charset="0"/>
              <a:buChar char="•"/>
            </a:pPr>
            <a:r>
              <a:rPr lang="en-US" sz="1800" dirty="0">
                <a:latin typeface="+mn-lt"/>
              </a:rPr>
              <a:t>By default, block all access and open it as needed.</a:t>
            </a:r>
          </a:p>
          <a:p>
            <a:pPr marL="228600" indent="-228600">
              <a:spcAft>
                <a:spcPts val="1200"/>
              </a:spcAft>
              <a:buFont typeface="Arial" panose="020B0604020202020204" pitchFamily="34" charset="0"/>
              <a:buChar char="•"/>
            </a:pPr>
            <a:r>
              <a:rPr lang="en-US" sz="1800" dirty="0">
                <a:latin typeface="+mn-lt"/>
              </a:rPr>
              <a:t>Azure SQL Database has firewalls at both the server and database levels.</a:t>
            </a:r>
          </a:p>
        </p:txBody>
      </p:sp>
      <p:grpSp>
        <p:nvGrpSpPr>
          <p:cNvPr id="4" name="Group 3" descr="Diagram of Microsoft Firewalls preventing people from accessing resources that they should not be accessing&#10;">
            <a:extLst>
              <a:ext uri="{FF2B5EF4-FFF2-40B4-BE49-F238E27FC236}">
                <a16:creationId xmlns:a16="http://schemas.microsoft.com/office/drawing/2014/main" id="{86210138-10F6-34EA-524A-DE3DC48F702C}"/>
              </a:ext>
            </a:extLst>
          </p:cNvPr>
          <p:cNvGrpSpPr/>
          <p:nvPr/>
        </p:nvGrpSpPr>
        <p:grpSpPr>
          <a:xfrm>
            <a:off x="4881568" y="1764060"/>
            <a:ext cx="5900742" cy="4064901"/>
            <a:chOff x="6495393" y="2028497"/>
            <a:chExt cx="4824248" cy="3323329"/>
          </a:xfrm>
        </p:grpSpPr>
        <p:pic>
          <p:nvPicPr>
            <p:cNvPr id="5" name="Graphic 4">
              <a:extLst>
                <a:ext uri="{FF2B5EF4-FFF2-40B4-BE49-F238E27FC236}">
                  <a16:creationId xmlns:a16="http://schemas.microsoft.com/office/drawing/2014/main" id="{5F98B4A7-627B-9C90-9D70-C826516F38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20474" y="4767134"/>
              <a:ext cx="572760" cy="584692"/>
            </a:xfrm>
            <a:prstGeom prst="rect">
              <a:avLst/>
            </a:prstGeom>
          </p:spPr>
        </p:pic>
        <p:sp>
          <p:nvSpPr>
            <p:cNvPr id="6" name="Rectangle: Rounded Corners 5">
              <a:extLst>
                <a:ext uri="{FF2B5EF4-FFF2-40B4-BE49-F238E27FC236}">
                  <a16:creationId xmlns:a16="http://schemas.microsoft.com/office/drawing/2014/main" id="{96129E39-DCE8-C2F5-597C-7B69FAEA678C}"/>
                </a:ext>
              </a:extLst>
            </p:cNvPr>
            <p:cNvSpPr/>
            <p:nvPr/>
          </p:nvSpPr>
          <p:spPr bwMode="auto">
            <a:xfrm>
              <a:off x="6495393" y="2028497"/>
              <a:ext cx="4824248" cy="2112579"/>
            </a:xfrm>
            <a:prstGeom prst="roundRect">
              <a:avLst>
                <a:gd name="adj" fmla="val 6219"/>
              </a:avLst>
            </a:prstGeom>
            <a:noFill/>
            <a:ln w="19050">
              <a:solidFill>
                <a:schemeClr val="tx1">
                  <a:lumMod val="50000"/>
                  <a:lumOff val="5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pic>
          <p:nvPicPr>
            <p:cNvPr id="7" name="Graphic 6">
              <a:extLst>
                <a:ext uri="{FF2B5EF4-FFF2-40B4-BE49-F238E27FC236}">
                  <a16:creationId xmlns:a16="http://schemas.microsoft.com/office/drawing/2014/main" id="{439EBCF3-4D23-58C1-0686-0F0A41BD5D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55815" y="3793462"/>
              <a:ext cx="605117" cy="605117"/>
            </a:xfrm>
            <a:prstGeom prst="rect">
              <a:avLst/>
            </a:prstGeom>
          </p:spPr>
        </p:pic>
        <p:grpSp>
          <p:nvGrpSpPr>
            <p:cNvPr id="8" name="Group 7">
              <a:extLst>
                <a:ext uri="{FF2B5EF4-FFF2-40B4-BE49-F238E27FC236}">
                  <a16:creationId xmlns:a16="http://schemas.microsoft.com/office/drawing/2014/main" id="{DF132EC0-15ED-55D7-0E47-B02CF8B65A4F}"/>
                </a:ext>
              </a:extLst>
            </p:cNvPr>
            <p:cNvGrpSpPr/>
            <p:nvPr/>
          </p:nvGrpSpPr>
          <p:grpSpPr>
            <a:xfrm>
              <a:off x="6831956" y="2448892"/>
              <a:ext cx="1152000" cy="1211333"/>
              <a:chOff x="6768892" y="2448892"/>
              <a:chExt cx="1152000" cy="1211333"/>
            </a:xfrm>
          </p:grpSpPr>
          <p:pic>
            <p:nvPicPr>
              <p:cNvPr id="56" name="Graphic 55">
                <a:extLst>
                  <a:ext uri="{FF2B5EF4-FFF2-40B4-BE49-F238E27FC236}">
                    <a16:creationId xmlns:a16="http://schemas.microsoft.com/office/drawing/2014/main" id="{6067DFF4-0BC6-7468-C98D-C7C51E98FE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8509" y="2448892"/>
                <a:ext cx="592767" cy="592767"/>
              </a:xfrm>
              <a:prstGeom prst="rect">
                <a:avLst/>
              </a:prstGeom>
            </p:spPr>
          </p:pic>
          <p:sp>
            <p:nvSpPr>
              <p:cNvPr id="57" name="Rectangle 56">
                <a:extLst>
                  <a:ext uri="{FF2B5EF4-FFF2-40B4-BE49-F238E27FC236}">
                    <a16:creationId xmlns:a16="http://schemas.microsoft.com/office/drawing/2014/main" id="{846B2716-FDC4-BBCC-A88D-0391A9160F37}"/>
                  </a:ext>
                </a:extLst>
              </p:cNvPr>
              <p:cNvSpPr/>
              <p:nvPr/>
            </p:nvSpPr>
            <p:spPr bwMode="auto">
              <a:xfrm>
                <a:off x="6768892" y="3415920"/>
                <a:ext cx="1152000" cy="244305"/>
              </a:xfrm>
              <a:prstGeom prst="rect">
                <a:avLst/>
              </a:prstGeom>
              <a:solidFill>
                <a:schemeClr val="bg1"/>
              </a:solidFill>
              <a:ln w="158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dirty="0">
                    <a:solidFill>
                      <a:schemeClr val="tx1"/>
                    </a:solidFill>
                    <a:ea typeface="Segoe UI" pitchFamily="34" charset="0"/>
                    <a:cs typeface="Segoe UI" pitchFamily="34" charset="0"/>
                  </a:rPr>
                  <a:t>XXX.XXX.XXX.001</a:t>
                </a:r>
              </a:p>
            </p:txBody>
          </p:sp>
          <p:sp>
            <p:nvSpPr>
              <p:cNvPr id="61" name="Arrow: Up-Down 60">
                <a:extLst>
                  <a:ext uri="{FF2B5EF4-FFF2-40B4-BE49-F238E27FC236}">
                    <a16:creationId xmlns:a16="http://schemas.microsoft.com/office/drawing/2014/main" id="{7145E156-857E-884A-65B8-95B323788F04}"/>
                  </a:ext>
                </a:extLst>
              </p:cNvPr>
              <p:cNvSpPr/>
              <p:nvPr/>
            </p:nvSpPr>
            <p:spPr bwMode="auto">
              <a:xfrm>
                <a:off x="7258555" y="3052168"/>
                <a:ext cx="172675" cy="324000"/>
              </a:xfrm>
              <a:prstGeom prst="upDownArrow">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grpSp>
        <p:grpSp>
          <p:nvGrpSpPr>
            <p:cNvPr id="9" name="Group 8">
              <a:extLst>
                <a:ext uri="{FF2B5EF4-FFF2-40B4-BE49-F238E27FC236}">
                  <a16:creationId xmlns:a16="http://schemas.microsoft.com/office/drawing/2014/main" id="{AD26EF25-60E2-7D7D-0A6F-E61F246FD2E9}"/>
                </a:ext>
              </a:extLst>
            </p:cNvPr>
            <p:cNvGrpSpPr/>
            <p:nvPr/>
          </p:nvGrpSpPr>
          <p:grpSpPr>
            <a:xfrm>
              <a:off x="8199432" y="2446501"/>
              <a:ext cx="1152000" cy="1211333"/>
              <a:chOff x="6768892" y="2448892"/>
              <a:chExt cx="1152000" cy="1211333"/>
            </a:xfrm>
          </p:grpSpPr>
          <p:pic>
            <p:nvPicPr>
              <p:cNvPr id="53" name="Graphic 52">
                <a:extLst>
                  <a:ext uri="{FF2B5EF4-FFF2-40B4-BE49-F238E27FC236}">
                    <a16:creationId xmlns:a16="http://schemas.microsoft.com/office/drawing/2014/main" id="{3CC3022E-8D9E-123E-99B3-6AAA698D320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8509" y="2448892"/>
                <a:ext cx="592767" cy="592767"/>
              </a:xfrm>
              <a:prstGeom prst="rect">
                <a:avLst/>
              </a:prstGeom>
            </p:spPr>
          </p:pic>
          <p:sp>
            <p:nvSpPr>
              <p:cNvPr id="54" name="Rectangle 53">
                <a:extLst>
                  <a:ext uri="{FF2B5EF4-FFF2-40B4-BE49-F238E27FC236}">
                    <a16:creationId xmlns:a16="http://schemas.microsoft.com/office/drawing/2014/main" id="{A8721823-465A-1760-7C46-5277D54D8EF6}"/>
                  </a:ext>
                </a:extLst>
              </p:cNvPr>
              <p:cNvSpPr/>
              <p:nvPr/>
            </p:nvSpPr>
            <p:spPr bwMode="auto">
              <a:xfrm>
                <a:off x="6768892" y="3415920"/>
                <a:ext cx="1152000" cy="244305"/>
              </a:xfrm>
              <a:prstGeom prst="rect">
                <a:avLst/>
              </a:prstGeom>
              <a:solidFill>
                <a:schemeClr val="bg1"/>
              </a:solidFill>
              <a:ln w="158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dirty="0">
                    <a:solidFill>
                      <a:schemeClr val="tx1"/>
                    </a:solidFill>
                    <a:ea typeface="Segoe UI" pitchFamily="34" charset="0"/>
                    <a:cs typeface="Segoe UI" pitchFamily="34" charset="0"/>
                  </a:rPr>
                  <a:t>XXX.XXX.XXX.002</a:t>
                </a:r>
              </a:p>
            </p:txBody>
          </p:sp>
          <p:sp>
            <p:nvSpPr>
              <p:cNvPr id="55" name="Arrow: Up-Down 54">
                <a:extLst>
                  <a:ext uri="{FF2B5EF4-FFF2-40B4-BE49-F238E27FC236}">
                    <a16:creationId xmlns:a16="http://schemas.microsoft.com/office/drawing/2014/main" id="{4F958BD7-CA6F-FDE0-53DC-105B901B7629}"/>
                  </a:ext>
                </a:extLst>
              </p:cNvPr>
              <p:cNvSpPr/>
              <p:nvPr/>
            </p:nvSpPr>
            <p:spPr bwMode="auto">
              <a:xfrm>
                <a:off x="7258555" y="3052168"/>
                <a:ext cx="172675" cy="324000"/>
              </a:xfrm>
              <a:prstGeom prst="upDownArrow">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grpSp>
        <p:grpSp>
          <p:nvGrpSpPr>
            <p:cNvPr id="10" name="Group 9">
              <a:extLst>
                <a:ext uri="{FF2B5EF4-FFF2-40B4-BE49-F238E27FC236}">
                  <a16:creationId xmlns:a16="http://schemas.microsoft.com/office/drawing/2014/main" id="{14BD5274-996C-1AAE-DA92-14178B03D376}"/>
                </a:ext>
              </a:extLst>
            </p:cNvPr>
            <p:cNvGrpSpPr/>
            <p:nvPr/>
          </p:nvGrpSpPr>
          <p:grpSpPr>
            <a:xfrm>
              <a:off x="9559614" y="2444110"/>
              <a:ext cx="1152000" cy="1211333"/>
              <a:chOff x="6789912" y="2448892"/>
              <a:chExt cx="1152000" cy="1211333"/>
            </a:xfrm>
          </p:grpSpPr>
          <p:pic>
            <p:nvPicPr>
              <p:cNvPr id="50" name="Graphic 49">
                <a:extLst>
                  <a:ext uri="{FF2B5EF4-FFF2-40B4-BE49-F238E27FC236}">
                    <a16:creationId xmlns:a16="http://schemas.microsoft.com/office/drawing/2014/main" id="{66C9DB4D-9A2E-8058-6594-E53A7080B9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69529" y="2448892"/>
                <a:ext cx="592767" cy="592767"/>
              </a:xfrm>
              <a:prstGeom prst="rect">
                <a:avLst/>
              </a:prstGeom>
            </p:spPr>
          </p:pic>
          <p:sp>
            <p:nvSpPr>
              <p:cNvPr id="51" name="Rectangle 50">
                <a:extLst>
                  <a:ext uri="{FF2B5EF4-FFF2-40B4-BE49-F238E27FC236}">
                    <a16:creationId xmlns:a16="http://schemas.microsoft.com/office/drawing/2014/main" id="{A7BFCF5E-B193-BF46-C2EF-89876622EE2E}"/>
                  </a:ext>
                </a:extLst>
              </p:cNvPr>
              <p:cNvSpPr/>
              <p:nvPr/>
            </p:nvSpPr>
            <p:spPr bwMode="auto">
              <a:xfrm>
                <a:off x="6789912" y="3415920"/>
                <a:ext cx="1152000" cy="244305"/>
              </a:xfrm>
              <a:prstGeom prst="rect">
                <a:avLst/>
              </a:prstGeom>
              <a:solidFill>
                <a:schemeClr val="bg1"/>
              </a:solidFill>
              <a:ln w="158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000" dirty="0">
                    <a:solidFill>
                      <a:schemeClr val="tx1"/>
                    </a:solidFill>
                    <a:ea typeface="Segoe UI" pitchFamily="34" charset="0"/>
                    <a:cs typeface="Segoe UI" pitchFamily="34" charset="0"/>
                  </a:rPr>
                  <a:t>XXX.XXX.XXX.003</a:t>
                </a:r>
              </a:p>
            </p:txBody>
          </p:sp>
          <p:sp>
            <p:nvSpPr>
              <p:cNvPr id="52" name="Arrow: Up-Down 51">
                <a:extLst>
                  <a:ext uri="{FF2B5EF4-FFF2-40B4-BE49-F238E27FC236}">
                    <a16:creationId xmlns:a16="http://schemas.microsoft.com/office/drawing/2014/main" id="{13056DCC-9CE4-2210-B3B1-1EBAFB2AE0B2}"/>
                  </a:ext>
                </a:extLst>
              </p:cNvPr>
              <p:cNvSpPr/>
              <p:nvPr/>
            </p:nvSpPr>
            <p:spPr bwMode="auto">
              <a:xfrm>
                <a:off x="7279575" y="3052168"/>
                <a:ext cx="172675" cy="324000"/>
              </a:xfrm>
              <a:prstGeom prst="upDownArrow">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grpSp>
        <p:cxnSp>
          <p:nvCxnSpPr>
            <p:cNvPr id="11" name="Straight Arrow Connector 10">
              <a:extLst>
                <a:ext uri="{FF2B5EF4-FFF2-40B4-BE49-F238E27FC236}">
                  <a16:creationId xmlns:a16="http://schemas.microsoft.com/office/drawing/2014/main" id="{C2E26EA9-9009-E99B-24F1-B4D03BCC9381}"/>
                </a:ext>
              </a:extLst>
            </p:cNvPr>
            <p:cNvCxnSpPr>
              <a:cxnSpLocks/>
            </p:cNvCxnSpPr>
            <p:nvPr/>
          </p:nvCxnSpPr>
          <p:spPr>
            <a:xfrm flipV="1">
              <a:off x="7606854" y="4159776"/>
              <a:ext cx="0" cy="607358"/>
            </a:xfrm>
            <a:prstGeom prst="straightConnector1">
              <a:avLst/>
            </a:prstGeom>
            <a:ln w="19050">
              <a:solidFill>
                <a:schemeClr val="bg1">
                  <a:lumMod val="50000"/>
                </a:schemeClr>
              </a:solidFill>
              <a:headEnd type="none" w="lg" len="lg"/>
              <a:tailEnd type="triangle" w="lg" len="med"/>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33A35822-01A2-5DB8-F1A2-0B2787B34581}"/>
                </a:ext>
              </a:extLst>
            </p:cNvPr>
            <p:cNvGrpSpPr/>
            <p:nvPr/>
          </p:nvGrpSpPr>
          <p:grpSpPr>
            <a:xfrm>
              <a:off x="7462854" y="4361495"/>
              <a:ext cx="288000" cy="288000"/>
              <a:chOff x="8263681" y="4859187"/>
              <a:chExt cx="288000" cy="288000"/>
            </a:xfrm>
          </p:grpSpPr>
          <p:sp>
            <p:nvSpPr>
              <p:cNvPr id="48" name="Oval 47">
                <a:extLst>
                  <a:ext uri="{FF2B5EF4-FFF2-40B4-BE49-F238E27FC236}">
                    <a16:creationId xmlns:a16="http://schemas.microsoft.com/office/drawing/2014/main" id="{4CE12591-6E58-F5FC-1B14-8EB512DBB297}"/>
                  </a:ext>
                </a:extLst>
              </p:cNvPr>
              <p:cNvSpPr>
                <a:spLocks noChangeAspect="1"/>
              </p:cNvSpPr>
              <p:nvPr/>
            </p:nvSpPr>
            <p:spPr bwMode="auto">
              <a:xfrm>
                <a:off x="8263681" y="4859187"/>
                <a:ext cx="288000" cy="288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pic>
            <p:nvPicPr>
              <p:cNvPr id="49" name="Graphic 48">
                <a:extLst>
                  <a:ext uri="{FF2B5EF4-FFF2-40B4-BE49-F238E27FC236}">
                    <a16:creationId xmlns:a16="http://schemas.microsoft.com/office/drawing/2014/main" id="{6D399870-FD4B-B5D4-6FAE-EB2F822E759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81681" y="4877187"/>
                <a:ext cx="252000" cy="252000"/>
              </a:xfrm>
              <a:prstGeom prst="rect">
                <a:avLst/>
              </a:prstGeom>
            </p:spPr>
          </p:pic>
        </p:grpSp>
        <p:pic>
          <p:nvPicPr>
            <p:cNvPr id="13" name="Graphic 12">
              <a:extLst>
                <a:ext uri="{FF2B5EF4-FFF2-40B4-BE49-F238E27FC236}">
                  <a16:creationId xmlns:a16="http://schemas.microsoft.com/office/drawing/2014/main" id="{31906B22-00A0-283E-EDBA-3AF12EEC94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16384" y="4767134"/>
              <a:ext cx="572760" cy="584692"/>
            </a:xfrm>
            <a:prstGeom prst="rect">
              <a:avLst/>
            </a:prstGeom>
          </p:spPr>
        </p:pic>
        <p:cxnSp>
          <p:nvCxnSpPr>
            <p:cNvPr id="15" name="Straight Arrow Connector 14">
              <a:extLst>
                <a:ext uri="{FF2B5EF4-FFF2-40B4-BE49-F238E27FC236}">
                  <a16:creationId xmlns:a16="http://schemas.microsoft.com/office/drawing/2014/main" id="{2F3FD817-5408-F9A5-567D-AF0DAD1BFC2F}"/>
                </a:ext>
              </a:extLst>
            </p:cNvPr>
            <p:cNvCxnSpPr>
              <a:cxnSpLocks/>
            </p:cNvCxnSpPr>
            <p:nvPr/>
          </p:nvCxnSpPr>
          <p:spPr>
            <a:xfrm flipV="1">
              <a:off x="8402764" y="4159776"/>
              <a:ext cx="0" cy="607358"/>
            </a:xfrm>
            <a:prstGeom prst="straightConnector1">
              <a:avLst/>
            </a:prstGeom>
            <a:ln w="19050">
              <a:solidFill>
                <a:schemeClr val="bg1">
                  <a:lumMod val="50000"/>
                </a:schemeClr>
              </a:solidFill>
              <a:headEnd type="none" w="lg" len="lg"/>
              <a:tailEnd type="triangle" w="lg" len="med"/>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13072B21-72F0-2BE0-4668-160B54E2AE77}"/>
                </a:ext>
              </a:extLst>
            </p:cNvPr>
            <p:cNvGrpSpPr/>
            <p:nvPr/>
          </p:nvGrpSpPr>
          <p:grpSpPr>
            <a:xfrm>
              <a:off x="8258764" y="4361495"/>
              <a:ext cx="288000" cy="288000"/>
              <a:chOff x="8263681" y="4859187"/>
              <a:chExt cx="288000" cy="288000"/>
            </a:xfrm>
          </p:grpSpPr>
          <p:sp>
            <p:nvSpPr>
              <p:cNvPr id="45" name="Oval 44">
                <a:extLst>
                  <a:ext uri="{FF2B5EF4-FFF2-40B4-BE49-F238E27FC236}">
                    <a16:creationId xmlns:a16="http://schemas.microsoft.com/office/drawing/2014/main" id="{CCB7A329-E7B1-8403-1611-EA034639E39A}"/>
                  </a:ext>
                </a:extLst>
              </p:cNvPr>
              <p:cNvSpPr>
                <a:spLocks noChangeAspect="1"/>
              </p:cNvSpPr>
              <p:nvPr/>
            </p:nvSpPr>
            <p:spPr bwMode="auto">
              <a:xfrm>
                <a:off x="8263681" y="4859187"/>
                <a:ext cx="288000" cy="288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pic>
            <p:nvPicPr>
              <p:cNvPr id="47" name="Graphic 46">
                <a:extLst>
                  <a:ext uri="{FF2B5EF4-FFF2-40B4-BE49-F238E27FC236}">
                    <a16:creationId xmlns:a16="http://schemas.microsoft.com/office/drawing/2014/main" id="{CBD6B7B6-5B81-1BC1-7B82-0D3F76901CF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81681" y="4877187"/>
                <a:ext cx="252000" cy="252000"/>
              </a:xfrm>
              <a:prstGeom prst="rect">
                <a:avLst/>
              </a:prstGeom>
            </p:spPr>
          </p:pic>
        </p:grpSp>
        <p:pic>
          <p:nvPicPr>
            <p:cNvPr id="19" name="Graphic 18">
              <a:extLst>
                <a:ext uri="{FF2B5EF4-FFF2-40B4-BE49-F238E27FC236}">
                  <a16:creationId xmlns:a16="http://schemas.microsoft.com/office/drawing/2014/main" id="{7DE885F5-D566-8021-A6A6-259A463457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15646" y="4767134"/>
              <a:ext cx="572760" cy="584692"/>
            </a:xfrm>
            <a:prstGeom prst="rect">
              <a:avLst/>
            </a:prstGeom>
          </p:spPr>
        </p:pic>
        <p:cxnSp>
          <p:nvCxnSpPr>
            <p:cNvPr id="31" name="Straight Arrow Connector 30">
              <a:extLst>
                <a:ext uri="{FF2B5EF4-FFF2-40B4-BE49-F238E27FC236}">
                  <a16:creationId xmlns:a16="http://schemas.microsoft.com/office/drawing/2014/main" id="{53BCEBB3-FFA9-FE89-69EE-C4A6890068B0}"/>
                </a:ext>
              </a:extLst>
            </p:cNvPr>
            <p:cNvCxnSpPr>
              <a:cxnSpLocks/>
            </p:cNvCxnSpPr>
            <p:nvPr/>
          </p:nvCxnSpPr>
          <p:spPr>
            <a:xfrm flipV="1">
              <a:off x="9202026" y="4159776"/>
              <a:ext cx="0" cy="607358"/>
            </a:xfrm>
            <a:prstGeom prst="straightConnector1">
              <a:avLst/>
            </a:prstGeom>
            <a:ln w="19050">
              <a:solidFill>
                <a:schemeClr val="bg1">
                  <a:lumMod val="50000"/>
                </a:schemeClr>
              </a:solidFill>
              <a:headEnd type="none" w="lg" len="lg"/>
              <a:tailEnd type="triangle" w="lg" len="med"/>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0E9B91CA-9336-6261-4E9B-683B713B4E21}"/>
                </a:ext>
              </a:extLst>
            </p:cNvPr>
            <p:cNvGrpSpPr/>
            <p:nvPr/>
          </p:nvGrpSpPr>
          <p:grpSpPr>
            <a:xfrm>
              <a:off x="9058026" y="4361495"/>
              <a:ext cx="288000" cy="288000"/>
              <a:chOff x="8263681" y="4859187"/>
              <a:chExt cx="288000" cy="288000"/>
            </a:xfrm>
          </p:grpSpPr>
          <p:sp>
            <p:nvSpPr>
              <p:cNvPr id="42" name="Oval 41">
                <a:extLst>
                  <a:ext uri="{FF2B5EF4-FFF2-40B4-BE49-F238E27FC236}">
                    <a16:creationId xmlns:a16="http://schemas.microsoft.com/office/drawing/2014/main" id="{3BB518FE-488A-E80D-8F64-9FCF34DD3A32}"/>
                  </a:ext>
                </a:extLst>
              </p:cNvPr>
              <p:cNvSpPr>
                <a:spLocks noChangeAspect="1"/>
              </p:cNvSpPr>
              <p:nvPr/>
            </p:nvSpPr>
            <p:spPr bwMode="auto">
              <a:xfrm>
                <a:off x="8263681" y="4859187"/>
                <a:ext cx="288000" cy="288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pic>
            <p:nvPicPr>
              <p:cNvPr id="44" name="Graphic 43">
                <a:extLst>
                  <a:ext uri="{FF2B5EF4-FFF2-40B4-BE49-F238E27FC236}">
                    <a16:creationId xmlns:a16="http://schemas.microsoft.com/office/drawing/2014/main" id="{67A31CA1-6F4B-6B95-E831-3098E3D738D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81681" y="4877187"/>
                <a:ext cx="252000" cy="252000"/>
              </a:xfrm>
              <a:prstGeom prst="rect">
                <a:avLst/>
              </a:prstGeom>
            </p:spPr>
          </p:pic>
        </p:grpSp>
      </p:grpSp>
    </p:spTree>
    <p:extLst>
      <p:ext uri="{BB962C8B-B14F-4D97-AF65-F5344CB8AC3E}">
        <p14:creationId xmlns:p14="http://schemas.microsoft.com/office/powerpoint/2010/main" val="135031209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6F193C1-6491-05F5-7E2D-95D6EAC49960}"/>
              </a:ext>
            </a:extLst>
          </p:cNvPr>
          <p:cNvSpPr>
            <a:spLocks noGrp="1"/>
          </p:cNvSpPr>
          <p:nvPr>
            <p:ph type="title"/>
          </p:nvPr>
        </p:nvSpPr>
        <p:spPr/>
        <p:txBody>
          <a:bodyPr/>
          <a:lstStyle/>
          <a:p>
            <a:r>
              <a:rPr lang="en-US" dirty="0"/>
              <a:t>Server and database firewall rules</a:t>
            </a:r>
          </a:p>
        </p:txBody>
      </p:sp>
      <p:sp>
        <p:nvSpPr>
          <p:cNvPr id="2" name="Text Placeholder 9">
            <a:extLst>
              <a:ext uri="{FF2B5EF4-FFF2-40B4-BE49-F238E27FC236}">
                <a16:creationId xmlns:a16="http://schemas.microsoft.com/office/drawing/2014/main" id="{4414F96F-2666-2AB9-BE36-0AE249B17179}"/>
              </a:ext>
            </a:extLst>
          </p:cNvPr>
          <p:cNvSpPr txBox="1">
            <a:spLocks/>
          </p:cNvSpPr>
          <p:nvPr/>
        </p:nvSpPr>
        <p:spPr>
          <a:xfrm>
            <a:off x="584198" y="1896025"/>
            <a:ext cx="5511801" cy="101566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16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Connection attempts from the internet and Azure must pass through the firewall before they reach your server or database.</a:t>
            </a:r>
          </a:p>
        </p:txBody>
      </p:sp>
      <p:sp>
        <p:nvSpPr>
          <p:cNvPr id="3" name="Text Placeholder 8">
            <a:extLst>
              <a:ext uri="{FF2B5EF4-FFF2-40B4-BE49-F238E27FC236}">
                <a16:creationId xmlns:a16="http://schemas.microsoft.com/office/drawing/2014/main" id="{823C32F5-E3F5-9693-4014-EE54AE94EB10}"/>
              </a:ext>
            </a:extLst>
          </p:cNvPr>
          <p:cNvSpPr txBox="1">
            <a:spLocks/>
          </p:cNvSpPr>
          <p:nvPr/>
        </p:nvSpPr>
        <p:spPr>
          <a:xfrm>
            <a:off x="584198" y="3413996"/>
            <a:ext cx="4708420" cy="2616101"/>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200"/>
              </a:spcBef>
              <a:buFont typeface="Arial" panose="020B0604020202020204" pitchFamily="34" charset="0"/>
              <a:buNone/>
            </a:pPr>
            <a:r>
              <a:rPr lang="en-US" sz="2000" b="1" dirty="0"/>
              <a:t>Server level</a:t>
            </a:r>
          </a:p>
          <a:p>
            <a:pPr marL="0" indent="0">
              <a:spcBef>
                <a:spcPts val="1200"/>
              </a:spcBef>
              <a:buFont typeface="Arial" panose="020B0604020202020204" pitchFamily="34" charset="0"/>
              <a:buNone/>
            </a:pPr>
            <a:r>
              <a:rPr lang="en-US" sz="2000" dirty="0" err="1"/>
              <a:t>sp_set_firewall_rule</a:t>
            </a:r>
            <a:endParaRPr lang="en-US" sz="2000" dirty="0"/>
          </a:p>
          <a:p>
            <a:pPr marL="0" indent="0">
              <a:spcBef>
                <a:spcPts val="1200"/>
              </a:spcBef>
              <a:buFont typeface="Arial" panose="020B0604020202020204" pitchFamily="34" charset="0"/>
              <a:buNone/>
            </a:pPr>
            <a:r>
              <a:rPr lang="en-US" sz="2000" dirty="0" err="1"/>
              <a:t>sp_delete_firewall_rule</a:t>
            </a:r>
            <a:endParaRPr lang="en-US" sz="2000" dirty="0"/>
          </a:p>
          <a:p>
            <a:pPr marL="0" indent="0">
              <a:spcBef>
                <a:spcPts val="1200"/>
              </a:spcBef>
              <a:buFont typeface="Arial" panose="020B0604020202020204" pitchFamily="34" charset="0"/>
              <a:buNone/>
            </a:pPr>
            <a:r>
              <a:rPr lang="en-US" sz="2000" b="1" dirty="0"/>
              <a:t>Database level</a:t>
            </a:r>
          </a:p>
          <a:p>
            <a:pPr marL="0" indent="0">
              <a:spcBef>
                <a:spcPts val="1200"/>
              </a:spcBef>
              <a:buFont typeface="Arial" panose="020B0604020202020204" pitchFamily="34" charset="0"/>
              <a:buNone/>
            </a:pPr>
            <a:r>
              <a:rPr lang="en-US" sz="2000" dirty="0" err="1"/>
              <a:t>sp_set_database_firewall_rule</a:t>
            </a:r>
            <a:endParaRPr lang="en-US" sz="2000" dirty="0"/>
          </a:p>
          <a:p>
            <a:pPr marL="0" indent="0">
              <a:spcBef>
                <a:spcPts val="1200"/>
              </a:spcBef>
              <a:buFont typeface="Arial" panose="020B0604020202020204" pitchFamily="34" charset="0"/>
              <a:buNone/>
            </a:pPr>
            <a:r>
              <a:rPr lang="en-US" sz="2000" dirty="0" err="1"/>
              <a:t>sp_delete_database_firewall_rule</a:t>
            </a:r>
            <a:endParaRPr lang="en-US" sz="2000" dirty="0"/>
          </a:p>
        </p:txBody>
      </p:sp>
      <p:pic>
        <p:nvPicPr>
          <p:cNvPr id="12" name="Picture Placeholder 11" descr="Image of Azure SQL server firewalls, depicted between the server and the cloud. This is a decision tree where either database-level firewall rules or server-level firewall rules are enacted based on the client IP address.">
            <a:extLst>
              <a:ext uri="{FF2B5EF4-FFF2-40B4-BE49-F238E27FC236}">
                <a16:creationId xmlns:a16="http://schemas.microsoft.com/office/drawing/2014/main" id="{64142F72-0ED4-0CA8-BC96-4A76895D4DF0}"/>
              </a:ext>
            </a:extLst>
          </p:cNvPr>
          <p:cNvPicPr>
            <a:picLocks noGrp="1" noChangeAspect="1"/>
          </p:cNvPicPr>
          <p:nvPr>
            <p:ph type="pic" sz="quarter" idx="19"/>
          </p:nvPr>
        </p:nvPicPr>
        <p:blipFill rotWithShape="1">
          <a:blip r:embed="rId3"/>
          <a:srcRect l="-843" t="-609" r="8260" b="-609"/>
          <a:stretch/>
        </p:blipFill>
        <p:spPr>
          <a:xfrm>
            <a:off x="7264401" y="0"/>
            <a:ext cx="4885436" cy="6858000"/>
          </a:xfrm>
          <a:prstGeom prst="rect">
            <a:avLst/>
          </a:prstGeom>
          <a:solidFill>
            <a:schemeClr val="bg1"/>
          </a:solidFill>
          <a:ln w="38100">
            <a:noFill/>
          </a:ln>
        </p:spPr>
      </p:pic>
      <p:cxnSp>
        <p:nvCxnSpPr>
          <p:cNvPr id="7" name="Straight Connector 6">
            <a:extLst>
              <a:ext uri="{FF2B5EF4-FFF2-40B4-BE49-F238E27FC236}">
                <a16:creationId xmlns:a16="http://schemas.microsoft.com/office/drawing/2014/main" id="{B487C3BF-B3D5-2F5B-F23D-34A04E25807A}"/>
              </a:ext>
            </a:extLst>
          </p:cNvPr>
          <p:cNvCxnSpPr>
            <a:cxnSpLocks/>
          </p:cNvCxnSpPr>
          <p:nvPr/>
        </p:nvCxnSpPr>
        <p:spPr>
          <a:xfrm>
            <a:off x="6666409" y="-15004"/>
            <a:ext cx="0" cy="6858000"/>
          </a:xfrm>
          <a:prstGeom prst="line">
            <a:avLst/>
          </a:prstGeom>
          <a:ln w="28575">
            <a:headEnd type="none" w="lg" len="med"/>
            <a:tailEnd type="none" w="lg"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84306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0BE0AB8-8A5C-A9EF-449E-368431BEC660}"/>
              </a:ext>
              <a:ext uri="{C183D7F6-B498-43B3-948B-1728B52AA6E4}">
                <adec:decorative xmlns:adec="http://schemas.microsoft.com/office/drawing/2017/decorative" val="1"/>
              </a:ext>
            </a:extLst>
          </p:cNvPr>
          <p:cNvGrpSpPr/>
          <p:nvPr/>
        </p:nvGrpSpPr>
        <p:grpSpPr>
          <a:xfrm>
            <a:off x="762000" y="2354756"/>
            <a:ext cx="736600" cy="2572844"/>
            <a:chOff x="762000" y="2254397"/>
            <a:chExt cx="736600" cy="2369919"/>
          </a:xfrm>
        </p:grpSpPr>
        <p:sp>
          <p:nvSpPr>
            <p:cNvPr id="10" name="Arrow: Bent 9">
              <a:extLst>
                <a:ext uri="{FF2B5EF4-FFF2-40B4-BE49-F238E27FC236}">
                  <a16:creationId xmlns:a16="http://schemas.microsoft.com/office/drawing/2014/main" id="{70179189-FB8D-A86B-DAE3-4BD8CFE4FC0F}"/>
                </a:ext>
              </a:extLst>
            </p:cNvPr>
            <p:cNvSpPr>
              <a:spLocks/>
            </p:cNvSpPr>
            <p:nvPr/>
          </p:nvSpPr>
          <p:spPr bwMode="auto">
            <a:xfrm flipV="1">
              <a:off x="762000" y="2254397"/>
              <a:ext cx="736599" cy="2369919"/>
            </a:xfrm>
            <a:prstGeom prst="bentArrow">
              <a:avLst>
                <a:gd name="adj1" fmla="val 25000"/>
                <a:gd name="adj2" fmla="val 0"/>
                <a:gd name="adj3" fmla="val 25000"/>
                <a:gd name="adj4" fmla="val 0"/>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30C8EA96-87BE-27BD-6E4F-26D5725DE185}"/>
                </a:ext>
              </a:extLst>
            </p:cNvPr>
            <p:cNvCxnSpPr>
              <a:cxnSpLocks/>
              <a:stCxn id="17" idx="1"/>
            </p:cNvCxnSpPr>
            <p:nvPr/>
          </p:nvCxnSpPr>
          <p:spPr>
            <a:xfrm flipH="1">
              <a:off x="762000" y="3704559"/>
              <a:ext cx="736600" cy="1"/>
            </a:xfrm>
            <a:prstGeom prst="line">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5" name="Straight Connector 14">
              <a:extLst>
                <a:ext uri="{FF2B5EF4-FFF2-40B4-BE49-F238E27FC236}">
                  <a16:creationId xmlns:a16="http://schemas.microsoft.com/office/drawing/2014/main" id="{B07A114F-FAF7-EE55-1B26-6C399C975410}"/>
                </a:ext>
              </a:extLst>
            </p:cNvPr>
            <p:cNvCxnSpPr>
              <a:cxnSpLocks/>
              <a:stCxn id="16" idx="1"/>
            </p:cNvCxnSpPr>
            <p:nvPr/>
          </p:nvCxnSpPr>
          <p:spPr>
            <a:xfrm flipH="1">
              <a:off x="762000" y="2833219"/>
              <a:ext cx="736600" cy="0"/>
            </a:xfrm>
            <a:prstGeom prst="line">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
        <p:nvSpPr>
          <p:cNvPr id="4" name="Title 3">
            <a:extLst>
              <a:ext uri="{FF2B5EF4-FFF2-40B4-BE49-F238E27FC236}">
                <a16:creationId xmlns:a16="http://schemas.microsoft.com/office/drawing/2014/main" id="{FFBD9E52-77DA-6D36-2184-1C8EB75C9978}"/>
              </a:ext>
            </a:extLst>
          </p:cNvPr>
          <p:cNvSpPr>
            <a:spLocks noGrp="1"/>
          </p:cNvSpPr>
          <p:nvPr>
            <p:ph type="title"/>
          </p:nvPr>
        </p:nvSpPr>
        <p:spPr/>
        <p:txBody>
          <a:bodyPr/>
          <a:lstStyle/>
          <a:p>
            <a:r>
              <a:rPr lang="en-US" dirty="0"/>
              <a:t>Virtual network endpoints</a:t>
            </a:r>
          </a:p>
        </p:txBody>
      </p:sp>
      <p:sp>
        <p:nvSpPr>
          <p:cNvPr id="5" name="Text Placeholder 4">
            <a:extLst>
              <a:ext uri="{FF2B5EF4-FFF2-40B4-BE49-F238E27FC236}">
                <a16:creationId xmlns:a16="http://schemas.microsoft.com/office/drawing/2014/main" id="{A1C6C5EE-9125-4432-CE37-A95BFE6073DA}"/>
              </a:ext>
            </a:extLst>
          </p:cNvPr>
          <p:cNvSpPr>
            <a:spLocks noGrp="1"/>
          </p:cNvSpPr>
          <p:nvPr>
            <p:ph type="body" sz="quarter" idx="17"/>
          </p:nvPr>
        </p:nvSpPr>
        <p:spPr>
          <a:xfrm>
            <a:off x="584199" y="1591056"/>
            <a:ext cx="11011601" cy="800219"/>
          </a:xfrm>
          <a:solidFill>
            <a:srgbClr val="FFA38B"/>
          </a:solidFill>
        </p:spPr>
        <p:txBody>
          <a:bodyPr lIns="137160" tIns="91440" rIns="137160" bIns="91440"/>
          <a:lstStyle/>
          <a:p>
            <a:r>
              <a:rPr lang="en-US" sz="2000" dirty="0"/>
              <a:t>Network peering allows connectivity from within a Virtual Network to Azure PaaS services including Azure SQL Database</a:t>
            </a:r>
          </a:p>
        </p:txBody>
      </p:sp>
      <p:sp>
        <p:nvSpPr>
          <p:cNvPr id="16" name="Rectangle 15">
            <a:extLst>
              <a:ext uri="{FF2B5EF4-FFF2-40B4-BE49-F238E27FC236}">
                <a16:creationId xmlns:a16="http://schemas.microsoft.com/office/drawing/2014/main" id="{5B0E273D-9AE3-2B0D-FAA6-0C5614611130}"/>
              </a:ext>
            </a:extLst>
          </p:cNvPr>
          <p:cNvSpPr>
            <a:spLocks/>
          </p:cNvSpPr>
          <p:nvPr/>
        </p:nvSpPr>
        <p:spPr bwMode="auto">
          <a:xfrm>
            <a:off x="1498600" y="2631096"/>
            <a:ext cx="10097200" cy="704088"/>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Network Endpoint peering is limited to one Azure region</a:t>
            </a:r>
          </a:p>
        </p:txBody>
      </p:sp>
      <p:sp>
        <p:nvSpPr>
          <p:cNvPr id="17" name="Rectangle 16">
            <a:extLst>
              <a:ext uri="{FF2B5EF4-FFF2-40B4-BE49-F238E27FC236}">
                <a16:creationId xmlns:a16="http://schemas.microsoft.com/office/drawing/2014/main" id="{5CD47AF7-55E8-F7F6-79AD-826208BA1485}"/>
              </a:ext>
            </a:extLst>
          </p:cNvPr>
          <p:cNvSpPr>
            <a:spLocks/>
          </p:cNvSpPr>
          <p:nvPr/>
        </p:nvSpPr>
        <p:spPr bwMode="auto">
          <a:xfrm>
            <a:off x="1498600" y="3575005"/>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Network Endpoint peering allows only server level connections, not a database one</a:t>
            </a:r>
          </a:p>
        </p:txBody>
      </p:sp>
      <p:sp>
        <p:nvSpPr>
          <p:cNvPr id="18" name="Rectangle 17">
            <a:extLst>
              <a:ext uri="{FF2B5EF4-FFF2-40B4-BE49-F238E27FC236}">
                <a16:creationId xmlns:a16="http://schemas.microsoft.com/office/drawing/2014/main" id="{7AFD7030-67C4-C2A5-1433-A67693E5D26E}"/>
              </a:ext>
            </a:extLst>
          </p:cNvPr>
          <p:cNvSpPr>
            <a:spLocks/>
          </p:cNvSpPr>
          <p:nvPr/>
        </p:nvSpPr>
        <p:spPr bwMode="auto">
          <a:xfrm>
            <a:off x="1498600" y="4522993"/>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Requires outbound access to Azure SQL Database Public IP addresses</a:t>
            </a:r>
          </a:p>
        </p:txBody>
      </p:sp>
    </p:spTree>
    <p:extLst>
      <p:ext uri="{BB962C8B-B14F-4D97-AF65-F5344CB8AC3E}">
        <p14:creationId xmlns:p14="http://schemas.microsoft.com/office/powerpoint/2010/main" val="372155675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532C1E5-8B8C-C504-A5A4-4C6518565773}"/>
              </a:ext>
              <a:ext uri="{C183D7F6-B498-43B3-948B-1728B52AA6E4}">
                <adec:decorative xmlns:adec="http://schemas.microsoft.com/office/drawing/2017/decorative" val="1"/>
              </a:ext>
            </a:extLst>
          </p:cNvPr>
          <p:cNvGrpSpPr/>
          <p:nvPr/>
        </p:nvGrpSpPr>
        <p:grpSpPr>
          <a:xfrm>
            <a:off x="762000" y="2354756"/>
            <a:ext cx="736600" cy="2522044"/>
            <a:chOff x="762000" y="2254397"/>
            <a:chExt cx="736600" cy="2369919"/>
          </a:xfrm>
        </p:grpSpPr>
        <p:sp>
          <p:nvSpPr>
            <p:cNvPr id="18" name="Arrow: Bent 17">
              <a:extLst>
                <a:ext uri="{FF2B5EF4-FFF2-40B4-BE49-F238E27FC236}">
                  <a16:creationId xmlns:a16="http://schemas.microsoft.com/office/drawing/2014/main" id="{349B0AFE-EE8E-071C-3678-5A5996991BB9}"/>
                </a:ext>
              </a:extLst>
            </p:cNvPr>
            <p:cNvSpPr>
              <a:spLocks/>
            </p:cNvSpPr>
            <p:nvPr/>
          </p:nvSpPr>
          <p:spPr bwMode="auto">
            <a:xfrm flipV="1">
              <a:off x="762000" y="2254397"/>
              <a:ext cx="736599" cy="2369919"/>
            </a:xfrm>
            <a:prstGeom prst="bentArrow">
              <a:avLst>
                <a:gd name="adj1" fmla="val 25000"/>
                <a:gd name="adj2" fmla="val 0"/>
                <a:gd name="adj3" fmla="val 25000"/>
                <a:gd name="adj4" fmla="val 0"/>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9" name="Straight Connector 18">
              <a:extLst>
                <a:ext uri="{FF2B5EF4-FFF2-40B4-BE49-F238E27FC236}">
                  <a16:creationId xmlns:a16="http://schemas.microsoft.com/office/drawing/2014/main" id="{EB53F10A-067A-A1A7-B619-02EC39E34872}"/>
                </a:ext>
              </a:extLst>
            </p:cNvPr>
            <p:cNvCxnSpPr>
              <a:cxnSpLocks/>
              <a:stCxn id="22" idx="1"/>
            </p:cNvCxnSpPr>
            <p:nvPr/>
          </p:nvCxnSpPr>
          <p:spPr>
            <a:xfrm flipH="1">
              <a:off x="762000" y="3735046"/>
              <a:ext cx="736600" cy="0"/>
            </a:xfrm>
            <a:prstGeom prst="line">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93BC7FF1-44E6-49D4-72CC-6EC6B99A0DBB}"/>
                </a:ext>
              </a:extLst>
            </p:cNvPr>
            <p:cNvCxnSpPr>
              <a:cxnSpLocks/>
              <a:stCxn id="21" idx="1"/>
            </p:cNvCxnSpPr>
            <p:nvPr/>
          </p:nvCxnSpPr>
          <p:spPr>
            <a:xfrm flipH="1">
              <a:off x="762000" y="2845517"/>
              <a:ext cx="736600" cy="0"/>
            </a:xfrm>
            <a:prstGeom prst="line">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
        <p:nvSpPr>
          <p:cNvPr id="4" name="Title 3">
            <a:extLst>
              <a:ext uri="{FF2B5EF4-FFF2-40B4-BE49-F238E27FC236}">
                <a16:creationId xmlns:a16="http://schemas.microsoft.com/office/drawing/2014/main" id="{CD7FC9E9-8B27-B195-DB25-B27BFD4A93A2}"/>
              </a:ext>
            </a:extLst>
          </p:cNvPr>
          <p:cNvSpPr>
            <a:spLocks noGrp="1"/>
          </p:cNvSpPr>
          <p:nvPr>
            <p:ph type="title"/>
          </p:nvPr>
        </p:nvSpPr>
        <p:spPr/>
        <p:txBody>
          <a:bodyPr/>
          <a:lstStyle/>
          <a:p>
            <a:r>
              <a:rPr lang="en-US" dirty="0"/>
              <a:t>Private link</a:t>
            </a:r>
          </a:p>
        </p:txBody>
      </p:sp>
      <p:sp>
        <p:nvSpPr>
          <p:cNvPr id="5" name="Text Placeholder 4">
            <a:extLst>
              <a:ext uri="{FF2B5EF4-FFF2-40B4-BE49-F238E27FC236}">
                <a16:creationId xmlns:a16="http://schemas.microsoft.com/office/drawing/2014/main" id="{61C143DB-B178-3EAE-479E-630C155666D5}"/>
              </a:ext>
            </a:extLst>
          </p:cNvPr>
          <p:cNvSpPr>
            <a:spLocks noGrp="1"/>
          </p:cNvSpPr>
          <p:nvPr>
            <p:ph type="body" sz="quarter" idx="17"/>
          </p:nvPr>
        </p:nvSpPr>
        <p:spPr>
          <a:xfrm>
            <a:off x="584199" y="1591056"/>
            <a:ext cx="11011601" cy="804672"/>
          </a:xfrm>
          <a:solidFill>
            <a:srgbClr val="FFA38B"/>
          </a:solidFill>
        </p:spPr>
        <p:txBody>
          <a:bodyPr vert="horz" wrap="square" lIns="137160" tIns="91440" rIns="137160" bIns="91440" rtlCol="0" anchor="t">
            <a:spAutoFit/>
          </a:bodyPr>
          <a:lstStyle/>
          <a:p>
            <a:r>
              <a:rPr lang="en-US" sz="2000" dirty="0"/>
              <a:t>Private link allows you to connect various Azure services (including Azure SQL DB) to a private endpoint</a:t>
            </a:r>
          </a:p>
        </p:txBody>
      </p:sp>
      <p:sp>
        <p:nvSpPr>
          <p:cNvPr id="21" name="Rectangle 20">
            <a:extLst>
              <a:ext uri="{FF2B5EF4-FFF2-40B4-BE49-F238E27FC236}">
                <a16:creationId xmlns:a16="http://schemas.microsoft.com/office/drawing/2014/main" id="{E78207BB-0381-56DF-3635-63D417C2D02C}"/>
              </a:ext>
            </a:extLst>
          </p:cNvPr>
          <p:cNvSpPr>
            <a:spLocks/>
          </p:cNvSpPr>
          <p:nvPr/>
        </p:nvSpPr>
        <p:spPr bwMode="auto">
          <a:xfrm>
            <a:off x="1498600" y="2629737"/>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A private endpoint is a private IP address within a specific virtual network subnet</a:t>
            </a:r>
          </a:p>
        </p:txBody>
      </p:sp>
      <p:sp>
        <p:nvSpPr>
          <p:cNvPr id="22" name="Rectangle 21">
            <a:extLst>
              <a:ext uri="{FF2B5EF4-FFF2-40B4-BE49-F238E27FC236}">
                <a16:creationId xmlns:a16="http://schemas.microsoft.com/office/drawing/2014/main" id="{F3319C19-AEF1-D1D1-920F-FFA415C4C4EE}"/>
              </a:ext>
            </a:extLst>
          </p:cNvPr>
          <p:cNvSpPr>
            <a:spLocks/>
          </p:cNvSpPr>
          <p:nvPr/>
        </p:nvSpPr>
        <p:spPr bwMode="auto">
          <a:xfrm>
            <a:off x="1498600" y="3576365"/>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This allows for you to use network rules to prevent data exfiltration</a:t>
            </a:r>
          </a:p>
        </p:txBody>
      </p:sp>
      <p:sp>
        <p:nvSpPr>
          <p:cNvPr id="23" name="Rectangle 22">
            <a:extLst>
              <a:ext uri="{FF2B5EF4-FFF2-40B4-BE49-F238E27FC236}">
                <a16:creationId xmlns:a16="http://schemas.microsoft.com/office/drawing/2014/main" id="{B73D9A05-8289-C9E1-B0F1-D29A4750513D}"/>
              </a:ext>
            </a:extLst>
          </p:cNvPr>
          <p:cNvSpPr>
            <a:spLocks/>
          </p:cNvSpPr>
          <p:nvPr/>
        </p:nvSpPr>
        <p:spPr bwMode="auto">
          <a:xfrm>
            <a:off x="1498600" y="4522993"/>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Can route directly to Azure SQL DB over ExpressRoute or Point to Point VPN without traversing the public internet</a:t>
            </a:r>
          </a:p>
        </p:txBody>
      </p:sp>
    </p:spTree>
    <p:extLst>
      <p:ext uri="{BB962C8B-B14F-4D97-AF65-F5344CB8AC3E}">
        <p14:creationId xmlns:p14="http://schemas.microsoft.com/office/powerpoint/2010/main" val="353883641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6B0A4E58-9CD7-B12F-FA9D-6BCD62B437C7}"/>
              </a:ext>
            </a:extLst>
          </p:cNvPr>
          <p:cNvSpPr>
            <a:spLocks noGrp="1"/>
          </p:cNvSpPr>
          <p:nvPr>
            <p:ph type="title"/>
          </p:nvPr>
        </p:nvSpPr>
        <p:spPr/>
        <p:txBody>
          <a:bodyPr/>
          <a:lstStyle/>
          <a:p>
            <a:r>
              <a:rPr lang="en-US" dirty="0"/>
              <a:t>Object level encryption</a:t>
            </a:r>
          </a:p>
        </p:txBody>
      </p:sp>
      <p:pic>
        <p:nvPicPr>
          <p:cNvPr id="2" name="Picture 1" descr="Icon of chart build by blocks of square">
            <a:extLst>
              <a:ext uri="{FF2B5EF4-FFF2-40B4-BE49-F238E27FC236}">
                <a16:creationId xmlns:a16="http://schemas.microsoft.com/office/drawing/2014/main" id="{6D0BF7CD-65ED-E60B-51EF-DC25B47F3406}"/>
              </a:ext>
            </a:extLst>
          </p:cNvPr>
          <p:cNvPicPr>
            <a:picLocks/>
          </p:cNvPicPr>
          <p:nvPr/>
        </p:nvPicPr>
        <p:blipFill>
          <a:blip r:embed="rId3">
            <a:duotone>
              <a:schemeClr val="accent3">
                <a:shade val="45000"/>
                <a:satMod val="135000"/>
              </a:schemeClr>
              <a:prstClr val="white"/>
            </a:duotone>
          </a:blip>
          <a:stretch>
            <a:fillRect/>
          </a:stretch>
        </p:blipFill>
        <p:spPr>
          <a:xfrm>
            <a:off x="624243" y="1561801"/>
            <a:ext cx="557786" cy="557786"/>
          </a:xfrm>
          <a:prstGeom prst="rect">
            <a:avLst/>
          </a:prstGeom>
        </p:spPr>
      </p:pic>
      <p:sp>
        <p:nvSpPr>
          <p:cNvPr id="14" name="Rectangle 13">
            <a:extLst>
              <a:ext uri="{FF2B5EF4-FFF2-40B4-BE49-F238E27FC236}">
                <a16:creationId xmlns:a16="http://schemas.microsoft.com/office/drawing/2014/main" id="{213CFD30-5D9D-C486-F75E-374338A1289D}"/>
              </a:ext>
            </a:extLst>
          </p:cNvPr>
          <p:cNvSpPr>
            <a:spLocks/>
          </p:cNvSpPr>
          <p:nvPr/>
        </p:nvSpPr>
        <p:spPr bwMode="auto">
          <a:xfrm>
            <a:off x="1322172" y="1702195"/>
            <a:ext cx="10273627"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While TDE encrypts the data files and the backup files, it does not encrypt the data within tables</a:t>
            </a:r>
          </a:p>
        </p:txBody>
      </p:sp>
      <p:pic>
        <p:nvPicPr>
          <p:cNvPr id="3" name="Picture 2" descr="Icon of a webpage showing a product symbol">
            <a:extLst>
              <a:ext uri="{FF2B5EF4-FFF2-40B4-BE49-F238E27FC236}">
                <a16:creationId xmlns:a16="http://schemas.microsoft.com/office/drawing/2014/main" id="{32664127-CD48-5815-944B-B3CA834335AD}"/>
              </a:ext>
            </a:extLst>
          </p:cNvPr>
          <p:cNvPicPr>
            <a:picLocks/>
          </p:cNvPicPr>
          <p:nvPr/>
        </p:nvPicPr>
        <p:blipFill>
          <a:blip r:embed="rId4">
            <a:duotone>
              <a:schemeClr val="accent3">
                <a:shade val="45000"/>
                <a:satMod val="135000"/>
              </a:schemeClr>
              <a:prstClr val="white"/>
            </a:duotone>
          </a:blip>
          <a:stretch>
            <a:fillRect/>
          </a:stretch>
        </p:blipFill>
        <p:spPr>
          <a:xfrm>
            <a:off x="624243" y="2503356"/>
            <a:ext cx="557786" cy="557786"/>
          </a:xfrm>
          <a:prstGeom prst="rect">
            <a:avLst/>
          </a:prstGeom>
        </p:spPr>
      </p:pic>
      <p:sp>
        <p:nvSpPr>
          <p:cNvPr id="16" name="Rectangle 15">
            <a:extLst>
              <a:ext uri="{FF2B5EF4-FFF2-40B4-BE49-F238E27FC236}">
                <a16:creationId xmlns:a16="http://schemas.microsoft.com/office/drawing/2014/main" id="{A1E28FC2-132B-2886-6088-3CE731E3897A}"/>
              </a:ext>
            </a:extLst>
          </p:cNvPr>
          <p:cNvSpPr>
            <a:spLocks/>
          </p:cNvSpPr>
          <p:nvPr/>
        </p:nvSpPr>
        <p:spPr bwMode="auto">
          <a:xfrm>
            <a:off x="1322173" y="2505250"/>
            <a:ext cx="10273626"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SQL Server uses </a:t>
            </a:r>
            <a:r>
              <a:rPr lang="en-US" sz="1800" b="1" dirty="0">
                <a:solidFill>
                  <a:schemeClr val="tx1"/>
                </a:solidFill>
              </a:rPr>
              <a:t>Always Encrypted </a:t>
            </a:r>
            <a:r>
              <a:rPr lang="en-US" sz="1800" dirty="0">
                <a:solidFill>
                  <a:schemeClr val="tx1"/>
                </a:solidFill>
              </a:rPr>
              <a:t>to encrypt table data, so that only the application with the correct column key can decrypt the data</a:t>
            </a:r>
          </a:p>
        </p:txBody>
      </p:sp>
      <p:pic>
        <p:nvPicPr>
          <p:cNvPr id="4" name="Picture 3" descr="Icon of a security lock">
            <a:extLst>
              <a:ext uri="{FF2B5EF4-FFF2-40B4-BE49-F238E27FC236}">
                <a16:creationId xmlns:a16="http://schemas.microsoft.com/office/drawing/2014/main" id="{0643DC19-FDFA-92DE-3941-C30643B58C00}"/>
              </a:ext>
            </a:extLst>
          </p:cNvPr>
          <p:cNvPicPr>
            <a:picLocks/>
          </p:cNvPicPr>
          <p:nvPr/>
        </p:nvPicPr>
        <p:blipFill>
          <a:blip r:embed="rId5">
            <a:duotone>
              <a:schemeClr val="accent3">
                <a:shade val="45000"/>
                <a:satMod val="135000"/>
              </a:schemeClr>
              <a:prstClr val="white"/>
            </a:duotone>
          </a:blip>
          <a:stretch>
            <a:fillRect/>
          </a:stretch>
        </p:blipFill>
        <p:spPr>
          <a:xfrm>
            <a:off x="624243" y="3444911"/>
            <a:ext cx="557786" cy="557786"/>
          </a:xfrm>
          <a:prstGeom prst="rect">
            <a:avLst/>
          </a:prstGeom>
        </p:spPr>
      </p:pic>
      <p:sp>
        <p:nvSpPr>
          <p:cNvPr id="18" name="Rectangle 17">
            <a:extLst>
              <a:ext uri="{FF2B5EF4-FFF2-40B4-BE49-F238E27FC236}">
                <a16:creationId xmlns:a16="http://schemas.microsoft.com/office/drawing/2014/main" id="{564807C0-1F99-1388-6D65-26F580FB8100}"/>
              </a:ext>
            </a:extLst>
          </p:cNvPr>
          <p:cNvSpPr>
            <a:spLocks/>
          </p:cNvSpPr>
          <p:nvPr/>
        </p:nvSpPr>
        <p:spPr bwMode="auto">
          <a:xfrm>
            <a:off x="1322172" y="3585304"/>
            <a:ext cx="10273627"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This protects data from being exfiltrated (unauthorized data transfer) by a malicious administrator</a:t>
            </a:r>
          </a:p>
        </p:txBody>
      </p:sp>
    </p:spTree>
    <p:extLst>
      <p:ext uri="{BB962C8B-B14F-4D97-AF65-F5344CB8AC3E}">
        <p14:creationId xmlns:p14="http://schemas.microsoft.com/office/powerpoint/2010/main" val="210621657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27A063F-6811-D5AD-55A2-020F6BFE07C8}"/>
              </a:ext>
            </a:extLst>
          </p:cNvPr>
          <p:cNvSpPr>
            <a:spLocks noGrp="1"/>
          </p:cNvSpPr>
          <p:nvPr>
            <p:ph type="title"/>
          </p:nvPr>
        </p:nvSpPr>
        <p:spPr>
          <a:xfrm>
            <a:off x="588261" y="585216"/>
            <a:ext cx="11011601" cy="369332"/>
          </a:xfrm>
        </p:spPr>
        <p:txBody>
          <a:bodyPr/>
          <a:lstStyle/>
          <a:p>
            <a:r>
              <a:rPr lang="en-US" dirty="0"/>
              <a:t>Always Encrypted benefits</a:t>
            </a:r>
          </a:p>
        </p:txBody>
      </p:sp>
      <p:sp>
        <p:nvSpPr>
          <p:cNvPr id="12" name="Rectangle 11">
            <a:extLst>
              <a:ext uri="{FF2B5EF4-FFF2-40B4-BE49-F238E27FC236}">
                <a16:creationId xmlns:a16="http://schemas.microsoft.com/office/drawing/2014/main" id="{D0FB6F0C-EA42-3A09-9111-7EF006AADD1C}"/>
              </a:ext>
            </a:extLst>
          </p:cNvPr>
          <p:cNvSpPr>
            <a:spLocks/>
          </p:cNvSpPr>
          <p:nvPr/>
        </p:nvSpPr>
        <p:spPr bwMode="auto">
          <a:xfrm>
            <a:off x="588261" y="1581150"/>
            <a:ext cx="11011601" cy="1700213"/>
          </a:xfrm>
          <a:prstGeom prst="rect">
            <a:avLst/>
          </a:prstGeom>
          <a:solidFill>
            <a:srgbClr val="FFA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ts val="1200"/>
              </a:spcAft>
            </a:pPr>
            <a:r>
              <a:rPr lang="en-US" sz="2200" dirty="0">
                <a:solidFill>
                  <a:schemeClr val="tx1"/>
                </a:solidFill>
                <a:ea typeface="Segoe UI" pitchFamily="34" charset="0"/>
                <a:cs typeface="Segoe UI" pitchFamily="34" charset="0"/>
              </a:rPr>
              <a:t>Encrypts data within tables, protects the data:</a:t>
            </a:r>
          </a:p>
          <a:p>
            <a:pPr marL="347663" indent="-233363" defTabSz="932472" fontAlgn="base">
              <a:spcBef>
                <a:spcPct val="0"/>
              </a:spcBef>
              <a:spcAft>
                <a:spcPts val="1200"/>
              </a:spcAft>
              <a:buFont typeface="Arial" panose="020B0604020202020204" pitchFamily="34" charset="0"/>
              <a:buChar char="•"/>
            </a:pPr>
            <a:r>
              <a:rPr lang="en-US" sz="2000" dirty="0">
                <a:solidFill>
                  <a:schemeClr val="tx1"/>
                </a:solidFill>
                <a:ea typeface="Segoe UI" pitchFamily="34" charset="0"/>
                <a:cs typeface="Segoe UI" pitchFamily="34" charset="0"/>
              </a:rPr>
              <a:t>As it </a:t>
            </a:r>
            <a:r>
              <a:rPr lang="en-US" sz="2000" b="1" dirty="0">
                <a:solidFill>
                  <a:schemeClr val="tx1"/>
                </a:solidFill>
                <a:ea typeface="Segoe UI" pitchFamily="34" charset="0"/>
                <a:cs typeface="Segoe UI" pitchFamily="34" charset="0"/>
              </a:rPr>
              <a:t>rests</a:t>
            </a:r>
            <a:r>
              <a:rPr lang="en-US" sz="2000" dirty="0">
                <a:solidFill>
                  <a:schemeClr val="tx1"/>
                </a:solidFill>
                <a:ea typeface="Segoe UI" pitchFamily="34" charset="0"/>
                <a:cs typeface="Segoe UI" pitchFamily="34" charset="0"/>
              </a:rPr>
              <a:t> on the disk</a:t>
            </a:r>
          </a:p>
          <a:p>
            <a:pPr marL="347663" indent="-233363" defTabSz="932472" fontAlgn="base">
              <a:spcBef>
                <a:spcPct val="0"/>
              </a:spcBef>
              <a:spcAft>
                <a:spcPts val="1200"/>
              </a:spcAft>
              <a:buFont typeface="Arial" panose="020B0604020202020204" pitchFamily="34" charset="0"/>
              <a:buChar char="•"/>
            </a:pPr>
            <a:r>
              <a:rPr lang="en-US" sz="2000" dirty="0">
                <a:solidFill>
                  <a:schemeClr val="tx1"/>
                </a:solidFill>
                <a:ea typeface="Segoe UI" pitchFamily="34" charset="0"/>
                <a:cs typeface="Segoe UI" pitchFamily="34" charset="0"/>
              </a:rPr>
              <a:t>As it is </a:t>
            </a:r>
            <a:r>
              <a:rPr lang="en-US" sz="2000" b="1" dirty="0">
                <a:solidFill>
                  <a:schemeClr val="tx1"/>
                </a:solidFill>
                <a:ea typeface="Segoe UI" pitchFamily="34" charset="0"/>
                <a:cs typeface="Segoe UI" pitchFamily="34" charset="0"/>
              </a:rPr>
              <a:t>in flight </a:t>
            </a:r>
            <a:r>
              <a:rPr lang="en-US" sz="2000" dirty="0">
                <a:solidFill>
                  <a:schemeClr val="tx1"/>
                </a:solidFill>
                <a:ea typeface="Segoe UI" pitchFamily="34" charset="0"/>
                <a:cs typeface="Segoe UI" pitchFamily="34" charset="0"/>
              </a:rPr>
              <a:t>between the SQL Server and the client</a:t>
            </a:r>
          </a:p>
        </p:txBody>
      </p:sp>
      <p:sp>
        <p:nvSpPr>
          <p:cNvPr id="18" name="Rectangle 17">
            <a:extLst>
              <a:ext uri="{FF2B5EF4-FFF2-40B4-BE49-F238E27FC236}">
                <a16:creationId xmlns:a16="http://schemas.microsoft.com/office/drawing/2014/main" id="{F22162B5-70F8-61CD-F199-8C5A4B385FC0}"/>
              </a:ext>
            </a:extLst>
          </p:cNvPr>
          <p:cNvSpPr>
            <a:spLocks/>
          </p:cNvSpPr>
          <p:nvPr/>
        </p:nvSpPr>
        <p:spPr bwMode="auto">
          <a:xfrm>
            <a:off x="588261" y="3498240"/>
            <a:ext cx="4923539" cy="1957316"/>
          </a:xfrm>
          <a:prstGeom prst="rect">
            <a:avLst/>
          </a:prstGeom>
          <a:solidFill>
            <a:srgbClr val="CD9BC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2200" dirty="0">
                <a:solidFill>
                  <a:schemeClr val="tx1"/>
                </a:solidFill>
                <a:ea typeface="Segoe UI" pitchFamily="34" charset="0"/>
                <a:cs typeface="Segoe UI" pitchFamily="34" charset="0"/>
              </a:rPr>
              <a:t>Allows for data within the database to be encrypted without the database engine ever seeing plain text data</a:t>
            </a:r>
          </a:p>
        </p:txBody>
      </p:sp>
      <p:sp>
        <p:nvSpPr>
          <p:cNvPr id="19" name="Rectangle 18">
            <a:extLst>
              <a:ext uri="{FF2B5EF4-FFF2-40B4-BE49-F238E27FC236}">
                <a16:creationId xmlns:a16="http://schemas.microsoft.com/office/drawing/2014/main" id="{BD57F17C-EAE5-59DE-D119-D3D7F6DD1384}"/>
              </a:ext>
            </a:extLst>
          </p:cNvPr>
          <p:cNvSpPr>
            <a:spLocks/>
          </p:cNvSpPr>
          <p:nvPr/>
        </p:nvSpPr>
        <p:spPr bwMode="auto">
          <a:xfrm>
            <a:off x="5664200" y="3498240"/>
            <a:ext cx="5935661" cy="903522"/>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2200" dirty="0">
                <a:solidFill>
                  <a:schemeClr val="tx1"/>
                </a:solidFill>
                <a:ea typeface="Segoe UI" pitchFamily="34" charset="0"/>
                <a:cs typeface="Segoe UI" pitchFamily="34" charset="0"/>
              </a:rPr>
              <a:t>Data is encrypted with certificates created by the database, but stored in the application</a:t>
            </a:r>
          </a:p>
        </p:txBody>
      </p:sp>
      <p:sp>
        <p:nvSpPr>
          <p:cNvPr id="20" name="Rectangle 19">
            <a:extLst>
              <a:ext uri="{FF2B5EF4-FFF2-40B4-BE49-F238E27FC236}">
                <a16:creationId xmlns:a16="http://schemas.microsoft.com/office/drawing/2014/main" id="{05D98883-4027-CD92-BFCE-54E7E11D2F2D}"/>
              </a:ext>
            </a:extLst>
          </p:cNvPr>
          <p:cNvSpPr>
            <a:spLocks/>
          </p:cNvSpPr>
          <p:nvPr/>
        </p:nvSpPr>
        <p:spPr bwMode="auto">
          <a:xfrm>
            <a:off x="5664200" y="4552035"/>
            <a:ext cx="5935661" cy="903522"/>
          </a:xfrm>
          <a:prstGeom prst="rect">
            <a:avLst/>
          </a:prstGeom>
          <a:solidFill>
            <a:srgbClr val="FFB3B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sz="2200">
                <a:solidFill>
                  <a:schemeClr val="tx1"/>
                </a:solidFill>
                <a:ea typeface="Segoe UI" pitchFamily="34" charset="0"/>
                <a:cs typeface="Segoe UI" pitchFamily="34" charset="0"/>
              </a:rPr>
              <a:t>Even administrators cannot decrypt the encrypted data</a:t>
            </a:r>
            <a:endParaRPr lang="en-US" sz="22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53744435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E2FD340-18FE-95BF-619F-57252711C4AC}"/>
              </a:ext>
            </a:extLst>
          </p:cNvPr>
          <p:cNvSpPr>
            <a:spLocks noGrp="1"/>
          </p:cNvSpPr>
          <p:nvPr>
            <p:ph type="title"/>
          </p:nvPr>
        </p:nvSpPr>
        <p:spPr/>
        <p:txBody>
          <a:bodyPr/>
          <a:lstStyle/>
          <a:p>
            <a:r>
              <a:rPr lang="en-US" dirty="0"/>
              <a:t>Always Encrypted encryption types</a:t>
            </a:r>
          </a:p>
        </p:txBody>
      </p:sp>
      <p:sp>
        <p:nvSpPr>
          <p:cNvPr id="21" name="Text Placeholder 11">
            <a:extLst>
              <a:ext uri="{FF2B5EF4-FFF2-40B4-BE49-F238E27FC236}">
                <a16:creationId xmlns:a16="http://schemas.microsoft.com/office/drawing/2014/main" id="{4A22FAF3-5FA9-DE5C-DA08-C7FF67C34143}"/>
              </a:ext>
            </a:extLst>
          </p:cNvPr>
          <p:cNvSpPr txBox="1">
            <a:spLocks/>
          </p:cNvSpPr>
          <p:nvPr/>
        </p:nvSpPr>
        <p:spPr>
          <a:xfrm>
            <a:off x="699391" y="4759775"/>
            <a:ext cx="5379793" cy="1521617"/>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en-US" sz="1600" dirty="0"/>
              <a:t>Deterministic</a:t>
            </a:r>
          </a:p>
          <a:p>
            <a:pPr marL="434975" indent="-260350">
              <a:spcAft>
                <a:spcPts val="600"/>
              </a:spcAft>
              <a:buFont typeface="Arial" panose="020B0604020202020204" pitchFamily="34" charset="0"/>
              <a:buChar char="•"/>
            </a:pPr>
            <a:r>
              <a:rPr lang="en-US" sz="1600" dirty="0">
                <a:latin typeface="+mn-lt"/>
              </a:rPr>
              <a:t>Should be used with data that has many distinct values​</a:t>
            </a:r>
          </a:p>
          <a:p>
            <a:pPr marL="434975" indent="-260350">
              <a:spcAft>
                <a:spcPts val="600"/>
              </a:spcAft>
              <a:buFont typeface="Arial" panose="020B0604020202020204" pitchFamily="34" charset="0"/>
              <a:buChar char="•"/>
            </a:pPr>
            <a:r>
              <a:rPr lang="en-US" sz="1600" b="1" dirty="0">
                <a:latin typeface="+mn-lt"/>
              </a:rPr>
              <a:t>Allows equality joins, grouping and indexing on encrypted columns</a:t>
            </a:r>
          </a:p>
        </p:txBody>
      </p:sp>
      <p:sp>
        <p:nvSpPr>
          <p:cNvPr id="22" name="Text Placeholder 12">
            <a:extLst>
              <a:ext uri="{FF2B5EF4-FFF2-40B4-BE49-F238E27FC236}">
                <a16:creationId xmlns:a16="http://schemas.microsoft.com/office/drawing/2014/main" id="{8019C586-D8C2-756D-1113-0BC8662DE386}"/>
              </a:ext>
            </a:extLst>
          </p:cNvPr>
          <p:cNvSpPr txBox="1">
            <a:spLocks/>
          </p:cNvSpPr>
          <p:nvPr/>
        </p:nvSpPr>
        <p:spPr>
          <a:xfrm>
            <a:off x="6220069" y="4779302"/>
            <a:ext cx="5379793" cy="1521616"/>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en-US" sz="1600" dirty="0"/>
              <a:t>Randomized</a:t>
            </a:r>
          </a:p>
          <a:p>
            <a:pPr marL="434975" indent="-260350">
              <a:spcAft>
                <a:spcPts val="600"/>
              </a:spcAft>
              <a:buFont typeface="Arial" panose="020B0604020202020204" pitchFamily="34" charset="0"/>
              <a:buChar char="•"/>
            </a:pPr>
            <a:r>
              <a:rPr lang="en-US" sz="1600" dirty="0">
                <a:latin typeface="+mn-lt"/>
              </a:rPr>
              <a:t>Most secure. Good for columns with few distinct values​</a:t>
            </a:r>
          </a:p>
          <a:p>
            <a:pPr marL="434975" indent="-260350">
              <a:spcAft>
                <a:spcPts val="600"/>
              </a:spcAft>
              <a:buFont typeface="Arial" panose="020B0604020202020204" pitchFamily="34" charset="0"/>
              <a:buChar char="•"/>
            </a:pPr>
            <a:r>
              <a:rPr lang="en-US" sz="1600" b="1" dirty="0">
                <a:latin typeface="+mn-lt"/>
              </a:rPr>
              <a:t>Prevents searching, grouping, indexing, joining on encrypted columns and equality operations</a:t>
            </a:r>
          </a:p>
        </p:txBody>
      </p:sp>
      <p:grpSp>
        <p:nvGrpSpPr>
          <p:cNvPr id="2" name="Group 1" descr="Diagram of scenarios for Always Encrypted usage">
            <a:extLst>
              <a:ext uri="{FF2B5EF4-FFF2-40B4-BE49-F238E27FC236}">
                <a16:creationId xmlns:a16="http://schemas.microsoft.com/office/drawing/2014/main" id="{4DB7793D-C694-9EDC-E2A7-78E533CEC492}"/>
              </a:ext>
            </a:extLst>
          </p:cNvPr>
          <p:cNvGrpSpPr/>
          <p:nvPr/>
        </p:nvGrpSpPr>
        <p:grpSpPr>
          <a:xfrm>
            <a:off x="1561573" y="1317890"/>
            <a:ext cx="9706839" cy="3288501"/>
            <a:chOff x="1687476" y="1807779"/>
            <a:chExt cx="9758288" cy="3615559"/>
          </a:xfrm>
        </p:grpSpPr>
        <p:graphicFrame>
          <p:nvGraphicFramePr>
            <p:cNvPr id="3" name="Diagram 2">
              <a:extLst>
                <a:ext uri="{FF2B5EF4-FFF2-40B4-BE49-F238E27FC236}">
                  <a16:creationId xmlns:a16="http://schemas.microsoft.com/office/drawing/2014/main" id="{072725AE-8DD7-34AB-3C9A-65E85033EC67}"/>
                </a:ext>
              </a:extLst>
            </p:cNvPr>
            <p:cNvGraphicFramePr/>
            <p:nvPr>
              <p:extLst>
                <p:ext uri="{D42A27DB-BD31-4B8C-83A1-F6EECF244321}">
                  <p14:modId xmlns:p14="http://schemas.microsoft.com/office/powerpoint/2010/main" val="41518494"/>
                </p:ext>
              </p:extLst>
            </p:nvPr>
          </p:nvGraphicFramePr>
          <p:xfrm>
            <a:off x="2559335" y="1807779"/>
            <a:ext cx="8886429" cy="36155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ight Triangle 3">
              <a:extLst>
                <a:ext uri="{FF2B5EF4-FFF2-40B4-BE49-F238E27FC236}">
                  <a16:creationId xmlns:a16="http://schemas.microsoft.com/office/drawing/2014/main" id="{749BB640-E63B-B76C-D696-718CDAA5296F}"/>
                </a:ext>
              </a:extLst>
            </p:cNvPr>
            <p:cNvSpPr/>
            <p:nvPr/>
          </p:nvSpPr>
          <p:spPr bwMode="auto">
            <a:xfrm rot="2651237">
              <a:off x="1691833" y="2347467"/>
              <a:ext cx="2286554" cy="2606615"/>
            </a:xfrm>
            <a:prstGeom prst="rtTriangle">
              <a:avLst/>
            </a:prstGeom>
            <a:solidFill>
              <a:srgbClr val="FFA3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2E355BCC-21A0-30C1-2618-96D2BF96CA34}"/>
                </a:ext>
              </a:extLst>
            </p:cNvPr>
            <p:cNvSpPr txBox="1"/>
            <p:nvPr/>
          </p:nvSpPr>
          <p:spPr>
            <a:xfrm>
              <a:off x="1687476" y="3480040"/>
              <a:ext cx="1000741" cy="360217"/>
            </a:xfrm>
            <a:prstGeom prst="rect">
              <a:avLst/>
            </a:prstGeom>
            <a:noFill/>
          </p:spPr>
          <p:txBody>
            <a:bodyPr wrap="none" lIns="0" tIns="0" rIns="0" bIns="0" rtlCol="0">
              <a:spAutoFit/>
            </a:bodyPr>
            <a:lstStyle/>
            <a:p>
              <a:pPr algn="l"/>
              <a:r>
                <a:rPr lang="en-US" sz="2000" i="0" dirty="0">
                  <a:effectLst/>
                  <a:latin typeface="+mj-lt"/>
                </a:rPr>
                <a:t>Scenario</a:t>
              </a:r>
              <a:endParaRPr lang="en-US" sz="2000" dirty="0">
                <a:latin typeface="+mj-lt"/>
              </a:endParaRPr>
            </a:p>
          </p:txBody>
        </p:sp>
      </p:grpSp>
    </p:spTree>
    <p:extLst>
      <p:ext uri="{BB962C8B-B14F-4D97-AF65-F5344CB8AC3E}">
        <p14:creationId xmlns:p14="http://schemas.microsoft.com/office/powerpoint/2010/main" val="325552398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80A8813-255A-EAC0-2D99-041D8D16BA8F}"/>
              </a:ext>
            </a:extLst>
          </p:cNvPr>
          <p:cNvSpPr>
            <a:spLocks noGrp="1"/>
          </p:cNvSpPr>
          <p:nvPr>
            <p:ph type="title"/>
          </p:nvPr>
        </p:nvSpPr>
        <p:spPr/>
        <p:txBody>
          <a:bodyPr/>
          <a:lstStyle/>
          <a:p>
            <a:r>
              <a:rPr lang="en-US" dirty="0"/>
              <a:t>What are secure enclaves?</a:t>
            </a:r>
          </a:p>
        </p:txBody>
      </p:sp>
      <p:sp>
        <p:nvSpPr>
          <p:cNvPr id="8" name="Text Placeholder 7">
            <a:extLst>
              <a:ext uri="{FF2B5EF4-FFF2-40B4-BE49-F238E27FC236}">
                <a16:creationId xmlns:a16="http://schemas.microsoft.com/office/drawing/2014/main" id="{A35467AB-9B45-5470-991E-2E6BC56E0648}"/>
              </a:ext>
            </a:extLst>
          </p:cNvPr>
          <p:cNvSpPr>
            <a:spLocks noGrp="1"/>
          </p:cNvSpPr>
          <p:nvPr>
            <p:ph type="body" sz="quarter" idx="15"/>
          </p:nvPr>
        </p:nvSpPr>
        <p:spPr>
          <a:xfrm>
            <a:off x="954690" y="1626134"/>
            <a:ext cx="5377536" cy="1082185"/>
          </a:xfrm>
        </p:spPr>
        <p:txBody>
          <a:bodyPr lIns="0" tIns="0" rIns="0" bIns="0"/>
          <a:lstStyle/>
          <a:p>
            <a:pPr marL="0" indent="0">
              <a:buNone/>
            </a:pPr>
            <a:r>
              <a:rPr lang="en-US" sz="2200" dirty="0"/>
              <a:t>Secure enclaves provide a secure protected area of server memory to decrypt data and perform calculations</a:t>
            </a:r>
          </a:p>
        </p:txBody>
      </p:sp>
      <p:sp>
        <p:nvSpPr>
          <p:cNvPr id="12" name="Text Placeholder 11">
            <a:extLst>
              <a:ext uri="{FF2B5EF4-FFF2-40B4-BE49-F238E27FC236}">
                <a16:creationId xmlns:a16="http://schemas.microsoft.com/office/drawing/2014/main" id="{FD054AD6-845B-1BDC-9787-4F2D2DA3B063}"/>
              </a:ext>
            </a:extLst>
          </p:cNvPr>
          <p:cNvSpPr>
            <a:spLocks noGrp="1"/>
          </p:cNvSpPr>
          <p:nvPr>
            <p:ph type="body" sz="quarter" idx="20"/>
          </p:nvPr>
        </p:nvSpPr>
        <p:spPr>
          <a:xfrm>
            <a:off x="6621963" y="1626134"/>
            <a:ext cx="5346199" cy="1082185"/>
          </a:xfrm>
        </p:spPr>
        <p:txBody>
          <a:bodyPr lIns="0" tIns="0" rIns="0" bIns="0"/>
          <a:lstStyle/>
          <a:p>
            <a:pPr marL="0" indent="0">
              <a:buNone/>
            </a:pPr>
            <a:r>
              <a:rPr lang="en-US" sz="2200" dirty="0"/>
              <a:t>Allows for even randomized encrypted data to be compared in queries that do pattern matching or range comparison </a:t>
            </a:r>
          </a:p>
        </p:txBody>
      </p:sp>
      <p:pic>
        <p:nvPicPr>
          <p:cNvPr id="15" name="Picture 14" descr="An image of the Always Encrypted secure enclave architecture. Which shows an application which sends encrypted text to the database, which in turns shares data with the secure enclave">
            <a:extLst>
              <a:ext uri="{FF2B5EF4-FFF2-40B4-BE49-F238E27FC236}">
                <a16:creationId xmlns:a16="http://schemas.microsoft.com/office/drawing/2014/main" id="{226D5202-FF15-F2A8-3A85-2887224979AE}"/>
              </a:ext>
            </a:extLst>
          </p:cNvPr>
          <p:cNvPicPr>
            <a:picLocks/>
          </p:cNvPicPr>
          <p:nvPr/>
        </p:nvPicPr>
        <p:blipFill rotWithShape="1">
          <a:blip r:embed="rId3"/>
          <a:srcRect l="867" t="3805" r="267" b="3805"/>
          <a:stretch/>
        </p:blipFill>
        <p:spPr>
          <a:xfrm>
            <a:off x="1420462" y="3168759"/>
            <a:ext cx="9347200" cy="2747284"/>
          </a:xfrm>
          <a:prstGeom prst="rect">
            <a:avLst/>
          </a:prstGeom>
          <a:noFill/>
          <a:ln w="38100">
            <a:noFill/>
            <a:headEnd type="none" w="med" len="med"/>
            <a:tailEnd type="none" w="med" len="med"/>
          </a:ln>
          <a:effectLst/>
        </p:spPr>
      </p:pic>
      <p:sp>
        <p:nvSpPr>
          <p:cNvPr id="2" name="Rectangle 1">
            <a:extLst>
              <a:ext uri="{FF2B5EF4-FFF2-40B4-BE49-F238E27FC236}">
                <a16:creationId xmlns:a16="http://schemas.microsoft.com/office/drawing/2014/main" id="{118E3705-A6B1-9442-A251-EC964838B29B}"/>
              </a:ext>
            </a:extLst>
          </p:cNvPr>
          <p:cNvSpPr/>
          <p:nvPr/>
        </p:nvSpPr>
        <p:spPr bwMode="auto">
          <a:xfrm>
            <a:off x="685800" y="1429175"/>
            <a:ext cx="11011600" cy="1542625"/>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760808249"/>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374285-F7D5-53B6-4FDA-55EF55A38BCB}"/>
              </a:ext>
              <a:ext uri="{C183D7F6-B498-43B3-948B-1728B52AA6E4}">
                <adec:decorative xmlns:adec="http://schemas.microsoft.com/office/drawing/2017/decorative" val="1"/>
              </a:ext>
            </a:extLst>
          </p:cNvPr>
          <p:cNvSpPr>
            <a:spLocks/>
          </p:cNvSpPr>
          <p:nvPr/>
        </p:nvSpPr>
        <p:spPr bwMode="auto">
          <a:xfrm>
            <a:off x="588260" y="1698170"/>
            <a:ext cx="11011602" cy="4574613"/>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itle 7">
            <a:extLst>
              <a:ext uri="{FF2B5EF4-FFF2-40B4-BE49-F238E27FC236}">
                <a16:creationId xmlns:a16="http://schemas.microsoft.com/office/drawing/2014/main" id="{EEFD8615-7EAE-CA2C-22B4-948CF258D0AE}"/>
              </a:ext>
            </a:extLst>
          </p:cNvPr>
          <p:cNvSpPr>
            <a:spLocks noGrp="1"/>
          </p:cNvSpPr>
          <p:nvPr>
            <p:ph type="title"/>
          </p:nvPr>
        </p:nvSpPr>
        <p:spPr/>
        <p:txBody>
          <a:bodyPr/>
          <a:lstStyle/>
          <a:p>
            <a:r>
              <a:rPr lang="en-US" altLang="zh-CN" dirty="0"/>
              <a:t>Demo: </a:t>
            </a:r>
            <a:r>
              <a:rPr lang="en-US" dirty="0"/>
              <a:t>Always Encrypted </a:t>
            </a:r>
            <a:endParaRPr lang="en-US" sz="4000" dirty="0"/>
          </a:p>
        </p:txBody>
      </p:sp>
      <p:sp>
        <p:nvSpPr>
          <p:cNvPr id="7" name="Text Placeholder 4">
            <a:extLst>
              <a:ext uri="{FF2B5EF4-FFF2-40B4-BE49-F238E27FC236}">
                <a16:creationId xmlns:a16="http://schemas.microsoft.com/office/drawing/2014/main" id="{A648C327-FF87-7C91-4579-4D0C902027A0}"/>
              </a:ext>
            </a:extLst>
          </p:cNvPr>
          <p:cNvSpPr txBox="1">
            <a:spLocks/>
          </p:cNvSpPr>
          <p:nvPr/>
        </p:nvSpPr>
        <p:spPr>
          <a:xfrm>
            <a:off x="3157281" y="3800810"/>
            <a:ext cx="5873560" cy="369332"/>
          </a:xfrm>
          <a:prstGeom prst="rect">
            <a:avLst/>
          </a:prstGeom>
        </p:spPr>
        <p:txBody>
          <a:bodyPr vert="horz" wrap="square" lIns="0" tIns="0" rIns="0" bIns="0" rtlCol="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r>
              <a:rPr lang="en-US" sz="2400" dirty="0">
                <a:latin typeface="+mj-lt"/>
              </a:rPr>
              <a:t>Encrypting data </a:t>
            </a:r>
          </a:p>
        </p:txBody>
      </p:sp>
    </p:spTree>
    <p:extLst>
      <p:ext uri="{BB962C8B-B14F-4D97-AF65-F5344CB8AC3E}">
        <p14:creationId xmlns:p14="http://schemas.microsoft.com/office/powerpoint/2010/main" val="3139523915"/>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9EBE968-BB62-80BF-3822-E7ED74E53DCC}"/>
              </a:ext>
            </a:extLst>
          </p:cNvPr>
          <p:cNvSpPr>
            <a:spLocks noGrp="1"/>
          </p:cNvSpPr>
          <p:nvPr>
            <p:ph type="title"/>
          </p:nvPr>
        </p:nvSpPr>
        <p:spPr/>
        <p:txBody>
          <a:bodyPr/>
          <a:lstStyle/>
          <a:p>
            <a:r>
              <a:rPr lang="en-US" dirty="0"/>
              <a:t>Enable encrypted connections on SQL Server</a:t>
            </a:r>
          </a:p>
        </p:txBody>
      </p:sp>
      <p:pic>
        <p:nvPicPr>
          <p:cNvPr id="8" name="Picture 4" descr="Protocols dialog box from Configuration Manager.">
            <a:extLst>
              <a:ext uri="{FF2B5EF4-FFF2-40B4-BE49-F238E27FC236}">
                <a16:creationId xmlns:a16="http://schemas.microsoft.com/office/drawing/2014/main" id="{F1FDBDBD-42F0-9860-6C5B-6967FF95B6A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28311" y="1996661"/>
            <a:ext cx="3186897" cy="3587183"/>
          </a:xfrm>
          <a:prstGeom prst="rect">
            <a:avLst/>
          </a:prstGeom>
          <a:extLst>
            <a:ext uri="{909E8E84-426E-40DD-AFC4-6F175D3DCCD1}">
              <a14:hiddenFill xmlns:a14="http://schemas.microsoft.com/office/drawing/2010/main">
                <a:solidFill>
                  <a:srgbClr val="FFFFFF"/>
                </a:solidFill>
              </a14:hiddenFill>
            </a:ext>
          </a:extLst>
        </p:spPr>
      </p:pic>
      <p:pic>
        <p:nvPicPr>
          <p:cNvPr id="14" name="Picture 6" descr="Protocols for SQL Server instance properties from Configuration Manager.">
            <a:extLst>
              <a:ext uri="{FF2B5EF4-FFF2-40B4-BE49-F238E27FC236}">
                <a16:creationId xmlns:a16="http://schemas.microsoft.com/office/drawing/2014/main" id="{3A709E18-B17A-A449-68AD-2ACCAB248E5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469980" y="1996661"/>
            <a:ext cx="3144509" cy="3587183"/>
          </a:xfrm>
          <a:prstGeom prst="rect">
            <a:avLst/>
          </a:prstGeom>
          <a:extLst>
            <a:ext uri="{909E8E84-426E-40DD-AFC4-6F175D3DCCD1}">
              <a14:hiddenFill xmlns:a14="http://schemas.microsoft.com/office/drawing/2010/main">
                <a:solidFill>
                  <a:srgbClr val="FFFFFF"/>
                </a:solidFill>
              </a14:hiddenFill>
            </a:ext>
          </a:extLst>
        </p:spPr>
      </p:pic>
      <p:pic>
        <p:nvPicPr>
          <p:cNvPr id="15" name="Picture 8" descr="Connect to Server dialog showing the encrypt connection feature on SSMS.">
            <a:extLst>
              <a:ext uri="{FF2B5EF4-FFF2-40B4-BE49-F238E27FC236}">
                <a16:creationId xmlns:a16="http://schemas.microsoft.com/office/drawing/2014/main" id="{7EE3AE2C-A397-1AFC-A935-83AC2C89B3E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tretch/>
        </p:blipFill>
        <p:spPr bwMode="auto">
          <a:xfrm>
            <a:off x="8169260" y="1996661"/>
            <a:ext cx="3290551" cy="3587183"/>
          </a:xfrm>
          <a:prstGeom prst="rect">
            <a:avLst/>
          </a:prstGeom>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9E514929-A4A7-FD2C-3C58-EABB499E458A}"/>
              </a:ext>
              <a:ext uri="{C183D7F6-B498-43B3-948B-1728B52AA6E4}">
                <adec:decorative xmlns:adec="http://schemas.microsoft.com/office/drawing/2017/decorative" val="1"/>
              </a:ext>
            </a:extLst>
          </p:cNvPr>
          <p:cNvSpPr/>
          <p:nvPr/>
        </p:nvSpPr>
        <p:spPr bwMode="auto">
          <a:xfrm>
            <a:off x="588261" y="1581150"/>
            <a:ext cx="11011601" cy="4418206"/>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568208599"/>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D61738E-A0A3-CB51-8CFA-97F9F218644D}"/>
              </a:ext>
            </a:extLst>
          </p:cNvPr>
          <p:cNvSpPr>
            <a:spLocks noGrp="1"/>
          </p:cNvSpPr>
          <p:nvPr>
            <p:ph type="title"/>
          </p:nvPr>
        </p:nvSpPr>
        <p:spPr/>
        <p:txBody>
          <a:bodyPr/>
          <a:lstStyle/>
          <a:p>
            <a:r>
              <a:rPr lang="en-US" dirty="0"/>
              <a:t>What is SQL Injection?</a:t>
            </a:r>
          </a:p>
        </p:txBody>
      </p:sp>
      <p:sp>
        <p:nvSpPr>
          <p:cNvPr id="7" name="Text Placeholder 6">
            <a:extLst>
              <a:ext uri="{FF2B5EF4-FFF2-40B4-BE49-F238E27FC236}">
                <a16:creationId xmlns:a16="http://schemas.microsoft.com/office/drawing/2014/main" id="{F649BF4F-19D0-0FA8-EEDA-6409C3CE6EC9}"/>
              </a:ext>
            </a:extLst>
          </p:cNvPr>
          <p:cNvSpPr>
            <a:spLocks noGrp="1"/>
          </p:cNvSpPr>
          <p:nvPr>
            <p:ph type="body" sz="quarter" idx="15"/>
          </p:nvPr>
        </p:nvSpPr>
        <p:spPr>
          <a:xfrm>
            <a:off x="586389" y="1887231"/>
            <a:ext cx="4362982" cy="3151632"/>
          </a:xfrm>
        </p:spPr>
        <p:txBody>
          <a:bodyPr>
            <a:spAutoFit/>
          </a:bodyPr>
          <a:lstStyle/>
          <a:p>
            <a:pPr marL="228600" indent="-228600">
              <a:spcAft>
                <a:spcPts val="1200"/>
              </a:spcAft>
              <a:buFont typeface="Arial" panose="020B0604020202020204" pitchFamily="34" charset="0"/>
              <a:buChar char="•"/>
            </a:pPr>
            <a:r>
              <a:rPr lang="en-US" sz="2200" dirty="0"/>
              <a:t>SQL Injection is an attack in which malicious code is inserted into strings that are later passed to a database engine</a:t>
            </a:r>
          </a:p>
          <a:p>
            <a:pPr marL="228600" indent="-228600">
              <a:spcAft>
                <a:spcPts val="1200"/>
              </a:spcAft>
              <a:buFont typeface="Arial" panose="020B0604020202020204" pitchFamily="34" charset="0"/>
              <a:buChar char="•"/>
            </a:pPr>
            <a:r>
              <a:rPr lang="en-US" sz="2200" dirty="0"/>
              <a:t>SQL Injection is a possibility whenever dynamic SQL is used with user input</a:t>
            </a:r>
          </a:p>
          <a:p>
            <a:pPr marL="228600" indent="-228600">
              <a:spcAft>
                <a:spcPts val="1200"/>
              </a:spcAft>
              <a:buFont typeface="Arial" panose="020B0604020202020204" pitchFamily="34" charset="0"/>
              <a:buChar char="•"/>
            </a:pPr>
            <a:r>
              <a:rPr lang="en-US" sz="2200" dirty="0"/>
              <a:t>An example is shown here &gt;</a:t>
            </a:r>
          </a:p>
        </p:txBody>
      </p:sp>
      <p:sp>
        <p:nvSpPr>
          <p:cNvPr id="6" name="Text Placeholder 5">
            <a:extLst>
              <a:ext uri="{FF2B5EF4-FFF2-40B4-BE49-F238E27FC236}">
                <a16:creationId xmlns:a16="http://schemas.microsoft.com/office/drawing/2014/main" id="{6EB59C26-D606-CFB1-133B-2DCCDD71B308}"/>
              </a:ext>
            </a:extLst>
          </p:cNvPr>
          <p:cNvSpPr>
            <a:spLocks noGrp="1"/>
          </p:cNvSpPr>
          <p:nvPr>
            <p:ph type="body" sz="quarter" idx="11"/>
          </p:nvPr>
        </p:nvSpPr>
        <p:spPr>
          <a:ln w="38100">
            <a:solidFill>
              <a:srgbClr val="C73ECC"/>
            </a:solidFill>
          </a:ln>
        </p:spPr>
        <p:txBody>
          <a:bodyPr lIns="137160" tIns="91440" rIns="137160" bIns="91440">
            <a:noAutofit/>
          </a:bodyPr>
          <a:lstStyle/>
          <a:p>
            <a:pPr>
              <a:spcAft>
                <a:spcPts val="600"/>
              </a:spcAft>
            </a:pPr>
            <a:r>
              <a:rPr lang="en-US" sz="2800" dirty="0">
                <a:solidFill>
                  <a:schemeClr val="tx1"/>
                </a:solidFill>
                <a:latin typeface="+mj-lt"/>
              </a:rPr>
              <a:t>C#:</a:t>
            </a:r>
            <a:endParaRPr lang="en-US" sz="3200" dirty="0"/>
          </a:p>
          <a:p>
            <a:r>
              <a:rPr lang="en-US" sz="2000" dirty="0">
                <a:solidFill>
                  <a:srgbClr val="795E26"/>
                </a:solidFill>
                <a:latin typeface="Consolas" panose="020B0609020204030204" pitchFamily="49" charset="0"/>
              </a:rPr>
              <a:t>var</a:t>
            </a:r>
            <a:r>
              <a:rPr lang="en-US" sz="2000" dirty="0">
                <a:solidFill>
                  <a:srgbClr val="212121"/>
                </a:solidFill>
                <a:latin typeface="Consolas" panose="020B0609020204030204" pitchFamily="49" charset="0"/>
              </a:rPr>
              <a:t> </a:t>
            </a:r>
            <a:r>
              <a:rPr lang="en-US" sz="2000" dirty="0" err="1">
                <a:solidFill>
                  <a:srgbClr val="212121"/>
                </a:solidFill>
                <a:latin typeface="Consolas" panose="020B0609020204030204" pitchFamily="49" charset="0"/>
              </a:rPr>
              <a:t>shipCity</a:t>
            </a:r>
            <a:r>
              <a:rPr lang="en-US" sz="2000" dirty="0">
                <a:solidFill>
                  <a:srgbClr val="212121"/>
                </a:solidFill>
                <a:latin typeface="Consolas" panose="020B0609020204030204" pitchFamily="49" charset="0"/>
              </a:rPr>
              <a:t>; </a:t>
            </a:r>
          </a:p>
          <a:p>
            <a:r>
              <a:rPr lang="en-US" sz="2000" dirty="0" err="1">
                <a:solidFill>
                  <a:srgbClr val="212121"/>
                </a:solidFill>
                <a:latin typeface="Consolas" panose="020B0609020204030204" pitchFamily="49" charset="0"/>
              </a:rPr>
              <a:t>shipCity</a:t>
            </a:r>
            <a:r>
              <a:rPr lang="en-US" sz="2000" dirty="0">
                <a:solidFill>
                  <a:srgbClr val="212121"/>
                </a:solidFill>
                <a:latin typeface="Consolas" panose="020B0609020204030204" pitchFamily="49" charset="0"/>
              </a:rPr>
              <a:t> </a:t>
            </a:r>
            <a:r>
              <a:rPr lang="en-US" sz="2000" dirty="0">
                <a:solidFill>
                  <a:srgbClr val="000000"/>
                </a:solidFill>
                <a:latin typeface="Consolas" panose="020B0609020204030204" pitchFamily="49" charset="0"/>
              </a:rPr>
              <a:t>=</a:t>
            </a:r>
            <a:r>
              <a:rPr lang="en-US" sz="2000" dirty="0">
                <a:solidFill>
                  <a:srgbClr val="212121"/>
                </a:solidFill>
                <a:latin typeface="Consolas" panose="020B0609020204030204" pitchFamily="49" charset="0"/>
              </a:rPr>
              <a:t> </a:t>
            </a:r>
            <a:r>
              <a:rPr lang="en-US" sz="2000" dirty="0" err="1">
                <a:solidFill>
                  <a:srgbClr val="212121"/>
                </a:solidFill>
                <a:latin typeface="Consolas" panose="020B0609020204030204" pitchFamily="49" charset="0"/>
              </a:rPr>
              <a:t>Request.form</a:t>
            </a:r>
            <a:r>
              <a:rPr lang="en-US" sz="2000" dirty="0">
                <a:solidFill>
                  <a:srgbClr val="212121"/>
                </a:solidFill>
                <a:latin typeface="Consolas" panose="020B0609020204030204" pitchFamily="49" charset="0"/>
              </a:rPr>
              <a:t> (</a:t>
            </a:r>
            <a:r>
              <a:rPr lang="en-US" sz="2000" dirty="0">
                <a:solidFill>
                  <a:srgbClr val="A31515"/>
                </a:solidFill>
                <a:latin typeface="Consolas" panose="020B0609020204030204" pitchFamily="49" charset="0"/>
              </a:rPr>
              <a:t>“</a:t>
            </a:r>
            <a:r>
              <a:rPr lang="en-US" sz="2000" dirty="0" err="1">
                <a:solidFill>
                  <a:srgbClr val="A31515"/>
                </a:solidFill>
                <a:latin typeface="Consolas" panose="020B0609020204030204" pitchFamily="49" charset="0"/>
              </a:rPr>
              <a:t>shipCity</a:t>
            </a:r>
            <a:r>
              <a:rPr lang="en-US" sz="2000" dirty="0">
                <a:solidFill>
                  <a:srgbClr val="A31515"/>
                </a:solidFill>
                <a:latin typeface="Consolas" panose="020B0609020204030204" pitchFamily="49" charset="0"/>
              </a:rPr>
              <a:t>"</a:t>
            </a:r>
            <a:r>
              <a:rPr lang="en-US" sz="2000" dirty="0">
                <a:solidFill>
                  <a:srgbClr val="212121"/>
                </a:solidFill>
                <a:latin typeface="Consolas" panose="020B0609020204030204" pitchFamily="49" charset="0"/>
              </a:rPr>
              <a:t>); </a:t>
            </a:r>
          </a:p>
          <a:p>
            <a:pPr>
              <a:spcAft>
                <a:spcPts val="1800"/>
              </a:spcAft>
            </a:pPr>
            <a:r>
              <a:rPr lang="en-US" sz="2000" dirty="0">
                <a:solidFill>
                  <a:srgbClr val="795E26"/>
                </a:solidFill>
                <a:latin typeface="Consolas" panose="020B0609020204030204" pitchFamily="49" charset="0"/>
              </a:rPr>
              <a:t>var</a:t>
            </a:r>
            <a:r>
              <a:rPr lang="en-US" sz="2000" dirty="0">
                <a:solidFill>
                  <a:srgbClr val="212121"/>
                </a:solidFill>
                <a:latin typeface="Consolas" panose="020B0609020204030204" pitchFamily="49" charset="0"/>
              </a:rPr>
              <a:t> </a:t>
            </a:r>
            <a:r>
              <a:rPr lang="en-US" sz="2000" dirty="0" err="1">
                <a:solidFill>
                  <a:srgbClr val="0000FF"/>
                </a:solidFill>
                <a:latin typeface="Consolas" panose="020B0609020204030204" pitchFamily="49" charset="0"/>
              </a:rPr>
              <a:t>sql</a:t>
            </a:r>
            <a:r>
              <a:rPr lang="en-US" sz="2000" dirty="0">
                <a:solidFill>
                  <a:srgbClr val="212121"/>
                </a:solidFill>
                <a:latin typeface="Consolas" panose="020B0609020204030204" pitchFamily="49" charset="0"/>
              </a:rPr>
              <a:t> </a:t>
            </a:r>
            <a:r>
              <a:rPr lang="en-US" sz="2000" dirty="0">
                <a:solidFill>
                  <a:srgbClr val="000000"/>
                </a:solidFill>
                <a:latin typeface="Consolas" panose="020B0609020204030204" pitchFamily="49" charset="0"/>
              </a:rPr>
              <a:t>=</a:t>
            </a:r>
            <a:r>
              <a:rPr lang="en-US" sz="2000" dirty="0">
                <a:solidFill>
                  <a:srgbClr val="212121"/>
                </a:solidFill>
                <a:latin typeface="Consolas" panose="020B0609020204030204" pitchFamily="49" charset="0"/>
              </a:rPr>
              <a:t> </a:t>
            </a:r>
            <a:r>
              <a:rPr lang="en-US" sz="2000" dirty="0">
                <a:solidFill>
                  <a:srgbClr val="A31515"/>
                </a:solidFill>
                <a:latin typeface="Consolas" panose="020B0609020204030204" pitchFamily="49" charset="0"/>
              </a:rPr>
              <a:t>"select * from </a:t>
            </a:r>
            <a:r>
              <a:rPr lang="en-US" sz="2000" dirty="0" err="1">
                <a:solidFill>
                  <a:srgbClr val="A31515"/>
                </a:solidFill>
                <a:latin typeface="Consolas" panose="020B0609020204030204" pitchFamily="49" charset="0"/>
              </a:rPr>
              <a:t>OrdersTable</a:t>
            </a:r>
            <a:r>
              <a:rPr lang="en-US" sz="2000" dirty="0">
                <a:solidFill>
                  <a:srgbClr val="A31515"/>
                </a:solidFill>
                <a:latin typeface="Consolas" panose="020B0609020204030204" pitchFamily="49" charset="0"/>
              </a:rPr>
              <a:t> where </a:t>
            </a:r>
            <a:r>
              <a:rPr lang="en-US" sz="2000" dirty="0" err="1">
                <a:solidFill>
                  <a:srgbClr val="A31515"/>
                </a:solidFill>
                <a:latin typeface="Consolas" panose="020B0609020204030204" pitchFamily="49" charset="0"/>
              </a:rPr>
              <a:t>shipCity</a:t>
            </a:r>
            <a:r>
              <a:rPr lang="en-US" sz="2000" dirty="0">
                <a:solidFill>
                  <a:srgbClr val="A31515"/>
                </a:solidFill>
                <a:latin typeface="Consolas" panose="020B0609020204030204" pitchFamily="49" charset="0"/>
              </a:rPr>
              <a:t> = '"</a:t>
            </a:r>
            <a:r>
              <a:rPr lang="en-US" sz="2000" dirty="0">
                <a:solidFill>
                  <a:srgbClr val="212121"/>
                </a:solidFill>
                <a:latin typeface="Consolas" panose="020B0609020204030204" pitchFamily="49" charset="0"/>
              </a:rPr>
              <a:t> </a:t>
            </a:r>
            <a:r>
              <a:rPr lang="en-US" sz="2000" dirty="0">
                <a:solidFill>
                  <a:srgbClr val="000000"/>
                </a:solidFill>
                <a:latin typeface="Consolas" panose="020B0609020204030204" pitchFamily="49" charset="0"/>
              </a:rPr>
              <a:t>+</a:t>
            </a:r>
            <a:r>
              <a:rPr lang="en-US" sz="2000" dirty="0">
                <a:solidFill>
                  <a:srgbClr val="212121"/>
                </a:solidFill>
                <a:latin typeface="Consolas" panose="020B0609020204030204" pitchFamily="49" charset="0"/>
              </a:rPr>
              <a:t> </a:t>
            </a:r>
            <a:r>
              <a:rPr lang="en-US" sz="2000" dirty="0" err="1">
                <a:solidFill>
                  <a:srgbClr val="212121"/>
                </a:solidFill>
                <a:latin typeface="Consolas" panose="020B0609020204030204" pitchFamily="49" charset="0"/>
              </a:rPr>
              <a:t>ShipCity</a:t>
            </a:r>
            <a:r>
              <a:rPr lang="en-US" sz="2000" dirty="0">
                <a:solidFill>
                  <a:srgbClr val="212121"/>
                </a:solidFill>
                <a:latin typeface="Consolas" panose="020B0609020204030204" pitchFamily="49" charset="0"/>
              </a:rPr>
              <a:t> </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t>
            </a:r>
            <a:r>
              <a:rPr lang="en-US" sz="2000" dirty="0">
                <a:solidFill>
                  <a:srgbClr val="212121"/>
                </a:solidFill>
                <a:latin typeface="Consolas" panose="020B0609020204030204" pitchFamily="49" charset="0"/>
              </a:rPr>
              <a:t>;</a:t>
            </a:r>
          </a:p>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mj-lt"/>
                <a:ea typeface="+mn-ea"/>
                <a:cs typeface="+mn-cs"/>
              </a:rPr>
              <a:t>User Input:</a:t>
            </a:r>
            <a:endParaRPr kumimoji="0" lang="en-US" sz="2800" b="0" i="0" u="none" strike="noStrike" kern="1200" cap="none" spc="0" normalizeH="0" baseline="0" noProof="0" dirty="0">
              <a:ln>
                <a:noFill/>
              </a:ln>
              <a:solidFill>
                <a:prstClr val="black"/>
              </a:solidFill>
              <a:effectLst/>
              <a:uLnTx/>
              <a:uFillTx/>
              <a:latin typeface="+mj-lt"/>
              <a:ea typeface="+mn-ea"/>
              <a:cs typeface="+mn-cs"/>
            </a:endParaRPr>
          </a:p>
          <a:p>
            <a:pPr marL="0" marR="0" lvl="0" indent="0" algn="l" defTabSz="932742" rtl="0" eaLnBrk="1" fontAlgn="auto" latinLnBrk="0" hangingPunct="1">
              <a:lnSpc>
                <a:spcPct val="100000"/>
              </a:lnSpc>
              <a:spcBef>
                <a:spcPts val="0"/>
              </a:spcBef>
              <a:spcAft>
                <a:spcPts val="180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Redmond</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rPr>
              <a:t>'; drop table </a:t>
            </a:r>
            <a:r>
              <a:rPr kumimoji="0" lang="en-US" sz="2400" b="0" i="0" u="none" strike="noStrike" kern="1200" cap="none" spc="0" normalizeH="0" baseline="0" noProof="0" dirty="0" err="1">
                <a:ln>
                  <a:noFill/>
                </a:ln>
                <a:solidFill>
                  <a:srgbClr val="A31515"/>
                </a:solidFill>
                <a:effectLst/>
                <a:uLnTx/>
                <a:uFillTx/>
                <a:latin typeface="Consolas" panose="020B0609020204030204" pitchFamily="49" charset="0"/>
              </a:rPr>
              <a:t>OrdersTable</a:t>
            </a:r>
            <a:r>
              <a:rPr lang="en-US" sz="2000" dirty="0">
                <a:solidFill>
                  <a:srgbClr val="A31515"/>
                </a:solidFill>
                <a:latin typeface="Consolas" panose="020B0609020204030204" pitchFamily="49" charset="0"/>
              </a:rPr>
              <a:t>--</a:t>
            </a:r>
            <a:endParaRPr kumimoji="0" lang="en-US" sz="2400" b="0" i="0" u="none" strike="noStrike" kern="1200" cap="none" spc="0" normalizeH="0" baseline="0" noProof="0" dirty="0">
              <a:ln>
                <a:noFill/>
              </a:ln>
              <a:solidFill>
                <a:srgbClr val="A31515"/>
              </a:solidFill>
              <a:effectLst/>
              <a:uLnTx/>
              <a:uFillTx/>
              <a:latin typeface="Consolas" panose="020B0609020204030204" pitchFamily="49" charset="0"/>
            </a:endParaRPr>
          </a:p>
          <a:p>
            <a:pPr>
              <a:spcAft>
                <a:spcPts val="600"/>
              </a:spcAft>
              <a:defRPr/>
            </a:pPr>
            <a:r>
              <a:rPr lang="en-US" sz="2800" b="1" dirty="0">
                <a:solidFill>
                  <a:prstClr val="black"/>
                </a:solidFill>
                <a:latin typeface="+mj-lt"/>
              </a:rPr>
              <a:t>Executed SQL:</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rPr>
              <a:t>SELECT</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rPr>
              <a:t>FROM</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err="1">
                <a:ln>
                  <a:noFill/>
                </a:ln>
                <a:solidFill>
                  <a:srgbClr val="212121"/>
                </a:solidFill>
                <a:effectLst/>
                <a:uLnTx/>
                <a:uFillTx/>
                <a:latin typeface="Consolas" panose="020B0609020204030204" pitchFamily="49" charset="0"/>
              </a:rPr>
              <a:t>OrdersTable</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rPr>
              <a:t>WHERE</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err="1">
                <a:ln>
                  <a:noFill/>
                </a:ln>
                <a:solidFill>
                  <a:srgbClr val="212121"/>
                </a:solidFill>
                <a:effectLst/>
                <a:uLnTx/>
                <a:uFillTx/>
                <a:latin typeface="Consolas" panose="020B0609020204030204" pitchFamily="49" charset="0"/>
              </a:rPr>
              <a:t>ShipCity</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a:ln>
                  <a:noFill/>
                </a:ln>
                <a:solidFill>
                  <a:srgbClr val="A31515"/>
                </a:solidFill>
                <a:effectLst/>
                <a:uLnTx/>
                <a:uFillTx/>
                <a:latin typeface="Consolas" panose="020B0609020204030204" pitchFamily="49" charset="0"/>
              </a:rPr>
              <a:t>'Redmond'</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rPr>
              <a:t>drop</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rPr>
              <a:t>table</a:t>
            </a:r>
            <a:r>
              <a:rPr kumimoji="0" lang="en-US" sz="2400" b="0" i="0" u="none" strike="noStrike" kern="1200" cap="none" spc="0" normalizeH="0" baseline="0" noProof="0" dirty="0">
                <a:ln>
                  <a:noFill/>
                </a:ln>
                <a:solidFill>
                  <a:srgbClr val="212121"/>
                </a:solidFill>
                <a:effectLst/>
                <a:uLnTx/>
                <a:uFillTx/>
                <a:latin typeface="Consolas" panose="020B0609020204030204" pitchFamily="49" charset="0"/>
              </a:rPr>
              <a:t> </a:t>
            </a:r>
            <a:r>
              <a:rPr kumimoji="0" lang="en-US" sz="2400" b="0" i="0" u="none" strike="noStrike" kern="1200" cap="none" spc="0" normalizeH="0" baseline="0" noProof="0" dirty="0" err="1">
                <a:ln>
                  <a:noFill/>
                </a:ln>
                <a:solidFill>
                  <a:srgbClr val="212121"/>
                </a:solidFill>
                <a:effectLst/>
                <a:uLnTx/>
                <a:uFillTx/>
                <a:latin typeface="Consolas" panose="020B0609020204030204" pitchFamily="49" charset="0"/>
              </a:rPr>
              <a:t>OrdersTable</a:t>
            </a:r>
            <a:r>
              <a:rPr kumimoji="0" lang="en-US" sz="2400" b="0" i="0" u="none" strike="noStrike" kern="1200" cap="none" spc="0" normalizeH="0" baseline="0" noProof="0" dirty="0">
                <a:ln>
                  <a:noFill/>
                </a:ln>
                <a:solidFill>
                  <a:srgbClr val="008000"/>
                </a:solidFill>
                <a:effectLst/>
                <a:uLnTx/>
                <a:uFillTx/>
                <a:latin typeface="Consolas" panose="020B0609020204030204" pitchFamily="49" charset="0"/>
              </a:rPr>
              <a:t>--'</a:t>
            </a:r>
            <a:endParaRPr kumimoji="0" lang="en-US" sz="2400" b="0" i="0" u="none" strike="noStrike" kern="1200" cap="none" spc="0" normalizeH="0" baseline="0" noProof="0" dirty="0">
              <a:ln>
                <a:noFill/>
              </a:ln>
              <a:solidFill>
                <a:srgbClr val="212121"/>
              </a:solidFill>
              <a:effectLst/>
              <a:uLnTx/>
              <a:uFillTx/>
              <a:latin typeface="Consolas" panose="020B0609020204030204" pitchFamily="49" charset="0"/>
            </a:endParaRPr>
          </a:p>
        </p:txBody>
      </p:sp>
    </p:spTree>
    <p:extLst>
      <p:ext uri="{BB962C8B-B14F-4D97-AF65-F5344CB8AC3E}">
        <p14:creationId xmlns:p14="http://schemas.microsoft.com/office/powerpoint/2010/main" val="58386231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1134013-74BC-9460-1AAC-FFB5A8C958A3}"/>
              </a:ext>
            </a:extLst>
          </p:cNvPr>
          <p:cNvSpPr>
            <a:spLocks noGrp="1"/>
          </p:cNvSpPr>
          <p:nvPr>
            <p:ph type="title"/>
          </p:nvPr>
        </p:nvSpPr>
        <p:spPr/>
        <p:txBody>
          <a:bodyPr/>
          <a:lstStyle/>
          <a:p>
            <a:r>
              <a:rPr lang="en-US" dirty="0"/>
              <a:t>What is Azure Key Vault?</a:t>
            </a:r>
          </a:p>
        </p:txBody>
      </p:sp>
      <p:pic>
        <p:nvPicPr>
          <p:cNvPr id="2" name="Picture 1" descr="Icon of a key">
            <a:extLst>
              <a:ext uri="{FF2B5EF4-FFF2-40B4-BE49-F238E27FC236}">
                <a16:creationId xmlns:a16="http://schemas.microsoft.com/office/drawing/2014/main" id="{2853B5C7-3D88-AB75-7425-F9754F237FE9}"/>
              </a:ext>
            </a:extLst>
          </p:cNvPr>
          <p:cNvPicPr>
            <a:picLocks/>
          </p:cNvPicPr>
          <p:nvPr/>
        </p:nvPicPr>
        <p:blipFill>
          <a:blip r:embed="rId3">
            <a:duotone>
              <a:schemeClr val="accent3">
                <a:shade val="45000"/>
                <a:satMod val="135000"/>
              </a:schemeClr>
              <a:prstClr val="white"/>
            </a:duotone>
          </a:blip>
          <a:stretch>
            <a:fillRect/>
          </a:stretch>
        </p:blipFill>
        <p:spPr>
          <a:xfrm>
            <a:off x="624243" y="1561801"/>
            <a:ext cx="557786" cy="557786"/>
          </a:xfrm>
          <a:prstGeom prst="rect">
            <a:avLst/>
          </a:prstGeom>
        </p:spPr>
      </p:pic>
      <p:sp>
        <p:nvSpPr>
          <p:cNvPr id="17" name="Rectangle 16">
            <a:extLst>
              <a:ext uri="{FF2B5EF4-FFF2-40B4-BE49-F238E27FC236}">
                <a16:creationId xmlns:a16="http://schemas.microsoft.com/office/drawing/2014/main" id="{00A6F653-12E4-EE00-5E4E-804AECEDE904}"/>
              </a:ext>
            </a:extLst>
          </p:cNvPr>
          <p:cNvSpPr>
            <a:spLocks/>
          </p:cNvSpPr>
          <p:nvPr/>
        </p:nvSpPr>
        <p:spPr bwMode="auto">
          <a:xfrm>
            <a:off x="1322172" y="1702195"/>
            <a:ext cx="10273627"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Key Vault is a solution to safeguard cryptographic keys and other secrets</a:t>
            </a:r>
          </a:p>
        </p:txBody>
      </p:sp>
      <p:pic>
        <p:nvPicPr>
          <p:cNvPr id="3" name="Picture 2" descr="Icon of a rectangle, a square and a circle in a straight line">
            <a:extLst>
              <a:ext uri="{FF2B5EF4-FFF2-40B4-BE49-F238E27FC236}">
                <a16:creationId xmlns:a16="http://schemas.microsoft.com/office/drawing/2014/main" id="{9622BDE9-0DD7-88DB-3A01-C93FC3A1A174}"/>
              </a:ext>
            </a:extLst>
          </p:cNvPr>
          <p:cNvPicPr>
            <a:picLocks/>
          </p:cNvPicPr>
          <p:nvPr/>
        </p:nvPicPr>
        <p:blipFill>
          <a:blip r:embed="rId4">
            <a:duotone>
              <a:schemeClr val="accent3">
                <a:shade val="45000"/>
                <a:satMod val="135000"/>
              </a:schemeClr>
              <a:prstClr val="white"/>
            </a:duotone>
          </a:blip>
          <a:stretch>
            <a:fillRect/>
          </a:stretch>
        </p:blipFill>
        <p:spPr>
          <a:xfrm>
            <a:off x="624243" y="2503356"/>
            <a:ext cx="557786" cy="557786"/>
          </a:xfrm>
          <a:prstGeom prst="rect">
            <a:avLst/>
          </a:prstGeom>
        </p:spPr>
      </p:pic>
      <p:sp>
        <p:nvSpPr>
          <p:cNvPr id="19" name="Rectangle 18">
            <a:extLst>
              <a:ext uri="{FF2B5EF4-FFF2-40B4-BE49-F238E27FC236}">
                <a16:creationId xmlns:a16="http://schemas.microsoft.com/office/drawing/2014/main" id="{B8B4CFA1-5DBC-50EF-654B-EF6EB8EE2136}"/>
              </a:ext>
            </a:extLst>
          </p:cNvPr>
          <p:cNvSpPr>
            <a:spLocks/>
          </p:cNvSpPr>
          <p:nvPr/>
        </p:nvSpPr>
        <p:spPr bwMode="auto">
          <a:xfrm>
            <a:off x="1322173" y="2505250"/>
            <a:ext cx="10273626"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It can be used in conjunction with Azure VMs running SQL Server to store Transparent Data Encryption and Always Encrypted certificates</a:t>
            </a:r>
          </a:p>
        </p:txBody>
      </p:sp>
      <p:pic>
        <p:nvPicPr>
          <p:cNvPr id="4" name="Picture 3" descr="Icon of a server with cloud in the middle">
            <a:extLst>
              <a:ext uri="{FF2B5EF4-FFF2-40B4-BE49-F238E27FC236}">
                <a16:creationId xmlns:a16="http://schemas.microsoft.com/office/drawing/2014/main" id="{0388F48C-99D9-2C47-D171-1B111F457AC3}"/>
              </a:ext>
            </a:extLst>
          </p:cNvPr>
          <p:cNvPicPr>
            <a:picLocks/>
          </p:cNvPicPr>
          <p:nvPr/>
        </p:nvPicPr>
        <p:blipFill>
          <a:blip r:embed="rId5">
            <a:duotone>
              <a:schemeClr val="accent3">
                <a:shade val="45000"/>
                <a:satMod val="135000"/>
              </a:schemeClr>
              <a:prstClr val="white"/>
            </a:duotone>
          </a:blip>
          <a:stretch>
            <a:fillRect/>
          </a:stretch>
        </p:blipFill>
        <p:spPr>
          <a:xfrm>
            <a:off x="624243" y="3444911"/>
            <a:ext cx="557786" cy="557786"/>
          </a:xfrm>
          <a:prstGeom prst="rect">
            <a:avLst/>
          </a:prstGeom>
        </p:spPr>
      </p:pic>
      <p:sp>
        <p:nvSpPr>
          <p:cNvPr id="21" name="Rectangle 20">
            <a:extLst>
              <a:ext uri="{FF2B5EF4-FFF2-40B4-BE49-F238E27FC236}">
                <a16:creationId xmlns:a16="http://schemas.microsoft.com/office/drawing/2014/main" id="{47A212B6-2664-38AB-3254-7CF52290B641}"/>
              </a:ext>
            </a:extLst>
          </p:cNvPr>
          <p:cNvSpPr>
            <a:spLocks/>
          </p:cNvSpPr>
          <p:nvPr/>
        </p:nvSpPr>
        <p:spPr bwMode="auto">
          <a:xfrm>
            <a:off x="1322172" y="3585304"/>
            <a:ext cx="10273627"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This can also be used with on-premises servers</a:t>
            </a:r>
          </a:p>
        </p:txBody>
      </p:sp>
      <p:pic>
        <p:nvPicPr>
          <p:cNvPr id="5" name="Picture 4" descr="Icon of a webpage showing a product symbol">
            <a:extLst>
              <a:ext uri="{FF2B5EF4-FFF2-40B4-BE49-F238E27FC236}">
                <a16:creationId xmlns:a16="http://schemas.microsoft.com/office/drawing/2014/main" id="{41BC221A-5521-AFAA-4578-13FB0EAEF7B5}"/>
              </a:ext>
            </a:extLst>
          </p:cNvPr>
          <p:cNvPicPr>
            <a:picLocks/>
          </p:cNvPicPr>
          <p:nvPr/>
        </p:nvPicPr>
        <p:blipFill>
          <a:blip r:embed="rId6">
            <a:duotone>
              <a:schemeClr val="accent3">
                <a:shade val="45000"/>
                <a:satMod val="135000"/>
              </a:schemeClr>
              <a:prstClr val="white"/>
            </a:duotone>
          </a:blip>
          <a:stretch>
            <a:fillRect/>
          </a:stretch>
        </p:blipFill>
        <p:spPr>
          <a:xfrm>
            <a:off x="624243" y="4386466"/>
            <a:ext cx="557786" cy="557786"/>
          </a:xfrm>
          <a:prstGeom prst="rect">
            <a:avLst/>
          </a:prstGeom>
        </p:spPr>
      </p:pic>
      <p:sp>
        <p:nvSpPr>
          <p:cNvPr id="24" name="Rectangle 23">
            <a:extLst>
              <a:ext uri="{FF2B5EF4-FFF2-40B4-BE49-F238E27FC236}">
                <a16:creationId xmlns:a16="http://schemas.microsoft.com/office/drawing/2014/main" id="{5E33D5F3-2B5E-DCA2-5A3F-F9E3A53AA76D}"/>
              </a:ext>
            </a:extLst>
          </p:cNvPr>
          <p:cNvSpPr>
            <a:spLocks/>
          </p:cNvSpPr>
          <p:nvPr/>
        </p:nvSpPr>
        <p:spPr bwMode="auto">
          <a:xfrm>
            <a:off x="1322172" y="4388360"/>
            <a:ext cx="10273627"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rPr>
              <a:t>Azure SQL VM resource provider integrates with Key Vaults and can store your TDE certificates in Azure Key Vault</a:t>
            </a:r>
          </a:p>
        </p:txBody>
      </p:sp>
    </p:spTree>
    <p:extLst>
      <p:ext uri="{BB962C8B-B14F-4D97-AF65-F5344CB8AC3E}">
        <p14:creationId xmlns:p14="http://schemas.microsoft.com/office/powerpoint/2010/main" val="160872474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DBBCEAA-320E-3E2E-B268-66B549558651}"/>
              </a:ext>
            </a:extLst>
          </p:cNvPr>
          <p:cNvSpPr>
            <a:spLocks noGrp="1"/>
          </p:cNvSpPr>
          <p:nvPr>
            <p:ph type="title"/>
          </p:nvPr>
        </p:nvSpPr>
        <p:spPr>
          <a:xfrm>
            <a:off x="588262" y="585216"/>
            <a:ext cx="11011600" cy="492443"/>
          </a:xfrm>
        </p:spPr>
        <p:txBody>
          <a:bodyPr/>
          <a:lstStyle/>
          <a:p>
            <a:r>
              <a:rPr lang="en-US"/>
              <a:t>Knowledge check </a:t>
            </a:r>
            <a:endParaRPr lang="en-US" dirty="0"/>
          </a:p>
        </p:txBody>
      </p:sp>
      <p:pic>
        <p:nvPicPr>
          <p:cNvPr id="75" name="Picture 74" descr="Icon of a person">
            <a:extLst>
              <a:ext uri="{FF2B5EF4-FFF2-40B4-BE49-F238E27FC236}">
                <a16:creationId xmlns:a16="http://schemas.microsoft.com/office/drawing/2014/main" id="{7A35F2DA-9A4A-B4EC-4741-F19B5A0ECEC6}"/>
              </a:ext>
            </a:extLst>
          </p:cNvPr>
          <p:cNvPicPr>
            <a:picLocks noChangeAspect="1"/>
          </p:cNvPicPr>
          <p:nvPr/>
        </p:nvPicPr>
        <p:blipFill>
          <a:blip r:embed="rId3">
            <a:duotone>
              <a:schemeClr val="accent2">
                <a:shade val="45000"/>
                <a:satMod val="135000"/>
              </a:schemeClr>
              <a:prstClr val="white"/>
            </a:duotone>
          </a:blip>
          <a:stretch>
            <a:fillRect/>
          </a:stretch>
        </p:blipFill>
        <p:spPr>
          <a:xfrm>
            <a:off x="714375" y="1519554"/>
            <a:ext cx="548640" cy="548640"/>
          </a:xfrm>
          <a:prstGeom prst="rect">
            <a:avLst/>
          </a:prstGeom>
        </p:spPr>
      </p:pic>
      <p:sp>
        <p:nvSpPr>
          <p:cNvPr id="27" name="Text Placeholder 44">
            <a:extLst>
              <a:ext uri="{FF2B5EF4-FFF2-40B4-BE49-F238E27FC236}">
                <a16:creationId xmlns:a16="http://schemas.microsoft.com/office/drawing/2014/main" id="{5FC59B8D-BC06-81C3-8824-F962BD45110C}"/>
              </a:ext>
            </a:extLst>
          </p:cNvPr>
          <p:cNvSpPr>
            <a:spLocks noGrp="1"/>
          </p:cNvSpPr>
          <p:nvPr>
            <p:ph type="body" sz="quarter" idx="17"/>
          </p:nvPr>
        </p:nvSpPr>
        <p:spPr>
          <a:xfrm>
            <a:off x="1427233" y="1655375"/>
            <a:ext cx="8586718" cy="276999"/>
          </a:xfrm>
        </p:spPr>
        <p:txBody>
          <a:bodyPr anchor="ctr"/>
          <a:lstStyle/>
          <a:p>
            <a:r>
              <a:rPr lang="en-US" sz="1800" dirty="0"/>
              <a:t>Which feature provides a private IP address for an Azure SQL Database? </a:t>
            </a:r>
          </a:p>
        </p:txBody>
      </p:sp>
      <p:sp>
        <p:nvSpPr>
          <p:cNvPr id="28" name="Text Placeholder 43">
            <a:extLst>
              <a:ext uri="{FF2B5EF4-FFF2-40B4-BE49-F238E27FC236}">
                <a16:creationId xmlns:a16="http://schemas.microsoft.com/office/drawing/2014/main" id="{EDF80D5F-2F74-F4DB-C92C-3389210DF088}"/>
              </a:ext>
            </a:extLst>
          </p:cNvPr>
          <p:cNvSpPr>
            <a:spLocks noGrp="1"/>
          </p:cNvSpPr>
          <p:nvPr>
            <p:ph type="body" sz="quarter" idx="15"/>
          </p:nvPr>
        </p:nvSpPr>
        <p:spPr>
          <a:xfrm>
            <a:off x="1428750" y="1932374"/>
            <a:ext cx="8583613" cy="837152"/>
          </a:xfrm>
        </p:spPr>
        <p:txBody>
          <a:bodyPr/>
          <a:lstStyle/>
          <a:p>
            <a:pPr>
              <a:spcBef>
                <a:spcPts val="0"/>
              </a:spcBef>
              <a:spcAft>
                <a:spcPts val="300"/>
              </a:spcAft>
            </a:pPr>
            <a:r>
              <a:rPr lang="en-US" sz="1600" dirty="0"/>
              <a:t>Network Endpoints</a:t>
            </a:r>
          </a:p>
          <a:p>
            <a:pPr>
              <a:spcBef>
                <a:spcPts val="0"/>
              </a:spcBef>
              <a:spcAft>
                <a:spcPts val="300"/>
              </a:spcAft>
            </a:pPr>
            <a:r>
              <a:rPr lang="en-US" sz="1600" dirty="0"/>
              <a:t>Private Link</a:t>
            </a:r>
          </a:p>
          <a:p>
            <a:pPr>
              <a:spcBef>
                <a:spcPts val="0"/>
              </a:spcBef>
              <a:spcAft>
                <a:spcPts val="300"/>
              </a:spcAft>
            </a:pPr>
            <a:r>
              <a:rPr lang="en-US" sz="1600" dirty="0"/>
              <a:t>Database Firewall</a:t>
            </a:r>
          </a:p>
        </p:txBody>
      </p:sp>
      <p:sp>
        <p:nvSpPr>
          <p:cNvPr id="29" name="Graphic 26">
            <a:extLst>
              <a:ext uri="{FF2B5EF4-FFF2-40B4-BE49-F238E27FC236}">
                <a16:creationId xmlns:a16="http://schemas.microsoft.com/office/drawing/2014/main" id="{F37E832D-F9FA-B26B-624A-B673EE28708F}"/>
              </a:ext>
              <a:ext uri="{C183D7F6-B498-43B3-948B-1728B52AA6E4}">
                <adec:decorative xmlns:adec="http://schemas.microsoft.com/office/drawing/2017/decorative" val="1"/>
              </a:ext>
            </a:extLst>
          </p:cNvPr>
          <p:cNvSpPr/>
          <p:nvPr/>
        </p:nvSpPr>
        <p:spPr>
          <a:xfrm>
            <a:off x="1450170" y="223984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pic>
        <p:nvPicPr>
          <p:cNvPr id="76" name="Picture 75" descr="Icon of a document">
            <a:extLst>
              <a:ext uri="{FF2B5EF4-FFF2-40B4-BE49-F238E27FC236}">
                <a16:creationId xmlns:a16="http://schemas.microsoft.com/office/drawing/2014/main" id="{855466DE-704C-5085-EE32-42075653D93E}"/>
              </a:ext>
            </a:extLst>
          </p:cNvPr>
          <p:cNvPicPr>
            <a:picLocks noChangeAspect="1"/>
          </p:cNvPicPr>
          <p:nvPr/>
        </p:nvPicPr>
        <p:blipFill>
          <a:blip r:embed="rId4">
            <a:duotone>
              <a:schemeClr val="accent2">
                <a:shade val="45000"/>
                <a:satMod val="135000"/>
              </a:schemeClr>
              <a:prstClr val="white"/>
            </a:duotone>
          </a:blip>
          <a:stretch>
            <a:fillRect/>
          </a:stretch>
        </p:blipFill>
        <p:spPr>
          <a:xfrm>
            <a:off x="714375" y="2922092"/>
            <a:ext cx="548640" cy="548640"/>
          </a:xfrm>
          <a:prstGeom prst="rect">
            <a:avLst/>
          </a:prstGeom>
        </p:spPr>
      </p:pic>
      <p:sp>
        <p:nvSpPr>
          <p:cNvPr id="10" name="Text Placeholder 9">
            <a:extLst>
              <a:ext uri="{FF2B5EF4-FFF2-40B4-BE49-F238E27FC236}">
                <a16:creationId xmlns:a16="http://schemas.microsoft.com/office/drawing/2014/main" id="{13589713-EAAA-9326-20B9-9B200B203B97}"/>
              </a:ext>
            </a:extLst>
          </p:cNvPr>
          <p:cNvSpPr>
            <a:spLocks noGrp="1"/>
          </p:cNvSpPr>
          <p:nvPr>
            <p:ph type="body" sz="quarter" idx="22"/>
          </p:nvPr>
        </p:nvSpPr>
        <p:spPr>
          <a:xfrm>
            <a:off x="1427233" y="2919413"/>
            <a:ext cx="8586718" cy="553998"/>
          </a:xfrm>
        </p:spPr>
        <p:txBody>
          <a:bodyPr/>
          <a:lstStyle/>
          <a:p>
            <a:r>
              <a:rPr lang="en-US" sz="1800"/>
              <a:t>Which technique can be used to create database firewall rules in Azure SQL Database?</a:t>
            </a:r>
          </a:p>
        </p:txBody>
      </p:sp>
      <p:sp>
        <p:nvSpPr>
          <p:cNvPr id="11" name="Text Placeholder 10">
            <a:extLst>
              <a:ext uri="{FF2B5EF4-FFF2-40B4-BE49-F238E27FC236}">
                <a16:creationId xmlns:a16="http://schemas.microsoft.com/office/drawing/2014/main" id="{181EFFCF-E1B2-ABA6-891D-4E16DBAD70A0}"/>
              </a:ext>
            </a:extLst>
          </p:cNvPr>
          <p:cNvSpPr>
            <a:spLocks noGrp="1"/>
          </p:cNvSpPr>
          <p:nvPr>
            <p:ph type="body" sz="quarter" idx="23"/>
          </p:nvPr>
        </p:nvSpPr>
        <p:spPr>
          <a:xfrm>
            <a:off x="1428750" y="3473411"/>
            <a:ext cx="8583613" cy="837152"/>
          </a:xfrm>
        </p:spPr>
        <p:txBody>
          <a:bodyPr/>
          <a:lstStyle/>
          <a:p>
            <a:pPr>
              <a:spcBef>
                <a:spcPts val="0"/>
              </a:spcBef>
              <a:spcAft>
                <a:spcPts val="300"/>
              </a:spcAft>
            </a:pPr>
            <a:r>
              <a:rPr lang="en-US" sz="1600"/>
              <a:t>Running a PowerShell script</a:t>
            </a:r>
          </a:p>
          <a:p>
            <a:pPr>
              <a:spcBef>
                <a:spcPts val="0"/>
              </a:spcBef>
              <a:spcAft>
                <a:spcPts val="300"/>
              </a:spcAft>
            </a:pPr>
            <a:r>
              <a:rPr lang="en-US" sz="1600"/>
              <a:t>Running an Azure CLI script</a:t>
            </a:r>
          </a:p>
          <a:p>
            <a:pPr>
              <a:spcBef>
                <a:spcPts val="0"/>
              </a:spcBef>
              <a:spcAft>
                <a:spcPts val="300"/>
              </a:spcAft>
            </a:pPr>
            <a:r>
              <a:rPr lang="en-US" sz="1600"/>
              <a:t>Executing a T-SQL statement</a:t>
            </a:r>
          </a:p>
        </p:txBody>
      </p:sp>
      <p:sp>
        <p:nvSpPr>
          <p:cNvPr id="33" name="Graphic 26">
            <a:extLst>
              <a:ext uri="{FF2B5EF4-FFF2-40B4-BE49-F238E27FC236}">
                <a16:creationId xmlns:a16="http://schemas.microsoft.com/office/drawing/2014/main" id="{04881034-B6F2-4CB6-3276-2B39951C4F30}"/>
              </a:ext>
              <a:ext uri="{C183D7F6-B498-43B3-948B-1728B52AA6E4}">
                <adec:decorative xmlns:adec="http://schemas.microsoft.com/office/drawing/2017/decorative" val="1"/>
              </a:ext>
            </a:extLst>
          </p:cNvPr>
          <p:cNvSpPr/>
          <p:nvPr/>
        </p:nvSpPr>
        <p:spPr>
          <a:xfrm>
            <a:off x="1450170" y="406791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pic>
        <p:nvPicPr>
          <p:cNvPr id="77" name="Picture 76" descr="Icon of a wave connected by circles and lines at both end">
            <a:extLst>
              <a:ext uri="{FF2B5EF4-FFF2-40B4-BE49-F238E27FC236}">
                <a16:creationId xmlns:a16="http://schemas.microsoft.com/office/drawing/2014/main" id="{6E3F2238-767E-1F80-4E33-36729AD33F01}"/>
              </a:ext>
            </a:extLst>
          </p:cNvPr>
          <p:cNvPicPr>
            <a:picLocks noChangeAspect="1"/>
          </p:cNvPicPr>
          <p:nvPr/>
        </p:nvPicPr>
        <p:blipFill>
          <a:blip r:embed="rId5">
            <a:duotone>
              <a:schemeClr val="accent2">
                <a:shade val="45000"/>
                <a:satMod val="135000"/>
              </a:schemeClr>
              <a:prstClr val="white"/>
            </a:duotone>
          </a:blip>
          <a:stretch>
            <a:fillRect/>
          </a:stretch>
        </p:blipFill>
        <p:spPr>
          <a:xfrm>
            <a:off x="714375" y="4497706"/>
            <a:ext cx="548640" cy="548640"/>
          </a:xfrm>
          <a:prstGeom prst="rect">
            <a:avLst/>
          </a:prstGeom>
        </p:spPr>
      </p:pic>
      <p:sp>
        <p:nvSpPr>
          <p:cNvPr id="35" name="Text Placeholder 45">
            <a:extLst>
              <a:ext uri="{FF2B5EF4-FFF2-40B4-BE49-F238E27FC236}">
                <a16:creationId xmlns:a16="http://schemas.microsoft.com/office/drawing/2014/main" id="{035978E2-DC2D-5F11-7B85-1F1FCE17513A}"/>
              </a:ext>
            </a:extLst>
          </p:cNvPr>
          <p:cNvSpPr>
            <a:spLocks noGrp="1"/>
          </p:cNvSpPr>
          <p:nvPr>
            <p:ph type="body" sz="quarter" idx="20"/>
          </p:nvPr>
        </p:nvSpPr>
        <p:spPr>
          <a:xfrm>
            <a:off x="1427233" y="4495027"/>
            <a:ext cx="8586718" cy="553998"/>
          </a:xfrm>
        </p:spPr>
        <p:txBody>
          <a:bodyPr anchor="ctr"/>
          <a:lstStyle/>
          <a:p>
            <a:r>
              <a:rPr lang="en-US" sz="1800" dirty="0"/>
              <a:t>Which feature prevents members of the sysadmin role from viewing the values of data in a table? </a:t>
            </a:r>
          </a:p>
        </p:txBody>
      </p:sp>
      <p:sp>
        <p:nvSpPr>
          <p:cNvPr id="36" name="Text Placeholder 46">
            <a:extLst>
              <a:ext uri="{FF2B5EF4-FFF2-40B4-BE49-F238E27FC236}">
                <a16:creationId xmlns:a16="http://schemas.microsoft.com/office/drawing/2014/main" id="{53C97337-E526-3CF3-4450-CF4874DFE5E6}"/>
              </a:ext>
            </a:extLst>
          </p:cNvPr>
          <p:cNvSpPr>
            <a:spLocks noGrp="1"/>
          </p:cNvSpPr>
          <p:nvPr>
            <p:ph type="body" sz="quarter" idx="21"/>
          </p:nvPr>
        </p:nvSpPr>
        <p:spPr>
          <a:xfrm>
            <a:off x="1428750" y="5049025"/>
            <a:ext cx="8583613" cy="837152"/>
          </a:xfrm>
        </p:spPr>
        <p:txBody>
          <a:bodyPr/>
          <a:lstStyle/>
          <a:p>
            <a:pPr>
              <a:spcBef>
                <a:spcPts val="0"/>
              </a:spcBef>
              <a:spcAft>
                <a:spcPts val="300"/>
              </a:spcAft>
            </a:pPr>
            <a:r>
              <a:rPr lang="en-US" sz="1600" dirty="0"/>
              <a:t>Always Encrypted</a:t>
            </a:r>
          </a:p>
          <a:p>
            <a:pPr>
              <a:spcBef>
                <a:spcPts val="0"/>
              </a:spcBef>
              <a:spcAft>
                <a:spcPts val="300"/>
              </a:spcAft>
            </a:pPr>
            <a:r>
              <a:rPr lang="en-US" sz="1600" dirty="0"/>
              <a:t>Dynamic Data Masking</a:t>
            </a:r>
          </a:p>
          <a:p>
            <a:pPr>
              <a:spcBef>
                <a:spcPts val="0"/>
              </a:spcBef>
              <a:spcAft>
                <a:spcPts val="300"/>
              </a:spcAft>
            </a:pPr>
            <a:r>
              <a:rPr lang="en-US" sz="1600" dirty="0"/>
              <a:t>Transparent Data Encryption</a:t>
            </a:r>
          </a:p>
        </p:txBody>
      </p:sp>
      <p:sp>
        <p:nvSpPr>
          <p:cNvPr id="37" name="Graphic 26">
            <a:extLst>
              <a:ext uri="{FF2B5EF4-FFF2-40B4-BE49-F238E27FC236}">
                <a16:creationId xmlns:a16="http://schemas.microsoft.com/office/drawing/2014/main" id="{104131ED-2D51-C551-F759-15A8E384F5AE}"/>
              </a:ext>
              <a:ext uri="{C183D7F6-B498-43B3-948B-1728B52AA6E4}">
                <adec:decorative xmlns:adec="http://schemas.microsoft.com/office/drawing/2017/decorative" val="1"/>
              </a:ext>
            </a:extLst>
          </p:cNvPr>
          <p:cNvSpPr/>
          <p:nvPr/>
        </p:nvSpPr>
        <p:spPr>
          <a:xfrm>
            <a:off x="1450170" y="5088683"/>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18112063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3" grpId="0" animBg="1"/>
      <p:bldP spid="3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F5E674-D100-8E05-CBEC-0F17047F1E0C}"/>
              </a:ext>
              <a:ext uri="{C183D7F6-B498-43B3-948B-1728B52AA6E4}">
                <adec:decorative xmlns:adec="http://schemas.microsoft.com/office/drawing/2017/decorative" val="1"/>
              </a:ext>
            </a:extLst>
          </p:cNvPr>
          <p:cNvSpPr>
            <a:spLocks/>
          </p:cNvSpPr>
          <p:nvPr/>
        </p:nvSpPr>
        <p:spPr bwMode="auto">
          <a:xfrm>
            <a:off x="588260" y="1698170"/>
            <a:ext cx="11011602" cy="4574613"/>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35F2412D-0AB4-FE40-BF94-44A0CB892DC2}"/>
              </a:ext>
            </a:extLst>
          </p:cNvPr>
          <p:cNvSpPr>
            <a:spLocks noGrp="1"/>
          </p:cNvSpPr>
          <p:nvPr>
            <p:ph type="title"/>
          </p:nvPr>
        </p:nvSpPr>
        <p:spPr>
          <a:xfrm>
            <a:off x="588261" y="585216"/>
            <a:ext cx="11011601" cy="984885"/>
          </a:xfrm>
        </p:spPr>
        <p:txBody>
          <a:bodyPr/>
          <a:lstStyle/>
          <a:p>
            <a:r>
              <a:rPr lang="en-US" altLang="zh-CN" dirty="0"/>
              <a:t>Instructor led labs: </a:t>
            </a:r>
            <a:r>
              <a:rPr lang="en-US" dirty="0"/>
              <a:t>Configure Azure SQL Database firewall rules</a:t>
            </a:r>
            <a:endParaRPr lang="en-US" sz="4000" dirty="0"/>
          </a:p>
        </p:txBody>
      </p:sp>
      <p:sp>
        <p:nvSpPr>
          <p:cNvPr id="9" name="Text Placeholder 4">
            <a:extLst>
              <a:ext uri="{FF2B5EF4-FFF2-40B4-BE49-F238E27FC236}">
                <a16:creationId xmlns:a16="http://schemas.microsoft.com/office/drawing/2014/main" id="{CBB6573E-842E-3208-B791-B30B69B3D7A2}"/>
              </a:ext>
            </a:extLst>
          </p:cNvPr>
          <p:cNvSpPr txBox="1">
            <a:spLocks/>
          </p:cNvSpPr>
          <p:nvPr/>
        </p:nvSpPr>
        <p:spPr>
          <a:xfrm>
            <a:off x="1812222" y="3539201"/>
            <a:ext cx="8563678" cy="892552"/>
          </a:xfrm>
          <a:prstGeom prst="rect">
            <a:avLst/>
          </a:prstGeom>
        </p:spPr>
        <p:txBody>
          <a:bodyPr vert="horz" wrap="square" lIns="0" tIns="0" rIns="0" bIns="0" rtlCol="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r>
              <a:rPr lang="en-US" sz="2400" dirty="0">
                <a:latin typeface="+mj-lt"/>
              </a:rPr>
              <a:t>Configure Azure </a:t>
            </a:r>
            <a:r>
              <a:rPr lang="en-US" sz="2400">
                <a:latin typeface="+mj-lt"/>
              </a:rPr>
              <a:t>SQL Database firewall </a:t>
            </a:r>
            <a:r>
              <a:rPr lang="en-US" sz="2400" dirty="0">
                <a:latin typeface="+mj-lt"/>
              </a:rPr>
              <a:t>rules</a:t>
            </a:r>
          </a:p>
          <a:p>
            <a:pPr marL="0" indent="0" algn="ctr">
              <a:spcBef>
                <a:spcPts val="0"/>
              </a:spcBef>
              <a:spcAft>
                <a:spcPts val="1200"/>
              </a:spcAft>
              <a:buNone/>
            </a:pPr>
            <a:r>
              <a:rPr lang="en-US" sz="2400" dirty="0">
                <a:latin typeface="+mj-lt"/>
              </a:rPr>
              <a:t>Validate access</a:t>
            </a:r>
          </a:p>
        </p:txBody>
      </p:sp>
    </p:spTree>
    <p:extLst>
      <p:ext uri="{BB962C8B-B14F-4D97-AF65-F5344CB8AC3E}">
        <p14:creationId xmlns:p14="http://schemas.microsoft.com/office/powerpoint/2010/main" val="315334107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9D7D3-5BF9-CA49-AC03-EAE5E0DE411B}"/>
              </a:ext>
            </a:extLst>
          </p:cNvPr>
          <p:cNvSpPr>
            <a:spLocks noGrp="1"/>
          </p:cNvSpPr>
          <p:nvPr>
            <p:ph type="title"/>
          </p:nvPr>
        </p:nvSpPr>
        <p:spPr>
          <a:xfrm>
            <a:off x="569911" y="2813447"/>
            <a:ext cx="6345239" cy="1231106"/>
          </a:xfrm>
        </p:spPr>
        <p:txBody>
          <a:bodyPr anchor="t" anchorCtr="0"/>
          <a:lstStyle/>
          <a:p>
            <a:r>
              <a:rPr lang="en-US" dirty="0"/>
              <a:t>Implement compliance controls for sensitive data</a:t>
            </a:r>
          </a:p>
        </p:txBody>
      </p:sp>
      <p:sp>
        <p:nvSpPr>
          <p:cNvPr id="3" name="TextBox 2">
            <a:extLst>
              <a:ext uri="{FF2B5EF4-FFF2-40B4-BE49-F238E27FC236}">
                <a16:creationId xmlns:a16="http://schemas.microsoft.com/office/drawing/2014/main" id="{27BF1C69-8CE0-96EF-06DA-C42E779197C5}"/>
              </a:ext>
            </a:extLst>
          </p:cNvPr>
          <p:cNvSpPr txBox="1"/>
          <p:nvPr/>
        </p:nvSpPr>
        <p:spPr>
          <a:xfrm>
            <a:off x="569911" y="4811150"/>
            <a:ext cx="6681789" cy="615553"/>
          </a:xfrm>
          <a:prstGeom prst="rect">
            <a:avLst/>
          </a:prstGeom>
          <a:noFill/>
        </p:spPr>
        <p:txBody>
          <a:bodyPr wrap="square" lIns="0" tIns="0" rIns="0" bIns="0" rtlCol="0">
            <a:spAutoFit/>
          </a:bodyPr>
          <a:lstStyle/>
          <a:p>
            <a:pPr algn="l"/>
            <a:r>
              <a:rPr lang="en-US" sz="2000" dirty="0">
                <a:solidFill>
                  <a:schemeClr val="accent2"/>
                </a:solidFill>
              </a:rPr>
              <a:t>https://learn.microsoft.com/training/modules/implement-compliance-controls-sensitive-data/</a:t>
            </a:r>
          </a:p>
        </p:txBody>
      </p:sp>
    </p:spTree>
    <p:extLst>
      <p:ext uri="{BB962C8B-B14F-4D97-AF65-F5344CB8AC3E}">
        <p14:creationId xmlns:p14="http://schemas.microsoft.com/office/powerpoint/2010/main" val="2959528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2ACEE3-8D44-E59E-36C8-6F3100F5D104}"/>
              </a:ext>
            </a:extLst>
          </p:cNvPr>
          <p:cNvSpPr>
            <a:spLocks noGrp="1"/>
          </p:cNvSpPr>
          <p:nvPr>
            <p:ph type="title"/>
          </p:nvPr>
        </p:nvSpPr>
        <p:spPr/>
        <p:txBody>
          <a:bodyPr/>
          <a:lstStyle/>
          <a:p>
            <a:r>
              <a:rPr lang="en-US"/>
              <a:t>Objectives   </a:t>
            </a:r>
            <a:endParaRPr lang="en-US" dirty="0"/>
          </a:p>
        </p:txBody>
      </p:sp>
      <p:pic>
        <p:nvPicPr>
          <p:cNvPr id="2" name="Picture 1" descr="Icon of a computer screen">
            <a:extLst>
              <a:ext uri="{FF2B5EF4-FFF2-40B4-BE49-F238E27FC236}">
                <a16:creationId xmlns:a16="http://schemas.microsoft.com/office/drawing/2014/main" id="{295EE9E2-4784-8AB5-B836-15DC432D609D}"/>
              </a:ext>
            </a:extLst>
          </p:cNvPr>
          <p:cNvPicPr>
            <a:picLocks/>
          </p:cNvPicPr>
          <p:nvPr/>
        </p:nvPicPr>
        <p:blipFill>
          <a:blip r:embed="rId3">
            <a:duotone>
              <a:schemeClr val="accent3">
                <a:shade val="45000"/>
                <a:satMod val="135000"/>
              </a:schemeClr>
              <a:prstClr val="white"/>
            </a:duotone>
          </a:blip>
          <a:stretch>
            <a:fillRect/>
          </a:stretch>
        </p:blipFill>
        <p:spPr>
          <a:xfrm>
            <a:off x="588262" y="1561801"/>
            <a:ext cx="557786" cy="557786"/>
          </a:xfrm>
          <a:prstGeom prst="rect">
            <a:avLst/>
          </a:prstGeom>
        </p:spPr>
      </p:pic>
      <p:sp>
        <p:nvSpPr>
          <p:cNvPr id="9" name="TextBox 8">
            <a:extLst>
              <a:ext uri="{FF2B5EF4-FFF2-40B4-BE49-F238E27FC236}">
                <a16:creationId xmlns:a16="http://schemas.microsoft.com/office/drawing/2014/main" id="{0D8A9BF9-943B-BB51-714F-34329848CFB0}"/>
              </a:ext>
            </a:extLst>
          </p:cNvPr>
          <p:cNvSpPr txBox="1">
            <a:spLocks/>
          </p:cNvSpPr>
          <p:nvPr/>
        </p:nvSpPr>
        <p:spPr>
          <a:xfrm>
            <a:off x="1278671" y="1702194"/>
            <a:ext cx="9986230" cy="276999"/>
          </a:xfrm>
          <a:prstGeom prst="rect">
            <a:avLst/>
          </a:prstGeom>
          <a:noFill/>
        </p:spPr>
        <p:txBody>
          <a:bodyPr wrap="square" lIns="0" tIns="0" rIns="0" bIns="0" anchor="ctr">
            <a:spAutoFit/>
          </a:bodyPr>
          <a:lstStyle/>
          <a:p>
            <a:pPr marL="0" indent="0">
              <a:buNone/>
            </a:pPr>
            <a:r>
              <a:rPr lang="en-US" sz="1800" dirty="0"/>
              <a:t>How data should be classified</a:t>
            </a:r>
          </a:p>
        </p:txBody>
      </p:sp>
      <p:pic>
        <p:nvPicPr>
          <p:cNvPr id="3" name="Picture 2" descr="Icon of three gears with varying sizes">
            <a:extLst>
              <a:ext uri="{FF2B5EF4-FFF2-40B4-BE49-F238E27FC236}">
                <a16:creationId xmlns:a16="http://schemas.microsoft.com/office/drawing/2014/main" id="{56D6767E-1429-5027-F4AC-A3F2693B68A9}"/>
              </a:ext>
            </a:extLst>
          </p:cNvPr>
          <p:cNvPicPr>
            <a:picLocks/>
          </p:cNvPicPr>
          <p:nvPr/>
        </p:nvPicPr>
        <p:blipFill>
          <a:blip r:embed="rId4">
            <a:duotone>
              <a:schemeClr val="accent3">
                <a:shade val="45000"/>
                <a:satMod val="135000"/>
              </a:schemeClr>
              <a:prstClr val="white"/>
            </a:duotone>
          </a:blip>
          <a:stretch>
            <a:fillRect/>
          </a:stretch>
        </p:blipFill>
        <p:spPr>
          <a:xfrm>
            <a:off x="588262" y="2478404"/>
            <a:ext cx="557786" cy="557786"/>
          </a:xfrm>
          <a:prstGeom prst="rect">
            <a:avLst/>
          </a:prstGeom>
        </p:spPr>
      </p:pic>
      <p:sp>
        <p:nvSpPr>
          <p:cNvPr id="11" name="TextBox 10">
            <a:extLst>
              <a:ext uri="{FF2B5EF4-FFF2-40B4-BE49-F238E27FC236}">
                <a16:creationId xmlns:a16="http://schemas.microsoft.com/office/drawing/2014/main" id="{C0B98557-0C46-87EA-B6BD-9E325A67ED17}"/>
              </a:ext>
            </a:extLst>
          </p:cNvPr>
          <p:cNvSpPr txBox="1">
            <a:spLocks/>
          </p:cNvSpPr>
          <p:nvPr/>
        </p:nvSpPr>
        <p:spPr>
          <a:xfrm>
            <a:off x="1278671" y="2618797"/>
            <a:ext cx="9986230" cy="276999"/>
          </a:xfrm>
          <a:prstGeom prst="rect">
            <a:avLst/>
          </a:prstGeom>
          <a:noFill/>
        </p:spPr>
        <p:txBody>
          <a:bodyPr wrap="square" lIns="0" tIns="0" rIns="0" bIns="0" anchor="ctr">
            <a:spAutoFit/>
          </a:bodyPr>
          <a:lstStyle/>
          <a:p>
            <a:pPr marL="0" indent="0">
              <a:buNone/>
            </a:pPr>
            <a:r>
              <a:rPr lang="en-US" sz="1800" dirty="0"/>
              <a:t>Why data classification should be done</a:t>
            </a:r>
          </a:p>
        </p:txBody>
      </p:sp>
      <p:pic>
        <p:nvPicPr>
          <p:cNvPr id="4" name="Picture 3" descr="Icon of a security lock">
            <a:extLst>
              <a:ext uri="{FF2B5EF4-FFF2-40B4-BE49-F238E27FC236}">
                <a16:creationId xmlns:a16="http://schemas.microsoft.com/office/drawing/2014/main" id="{AE3D1292-8FAC-CCAD-9070-CF97E86402A4}"/>
              </a:ext>
            </a:extLst>
          </p:cNvPr>
          <p:cNvPicPr>
            <a:picLocks/>
          </p:cNvPicPr>
          <p:nvPr/>
        </p:nvPicPr>
        <p:blipFill>
          <a:blip r:embed="rId5">
            <a:duotone>
              <a:schemeClr val="accent3">
                <a:shade val="45000"/>
                <a:satMod val="135000"/>
              </a:schemeClr>
              <a:prstClr val="white"/>
            </a:duotone>
          </a:blip>
          <a:stretch>
            <a:fillRect/>
          </a:stretch>
        </p:blipFill>
        <p:spPr>
          <a:xfrm>
            <a:off x="588262" y="3395007"/>
            <a:ext cx="557786" cy="557786"/>
          </a:xfrm>
          <a:prstGeom prst="rect">
            <a:avLst/>
          </a:prstGeom>
        </p:spPr>
      </p:pic>
      <p:sp>
        <p:nvSpPr>
          <p:cNvPr id="13" name="TextBox 12">
            <a:extLst>
              <a:ext uri="{FF2B5EF4-FFF2-40B4-BE49-F238E27FC236}">
                <a16:creationId xmlns:a16="http://schemas.microsoft.com/office/drawing/2014/main" id="{AFA3DA91-D9CB-13B0-3C4C-9D68F8A9D03A}"/>
              </a:ext>
            </a:extLst>
          </p:cNvPr>
          <p:cNvSpPr txBox="1">
            <a:spLocks/>
          </p:cNvSpPr>
          <p:nvPr/>
        </p:nvSpPr>
        <p:spPr>
          <a:xfrm>
            <a:off x="1278671" y="3535401"/>
            <a:ext cx="9986229" cy="276999"/>
          </a:xfrm>
          <a:prstGeom prst="rect">
            <a:avLst/>
          </a:prstGeom>
          <a:noFill/>
        </p:spPr>
        <p:txBody>
          <a:bodyPr wrap="square" lIns="0" tIns="0" rIns="0" bIns="0" anchor="ctr">
            <a:spAutoFit/>
          </a:bodyPr>
          <a:lstStyle/>
          <a:p>
            <a:pPr marL="0" indent="0">
              <a:buNone/>
            </a:pPr>
            <a:r>
              <a:rPr lang="en-US" sz="1800" dirty="0"/>
              <a:t>How to implement row level security and dynamic data masking</a:t>
            </a:r>
          </a:p>
        </p:txBody>
      </p:sp>
      <p:pic>
        <p:nvPicPr>
          <p:cNvPr id="6" name="Picture 5" descr="Icon of check mark enclosed by an arc">
            <a:extLst>
              <a:ext uri="{FF2B5EF4-FFF2-40B4-BE49-F238E27FC236}">
                <a16:creationId xmlns:a16="http://schemas.microsoft.com/office/drawing/2014/main" id="{866C0885-4870-C1CD-6FF8-4CE4E7C7490D}"/>
              </a:ext>
            </a:extLst>
          </p:cNvPr>
          <p:cNvPicPr>
            <a:picLocks/>
          </p:cNvPicPr>
          <p:nvPr/>
        </p:nvPicPr>
        <p:blipFill>
          <a:blip r:embed="rId6">
            <a:duotone>
              <a:schemeClr val="accent3">
                <a:shade val="45000"/>
                <a:satMod val="135000"/>
              </a:schemeClr>
              <a:prstClr val="white"/>
            </a:duotone>
          </a:blip>
          <a:stretch>
            <a:fillRect/>
          </a:stretch>
        </p:blipFill>
        <p:spPr>
          <a:xfrm>
            <a:off x="588262" y="4311610"/>
            <a:ext cx="557786" cy="557786"/>
          </a:xfrm>
          <a:prstGeom prst="rect">
            <a:avLst/>
          </a:prstGeom>
        </p:spPr>
      </p:pic>
      <p:sp>
        <p:nvSpPr>
          <p:cNvPr id="19" name="TextBox 18">
            <a:extLst>
              <a:ext uri="{FF2B5EF4-FFF2-40B4-BE49-F238E27FC236}">
                <a16:creationId xmlns:a16="http://schemas.microsoft.com/office/drawing/2014/main" id="{9734C279-7F0E-5AA8-19FA-DF7E7A08A4CA}"/>
              </a:ext>
            </a:extLst>
          </p:cNvPr>
          <p:cNvSpPr txBox="1">
            <a:spLocks/>
          </p:cNvSpPr>
          <p:nvPr/>
        </p:nvSpPr>
        <p:spPr>
          <a:xfrm>
            <a:off x="1278671" y="4452004"/>
            <a:ext cx="9986229" cy="276999"/>
          </a:xfrm>
          <a:prstGeom prst="rect">
            <a:avLst/>
          </a:prstGeom>
          <a:noFill/>
        </p:spPr>
        <p:txBody>
          <a:bodyPr wrap="square" lIns="0" tIns="0" rIns="0" bIns="0" anchor="ctr">
            <a:spAutoFit/>
          </a:bodyPr>
          <a:lstStyle/>
          <a:p>
            <a:pPr marL="0" indent="0">
              <a:buNone/>
            </a:pPr>
            <a:r>
              <a:rPr lang="en-US" sz="1800" dirty="0"/>
              <a:t>Understand the usage of Microsoft Defender for SQL</a:t>
            </a:r>
          </a:p>
        </p:txBody>
      </p:sp>
      <p:pic>
        <p:nvPicPr>
          <p:cNvPr id="7" name="Picture 6" descr="Icon of a wave connected by circles and lines at both end">
            <a:extLst>
              <a:ext uri="{FF2B5EF4-FFF2-40B4-BE49-F238E27FC236}">
                <a16:creationId xmlns:a16="http://schemas.microsoft.com/office/drawing/2014/main" id="{8D471A0E-2771-E7A4-59DA-327A1A85C32A}"/>
              </a:ext>
            </a:extLst>
          </p:cNvPr>
          <p:cNvPicPr>
            <a:picLocks/>
          </p:cNvPicPr>
          <p:nvPr/>
        </p:nvPicPr>
        <p:blipFill>
          <a:blip r:embed="rId7">
            <a:duotone>
              <a:schemeClr val="accent3">
                <a:shade val="45000"/>
                <a:satMod val="135000"/>
              </a:schemeClr>
              <a:prstClr val="white"/>
            </a:duotone>
          </a:blip>
          <a:stretch>
            <a:fillRect/>
          </a:stretch>
        </p:blipFill>
        <p:spPr>
          <a:xfrm>
            <a:off x="588262" y="5228212"/>
            <a:ext cx="557786" cy="557786"/>
          </a:xfrm>
          <a:prstGeom prst="rect">
            <a:avLst/>
          </a:prstGeom>
        </p:spPr>
      </p:pic>
      <p:sp>
        <p:nvSpPr>
          <p:cNvPr id="21" name="TextBox 20">
            <a:extLst>
              <a:ext uri="{FF2B5EF4-FFF2-40B4-BE49-F238E27FC236}">
                <a16:creationId xmlns:a16="http://schemas.microsoft.com/office/drawing/2014/main" id="{2A0D9D54-0E9C-BC38-DEA6-ADD4C53533A3}"/>
              </a:ext>
            </a:extLst>
          </p:cNvPr>
          <p:cNvSpPr txBox="1">
            <a:spLocks/>
          </p:cNvSpPr>
          <p:nvPr/>
        </p:nvSpPr>
        <p:spPr>
          <a:xfrm>
            <a:off x="1278671" y="5368605"/>
            <a:ext cx="9986229" cy="276999"/>
          </a:xfrm>
          <a:prstGeom prst="rect">
            <a:avLst/>
          </a:prstGeom>
          <a:noFill/>
        </p:spPr>
        <p:txBody>
          <a:bodyPr wrap="square" lIns="0" tIns="0" rIns="0" bIns="0" anchor="ctr">
            <a:spAutoFit/>
          </a:bodyPr>
          <a:lstStyle/>
          <a:p>
            <a:pPr marL="0" indent="0">
              <a:buNone/>
            </a:pPr>
            <a:r>
              <a:rPr lang="en-US" sz="1800" dirty="0"/>
              <a:t>How Azure SQL Database Ledger works</a:t>
            </a:r>
          </a:p>
        </p:txBody>
      </p:sp>
    </p:spTree>
    <p:extLst>
      <p:ext uri="{BB962C8B-B14F-4D97-AF65-F5344CB8AC3E}">
        <p14:creationId xmlns:p14="http://schemas.microsoft.com/office/powerpoint/2010/main" val="1096205227"/>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394360D8-A2F0-A64A-2834-DBDDD718D467}"/>
              </a:ext>
            </a:extLst>
          </p:cNvPr>
          <p:cNvSpPr>
            <a:spLocks noGrp="1"/>
          </p:cNvSpPr>
          <p:nvPr>
            <p:ph type="title"/>
          </p:nvPr>
        </p:nvSpPr>
        <p:spPr/>
        <p:txBody>
          <a:bodyPr/>
          <a:lstStyle/>
          <a:p>
            <a:r>
              <a:rPr lang="en-US" dirty="0"/>
              <a:t>Data classification </a:t>
            </a:r>
          </a:p>
        </p:txBody>
      </p:sp>
      <p:pic>
        <p:nvPicPr>
          <p:cNvPr id="2" name="Picture 1" descr="Icon of a screen with line charts">
            <a:extLst>
              <a:ext uri="{FF2B5EF4-FFF2-40B4-BE49-F238E27FC236}">
                <a16:creationId xmlns:a16="http://schemas.microsoft.com/office/drawing/2014/main" id="{38145F62-E8CB-C22F-A5EA-C653BDB239A8}"/>
              </a:ext>
            </a:extLst>
          </p:cNvPr>
          <p:cNvPicPr>
            <a:picLocks/>
          </p:cNvPicPr>
          <p:nvPr/>
        </p:nvPicPr>
        <p:blipFill>
          <a:blip r:embed="rId3">
            <a:duotone>
              <a:schemeClr val="accent2">
                <a:shade val="45000"/>
                <a:satMod val="135000"/>
              </a:schemeClr>
              <a:prstClr val="white"/>
            </a:duotone>
          </a:blip>
          <a:stretch>
            <a:fillRect/>
          </a:stretch>
        </p:blipFill>
        <p:spPr>
          <a:xfrm>
            <a:off x="588261" y="1561801"/>
            <a:ext cx="557786" cy="557786"/>
          </a:xfrm>
          <a:prstGeom prst="rect">
            <a:avLst/>
          </a:prstGeom>
        </p:spPr>
      </p:pic>
      <p:sp>
        <p:nvSpPr>
          <p:cNvPr id="14" name="Rectangle 13">
            <a:extLst>
              <a:ext uri="{FF2B5EF4-FFF2-40B4-BE49-F238E27FC236}">
                <a16:creationId xmlns:a16="http://schemas.microsoft.com/office/drawing/2014/main" id="{D7E311FE-3881-8873-F8D4-680A07CE8391}"/>
              </a:ext>
            </a:extLst>
          </p:cNvPr>
          <p:cNvSpPr>
            <a:spLocks/>
          </p:cNvSpPr>
          <p:nvPr/>
        </p:nvSpPr>
        <p:spPr bwMode="auto">
          <a:xfrm>
            <a:off x="1278671" y="1702195"/>
            <a:ext cx="10273627"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latin typeface="+mj-lt"/>
              </a:rPr>
              <a:t>Describes how the data must be treated</a:t>
            </a:r>
          </a:p>
        </p:txBody>
      </p:sp>
      <p:pic>
        <p:nvPicPr>
          <p:cNvPr id="3" name="Picture 2" descr="Icon of a document">
            <a:extLst>
              <a:ext uri="{FF2B5EF4-FFF2-40B4-BE49-F238E27FC236}">
                <a16:creationId xmlns:a16="http://schemas.microsoft.com/office/drawing/2014/main" id="{BCC98629-1DE8-6BE9-0B1C-4C71A9406E69}"/>
              </a:ext>
            </a:extLst>
          </p:cNvPr>
          <p:cNvPicPr>
            <a:picLocks/>
          </p:cNvPicPr>
          <p:nvPr/>
        </p:nvPicPr>
        <p:blipFill>
          <a:blip r:embed="rId4">
            <a:duotone>
              <a:schemeClr val="accent2">
                <a:shade val="45000"/>
                <a:satMod val="135000"/>
              </a:schemeClr>
              <a:prstClr val="white"/>
            </a:duotone>
          </a:blip>
          <a:stretch>
            <a:fillRect/>
          </a:stretch>
        </p:blipFill>
        <p:spPr>
          <a:xfrm>
            <a:off x="588261" y="2247636"/>
            <a:ext cx="557786" cy="557786"/>
          </a:xfrm>
          <a:prstGeom prst="rect">
            <a:avLst/>
          </a:prstGeom>
        </p:spPr>
      </p:pic>
      <p:sp>
        <p:nvSpPr>
          <p:cNvPr id="16" name="Rectangle 15">
            <a:extLst>
              <a:ext uri="{FF2B5EF4-FFF2-40B4-BE49-F238E27FC236}">
                <a16:creationId xmlns:a16="http://schemas.microsoft.com/office/drawing/2014/main" id="{FFCC14B1-9C08-4E2F-0785-AC895246E90E}"/>
              </a:ext>
            </a:extLst>
          </p:cNvPr>
          <p:cNvSpPr>
            <a:spLocks/>
          </p:cNvSpPr>
          <p:nvPr/>
        </p:nvSpPr>
        <p:spPr bwMode="auto">
          <a:xfrm>
            <a:off x="1278671" y="2263114"/>
            <a:ext cx="10273626" cy="11592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200"/>
              </a:spcAft>
            </a:pPr>
            <a:r>
              <a:rPr lang="en-US" sz="1800" dirty="0">
                <a:solidFill>
                  <a:schemeClr val="tx1"/>
                </a:solidFill>
                <a:latin typeface="+mj-lt"/>
              </a:rPr>
              <a:t>Create data governance policies that consider data classification. For example:</a:t>
            </a:r>
          </a:p>
          <a:p>
            <a:pPr marL="285750" indent="-285750">
              <a:spcAft>
                <a:spcPts val="200"/>
              </a:spcAft>
              <a:buFont typeface="Arial" panose="020B0604020202020204" pitchFamily="34" charset="0"/>
              <a:buChar char="•"/>
            </a:pPr>
            <a:r>
              <a:rPr lang="en-US" sz="1800" dirty="0">
                <a:solidFill>
                  <a:schemeClr val="tx1"/>
                </a:solidFill>
              </a:rPr>
              <a:t>Data that is marked as highly confidential shouldn’t be included in reports that are distributed to the entire company</a:t>
            </a:r>
          </a:p>
          <a:p>
            <a:pPr marL="285750" indent="-285750">
              <a:spcAft>
                <a:spcPts val="200"/>
              </a:spcAft>
              <a:buFont typeface="Arial" panose="020B0604020202020204" pitchFamily="34" charset="0"/>
              <a:buChar char="•"/>
            </a:pPr>
            <a:r>
              <a:rPr lang="en-US" sz="1800" dirty="0">
                <a:solidFill>
                  <a:schemeClr val="tx1"/>
                </a:solidFill>
              </a:rPr>
              <a:t>Data subject to GDPR should be included in any requests for data deletion (right to be forgotten)</a:t>
            </a:r>
          </a:p>
        </p:txBody>
      </p:sp>
      <p:pic>
        <p:nvPicPr>
          <p:cNvPr id="4" name="Picture 3" descr="Icon of a document with a checkmark">
            <a:extLst>
              <a:ext uri="{FF2B5EF4-FFF2-40B4-BE49-F238E27FC236}">
                <a16:creationId xmlns:a16="http://schemas.microsoft.com/office/drawing/2014/main" id="{74B451D4-29F8-CFA4-2187-CECEE0275E16}"/>
              </a:ext>
            </a:extLst>
          </p:cNvPr>
          <p:cNvPicPr>
            <a:picLocks/>
          </p:cNvPicPr>
          <p:nvPr/>
        </p:nvPicPr>
        <p:blipFill>
          <a:blip r:embed="rId5">
            <a:duotone>
              <a:schemeClr val="accent2">
                <a:shade val="45000"/>
                <a:satMod val="135000"/>
              </a:schemeClr>
              <a:prstClr val="white"/>
            </a:duotone>
          </a:blip>
          <a:stretch>
            <a:fillRect/>
          </a:stretch>
        </p:blipFill>
        <p:spPr>
          <a:xfrm>
            <a:off x="588260" y="3776861"/>
            <a:ext cx="557786" cy="557786"/>
          </a:xfrm>
          <a:prstGeom prst="rect">
            <a:avLst/>
          </a:prstGeom>
        </p:spPr>
      </p:pic>
      <p:sp>
        <p:nvSpPr>
          <p:cNvPr id="18" name="Rectangle 17">
            <a:extLst>
              <a:ext uri="{FF2B5EF4-FFF2-40B4-BE49-F238E27FC236}">
                <a16:creationId xmlns:a16="http://schemas.microsoft.com/office/drawing/2014/main" id="{CF2E32D5-4892-6BE9-8894-A7F5172FD227}"/>
              </a:ext>
            </a:extLst>
          </p:cNvPr>
          <p:cNvSpPr>
            <a:spLocks/>
          </p:cNvSpPr>
          <p:nvPr/>
        </p:nvSpPr>
        <p:spPr bwMode="auto">
          <a:xfrm>
            <a:off x="1278670" y="3775580"/>
            <a:ext cx="10273627"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latin typeface="+mj-lt"/>
              </a:rPr>
              <a:t>By classifying data, and setting proper permissions to view data, you can ensure that users should only be seeing the data that they are allowed to see with the database</a:t>
            </a:r>
          </a:p>
        </p:txBody>
      </p:sp>
    </p:spTree>
    <p:extLst>
      <p:ext uri="{BB962C8B-B14F-4D97-AF65-F5344CB8AC3E}">
        <p14:creationId xmlns:p14="http://schemas.microsoft.com/office/powerpoint/2010/main" val="418515381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75024A-7606-63BC-A6DD-03082ACB96BE}"/>
              </a:ext>
            </a:extLst>
          </p:cNvPr>
          <p:cNvSpPr>
            <a:spLocks noGrp="1"/>
          </p:cNvSpPr>
          <p:nvPr>
            <p:ph type="title"/>
          </p:nvPr>
        </p:nvSpPr>
        <p:spPr>
          <a:xfrm>
            <a:off x="588261" y="585216"/>
            <a:ext cx="4710689" cy="984885"/>
          </a:xfrm>
        </p:spPr>
        <p:txBody>
          <a:bodyPr/>
          <a:lstStyle/>
          <a:p>
            <a:r>
              <a:rPr lang="en-US" dirty="0"/>
              <a:t>How your data should be classified </a:t>
            </a:r>
          </a:p>
        </p:txBody>
      </p:sp>
      <p:sp>
        <p:nvSpPr>
          <p:cNvPr id="2" name="Text Placeholder 9">
            <a:extLst>
              <a:ext uri="{FF2B5EF4-FFF2-40B4-BE49-F238E27FC236}">
                <a16:creationId xmlns:a16="http://schemas.microsoft.com/office/drawing/2014/main" id="{7C235487-8CE4-F314-9302-654F3FDD47AB}"/>
              </a:ext>
            </a:extLst>
          </p:cNvPr>
          <p:cNvSpPr txBox="1">
            <a:spLocks/>
          </p:cNvSpPr>
          <p:nvPr/>
        </p:nvSpPr>
        <p:spPr>
          <a:xfrm>
            <a:off x="588261" y="1887232"/>
            <a:ext cx="5088639" cy="3801041"/>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a:spcAft>
                <a:spcPts val="600"/>
              </a:spcAft>
            </a:pPr>
            <a:r>
              <a:rPr lang="en-US" sz="2000" dirty="0"/>
              <a:t>Data within tables is classified on a column-by-column basis</a:t>
            </a:r>
          </a:p>
          <a:p>
            <a:pPr marL="228600" indent="-228600">
              <a:spcAft>
                <a:spcPts val="600"/>
              </a:spcAft>
            </a:pPr>
            <a:r>
              <a:rPr lang="en-US" sz="2000" dirty="0"/>
              <a:t>A single table can have data that is Public, General, Confidential and Highly Confidential</a:t>
            </a:r>
          </a:p>
          <a:p>
            <a:pPr marL="228600" indent="-228600">
              <a:spcAft>
                <a:spcPts val="600"/>
              </a:spcAft>
            </a:pPr>
            <a:r>
              <a:rPr lang="en-US" sz="2000" dirty="0"/>
              <a:t>Azure SQL Database can automatically classify your database based on </a:t>
            </a:r>
            <a:br>
              <a:rPr lang="en-US" sz="2000" dirty="0"/>
            </a:br>
            <a:r>
              <a:rPr lang="en-US" sz="2000" dirty="0"/>
              <a:t>column names</a:t>
            </a:r>
          </a:p>
          <a:p>
            <a:pPr marL="228600" indent="-228600">
              <a:spcAft>
                <a:spcPts val="600"/>
              </a:spcAft>
            </a:pPr>
            <a:r>
              <a:rPr lang="en-US" sz="2000" dirty="0"/>
              <a:t>You can also manually classify data using SSMS or T-SQL (</a:t>
            </a:r>
            <a:r>
              <a:rPr lang="en-US" sz="2000" dirty="0">
                <a:solidFill>
                  <a:srgbClr val="0078D4"/>
                </a:solidFill>
                <a:latin typeface="Courier New" panose="02070309020205020404" pitchFamily="49" charset="0"/>
                <a:cs typeface="Courier New" panose="02070309020205020404" pitchFamily="49" charset="0"/>
              </a:rPr>
              <a:t>ADD SENSITIVITY CLASSIFICATION</a:t>
            </a:r>
            <a:r>
              <a:rPr lang="en-US" sz="2000" dirty="0"/>
              <a:t>)</a:t>
            </a:r>
          </a:p>
        </p:txBody>
      </p:sp>
      <p:pic>
        <p:nvPicPr>
          <p:cNvPr id="13" name="Picture Placeholder 12" descr="A screen shot of the data classification screen in SQL Server Management Studio. This shows the HumanResources.Employee table and the BirthDate column, which classified as confidential - GDPR">
            <a:extLst>
              <a:ext uri="{FF2B5EF4-FFF2-40B4-BE49-F238E27FC236}">
                <a16:creationId xmlns:a16="http://schemas.microsoft.com/office/drawing/2014/main" id="{F78017DF-E9DC-1626-D0D0-AAECD57BF5D2}"/>
              </a:ext>
            </a:extLst>
          </p:cNvPr>
          <p:cNvPicPr>
            <a:picLocks noGrp="1" noChangeAspect="1"/>
          </p:cNvPicPr>
          <p:nvPr>
            <p:ph type="pic" sz="quarter" idx="19"/>
          </p:nvPr>
        </p:nvPicPr>
        <p:blipFill rotWithShape="1">
          <a:blip r:embed="rId3" cstate="print">
            <a:extLst>
              <a:ext uri="{28A0092B-C50C-407E-A947-70E740481C1C}">
                <a14:useLocalDpi xmlns:a14="http://schemas.microsoft.com/office/drawing/2010/main" val="0"/>
              </a:ext>
            </a:extLst>
          </a:blip>
          <a:srcRect l="-31081" t="-9277" r="-31081" b="-9277"/>
          <a:stretch/>
        </p:blipFill>
        <p:spPr>
          <a:xfrm>
            <a:off x="6096000" y="0"/>
            <a:ext cx="6096000" cy="6858000"/>
          </a:xfrm>
          <a:prstGeom prst="rect">
            <a:avLst/>
          </a:prstGeom>
          <a:noFill/>
          <a:ln w="38100">
            <a:noFill/>
            <a:headEnd type="none" w="med" len="med"/>
            <a:tailEnd type="none" w="med" len="med"/>
          </a:ln>
          <a:effectLst/>
        </p:spPr>
      </p:pic>
      <p:cxnSp>
        <p:nvCxnSpPr>
          <p:cNvPr id="7" name="Straight Connector 6">
            <a:extLst>
              <a:ext uri="{FF2B5EF4-FFF2-40B4-BE49-F238E27FC236}">
                <a16:creationId xmlns:a16="http://schemas.microsoft.com/office/drawing/2014/main" id="{8F57FCC1-041D-D120-7905-CC5BF47CF58E}"/>
              </a:ext>
            </a:extLst>
          </p:cNvPr>
          <p:cNvCxnSpPr/>
          <p:nvPr/>
        </p:nvCxnSpPr>
        <p:spPr>
          <a:xfrm>
            <a:off x="6299200" y="0"/>
            <a:ext cx="0" cy="6858000"/>
          </a:xfrm>
          <a:prstGeom prst="line">
            <a:avLst/>
          </a:prstGeom>
          <a:ln w="28575">
            <a:headEnd type="none" w="lg" len="med"/>
            <a:tailEnd type="none" w="lg"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50488584"/>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2771DDA-7F3D-9B85-6901-9F2E625018DA}"/>
              </a:ext>
            </a:extLst>
          </p:cNvPr>
          <p:cNvSpPr>
            <a:spLocks noGrp="1"/>
          </p:cNvSpPr>
          <p:nvPr>
            <p:ph type="title"/>
          </p:nvPr>
        </p:nvSpPr>
        <p:spPr>
          <a:xfrm>
            <a:off x="588261" y="585216"/>
            <a:ext cx="4710689" cy="984885"/>
          </a:xfrm>
        </p:spPr>
        <p:txBody>
          <a:bodyPr/>
          <a:lstStyle/>
          <a:p>
            <a:r>
              <a:rPr lang="en-US" dirty="0"/>
              <a:t>Explore server and database audit</a:t>
            </a:r>
          </a:p>
        </p:txBody>
      </p:sp>
      <p:sp>
        <p:nvSpPr>
          <p:cNvPr id="2" name="Text Placeholder 8">
            <a:extLst>
              <a:ext uri="{FF2B5EF4-FFF2-40B4-BE49-F238E27FC236}">
                <a16:creationId xmlns:a16="http://schemas.microsoft.com/office/drawing/2014/main" id="{8875FBBA-059D-5DBE-6D98-100790F60D5A}"/>
              </a:ext>
            </a:extLst>
          </p:cNvPr>
          <p:cNvSpPr txBox="1">
            <a:spLocks/>
          </p:cNvSpPr>
          <p:nvPr/>
        </p:nvSpPr>
        <p:spPr>
          <a:xfrm>
            <a:off x="588260" y="1887232"/>
            <a:ext cx="5109155" cy="2175980"/>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a:spcAft>
                <a:spcPts val="600"/>
              </a:spcAft>
            </a:pPr>
            <a:r>
              <a:rPr lang="en-US" sz="2200" dirty="0"/>
              <a:t>Tracks database events and writes them to an audit log in your Azure Storage account, Log Analytics workspace, or Event Hubs</a:t>
            </a:r>
          </a:p>
          <a:p>
            <a:pPr marL="228600" indent="-228600">
              <a:spcAft>
                <a:spcPts val="600"/>
              </a:spcAft>
            </a:pPr>
            <a:r>
              <a:rPr lang="en-US" sz="2200" dirty="0"/>
              <a:t>You can define </a:t>
            </a:r>
            <a:r>
              <a:rPr lang="en-US" sz="2200" b="1" dirty="0"/>
              <a:t>server-level </a:t>
            </a:r>
            <a:r>
              <a:rPr lang="en-US" sz="2200" dirty="0"/>
              <a:t>and</a:t>
            </a:r>
            <a:r>
              <a:rPr lang="en-US" sz="2200" b="1" dirty="0"/>
              <a:t> database-level </a:t>
            </a:r>
            <a:r>
              <a:rPr lang="en-US" sz="2200" dirty="0"/>
              <a:t>policies</a:t>
            </a:r>
          </a:p>
        </p:txBody>
      </p:sp>
      <p:cxnSp>
        <p:nvCxnSpPr>
          <p:cNvPr id="3" name="Straight Connector 2">
            <a:extLst>
              <a:ext uri="{FF2B5EF4-FFF2-40B4-BE49-F238E27FC236}">
                <a16:creationId xmlns:a16="http://schemas.microsoft.com/office/drawing/2014/main" id="{723E667C-448D-62E9-8A74-CA0E04333608}"/>
              </a:ext>
            </a:extLst>
          </p:cNvPr>
          <p:cNvCxnSpPr/>
          <p:nvPr/>
        </p:nvCxnSpPr>
        <p:spPr>
          <a:xfrm>
            <a:off x="6299200" y="0"/>
            <a:ext cx="0" cy="6858000"/>
          </a:xfrm>
          <a:prstGeom prst="line">
            <a:avLst/>
          </a:prstGeom>
          <a:ln w="28575">
            <a:headEnd type="none" w="lg" len="med"/>
            <a:tailEnd type="none" w="lg" len="med"/>
          </a:ln>
        </p:spPr>
        <p:style>
          <a:lnRef idx="1">
            <a:schemeClr val="accent2"/>
          </a:lnRef>
          <a:fillRef idx="0">
            <a:schemeClr val="accent2"/>
          </a:fillRef>
          <a:effectRef idx="0">
            <a:schemeClr val="accent2"/>
          </a:effectRef>
          <a:fontRef idx="minor">
            <a:schemeClr val="tx1"/>
          </a:fontRef>
        </p:style>
      </p:cxnSp>
      <p:sp>
        <p:nvSpPr>
          <p:cNvPr id="6" name="Picture Placeholder 5">
            <a:extLst>
              <a:ext uri="{FF2B5EF4-FFF2-40B4-BE49-F238E27FC236}">
                <a16:creationId xmlns:a16="http://schemas.microsoft.com/office/drawing/2014/main" id="{9F034157-615E-B7E2-B329-7A73D34FDE12}"/>
              </a:ext>
            </a:extLst>
          </p:cNvPr>
          <p:cNvSpPr>
            <a:spLocks noGrp="1"/>
          </p:cNvSpPr>
          <p:nvPr>
            <p:ph type="pic" sz="quarter" idx="19"/>
          </p:nvPr>
        </p:nvSpPr>
        <p:spPr>
          <a:noFill/>
        </p:spPr>
        <p:txBody>
          <a:bodyPr/>
          <a:lstStyle/>
          <a:p>
            <a:endParaRPr lang="en-US"/>
          </a:p>
        </p:txBody>
      </p:sp>
      <p:pic>
        <p:nvPicPr>
          <p:cNvPr id="8" name="Picture 7">
            <a:extLst>
              <a:ext uri="{FF2B5EF4-FFF2-40B4-BE49-F238E27FC236}">
                <a16:creationId xmlns:a16="http://schemas.microsoft.com/office/drawing/2014/main" id="{94525CF0-D746-4946-8639-EC040C1C4F37}"/>
              </a:ext>
            </a:extLst>
          </p:cNvPr>
          <p:cNvPicPr>
            <a:picLocks noChangeAspect="1"/>
          </p:cNvPicPr>
          <p:nvPr/>
        </p:nvPicPr>
        <p:blipFill>
          <a:blip r:embed="rId3"/>
          <a:stretch>
            <a:fillRect/>
          </a:stretch>
        </p:blipFill>
        <p:spPr>
          <a:xfrm>
            <a:off x="6972571" y="133762"/>
            <a:ext cx="4342857" cy="6590476"/>
          </a:xfrm>
          <a:prstGeom prst="rect">
            <a:avLst/>
          </a:prstGeom>
        </p:spPr>
      </p:pic>
    </p:spTree>
    <p:extLst>
      <p:ext uri="{BB962C8B-B14F-4D97-AF65-F5344CB8AC3E}">
        <p14:creationId xmlns:p14="http://schemas.microsoft.com/office/powerpoint/2010/main" val="176315231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7007707-0492-4375-42B3-510F206A7A9F}"/>
              </a:ext>
            </a:extLst>
          </p:cNvPr>
          <p:cNvSpPr>
            <a:spLocks noGrp="1"/>
          </p:cNvSpPr>
          <p:nvPr>
            <p:ph type="title"/>
          </p:nvPr>
        </p:nvSpPr>
        <p:spPr>
          <a:xfrm>
            <a:off x="588261" y="585216"/>
            <a:ext cx="11011601" cy="369332"/>
          </a:xfrm>
        </p:spPr>
        <p:txBody>
          <a:bodyPr/>
          <a:lstStyle/>
          <a:p>
            <a:r>
              <a:rPr lang="en-US" dirty="0"/>
              <a:t>Explore server and database audit cont’d</a:t>
            </a:r>
          </a:p>
        </p:txBody>
      </p:sp>
      <p:sp>
        <p:nvSpPr>
          <p:cNvPr id="10" name="Text Placeholder 9">
            <a:extLst>
              <a:ext uri="{FF2B5EF4-FFF2-40B4-BE49-F238E27FC236}">
                <a16:creationId xmlns:a16="http://schemas.microsoft.com/office/drawing/2014/main" id="{E654C89A-22F4-9B45-704B-498C4C8C3389}"/>
              </a:ext>
            </a:extLst>
          </p:cNvPr>
          <p:cNvSpPr>
            <a:spLocks noGrp="1"/>
          </p:cNvSpPr>
          <p:nvPr>
            <p:ph type="body" sz="quarter" idx="17"/>
          </p:nvPr>
        </p:nvSpPr>
        <p:spPr>
          <a:xfrm>
            <a:off x="584199" y="1386766"/>
            <a:ext cx="11011601" cy="338554"/>
          </a:xfrm>
        </p:spPr>
        <p:txBody>
          <a:bodyPr/>
          <a:lstStyle/>
          <a:p>
            <a:r>
              <a:rPr lang="en-US" sz="2200" dirty="0"/>
              <a:t>Default auditing policy for SQL Database includes:</a:t>
            </a:r>
          </a:p>
        </p:txBody>
      </p:sp>
      <p:graphicFrame>
        <p:nvGraphicFramePr>
          <p:cNvPr id="11" name="Table 10">
            <a:extLst>
              <a:ext uri="{FF2B5EF4-FFF2-40B4-BE49-F238E27FC236}">
                <a16:creationId xmlns:a16="http://schemas.microsoft.com/office/drawing/2014/main" id="{C16674EF-08AC-1DBB-6B5E-0ABD96B4558D}"/>
              </a:ext>
            </a:extLst>
          </p:cNvPr>
          <p:cNvGraphicFramePr>
            <a:graphicFrameLocks noGrp="1"/>
          </p:cNvGraphicFramePr>
          <p:nvPr>
            <p:extLst>
              <p:ext uri="{D42A27DB-BD31-4B8C-83A1-F6EECF244321}">
                <p14:modId xmlns:p14="http://schemas.microsoft.com/office/powerpoint/2010/main" val="2095354864"/>
              </p:ext>
            </p:extLst>
          </p:nvPr>
        </p:nvGraphicFramePr>
        <p:xfrm>
          <a:off x="588261" y="2065205"/>
          <a:ext cx="11011601" cy="3048000"/>
        </p:xfrm>
        <a:graphic>
          <a:graphicData uri="http://schemas.openxmlformats.org/drawingml/2006/table">
            <a:tbl>
              <a:tblPr firstRow="1">
                <a:tableStyleId>{2D5ABB26-0587-4C30-8999-92F81FD0307C}</a:tableStyleId>
              </a:tblPr>
              <a:tblGrid>
                <a:gridCol w="5885110">
                  <a:extLst>
                    <a:ext uri="{9D8B030D-6E8A-4147-A177-3AD203B41FA5}">
                      <a16:colId xmlns:a16="http://schemas.microsoft.com/office/drawing/2014/main" val="3156344197"/>
                    </a:ext>
                  </a:extLst>
                </a:gridCol>
                <a:gridCol w="5126491">
                  <a:extLst>
                    <a:ext uri="{9D8B030D-6E8A-4147-A177-3AD203B41FA5}">
                      <a16:colId xmlns:a16="http://schemas.microsoft.com/office/drawing/2014/main" val="996033980"/>
                    </a:ext>
                  </a:extLst>
                </a:gridCol>
              </a:tblGrid>
              <a:tr h="0">
                <a:tc>
                  <a:txBody>
                    <a:bodyPr/>
                    <a:lstStyle/>
                    <a:p>
                      <a:r>
                        <a:rPr lang="en-US" sz="2000" dirty="0">
                          <a:solidFill>
                            <a:schemeClr val="tx1"/>
                          </a:solidFill>
                          <a:latin typeface="+mj-lt"/>
                        </a:rPr>
                        <a:t>Action group</a:t>
                      </a:r>
                    </a:p>
                  </a:txBody>
                  <a:tcPr marL="182880" marR="182880" marT="137160" marB="1371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FE9D88"/>
                    </a:solidFill>
                  </a:tcPr>
                </a:tc>
                <a:tc>
                  <a:txBody>
                    <a:bodyPr/>
                    <a:lstStyle/>
                    <a:p>
                      <a:r>
                        <a:rPr lang="en-US" sz="2000" dirty="0">
                          <a:solidFill>
                            <a:schemeClr val="tx1"/>
                          </a:solidFill>
                          <a:latin typeface="+mj-lt"/>
                        </a:rPr>
                        <a:t>Definition</a:t>
                      </a:r>
                    </a:p>
                  </a:txBody>
                  <a:tcPr marL="182880" marR="182880" marT="137160" marB="1371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D988DC"/>
                    </a:solidFill>
                  </a:tcPr>
                </a:tc>
                <a:extLst>
                  <a:ext uri="{0D108BD9-81ED-4DB2-BD59-A6C34878D82A}">
                    <a16:rowId xmlns:a16="http://schemas.microsoft.com/office/drawing/2014/main" val="1540942175"/>
                  </a:ext>
                </a:extLst>
              </a:tr>
              <a:tr h="822960">
                <a:tc>
                  <a:txBody>
                    <a:bodyPr/>
                    <a:lstStyle/>
                    <a:p>
                      <a:r>
                        <a:rPr lang="en-US" sz="1800" dirty="0">
                          <a:solidFill>
                            <a:schemeClr val="tx1"/>
                          </a:solidFill>
                          <a:latin typeface="+mj-lt"/>
                        </a:rPr>
                        <a:t>BATCH_COMPLETED_GROUP</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j-lt"/>
                        </a:rPr>
                        <a:t>Audits all the queries and stored procedures executed against the database.</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95888417"/>
                  </a:ext>
                </a:extLst>
              </a:tr>
              <a:tr h="822960">
                <a:tc>
                  <a:txBody>
                    <a:bodyPr/>
                    <a:lstStyle/>
                    <a:p>
                      <a:r>
                        <a:rPr lang="en-US" sz="1800" dirty="0">
                          <a:solidFill>
                            <a:schemeClr val="tx1"/>
                          </a:solidFill>
                          <a:latin typeface="+mj-lt"/>
                        </a:rPr>
                        <a:t>SUCCESSFUL_DATABASE_AUTHENTICATION_GROUP</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j-lt"/>
                        </a:rPr>
                        <a:t>This indicates that a principal succeed to log into the database.</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61710163"/>
                  </a:ext>
                </a:extLst>
              </a:tr>
              <a:tr h="822960">
                <a:tc>
                  <a:txBody>
                    <a:bodyPr/>
                    <a:lstStyle/>
                    <a:p>
                      <a:r>
                        <a:rPr lang="en-US" sz="1800" dirty="0">
                          <a:solidFill>
                            <a:schemeClr val="tx1"/>
                          </a:solidFill>
                          <a:latin typeface="+mj-lt"/>
                        </a:rPr>
                        <a:t>FAILED_DATABASE_AUTHENTICATION_GROUP</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j-lt"/>
                        </a:rPr>
                        <a:t>This indicates that a principal failed to log into the database.</a:t>
                      </a:r>
                    </a:p>
                  </a:txBody>
                  <a:tcPr marL="182880" marR="182880" marT="137160" marB="13716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66415714"/>
                  </a:ext>
                </a:extLst>
              </a:tr>
            </a:tbl>
          </a:graphicData>
        </a:graphic>
      </p:graphicFrame>
    </p:spTree>
    <p:extLst>
      <p:ext uri="{BB962C8B-B14F-4D97-AF65-F5344CB8AC3E}">
        <p14:creationId xmlns:p14="http://schemas.microsoft.com/office/powerpoint/2010/main" val="173161272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9E8FEC-ED64-52B5-56DA-902B1421861D}"/>
              </a:ext>
            </a:extLst>
          </p:cNvPr>
          <p:cNvSpPr>
            <a:spLocks noGrp="1"/>
          </p:cNvSpPr>
          <p:nvPr>
            <p:ph type="title"/>
          </p:nvPr>
        </p:nvSpPr>
        <p:spPr/>
        <p:txBody>
          <a:bodyPr/>
          <a:lstStyle/>
          <a:p>
            <a:r>
              <a:rPr lang="en-US" dirty="0"/>
              <a:t>Explore server and database </a:t>
            </a:r>
            <a:r>
              <a:rPr lang="en-US"/>
              <a:t>audit cont’d </a:t>
            </a:r>
            <a:endParaRPr lang="en-US" dirty="0"/>
          </a:p>
        </p:txBody>
      </p:sp>
      <p:sp>
        <p:nvSpPr>
          <p:cNvPr id="6" name="Text Placeholder 5">
            <a:extLst>
              <a:ext uri="{FF2B5EF4-FFF2-40B4-BE49-F238E27FC236}">
                <a16:creationId xmlns:a16="http://schemas.microsoft.com/office/drawing/2014/main" id="{F32426FB-BFDA-2232-DB2B-39C08ECBC0C8}"/>
              </a:ext>
            </a:extLst>
          </p:cNvPr>
          <p:cNvSpPr>
            <a:spLocks noGrp="1"/>
          </p:cNvSpPr>
          <p:nvPr>
            <p:ph type="body" sz="quarter" idx="15"/>
          </p:nvPr>
        </p:nvSpPr>
        <p:spPr>
          <a:xfrm>
            <a:off x="586389" y="1591056"/>
            <a:ext cx="11013474" cy="677108"/>
          </a:xfrm>
        </p:spPr>
        <p:txBody>
          <a:bodyPr/>
          <a:lstStyle/>
          <a:p>
            <a:pPr marL="0" indent="0">
              <a:buNone/>
            </a:pPr>
            <a:r>
              <a:rPr lang="en-US" sz="2200" b="1" dirty="0">
                <a:latin typeface="+mn-lt"/>
              </a:rPr>
              <a:t>Audit sensitive labels:</a:t>
            </a:r>
            <a:r>
              <a:rPr lang="en-US" sz="2200" dirty="0">
                <a:latin typeface="+mn-lt"/>
              </a:rPr>
              <a:t> When combined with data classification, you can also monitor access to sensitive data.</a:t>
            </a:r>
          </a:p>
        </p:txBody>
      </p:sp>
      <p:pic>
        <p:nvPicPr>
          <p:cNvPr id="9" name="Picture 2" descr="Screenshot of the Information Protection page from Azure portal.">
            <a:extLst>
              <a:ext uri="{FF2B5EF4-FFF2-40B4-BE49-F238E27FC236}">
                <a16:creationId xmlns:a16="http://schemas.microsoft.com/office/drawing/2014/main" id="{20C23AE9-BF4C-19E8-D59D-DA5CF5DF5D52}"/>
              </a:ext>
            </a:extLst>
          </p:cNvPr>
          <p:cNvPicPr>
            <a:picLocks noChangeArrowheads="1"/>
          </p:cNvPicPr>
          <p:nvPr/>
        </p:nvPicPr>
        <p:blipFill rotWithShape="1">
          <a:blip r:embed="rId3">
            <a:extLst>
              <a:ext uri="{28A0092B-C50C-407E-A947-70E740481C1C}">
                <a14:useLocalDpi xmlns:a14="http://schemas.microsoft.com/office/drawing/2010/main" val="0"/>
              </a:ext>
            </a:extLst>
          </a:blip>
          <a:srcRect l="-1382" t="-12211" r="-1382" b="-12211"/>
          <a:stretch/>
        </p:blipFill>
        <p:spPr bwMode="auto">
          <a:xfrm>
            <a:off x="586388" y="2875786"/>
            <a:ext cx="11013474" cy="1986500"/>
          </a:xfrm>
          <a:prstGeom prst="rect">
            <a:avLst/>
          </a:prstGeom>
          <a:ln w="38100">
            <a:solidFill>
              <a:srgbClr val="C73ECC"/>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555522"/>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924435-2DF6-36B8-8D80-5C9A8A435C53}"/>
              </a:ext>
            </a:extLst>
          </p:cNvPr>
          <p:cNvSpPr>
            <a:spLocks noGrp="1"/>
          </p:cNvSpPr>
          <p:nvPr>
            <p:ph type="title"/>
          </p:nvPr>
        </p:nvSpPr>
        <p:spPr/>
        <p:txBody>
          <a:bodyPr wrap="square" anchor="t">
            <a:normAutofit/>
          </a:bodyPr>
          <a:lstStyle/>
          <a:p>
            <a:r>
              <a:rPr lang="en-US" dirty="0"/>
              <a:t>Dynamic Data Masking</a:t>
            </a:r>
          </a:p>
        </p:txBody>
      </p:sp>
      <p:pic>
        <p:nvPicPr>
          <p:cNvPr id="11" name="Picture 2" descr="Screenshot of the dynamic data masking T-SQL commands.">
            <a:extLst>
              <a:ext uri="{FF2B5EF4-FFF2-40B4-BE49-F238E27FC236}">
                <a16:creationId xmlns:a16="http://schemas.microsoft.com/office/drawing/2014/main" id="{D9B7BA02-DD20-BC02-ED1D-24FBCA4ECB1C}"/>
              </a:ext>
            </a:extLst>
          </p:cNvPr>
          <p:cNvPicPr>
            <a:picLocks noGrp="1" noChangeAspect="1" noChangeArrowheads="1"/>
          </p:cNvPicPr>
          <p:nvPr>
            <p:ph type="pic" sz="quarter" idx="20"/>
          </p:nvPr>
        </p:nvPicPr>
        <p:blipFill rotWithShape="1">
          <a:blip r:embed="rId3">
            <a:extLst>
              <a:ext uri="{28A0092B-C50C-407E-A947-70E740481C1C}">
                <a14:useLocalDpi xmlns:a14="http://schemas.microsoft.com/office/drawing/2010/main" val="0"/>
              </a:ext>
            </a:extLst>
          </a:blip>
          <a:srcRect l="799" t="-1" r="51" b="314"/>
          <a:stretch/>
        </p:blipFill>
        <p:spPr bwMode="auto">
          <a:xfrm>
            <a:off x="4064000" y="1581150"/>
            <a:ext cx="7535862" cy="4032250"/>
          </a:xfrm>
          <a:prstGeom prst="rect">
            <a:avLst/>
          </a:prstGeom>
          <a:noFill/>
          <a:ln w="38100">
            <a:solidFill>
              <a:srgbClr val="C73ECC"/>
            </a:solidFill>
          </a:ln>
          <a:effectLst/>
        </p:spPr>
      </p:pic>
      <p:sp>
        <p:nvSpPr>
          <p:cNvPr id="3" name="Text Placeholder 2">
            <a:extLst>
              <a:ext uri="{FF2B5EF4-FFF2-40B4-BE49-F238E27FC236}">
                <a16:creationId xmlns:a16="http://schemas.microsoft.com/office/drawing/2014/main" id="{B27EB4A3-0768-CEA0-FBAF-AE6CE5DE1B96}"/>
              </a:ext>
            </a:extLst>
          </p:cNvPr>
          <p:cNvSpPr>
            <a:spLocks noGrp="1"/>
          </p:cNvSpPr>
          <p:nvPr>
            <p:ph type="body" sz="quarter" idx="15"/>
          </p:nvPr>
        </p:nvSpPr>
        <p:spPr>
          <a:xfrm>
            <a:off x="588262" y="1581150"/>
            <a:ext cx="3172811" cy="4430720"/>
          </a:xfrm>
        </p:spPr>
        <p:txBody>
          <a:bodyPr/>
          <a:lstStyle/>
          <a:p>
            <a:r>
              <a:rPr lang="en-US" sz="1800" dirty="0"/>
              <a:t>Dynamic Data Masking (DDM) is used to prevent users from seeing sensitive data.</a:t>
            </a:r>
          </a:p>
          <a:p>
            <a:r>
              <a:rPr lang="en-US" sz="1800" dirty="0"/>
              <a:t>Data can be unmasked by simply granting a right to a user</a:t>
            </a:r>
          </a:p>
          <a:p>
            <a:r>
              <a:rPr lang="en-US" sz="1800" dirty="0"/>
              <a:t>Server admins will always have access to unmasked data</a:t>
            </a:r>
          </a:p>
          <a:p>
            <a:pPr marL="0" indent="0">
              <a:buNone/>
            </a:pPr>
            <a:endParaRPr lang="en-US" sz="1800" dirty="0"/>
          </a:p>
        </p:txBody>
      </p:sp>
    </p:spTree>
    <p:extLst>
      <p:ext uri="{BB962C8B-B14F-4D97-AF65-F5344CB8AC3E}">
        <p14:creationId xmlns:p14="http://schemas.microsoft.com/office/powerpoint/2010/main" val="384094595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EC9DBB-A660-7112-67A7-38761B985DDA}"/>
              </a:ext>
            </a:extLst>
          </p:cNvPr>
          <p:cNvSpPr>
            <a:spLocks noGrp="1"/>
          </p:cNvSpPr>
          <p:nvPr>
            <p:ph type="title"/>
          </p:nvPr>
        </p:nvSpPr>
        <p:spPr/>
        <p:txBody>
          <a:bodyPr/>
          <a:lstStyle/>
          <a:p>
            <a:r>
              <a:rPr lang="en-US" dirty="0"/>
              <a:t>Dynamic Data Masking implementation</a:t>
            </a:r>
          </a:p>
        </p:txBody>
      </p:sp>
      <p:sp>
        <p:nvSpPr>
          <p:cNvPr id="7" name="Text Placeholder 6">
            <a:extLst>
              <a:ext uri="{FF2B5EF4-FFF2-40B4-BE49-F238E27FC236}">
                <a16:creationId xmlns:a16="http://schemas.microsoft.com/office/drawing/2014/main" id="{C6293501-A5C9-1ACD-8827-612CCDE1E1C0}"/>
              </a:ext>
            </a:extLst>
          </p:cNvPr>
          <p:cNvSpPr>
            <a:spLocks noGrp="1"/>
          </p:cNvSpPr>
          <p:nvPr>
            <p:ph type="body" sz="quarter" idx="17"/>
          </p:nvPr>
        </p:nvSpPr>
        <p:spPr>
          <a:xfrm>
            <a:off x="584199" y="1386766"/>
            <a:ext cx="11011601" cy="338554"/>
          </a:xfrm>
        </p:spPr>
        <p:txBody>
          <a:bodyPr/>
          <a:lstStyle/>
          <a:p>
            <a:r>
              <a:rPr lang="en-US" sz="2200" dirty="0"/>
              <a:t>Data can be masked in different ways with several built-in masks:</a:t>
            </a:r>
          </a:p>
        </p:txBody>
      </p:sp>
      <p:graphicFrame>
        <p:nvGraphicFramePr>
          <p:cNvPr id="8" name="Table 8">
            <a:extLst>
              <a:ext uri="{FF2B5EF4-FFF2-40B4-BE49-F238E27FC236}">
                <a16:creationId xmlns:a16="http://schemas.microsoft.com/office/drawing/2014/main" id="{3C99F71F-908C-D672-FB34-05E212DF0E05}"/>
              </a:ext>
            </a:extLst>
          </p:cNvPr>
          <p:cNvGraphicFramePr>
            <a:graphicFrameLocks noGrp="1"/>
          </p:cNvGraphicFramePr>
          <p:nvPr>
            <p:extLst>
              <p:ext uri="{D42A27DB-BD31-4B8C-83A1-F6EECF244321}">
                <p14:modId xmlns:p14="http://schemas.microsoft.com/office/powerpoint/2010/main" val="4013668321"/>
              </p:ext>
            </p:extLst>
          </p:nvPr>
        </p:nvGraphicFramePr>
        <p:xfrm>
          <a:off x="584199" y="2185087"/>
          <a:ext cx="11011600" cy="1946738"/>
        </p:xfrm>
        <a:graphic>
          <a:graphicData uri="http://schemas.openxmlformats.org/drawingml/2006/table">
            <a:tbl>
              <a:tblPr firstRow="1" bandRow="1">
                <a:tableStyleId>{5C22544A-7EE6-4342-B048-85BDC9FD1C3A}</a:tableStyleId>
              </a:tblPr>
              <a:tblGrid>
                <a:gridCol w="2202320">
                  <a:extLst>
                    <a:ext uri="{9D8B030D-6E8A-4147-A177-3AD203B41FA5}">
                      <a16:colId xmlns:a16="http://schemas.microsoft.com/office/drawing/2014/main" val="205848704"/>
                    </a:ext>
                  </a:extLst>
                </a:gridCol>
                <a:gridCol w="2202320">
                  <a:extLst>
                    <a:ext uri="{9D8B030D-6E8A-4147-A177-3AD203B41FA5}">
                      <a16:colId xmlns:a16="http://schemas.microsoft.com/office/drawing/2014/main" val="2100306830"/>
                    </a:ext>
                  </a:extLst>
                </a:gridCol>
                <a:gridCol w="2202320">
                  <a:extLst>
                    <a:ext uri="{9D8B030D-6E8A-4147-A177-3AD203B41FA5}">
                      <a16:colId xmlns:a16="http://schemas.microsoft.com/office/drawing/2014/main" val="739339600"/>
                    </a:ext>
                  </a:extLst>
                </a:gridCol>
                <a:gridCol w="2202320">
                  <a:extLst>
                    <a:ext uri="{9D8B030D-6E8A-4147-A177-3AD203B41FA5}">
                      <a16:colId xmlns:a16="http://schemas.microsoft.com/office/drawing/2014/main" val="1150128774"/>
                    </a:ext>
                  </a:extLst>
                </a:gridCol>
                <a:gridCol w="2202320">
                  <a:extLst>
                    <a:ext uri="{9D8B030D-6E8A-4147-A177-3AD203B41FA5}">
                      <a16:colId xmlns:a16="http://schemas.microsoft.com/office/drawing/2014/main" val="906836321"/>
                    </a:ext>
                  </a:extLst>
                </a:gridCol>
              </a:tblGrid>
              <a:tr h="608913">
                <a:tc>
                  <a:txBody>
                    <a:bodyPr/>
                    <a:lstStyle/>
                    <a:p>
                      <a:r>
                        <a:rPr lang="en-US" sz="2000" dirty="0">
                          <a:solidFill>
                            <a:schemeClr val="tx1"/>
                          </a:solidFill>
                          <a:latin typeface="+mj-lt"/>
                        </a:rPr>
                        <a:t>Default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FE9D88"/>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j-lt"/>
                          <a:ea typeface="+mn-ea"/>
                          <a:cs typeface="+mn-cs"/>
                        </a:rPr>
                        <a:t>Credit card</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D988DC"/>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j-lt"/>
                          <a:ea typeface="+mn-ea"/>
                          <a:cs typeface="+mn-cs"/>
                        </a:rPr>
                        <a:t>Social Security number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8DC8E8"/>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j-lt"/>
                          <a:ea typeface="+mn-ea"/>
                          <a:cs typeface="+mn-cs"/>
                        </a:rPr>
                        <a:t>Random number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FFB3B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j-lt"/>
                          <a:ea typeface="+mn-ea"/>
                          <a:cs typeface="+mn-cs"/>
                        </a:rPr>
                        <a:t>Custom text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F5C7BB"/>
                    </a:solidFill>
                  </a:tcPr>
                </a:tc>
                <a:extLst>
                  <a:ext uri="{0D108BD9-81ED-4DB2-BD59-A6C34878D82A}">
                    <a16:rowId xmlns:a16="http://schemas.microsoft.com/office/drawing/2014/main" val="3694317099"/>
                  </a:ext>
                </a:extLst>
              </a:tr>
              <a:tr h="1245698">
                <a:tc>
                  <a:txBody>
                    <a:bodyPr/>
                    <a:lstStyle/>
                    <a:p>
                      <a:r>
                        <a:rPr lang="en-US" sz="1800" dirty="0"/>
                        <a:t>Full Masking based on data types of the field (no data exposed)</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n-lt"/>
                        </a:rPr>
                        <a:t>Shows the last four digits of a credit card number</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n-lt"/>
                        </a:rPr>
                        <a:t>Shows the last</a:t>
                      </a:r>
                      <a:br>
                        <a:rPr lang="en-US" sz="1800" dirty="0">
                          <a:solidFill>
                            <a:schemeClr val="tx1"/>
                          </a:solidFill>
                          <a:latin typeface="+mn-lt"/>
                        </a:rPr>
                      </a:br>
                      <a:r>
                        <a:rPr lang="en-US" sz="1800" dirty="0">
                          <a:solidFill>
                            <a:schemeClr val="tx1"/>
                          </a:solidFill>
                          <a:latin typeface="+mn-lt"/>
                        </a:rPr>
                        <a:t>4 digits </a:t>
                      </a:r>
                      <a:br>
                        <a:rPr lang="en-US" sz="1800" dirty="0">
                          <a:solidFill>
                            <a:schemeClr val="tx1"/>
                          </a:solidFill>
                          <a:latin typeface="+mn-lt"/>
                        </a:rPr>
                      </a:br>
                      <a:r>
                        <a:rPr lang="en-US" sz="1800" dirty="0">
                          <a:solidFill>
                            <a:schemeClr val="tx1"/>
                          </a:solidFill>
                          <a:latin typeface="+mn-lt"/>
                        </a:rPr>
                        <a:t>XXX-XX-1234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Generates random numbers according to the boundaries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dirty="0">
                          <a:solidFill>
                            <a:schemeClr val="tx1"/>
                          </a:solidFill>
                          <a:latin typeface="+mn-lt"/>
                        </a:rPr>
                        <a:t>Exposes first and last characters and adds custom string in the middle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8993451"/>
                  </a:ext>
                </a:extLst>
              </a:tr>
            </a:tbl>
          </a:graphicData>
        </a:graphic>
      </p:graphicFrame>
    </p:spTree>
    <p:extLst>
      <p:ext uri="{BB962C8B-B14F-4D97-AF65-F5344CB8AC3E}">
        <p14:creationId xmlns:p14="http://schemas.microsoft.com/office/powerpoint/2010/main" val="467619739"/>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C6AC599-208A-70AE-645B-6A3C0745065B}"/>
              </a:ext>
            </a:extLst>
          </p:cNvPr>
          <p:cNvSpPr>
            <a:spLocks noGrp="1"/>
          </p:cNvSpPr>
          <p:nvPr>
            <p:ph type="title"/>
          </p:nvPr>
        </p:nvSpPr>
        <p:spPr/>
        <p:txBody>
          <a:bodyPr/>
          <a:lstStyle/>
          <a:p>
            <a:r>
              <a:rPr lang="en-US" dirty="0"/>
              <a:t>Row level security</a:t>
            </a:r>
          </a:p>
        </p:txBody>
      </p:sp>
      <p:pic>
        <p:nvPicPr>
          <p:cNvPr id="2" name="Picture 1" descr="Icon of three concentric arcs">
            <a:extLst>
              <a:ext uri="{FF2B5EF4-FFF2-40B4-BE49-F238E27FC236}">
                <a16:creationId xmlns:a16="http://schemas.microsoft.com/office/drawing/2014/main" id="{19D68408-EF10-A1D5-E36A-5E8205415DA9}"/>
              </a:ext>
            </a:extLst>
          </p:cNvPr>
          <p:cNvPicPr>
            <a:picLocks/>
          </p:cNvPicPr>
          <p:nvPr/>
        </p:nvPicPr>
        <p:blipFill>
          <a:blip r:embed="rId3">
            <a:duotone>
              <a:schemeClr val="accent3">
                <a:shade val="45000"/>
                <a:satMod val="135000"/>
              </a:schemeClr>
              <a:prstClr val="white"/>
            </a:duotone>
          </a:blip>
          <a:stretch>
            <a:fillRect/>
          </a:stretch>
        </p:blipFill>
        <p:spPr>
          <a:xfrm>
            <a:off x="624243" y="1563696"/>
            <a:ext cx="557786" cy="557786"/>
          </a:xfrm>
          <a:prstGeom prst="rect">
            <a:avLst/>
          </a:prstGeom>
        </p:spPr>
      </p:pic>
      <p:sp>
        <p:nvSpPr>
          <p:cNvPr id="16" name="Rectangle 15">
            <a:extLst>
              <a:ext uri="{FF2B5EF4-FFF2-40B4-BE49-F238E27FC236}">
                <a16:creationId xmlns:a16="http://schemas.microsoft.com/office/drawing/2014/main" id="{CF807FF7-1109-A104-048E-18310F421896}"/>
              </a:ext>
            </a:extLst>
          </p:cNvPr>
          <p:cNvSpPr>
            <a:spLocks/>
          </p:cNvSpPr>
          <p:nvPr/>
        </p:nvSpPr>
        <p:spPr bwMode="auto">
          <a:xfrm>
            <a:off x="1384300" y="1534813"/>
            <a:ext cx="10211499"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1200"/>
              </a:spcAft>
            </a:pPr>
            <a:r>
              <a:rPr lang="en-US" sz="2000" dirty="0">
                <a:solidFill>
                  <a:schemeClr val="tx1"/>
                </a:solidFill>
                <a:latin typeface="+mj-lt"/>
              </a:rPr>
              <a:t>Operates at the database level to restrict access to a table by using a security policy – Equivalent to a WHERE clause</a:t>
            </a:r>
          </a:p>
        </p:txBody>
      </p:sp>
      <p:pic>
        <p:nvPicPr>
          <p:cNvPr id="3" name="Picture 2" descr="Icon of a security lock">
            <a:extLst>
              <a:ext uri="{FF2B5EF4-FFF2-40B4-BE49-F238E27FC236}">
                <a16:creationId xmlns:a16="http://schemas.microsoft.com/office/drawing/2014/main" id="{D9F237C5-A3A2-1752-4646-DDEB14AAE957}"/>
              </a:ext>
            </a:extLst>
          </p:cNvPr>
          <p:cNvPicPr>
            <a:picLocks/>
          </p:cNvPicPr>
          <p:nvPr/>
        </p:nvPicPr>
        <p:blipFill>
          <a:blip r:embed="rId4">
            <a:duotone>
              <a:schemeClr val="accent3">
                <a:shade val="45000"/>
                <a:satMod val="135000"/>
              </a:schemeClr>
              <a:prstClr val="white"/>
            </a:duotone>
          </a:blip>
          <a:stretch>
            <a:fillRect/>
          </a:stretch>
        </p:blipFill>
        <p:spPr>
          <a:xfrm>
            <a:off x="624243" y="2560506"/>
            <a:ext cx="557786" cy="557786"/>
          </a:xfrm>
          <a:prstGeom prst="rect">
            <a:avLst/>
          </a:prstGeom>
        </p:spPr>
      </p:pic>
      <p:sp>
        <p:nvSpPr>
          <p:cNvPr id="18" name="Rectangle 17">
            <a:extLst>
              <a:ext uri="{FF2B5EF4-FFF2-40B4-BE49-F238E27FC236}">
                <a16:creationId xmlns:a16="http://schemas.microsoft.com/office/drawing/2014/main" id="{086DA11C-1823-A1B0-D239-5FD38964F468}"/>
              </a:ext>
            </a:extLst>
          </p:cNvPr>
          <p:cNvSpPr>
            <a:spLocks/>
          </p:cNvSpPr>
          <p:nvPr/>
        </p:nvSpPr>
        <p:spPr bwMode="auto">
          <a:xfrm>
            <a:off x="1384300" y="2685510"/>
            <a:ext cx="10211499"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1200"/>
              </a:spcAft>
            </a:pPr>
            <a:r>
              <a:rPr lang="en-US" sz="2000" dirty="0">
                <a:solidFill>
                  <a:schemeClr val="tx1"/>
                </a:solidFill>
                <a:latin typeface="+mj-lt"/>
              </a:rPr>
              <a:t>Depending on the attribute of a user, the predicate determines if the user has access</a:t>
            </a:r>
          </a:p>
        </p:txBody>
      </p:sp>
      <p:pic>
        <p:nvPicPr>
          <p:cNvPr id="4" name="Picture 3" descr="Icon of a square with two smaller squares inside it">
            <a:extLst>
              <a:ext uri="{FF2B5EF4-FFF2-40B4-BE49-F238E27FC236}">
                <a16:creationId xmlns:a16="http://schemas.microsoft.com/office/drawing/2014/main" id="{AD05E9CA-93DA-C493-B908-639080E82624}"/>
              </a:ext>
            </a:extLst>
          </p:cNvPr>
          <p:cNvPicPr>
            <a:picLocks/>
          </p:cNvPicPr>
          <p:nvPr/>
        </p:nvPicPr>
        <p:blipFill>
          <a:blip r:embed="rId5">
            <a:duotone>
              <a:schemeClr val="accent3">
                <a:shade val="45000"/>
                <a:satMod val="135000"/>
              </a:schemeClr>
              <a:prstClr val="white"/>
            </a:duotone>
          </a:blip>
          <a:stretch>
            <a:fillRect/>
          </a:stretch>
        </p:blipFill>
        <p:spPr>
          <a:xfrm>
            <a:off x="624243" y="3521111"/>
            <a:ext cx="557786" cy="557786"/>
          </a:xfrm>
          <a:prstGeom prst="rect">
            <a:avLst/>
          </a:prstGeom>
        </p:spPr>
      </p:pic>
      <p:sp>
        <p:nvSpPr>
          <p:cNvPr id="22" name="Rectangle 21">
            <a:extLst>
              <a:ext uri="{FF2B5EF4-FFF2-40B4-BE49-F238E27FC236}">
                <a16:creationId xmlns:a16="http://schemas.microsoft.com/office/drawing/2014/main" id="{0273C17A-B01D-E77B-9971-E5446A155F2C}"/>
              </a:ext>
            </a:extLst>
          </p:cNvPr>
          <p:cNvSpPr>
            <a:spLocks/>
          </p:cNvSpPr>
          <p:nvPr/>
        </p:nvSpPr>
        <p:spPr bwMode="auto">
          <a:xfrm>
            <a:off x="1384300" y="3521111"/>
            <a:ext cx="10211499" cy="138499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31775" indent="-231775">
              <a:spcAft>
                <a:spcPts val="1200"/>
              </a:spcAft>
              <a:buFont typeface="Arial" panose="020B0604020202020204" pitchFamily="34" charset="0"/>
              <a:buChar char="•"/>
            </a:pPr>
            <a:r>
              <a:rPr lang="en-US" sz="2000" b="1" dirty="0">
                <a:solidFill>
                  <a:schemeClr val="tx1"/>
                </a:solidFill>
              </a:rPr>
              <a:t>Filter predicate </a:t>
            </a:r>
            <a:r>
              <a:rPr lang="en-US" sz="2000" dirty="0">
                <a:solidFill>
                  <a:schemeClr val="tx1"/>
                </a:solidFill>
              </a:rPr>
              <a:t>– Restrict data access that violate predicate (SELECT, UPDATE, DELETE, INSERT)</a:t>
            </a:r>
          </a:p>
          <a:p>
            <a:pPr marL="231775" indent="-231775">
              <a:spcAft>
                <a:spcPts val="1200"/>
              </a:spcAft>
              <a:buFont typeface="Arial" panose="020B0604020202020204" pitchFamily="34" charset="0"/>
              <a:buChar char="•"/>
            </a:pPr>
            <a:r>
              <a:rPr lang="en-US" sz="2000" b="1" dirty="0">
                <a:solidFill>
                  <a:schemeClr val="tx1"/>
                </a:solidFill>
              </a:rPr>
              <a:t>Block predicate </a:t>
            </a:r>
            <a:r>
              <a:rPr lang="en-US" sz="2000" dirty="0">
                <a:solidFill>
                  <a:schemeClr val="tx1"/>
                </a:solidFill>
              </a:rPr>
              <a:t>– Restrict data changes that violate predicate (AFTER INSERT, AFTER UPDATE, BEFORE UPDATE, BEFORE DELETE)</a:t>
            </a:r>
          </a:p>
        </p:txBody>
      </p:sp>
    </p:spTree>
    <p:extLst>
      <p:ext uri="{BB962C8B-B14F-4D97-AF65-F5344CB8AC3E}">
        <p14:creationId xmlns:p14="http://schemas.microsoft.com/office/powerpoint/2010/main" val="3814413004"/>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5D07AF2-D576-3F92-15FC-6774AF579428}"/>
              </a:ext>
            </a:extLst>
          </p:cNvPr>
          <p:cNvSpPr>
            <a:spLocks noGrp="1"/>
          </p:cNvSpPr>
          <p:nvPr>
            <p:ph type="title"/>
          </p:nvPr>
        </p:nvSpPr>
        <p:spPr/>
        <p:txBody>
          <a:bodyPr/>
          <a:lstStyle/>
          <a:p>
            <a:r>
              <a:rPr lang="en-US" dirty="0"/>
              <a:t>Row level security use cases and best practices</a:t>
            </a:r>
          </a:p>
        </p:txBody>
      </p:sp>
      <p:sp>
        <p:nvSpPr>
          <p:cNvPr id="2" name="Text Placeholder 11">
            <a:extLst>
              <a:ext uri="{FF2B5EF4-FFF2-40B4-BE49-F238E27FC236}">
                <a16:creationId xmlns:a16="http://schemas.microsoft.com/office/drawing/2014/main" id="{9B3ED692-4E4A-6E52-D7AF-BF62D75B935D}"/>
              </a:ext>
            </a:extLst>
          </p:cNvPr>
          <p:cNvSpPr txBox="1">
            <a:spLocks/>
          </p:cNvSpPr>
          <p:nvPr/>
        </p:nvSpPr>
        <p:spPr>
          <a:xfrm>
            <a:off x="584199" y="1594155"/>
            <a:ext cx="5379793" cy="2600712"/>
          </a:xfrm>
          <a:prstGeom prst="rect">
            <a:avLst/>
          </a:prstGeom>
          <a:ln w="38100">
            <a:solidFill>
              <a:srgbClr val="C73ECC"/>
            </a:solidFill>
          </a:ln>
        </p:spPr>
        <p:txBody>
          <a:bodyPr vert="horz" wrap="square" lIns="137160" tIns="91440" rIns="137160" bIns="9144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en-US" dirty="0"/>
              <a:t>Use cases:</a:t>
            </a:r>
          </a:p>
          <a:p>
            <a:pPr marL="434975" indent="-260350">
              <a:spcAft>
                <a:spcPts val="600"/>
              </a:spcAft>
              <a:buFont typeface="Arial" panose="020B0604020202020204" pitchFamily="34" charset="0"/>
              <a:buChar char="•"/>
            </a:pPr>
            <a:r>
              <a:rPr lang="en-US" sz="2000" dirty="0">
                <a:latin typeface="+mn-lt"/>
              </a:rPr>
              <a:t>To isolate departmental access at the </a:t>
            </a:r>
            <a:br>
              <a:rPr lang="en-US" sz="2000" dirty="0">
                <a:latin typeface="+mn-lt"/>
              </a:rPr>
            </a:br>
            <a:r>
              <a:rPr lang="en-US" sz="2000" dirty="0">
                <a:latin typeface="+mn-lt"/>
              </a:rPr>
              <a:t>row level.</a:t>
            </a:r>
          </a:p>
          <a:p>
            <a:pPr marL="434975" indent="-260350">
              <a:spcAft>
                <a:spcPts val="600"/>
              </a:spcAft>
              <a:buFont typeface="Arial" panose="020B0604020202020204" pitchFamily="34" charset="0"/>
              <a:buChar char="•"/>
            </a:pPr>
            <a:r>
              <a:rPr lang="en-US" sz="2000" dirty="0">
                <a:latin typeface="+mn-lt"/>
              </a:rPr>
              <a:t>To restrict customers’ data access to only the data relevant to their company.</a:t>
            </a:r>
          </a:p>
          <a:p>
            <a:pPr marL="434975" indent="-260350">
              <a:spcAft>
                <a:spcPts val="600"/>
              </a:spcAft>
              <a:buFont typeface="Arial" panose="020B0604020202020204" pitchFamily="34" charset="0"/>
              <a:buChar char="•"/>
            </a:pPr>
            <a:r>
              <a:rPr lang="en-US" sz="2000" dirty="0">
                <a:latin typeface="+mn-lt"/>
              </a:rPr>
              <a:t>To restrict access for compliance purposes.</a:t>
            </a:r>
          </a:p>
        </p:txBody>
      </p:sp>
      <p:sp>
        <p:nvSpPr>
          <p:cNvPr id="4" name="Text Placeholder 12">
            <a:extLst>
              <a:ext uri="{FF2B5EF4-FFF2-40B4-BE49-F238E27FC236}">
                <a16:creationId xmlns:a16="http://schemas.microsoft.com/office/drawing/2014/main" id="{1222DA94-1BFC-F349-F8C9-A76E070414CE}"/>
              </a:ext>
            </a:extLst>
          </p:cNvPr>
          <p:cNvSpPr txBox="1">
            <a:spLocks/>
          </p:cNvSpPr>
          <p:nvPr/>
        </p:nvSpPr>
        <p:spPr>
          <a:xfrm>
            <a:off x="6244219" y="1594155"/>
            <a:ext cx="5379793" cy="2600712"/>
          </a:xfrm>
          <a:prstGeom prst="rect">
            <a:avLst/>
          </a:prstGeom>
          <a:ln w="38100">
            <a:solidFill>
              <a:srgbClr val="C73ECC"/>
            </a:solidFill>
          </a:ln>
        </p:spPr>
        <p:txBody>
          <a:bodyPr vert="horz" wrap="square" lIns="137160" tIns="91440" rIns="137160" bIns="9144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Best practices:</a:t>
            </a:r>
          </a:p>
          <a:p>
            <a:pPr marL="434975" indent="-260350">
              <a:spcAft>
                <a:spcPts val="600"/>
              </a:spcAft>
              <a:buFont typeface="Arial" panose="020B0604020202020204" pitchFamily="34" charset="0"/>
              <a:buChar char="•"/>
            </a:pPr>
            <a:r>
              <a:rPr lang="en-US" sz="2000" dirty="0">
                <a:latin typeface="+mn-lt"/>
              </a:rPr>
              <a:t>Create a separate schema for predicate functions and security policies.</a:t>
            </a:r>
          </a:p>
          <a:p>
            <a:pPr marL="434975" indent="-260350">
              <a:spcAft>
                <a:spcPts val="600"/>
              </a:spcAft>
              <a:buFont typeface="Arial" panose="020B0604020202020204" pitchFamily="34" charset="0"/>
              <a:buChar char="•"/>
            </a:pPr>
            <a:r>
              <a:rPr lang="en-US" sz="2000" dirty="0">
                <a:latin typeface="+mn-lt"/>
              </a:rPr>
              <a:t>Avoid type conversions in predicate functions.</a:t>
            </a:r>
          </a:p>
          <a:p>
            <a:pPr marL="434975" indent="-260350">
              <a:spcAft>
                <a:spcPts val="600"/>
              </a:spcAft>
              <a:buFont typeface="Arial" panose="020B0604020202020204" pitchFamily="34" charset="0"/>
              <a:buChar char="•"/>
            </a:pPr>
            <a:r>
              <a:rPr lang="en-US" sz="2000" dirty="0">
                <a:latin typeface="+mn-lt"/>
              </a:rPr>
              <a:t>Avoid using excessive table joins and recursion in predicate functions. </a:t>
            </a:r>
          </a:p>
        </p:txBody>
      </p:sp>
    </p:spTree>
    <p:extLst>
      <p:ext uri="{BB962C8B-B14F-4D97-AF65-F5344CB8AC3E}">
        <p14:creationId xmlns:p14="http://schemas.microsoft.com/office/powerpoint/2010/main" val="17019861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2486712-46BE-0CA1-97CC-FFF349DF75E1}"/>
              </a:ext>
            </a:extLst>
          </p:cNvPr>
          <p:cNvSpPr>
            <a:spLocks noGrp="1"/>
          </p:cNvSpPr>
          <p:nvPr>
            <p:ph type="title"/>
          </p:nvPr>
        </p:nvSpPr>
        <p:spPr/>
        <p:txBody>
          <a:bodyPr/>
          <a:lstStyle/>
          <a:p>
            <a:r>
              <a:rPr lang="en-US" dirty="0"/>
              <a:t>Microsoft Defender for SQL</a:t>
            </a:r>
          </a:p>
        </p:txBody>
      </p:sp>
      <p:pic>
        <p:nvPicPr>
          <p:cNvPr id="2" name="Picture 1" descr="Icon of three concentric arcs">
            <a:extLst>
              <a:ext uri="{FF2B5EF4-FFF2-40B4-BE49-F238E27FC236}">
                <a16:creationId xmlns:a16="http://schemas.microsoft.com/office/drawing/2014/main" id="{5711073D-F25C-2000-FE76-621563882EFD}"/>
              </a:ext>
            </a:extLst>
          </p:cNvPr>
          <p:cNvPicPr>
            <a:picLocks/>
          </p:cNvPicPr>
          <p:nvPr/>
        </p:nvPicPr>
        <p:blipFill>
          <a:blip r:embed="rId3"/>
          <a:stretch>
            <a:fillRect/>
          </a:stretch>
        </p:blipFill>
        <p:spPr>
          <a:xfrm>
            <a:off x="588261" y="1561801"/>
            <a:ext cx="557786" cy="557786"/>
          </a:xfrm>
          <a:prstGeom prst="rect">
            <a:avLst/>
          </a:prstGeom>
        </p:spPr>
      </p:pic>
      <p:sp>
        <p:nvSpPr>
          <p:cNvPr id="16" name="Rectangle 15">
            <a:extLst>
              <a:ext uri="{FF2B5EF4-FFF2-40B4-BE49-F238E27FC236}">
                <a16:creationId xmlns:a16="http://schemas.microsoft.com/office/drawing/2014/main" id="{27349EAA-B05A-F578-0224-A0EDD77523CD}"/>
              </a:ext>
            </a:extLst>
          </p:cNvPr>
          <p:cNvSpPr>
            <a:spLocks/>
          </p:cNvSpPr>
          <p:nvPr/>
        </p:nvSpPr>
        <p:spPr bwMode="auto">
          <a:xfrm>
            <a:off x="1278671" y="1563696"/>
            <a:ext cx="10273627"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latin typeface="+mj-lt"/>
              </a:rPr>
              <a:t>Offers a suite of protections for Azure SQL Database and Azure SQL Managed Instance as part of the advanced SQL security features</a:t>
            </a:r>
          </a:p>
        </p:txBody>
      </p:sp>
      <p:pic>
        <p:nvPicPr>
          <p:cNvPr id="3" name="Picture 2" descr="Icon of a security lock">
            <a:extLst>
              <a:ext uri="{FF2B5EF4-FFF2-40B4-BE49-F238E27FC236}">
                <a16:creationId xmlns:a16="http://schemas.microsoft.com/office/drawing/2014/main" id="{8D8234E0-2965-5507-59A0-AAFCC6D4EF55}"/>
              </a:ext>
            </a:extLst>
          </p:cNvPr>
          <p:cNvPicPr>
            <a:picLocks/>
          </p:cNvPicPr>
          <p:nvPr/>
        </p:nvPicPr>
        <p:blipFill>
          <a:blip r:embed="rId4"/>
          <a:stretch>
            <a:fillRect/>
          </a:stretch>
        </p:blipFill>
        <p:spPr>
          <a:xfrm>
            <a:off x="588261" y="2471849"/>
            <a:ext cx="557786" cy="557786"/>
          </a:xfrm>
          <a:prstGeom prst="rect">
            <a:avLst/>
          </a:prstGeom>
        </p:spPr>
      </p:pic>
      <p:sp>
        <p:nvSpPr>
          <p:cNvPr id="18" name="Rectangle 17">
            <a:extLst>
              <a:ext uri="{FF2B5EF4-FFF2-40B4-BE49-F238E27FC236}">
                <a16:creationId xmlns:a16="http://schemas.microsoft.com/office/drawing/2014/main" id="{841AF7DC-9882-FA31-B83A-B00AB057D061}"/>
              </a:ext>
            </a:extLst>
          </p:cNvPr>
          <p:cNvSpPr>
            <a:spLocks/>
          </p:cNvSpPr>
          <p:nvPr/>
        </p:nvSpPr>
        <p:spPr bwMode="auto">
          <a:xfrm>
            <a:off x="1278671" y="2615454"/>
            <a:ext cx="10273626" cy="156966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pPr>
            <a:r>
              <a:rPr lang="en-US" sz="1800" dirty="0">
                <a:solidFill>
                  <a:schemeClr val="tx1"/>
                </a:solidFill>
                <a:latin typeface="+mj-lt"/>
              </a:rPr>
              <a:t>Advanced Threat Protection watches for:</a:t>
            </a:r>
          </a:p>
          <a:p>
            <a:pPr marL="342900" indent="-228600">
              <a:spcAft>
                <a:spcPts val="600"/>
              </a:spcAft>
              <a:buFont typeface="Arial" panose="020B0604020202020204" pitchFamily="34" charset="0"/>
              <a:buChar char="•"/>
            </a:pPr>
            <a:r>
              <a:rPr lang="en-US" sz="1600" dirty="0">
                <a:solidFill>
                  <a:schemeClr val="tx1"/>
                </a:solidFill>
              </a:rPr>
              <a:t>Suspicious database activities</a:t>
            </a:r>
          </a:p>
          <a:p>
            <a:pPr marL="342900" indent="-228600">
              <a:spcAft>
                <a:spcPts val="600"/>
              </a:spcAft>
              <a:buFont typeface="Arial" panose="020B0604020202020204" pitchFamily="34" charset="0"/>
              <a:buChar char="•"/>
            </a:pPr>
            <a:r>
              <a:rPr lang="en-US" sz="1600" dirty="0">
                <a:solidFill>
                  <a:schemeClr val="tx1"/>
                </a:solidFill>
              </a:rPr>
              <a:t>Potential database vulnerabilities</a:t>
            </a:r>
          </a:p>
          <a:p>
            <a:pPr marL="342900" indent="-228600">
              <a:spcAft>
                <a:spcPts val="600"/>
              </a:spcAft>
              <a:buFont typeface="Arial" panose="020B0604020202020204" pitchFamily="34" charset="0"/>
              <a:buChar char="•"/>
            </a:pPr>
            <a:r>
              <a:rPr lang="en-US" sz="1600" dirty="0">
                <a:solidFill>
                  <a:schemeClr val="tx1"/>
                </a:solidFill>
              </a:rPr>
              <a:t>SQL Injection Attacks</a:t>
            </a:r>
          </a:p>
          <a:p>
            <a:pPr marL="342900" indent="-228600">
              <a:spcAft>
                <a:spcPts val="600"/>
              </a:spcAft>
              <a:buFont typeface="Arial" panose="020B0604020202020204" pitchFamily="34" charset="0"/>
              <a:buChar char="•"/>
            </a:pPr>
            <a:r>
              <a:rPr lang="en-US" sz="1600" dirty="0">
                <a:solidFill>
                  <a:schemeClr val="tx1"/>
                </a:solidFill>
              </a:rPr>
              <a:t>Anomalous database access and query patterns</a:t>
            </a:r>
          </a:p>
        </p:txBody>
      </p:sp>
      <p:pic>
        <p:nvPicPr>
          <p:cNvPr id="4" name="Picture 3" descr="Icon of a square with two smaller squares inside it">
            <a:extLst>
              <a:ext uri="{FF2B5EF4-FFF2-40B4-BE49-F238E27FC236}">
                <a16:creationId xmlns:a16="http://schemas.microsoft.com/office/drawing/2014/main" id="{A26B876D-7D6E-F70D-20B4-FE15B6059709}"/>
              </a:ext>
            </a:extLst>
          </p:cNvPr>
          <p:cNvPicPr>
            <a:picLocks/>
          </p:cNvPicPr>
          <p:nvPr/>
        </p:nvPicPr>
        <p:blipFill>
          <a:blip r:embed="rId5"/>
          <a:stretch>
            <a:fillRect/>
          </a:stretch>
        </p:blipFill>
        <p:spPr>
          <a:xfrm>
            <a:off x="588261" y="4403981"/>
            <a:ext cx="557786" cy="557786"/>
          </a:xfrm>
          <a:prstGeom prst="rect">
            <a:avLst/>
          </a:prstGeom>
        </p:spPr>
      </p:pic>
      <p:sp>
        <p:nvSpPr>
          <p:cNvPr id="20" name="Rectangle 19">
            <a:extLst>
              <a:ext uri="{FF2B5EF4-FFF2-40B4-BE49-F238E27FC236}">
                <a16:creationId xmlns:a16="http://schemas.microsoft.com/office/drawing/2014/main" id="{EC283883-26A5-6741-EA8A-F77B23F63ADD}"/>
              </a:ext>
            </a:extLst>
          </p:cNvPr>
          <p:cNvSpPr>
            <a:spLocks/>
          </p:cNvSpPr>
          <p:nvPr/>
        </p:nvSpPr>
        <p:spPr bwMode="auto">
          <a:xfrm>
            <a:off x="1278671" y="4405875"/>
            <a:ext cx="10273627"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1800" dirty="0">
                <a:solidFill>
                  <a:schemeClr val="tx1"/>
                </a:solidFill>
                <a:latin typeface="+mj-lt"/>
              </a:rPr>
              <a:t>SQL vulnerability assessment is a service that uses a knowledge base of security rules to flag items that do not comply when they are scanned.</a:t>
            </a:r>
          </a:p>
        </p:txBody>
      </p:sp>
    </p:spTree>
    <p:extLst>
      <p:ext uri="{BB962C8B-B14F-4D97-AF65-F5344CB8AC3E}">
        <p14:creationId xmlns:p14="http://schemas.microsoft.com/office/powerpoint/2010/main" val="2107820664"/>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2C37944-8EF8-0A04-21A2-428978240D99}"/>
              </a:ext>
            </a:extLst>
          </p:cNvPr>
          <p:cNvSpPr>
            <a:spLocks noGrp="1"/>
          </p:cNvSpPr>
          <p:nvPr>
            <p:ph type="title"/>
          </p:nvPr>
        </p:nvSpPr>
        <p:spPr/>
        <p:txBody>
          <a:bodyPr/>
          <a:lstStyle/>
          <a:p>
            <a:r>
              <a:rPr lang="en-US" dirty="0"/>
              <a:t>Azure SQL Database Ledger</a:t>
            </a:r>
          </a:p>
        </p:txBody>
      </p:sp>
      <p:sp>
        <p:nvSpPr>
          <p:cNvPr id="13" name="Text Placeholder 12">
            <a:extLst>
              <a:ext uri="{FF2B5EF4-FFF2-40B4-BE49-F238E27FC236}">
                <a16:creationId xmlns:a16="http://schemas.microsoft.com/office/drawing/2014/main" id="{829FC40F-D9B4-7439-774F-76C1234B2544}"/>
              </a:ext>
            </a:extLst>
          </p:cNvPr>
          <p:cNvSpPr>
            <a:spLocks noGrp="1"/>
          </p:cNvSpPr>
          <p:nvPr>
            <p:ph type="body" sz="quarter" idx="16"/>
          </p:nvPr>
        </p:nvSpPr>
        <p:spPr/>
        <p:txBody>
          <a:bodyPr/>
          <a:lstStyle/>
          <a:p>
            <a:r>
              <a:rPr lang="en-US" dirty="0"/>
              <a:t>Easy audits</a:t>
            </a:r>
          </a:p>
        </p:txBody>
      </p:sp>
      <p:sp>
        <p:nvSpPr>
          <p:cNvPr id="14" name="Text Placeholder 13">
            <a:extLst>
              <a:ext uri="{FF2B5EF4-FFF2-40B4-BE49-F238E27FC236}">
                <a16:creationId xmlns:a16="http://schemas.microsoft.com/office/drawing/2014/main" id="{D145FEA6-9120-FBA0-899C-9209BD2F0E60}"/>
              </a:ext>
            </a:extLst>
          </p:cNvPr>
          <p:cNvSpPr>
            <a:spLocks noGrp="1"/>
          </p:cNvSpPr>
          <p:nvPr>
            <p:ph type="body" sz="quarter" idx="22"/>
          </p:nvPr>
        </p:nvSpPr>
        <p:spPr/>
        <p:txBody>
          <a:bodyPr/>
          <a:lstStyle/>
          <a:p>
            <a:r>
              <a:rPr lang="en-US" dirty="0"/>
              <a:t>Increased trust</a:t>
            </a:r>
          </a:p>
        </p:txBody>
      </p:sp>
      <p:sp>
        <p:nvSpPr>
          <p:cNvPr id="16" name="Text Placeholder 15">
            <a:extLst>
              <a:ext uri="{FF2B5EF4-FFF2-40B4-BE49-F238E27FC236}">
                <a16:creationId xmlns:a16="http://schemas.microsoft.com/office/drawing/2014/main" id="{E5122341-E071-9C0C-81FA-0E4EC965759D}"/>
              </a:ext>
            </a:extLst>
          </p:cNvPr>
          <p:cNvSpPr>
            <a:spLocks noGrp="1"/>
          </p:cNvSpPr>
          <p:nvPr>
            <p:ph type="body" sz="quarter" idx="24"/>
          </p:nvPr>
        </p:nvSpPr>
        <p:spPr/>
        <p:txBody>
          <a:bodyPr/>
          <a:lstStyle/>
          <a:p>
            <a:r>
              <a:rPr lang="en-US" dirty="0"/>
              <a:t>Data integrity</a:t>
            </a:r>
          </a:p>
        </p:txBody>
      </p:sp>
      <p:sp>
        <p:nvSpPr>
          <p:cNvPr id="11" name="Text Placeholder 10">
            <a:extLst>
              <a:ext uri="{FF2B5EF4-FFF2-40B4-BE49-F238E27FC236}">
                <a16:creationId xmlns:a16="http://schemas.microsoft.com/office/drawing/2014/main" id="{560B890A-948F-126B-0165-3419D4D9A3A9}"/>
              </a:ext>
            </a:extLst>
          </p:cNvPr>
          <p:cNvSpPr>
            <a:spLocks noGrp="1"/>
          </p:cNvSpPr>
          <p:nvPr>
            <p:ph type="body" sz="quarter" idx="15"/>
          </p:nvPr>
        </p:nvSpPr>
        <p:spPr>
          <a:xfrm>
            <a:off x="584200" y="3616497"/>
            <a:ext cx="3479071" cy="2068259"/>
          </a:xfrm>
        </p:spPr>
        <p:txBody>
          <a:bodyPr/>
          <a:lstStyle/>
          <a:p>
            <a:pPr marL="285750" indent="-285750" algn="l">
              <a:buFont typeface="Arial" panose="020B0604020202020204" pitchFamily="34" charset="0"/>
              <a:buChar char="•"/>
            </a:pPr>
            <a:r>
              <a:rPr lang="en-US" dirty="0"/>
              <a:t>Cryptographically verifies to auditors and other business parties that your data remains untampered.</a:t>
            </a:r>
          </a:p>
          <a:p>
            <a:pPr marL="285750" indent="-285750" algn="l">
              <a:buFont typeface="Arial" panose="020B0604020202020204" pitchFamily="34" charset="0"/>
              <a:buChar char="•"/>
            </a:pPr>
            <a:r>
              <a:rPr lang="en-US" dirty="0"/>
              <a:t>Simplifies compliance reporting by providing clear, verifiable audit trails.</a:t>
            </a:r>
          </a:p>
          <a:p>
            <a:endParaRPr lang="en-US" dirty="0"/>
          </a:p>
        </p:txBody>
      </p:sp>
      <p:sp>
        <p:nvSpPr>
          <p:cNvPr id="15" name="Text Placeholder 14">
            <a:extLst>
              <a:ext uri="{FF2B5EF4-FFF2-40B4-BE49-F238E27FC236}">
                <a16:creationId xmlns:a16="http://schemas.microsoft.com/office/drawing/2014/main" id="{3D997962-5482-CD0D-C0DF-BC1AE7600EBD}"/>
              </a:ext>
            </a:extLst>
          </p:cNvPr>
          <p:cNvSpPr>
            <a:spLocks noGrp="1"/>
          </p:cNvSpPr>
          <p:nvPr>
            <p:ph type="body" sz="quarter" idx="23"/>
          </p:nvPr>
        </p:nvSpPr>
        <p:spPr>
          <a:xfrm>
            <a:off x="4357547" y="3616497"/>
            <a:ext cx="3479071" cy="1822037"/>
          </a:xfrm>
        </p:spPr>
        <p:txBody>
          <a:bodyPr/>
          <a:lstStyle/>
          <a:p>
            <a:pPr marL="285750" indent="-285750" algn="l">
              <a:buFont typeface="Arial" panose="020B0604020202020204" pitchFamily="34" charset="0"/>
              <a:buChar char="•"/>
            </a:pPr>
            <a:r>
              <a:rPr lang="en-US" dirty="0"/>
              <a:t>Maintains a collection of accounts of a specific type, enhancing reliability.</a:t>
            </a:r>
          </a:p>
          <a:p>
            <a:pPr marL="285750" indent="-285750" algn="l">
              <a:buFont typeface="Arial" panose="020B0604020202020204" pitchFamily="34" charset="0"/>
              <a:buChar char="•"/>
            </a:pPr>
            <a:r>
              <a:rPr lang="en-US" dirty="0"/>
              <a:t>Strengthens confidence among stakeholders by ensuring consistent and accurate data management.</a:t>
            </a:r>
          </a:p>
          <a:p>
            <a:endParaRPr lang="en-US" dirty="0"/>
          </a:p>
        </p:txBody>
      </p:sp>
      <p:sp>
        <p:nvSpPr>
          <p:cNvPr id="17" name="Text Placeholder 16">
            <a:extLst>
              <a:ext uri="{FF2B5EF4-FFF2-40B4-BE49-F238E27FC236}">
                <a16:creationId xmlns:a16="http://schemas.microsoft.com/office/drawing/2014/main" id="{4DA70A0E-4713-B66D-C6D6-F37AD557F469}"/>
              </a:ext>
            </a:extLst>
          </p:cNvPr>
          <p:cNvSpPr>
            <a:spLocks noGrp="1"/>
          </p:cNvSpPr>
          <p:nvPr>
            <p:ph type="body" sz="quarter" idx="25"/>
          </p:nvPr>
        </p:nvSpPr>
        <p:spPr>
          <a:xfrm>
            <a:off x="8130893" y="3616497"/>
            <a:ext cx="3479071" cy="1772793"/>
          </a:xfrm>
        </p:spPr>
        <p:txBody>
          <a:bodyPr/>
          <a:lstStyle/>
          <a:p>
            <a:pPr marL="285750" indent="-285750" algn="l">
              <a:buFont typeface="Arial" panose="020B0604020202020204" pitchFamily="34" charset="0"/>
              <a:buChar char="•"/>
            </a:pPr>
            <a:r>
              <a:rPr lang="en-US" dirty="0"/>
              <a:t>Ensures transparent protection against malicious actors, including attackers and even database or cloud administrators.</a:t>
            </a:r>
          </a:p>
          <a:p>
            <a:pPr marL="285750" indent="-285750" algn="l">
              <a:buFont typeface="Arial" panose="020B0604020202020204" pitchFamily="34" charset="0"/>
              <a:buChar char="•"/>
            </a:pPr>
            <a:r>
              <a:rPr lang="en-US" dirty="0"/>
              <a:t>Reduces risk of data breaches through robust security measures and continuous monitoring.</a:t>
            </a:r>
          </a:p>
        </p:txBody>
      </p:sp>
      <p:pic>
        <p:nvPicPr>
          <p:cNvPr id="21" name="Graphic 20" descr="Arrow circle with solid fill">
            <a:extLst>
              <a:ext uri="{FF2B5EF4-FFF2-40B4-BE49-F238E27FC236}">
                <a16:creationId xmlns:a16="http://schemas.microsoft.com/office/drawing/2014/main" id="{1328316E-75B8-6C30-4D4A-844F9E4980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83938" y="481242"/>
            <a:ext cx="914400" cy="914400"/>
          </a:xfrm>
          <a:prstGeom prst="rect">
            <a:avLst/>
          </a:prstGeom>
        </p:spPr>
      </p:pic>
      <p:pic>
        <p:nvPicPr>
          <p:cNvPr id="24" name="Graphic 23" descr="Clipboard Badge outline">
            <a:extLst>
              <a:ext uri="{FF2B5EF4-FFF2-40B4-BE49-F238E27FC236}">
                <a16:creationId xmlns:a16="http://schemas.microsoft.com/office/drawing/2014/main" id="{40BB7E5A-C7E6-1F41-E869-892855B857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42735" y="1624650"/>
            <a:ext cx="801050" cy="801050"/>
          </a:xfrm>
          <a:prstGeom prst="rect">
            <a:avLst/>
          </a:prstGeom>
        </p:spPr>
      </p:pic>
      <p:pic>
        <p:nvPicPr>
          <p:cNvPr id="26" name="Graphic 25" descr="Group brainstorm outline">
            <a:extLst>
              <a:ext uri="{FF2B5EF4-FFF2-40B4-BE49-F238E27FC236}">
                <a16:creationId xmlns:a16="http://schemas.microsoft.com/office/drawing/2014/main" id="{4DAB5F4F-3960-03D8-EC45-6FE317ABE7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87662" y="1605204"/>
            <a:ext cx="801050" cy="801050"/>
          </a:xfrm>
          <a:prstGeom prst="rect">
            <a:avLst/>
          </a:prstGeom>
        </p:spPr>
      </p:pic>
      <p:pic>
        <p:nvPicPr>
          <p:cNvPr id="28" name="Graphic 27" descr="Internet Of Things outline">
            <a:extLst>
              <a:ext uri="{FF2B5EF4-FFF2-40B4-BE49-F238E27FC236}">
                <a16:creationId xmlns:a16="http://schemas.microsoft.com/office/drawing/2014/main" id="{95CAFD47-C70A-F32D-D165-ABFEA3FC8D7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70689" y="1611950"/>
            <a:ext cx="801050" cy="801050"/>
          </a:xfrm>
          <a:prstGeom prst="rect">
            <a:avLst/>
          </a:prstGeom>
        </p:spPr>
      </p:pic>
    </p:spTree>
    <p:extLst>
      <p:ext uri="{BB962C8B-B14F-4D97-AF65-F5344CB8AC3E}">
        <p14:creationId xmlns:p14="http://schemas.microsoft.com/office/powerpoint/2010/main" val="1999316812"/>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D1EFF09-3DFF-A7F6-F65D-738A9D3CC955}"/>
              </a:ext>
            </a:extLst>
          </p:cNvPr>
          <p:cNvSpPr>
            <a:spLocks noGrp="1"/>
          </p:cNvSpPr>
          <p:nvPr>
            <p:ph type="title"/>
          </p:nvPr>
        </p:nvSpPr>
        <p:spPr/>
        <p:txBody>
          <a:bodyPr/>
          <a:lstStyle/>
          <a:p>
            <a:r>
              <a:rPr lang="en-US" dirty="0"/>
              <a:t>Enable Azure SQL Database Ledger</a:t>
            </a:r>
          </a:p>
        </p:txBody>
      </p:sp>
      <p:pic>
        <p:nvPicPr>
          <p:cNvPr id="2050" name="Picture 2" descr=" Diagram of the ledger table architecture.">
            <a:extLst>
              <a:ext uri="{FF2B5EF4-FFF2-40B4-BE49-F238E27FC236}">
                <a16:creationId xmlns:a16="http://schemas.microsoft.com/office/drawing/2014/main" id="{BE35DCA1-C358-F8D2-68D6-BE1F064AE9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8629" y="1077659"/>
            <a:ext cx="4204337" cy="4961118"/>
          </a:xfrm>
          <a:prstGeom prst="rect">
            <a:avLst/>
          </a:prstGeom>
          <a:noFill/>
          <a:ln w="19050">
            <a:noFill/>
          </a:ln>
          <a:extLst>
            <a:ext uri="{909E8E84-426E-40DD-AFC4-6F175D3DCCD1}">
              <a14:hiddenFill xmlns:a14="http://schemas.microsoft.com/office/drawing/2010/main">
                <a:solidFill>
                  <a:srgbClr val="FFFFFF"/>
                </a:solidFill>
              </a14:hiddenFill>
            </a:ext>
          </a:extLst>
        </p:spPr>
      </p:pic>
      <p:pic>
        <p:nvPicPr>
          <p:cNvPr id="2052" name="Picture 4" descr="Screenshot showing how to enable the ledger feature for an Azure SQL database.">
            <a:extLst>
              <a:ext uri="{FF2B5EF4-FFF2-40B4-BE49-F238E27FC236}">
                <a16:creationId xmlns:a16="http://schemas.microsoft.com/office/drawing/2014/main" id="{A99F999D-C7FF-4F3A-7CE3-7B9D8D0261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261" y="1311666"/>
            <a:ext cx="5334134" cy="4961118"/>
          </a:xfrm>
          <a:prstGeom prst="rect">
            <a:avLst/>
          </a:prstGeom>
          <a:noFill/>
          <a:ln w="19050">
            <a:solidFill>
              <a:schemeClr val="accent2"/>
            </a:solidFill>
          </a:ln>
          <a:extLst>
            <a:ext uri="{909E8E84-426E-40DD-AFC4-6F175D3DCCD1}">
              <a14:hiddenFill xmlns:a14="http://schemas.microsoft.com/office/drawing/2010/main">
                <a:solidFill>
                  <a:srgbClr val="FFFFFF"/>
                </a:solidFill>
              </a14:hiddenFill>
            </a:ext>
          </a:extLst>
        </p:spPr>
      </p:pic>
      <p:sp>
        <p:nvSpPr>
          <p:cNvPr id="2" name="Arrow: Right 1">
            <a:extLst>
              <a:ext uri="{FF2B5EF4-FFF2-40B4-BE49-F238E27FC236}">
                <a16:creationId xmlns:a16="http://schemas.microsoft.com/office/drawing/2014/main" id="{B669C6B4-D923-CF3F-A79C-A513378855AF}"/>
              </a:ext>
            </a:extLst>
          </p:cNvPr>
          <p:cNvSpPr/>
          <p:nvPr/>
        </p:nvSpPr>
        <p:spPr bwMode="auto">
          <a:xfrm>
            <a:off x="6067935" y="3344092"/>
            <a:ext cx="1116636" cy="163286"/>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43567210"/>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DD029B-9D2D-2609-AE10-6FF510709AD9}"/>
              </a:ext>
            </a:extLst>
          </p:cNvPr>
          <p:cNvSpPr>
            <a:spLocks noGrp="1"/>
          </p:cNvSpPr>
          <p:nvPr>
            <p:ph type="title"/>
          </p:nvPr>
        </p:nvSpPr>
        <p:spPr/>
        <p:txBody>
          <a:bodyPr/>
          <a:lstStyle/>
          <a:p>
            <a:r>
              <a:rPr lang="en-US" dirty="0"/>
              <a:t>Microsoft Purview</a:t>
            </a:r>
          </a:p>
        </p:txBody>
      </p:sp>
      <p:sp>
        <p:nvSpPr>
          <p:cNvPr id="10" name="Text Placeholder 4">
            <a:extLst>
              <a:ext uri="{FF2B5EF4-FFF2-40B4-BE49-F238E27FC236}">
                <a16:creationId xmlns:a16="http://schemas.microsoft.com/office/drawing/2014/main" id="{D8A1EE15-F814-05D5-93A6-DFC768D0B414}"/>
              </a:ext>
            </a:extLst>
          </p:cNvPr>
          <p:cNvSpPr>
            <a:spLocks noGrp="1"/>
          </p:cNvSpPr>
          <p:nvPr>
            <p:ph type="body" sz="quarter" idx="17"/>
          </p:nvPr>
        </p:nvSpPr>
        <p:spPr>
          <a:xfrm>
            <a:off x="584199" y="1591056"/>
            <a:ext cx="11011601" cy="769441"/>
          </a:xfrm>
          <a:solidFill>
            <a:srgbClr val="FFA38B"/>
          </a:solidFill>
        </p:spPr>
        <p:txBody>
          <a:bodyPr lIns="137160" tIns="91440" rIns="137160" bIns="91440" anchor="ctr">
            <a:noAutofit/>
          </a:bodyPr>
          <a:lstStyle/>
          <a:p>
            <a:r>
              <a:rPr lang="en-US" sz="2000" dirty="0"/>
              <a:t>Unified data governance service to manage and govern on-premises, multi-cloud, and software-as-a-service (SaaS) data</a:t>
            </a:r>
          </a:p>
        </p:txBody>
      </p:sp>
      <p:grpSp>
        <p:nvGrpSpPr>
          <p:cNvPr id="3" name="Group 2">
            <a:extLst>
              <a:ext uri="{FF2B5EF4-FFF2-40B4-BE49-F238E27FC236}">
                <a16:creationId xmlns:a16="http://schemas.microsoft.com/office/drawing/2014/main" id="{49D0B6DD-8985-5F4E-FF9A-9996FCC58784}"/>
              </a:ext>
              <a:ext uri="{C183D7F6-B498-43B3-948B-1728B52AA6E4}">
                <adec:decorative xmlns:adec="http://schemas.microsoft.com/office/drawing/2017/decorative" val="1"/>
              </a:ext>
            </a:extLst>
          </p:cNvPr>
          <p:cNvGrpSpPr/>
          <p:nvPr/>
        </p:nvGrpSpPr>
        <p:grpSpPr>
          <a:xfrm>
            <a:off x="762000" y="2349646"/>
            <a:ext cx="736600" cy="2552553"/>
            <a:chOff x="762000" y="2254396"/>
            <a:chExt cx="736600" cy="2552553"/>
          </a:xfrm>
        </p:grpSpPr>
        <p:sp>
          <p:nvSpPr>
            <p:cNvPr id="4" name="Arrow: Bent 3">
              <a:extLst>
                <a:ext uri="{FF2B5EF4-FFF2-40B4-BE49-F238E27FC236}">
                  <a16:creationId xmlns:a16="http://schemas.microsoft.com/office/drawing/2014/main" id="{A85BC9ED-58F9-1358-5DA1-CC75026EE7BF}"/>
                </a:ext>
              </a:extLst>
            </p:cNvPr>
            <p:cNvSpPr>
              <a:spLocks/>
            </p:cNvSpPr>
            <p:nvPr/>
          </p:nvSpPr>
          <p:spPr bwMode="auto">
            <a:xfrm flipV="1">
              <a:off x="762000" y="2254396"/>
              <a:ext cx="736599" cy="2552553"/>
            </a:xfrm>
            <a:prstGeom prst="bentArrow">
              <a:avLst>
                <a:gd name="adj1" fmla="val 25000"/>
                <a:gd name="adj2" fmla="val 0"/>
                <a:gd name="adj3" fmla="val 25000"/>
                <a:gd name="adj4" fmla="val 0"/>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C4CD1949-1ABB-94E6-CDB4-07E51CA3ECEE}"/>
                </a:ext>
              </a:extLst>
            </p:cNvPr>
            <p:cNvCxnSpPr>
              <a:cxnSpLocks/>
            </p:cNvCxnSpPr>
            <p:nvPr/>
          </p:nvCxnSpPr>
          <p:spPr>
            <a:xfrm flipH="1">
              <a:off x="762000" y="3827542"/>
              <a:ext cx="736600" cy="0"/>
            </a:xfrm>
            <a:prstGeom prst="line">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 name="Straight Connector 13">
              <a:extLst>
                <a:ext uri="{FF2B5EF4-FFF2-40B4-BE49-F238E27FC236}">
                  <a16:creationId xmlns:a16="http://schemas.microsoft.com/office/drawing/2014/main" id="{868A2B64-03E8-31F8-F781-698697265496}"/>
                </a:ext>
              </a:extLst>
            </p:cNvPr>
            <p:cNvCxnSpPr/>
            <p:nvPr/>
          </p:nvCxnSpPr>
          <p:spPr>
            <a:xfrm flipH="1">
              <a:off x="762000" y="2869353"/>
              <a:ext cx="736600" cy="0"/>
            </a:xfrm>
            <a:prstGeom prst="line">
              <a:avLst/>
            </a:prstGeom>
            <a:solidFill>
              <a:schemeClr val="accent1"/>
            </a:solidFill>
            <a:ln w="158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
        <p:nvSpPr>
          <p:cNvPr id="15" name="Rectangle 14">
            <a:extLst>
              <a:ext uri="{FF2B5EF4-FFF2-40B4-BE49-F238E27FC236}">
                <a16:creationId xmlns:a16="http://schemas.microsoft.com/office/drawing/2014/main" id="{593C0815-081F-F582-AFA4-00BF1C0CDC47}"/>
              </a:ext>
            </a:extLst>
          </p:cNvPr>
          <p:cNvSpPr>
            <a:spLocks/>
          </p:cNvSpPr>
          <p:nvPr/>
        </p:nvSpPr>
        <p:spPr bwMode="auto">
          <a:xfrm>
            <a:off x="1498600" y="2610520"/>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Make data easy to find using familiar business and technical search terms</a:t>
            </a:r>
          </a:p>
        </p:txBody>
      </p:sp>
      <p:sp>
        <p:nvSpPr>
          <p:cNvPr id="16" name="Rectangle 15">
            <a:extLst>
              <a:ext uri="{FF2B5EF4-FFF2-40B4-BE49-F238E27FC236}">
                <a16:creationId xmlns:a16="http://schemas.microsoft.com/office/drawing/2014/main" id="{EBB39FD0-22B9-A8D8-FF02-A09BBF961723}"/>
              </a:ext>
            </a:extLst>
          </p:cNvPr>
          <p:cNvSpPr>
            <a:spLocks/>
          </p:cNvSpPr>
          <p:nvPr/>
        </p:nvSpPr>
        <p:spPr bwMode="auto">
          <a:xfrm>
            <a:off x="1498600" y="3568709"/>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Get key insights to add or redistribute glossary terms for better search results</a:t>
            </a:r>
          </a:p>
        </p:txBody>
      </p:sp>
      <p:sp>
        <p:nvSpPr>
          <p:cNvPr id="17" name="Rectangle 16">
            <a:extLst>
              <a:ext uri="{FF2B5EF4-FFF2-40B4-BE49-F238E27FC236}">
                <a16:creationId xmlns:a16="http://schemas.microsoft.com/office/drawing/2014/main" id="{64089B59-8DD0-522B-A191-E705305EF8FB}"/>
              </a:ext>
            </a:extLst>
          </p:cNvPr>
          <p:cNvSpPr>
            <a:spLocks/>
          </p:cNvSpPr>
          <p:nvPr/>
        </p:nvSpPr>
        <p:spPr bwMode="auto">
          <a:xfrm>
            <a:off x="1498600" y="4526899"/>
            <a:ext cx="10097200" cy="708166"/>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r>
              <a:rPr lang="en-US" sz="1800" dirty="0">
                <a:solidFill>
                  <a:schemeClr val="tx1"/>
                </a:solidFill>
              </a:rPr>
              <a:t>View your entire data domain and its distribution by asset dimension, such as source type, classification, and file size</a:t>
            </a:r>
          </a:p>
        </p:txBody>
      </p:sp>
    </p:spTree>
    <p:extLst>
      <p:ext uri="{BB962C8B-B14F-4D97-AF65-F5344CB8AC3E}">
        <p14:creationId xmlns:p14="http://schemas.microsoft.com/office/powerpoint/2010/main" val="677470252"/>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2E8457B-7F7E-7A0F-6531-8038A218E9BA}"/>
              </a:ext>
            </a:extLst>
          </p:cNvPr>
          <p:cNvSpPr>
            <a:spLocks noGrp="1"/>
          </p:cNvSpPr>
          <p:nvPr>
            <p:ph type="title"/>
          </p:nvPr>
        </p:nvSpPr>
        <p:spPr/>
        <p:txBody>
          <a:bodyPr/>
          <a:lstStyle/>
          <a:p>
            <a:r>
              <a:rPr lang="en-US"/>
              <a:t>Microsoft Purview </a:t>
            </a:r>
            <a:endParaRPr lang="en-US" dirty="0"/>
          </a:p>
        </p:txBody>
      </p:sp>
      <p:pic>
        <p:nvPicPr>
          <p:cNvPr id="9" name="Picture 8" descr="Screenshot of a high-level architecture of Microsoft Purview, showing multi-cloud and on premises sources flowing into Microsoft Purview, and Microsoft Purview's apps.">
            <a:extLst>
              <a:ext uri="{FF2B5EF4-FFF2-40B4-BE49-F238E27FC236}">
                <a16:creationId xmlns:a16="http://schemas.microsoft.com/office/drawing/2014/main" id="{538A49F7-5841-E3CE-4E0C-4BECB4A87EA3}"/>
              </a:ext>
            </a:extLst>
          </p:cNvPr>
          <p:cNvPicPr>
            <a:picLocks noChangeAspect="1"/>
          </p:cNvPicPr>
          <p:nvPr/>
        </p:nvPicPr>
        <p:blipFill rotWithShape="1">
          <a:blip r:embed="rId3"/>
          <a:srcRect l="-14052" t="-4851" r="-14052" b="-4851"/>
          <a:stretch/>
        </p:blipFill>
        <p:spPr>
          <a:xfrm>
            <a:off x="588261" y="1618311"/>
            <a:ext cx="11011600" cy="4654473"/>
          </a:xfrm>
          <a:prstGeom prst="rect">
            <a:avLst/>
          </a:prstGeom>
          <a:ln w="38100">
            <a:solidFill>
              <a:srgbClr val="C73ECC"/>
            </a:solidFill>
          </a:ln>
          <a:effectLst/>
        </p:spPr>
      </p:pic>
    </p:spTree>
    <p:extLst>
      <p:ext uri="{BB962C8B-B14F-4D97-AF65-F5344CB8AC3E}">
        <p14:creationId xmlns:p14="http://schemas.microsoft.com/office/powerpoint/2010/main" val="1582672395"/>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C2B49C6-15F1-29AE-4FA4-B48B9A7CA7DA}"/>
              </a:ext>
            </a:extLst>
          </p:cNvPr>
          <p:cNvSpPr>
            <a:spLocks noGrp="1"/>
          </p:cNvSpPr>
          <p:nvPr>
            <p:ph type="title"/>
          </p:nvPr>
        </p:nvSpPr>
        <p:spPr/>
        <p:txBody>
          <a:bodyPr/>
          <a:lstStyle/>
          <a:p>
            <a:r>
              <a:rPr lang="en-US"/>
              <a:t>Microsoft Purview  </a:t>
            </a:r>
            <a:endParaRPr lang="en-US" dirty="0"/>
          </a:p>
        </p:txBody>
      </p:sp>
      <p:pic>
        <p:nvPicPr>
          <p:cNvPr id="10" name="Picture 9" descr="Screenshot that shows the data source mapped to the collection to initiate scanning.">
            <a:extLst>
              <a:ext uri="{FF2B5EF4-FFF2-40B4-BE49-F238E27FC236}">
                <a16:creationId xmlns:a16="http://schemas.microsoft.com/office/drawing/2014/main" id="{AB2CC6DA-4BDB-922D-EEDA-9FD16CC252CD}"/>
              </a:ext>
            </a:extLst>
          </p:cNvPr>
          <p:cNvPicPr>
            <a:picLocks/>
          </p:cNvPicPr>
          <p:nvPr/>
        </p:nvPicPr>
        <p:blipFill rotWithShape="1">
          <a:blip r:embed="rId3"/>
          <a:srcRect l="-19674" t="-4972" r="-19674" b="-4972"/>
          <a:stretch/>
        </p:blipFill>
        <p:spPr>
          <a:xfrm>
            <a:off x="588260" y="1618311"/>
            <a:ext cx="11011600" cy="4654473"/>
          </a:xfrm>
          <a:prstGeom prst="rect">
            <a:avLst/>
          </a:prstGeom>
          <a:ln w="38100">
            <a:solidFill>
              <a:srgbClr val="C73ECC"/>
            </a:solidFill>
          </a:ln>
        </p:spPr>
      </p:pic>
    </p:spTree>
    <p:extLst>
      <p:ext uri="{BB962C8B-B14F-4D97-AF65-F5344CB8AC3E}">
        <p14:creationId xmlns:p14="http://schemas.microsoft.com/office/powerpoint/2010/main" val="2581537905"/>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39A50E-221E-AFB2-287A-BF2AEAA2F396}"/>
              </a:ext>
            </a:extLst>
          </p:cNvPr>
          <p:cNvSpPr>
            <a:spLocks noGrp="1"/>
          </p:cNvSpPr>
          <p:nvPr>
            <p:ph type="title"/>
          </p:nvPr>
        </p:nvSpPr>
        <p:spPr/>
        <p:txBody>
          <a:bodyPr/>
          <a:lstStyle/>
          <a:p>
            <a:r>
              <a:rPr lang="en-US" dirty="0"/>
              <a:t>How to check for vulnerabilities in Azure SQL Database</a:t>
            </a:r>
          </a:p>
        </p:txBody>
      </p:sp>
      <p:pic>
        <p:nvPicPr>
          <p:cNvPr id="10" name="Picture Placeholder 9">
            <a:extLst>
              <a:ext uri="{FF2B5EF4-FFF2-40B4-BE49-F238E27FC236}">
                <a16:creationId xmlns:a16="http://schemas.microsoft.com/office/drawing/2014/main" id="{3CDA2D82-7530-3A25-BB5C-BA187D80FB9E}"/>
              </a:ext>
            </a:extLst>
          </p:cNvPr>
          <p:cNvPicPr>
            <a:picLocks noGrp="1" noChangeAspect="1"/>
          </p:cNvPicPr>
          <p:nvPr>
            <p:ph type="pic" sz="quarter" idx="20"/>
          </p:nvPr>
        </p:nvPicPr>
        <p:blipFill>
          <a:blip r:embed="rId3"/>
          <a:srcRect t="3547" b="3547"/>
          <a:stretch/>
        </p:blipFill>
        <p:spPr>
          <a:solidFill>
            <a:schemeClr val="accent1">
              <a:lumMod val="60000"/>
              <a:lumOff val="40000"/>
            </a:schemeClr>
          </a:solidFill>
          <a:ln w="19050">
            <a:solidFill>
              <a:schemeClr val="accent2"/>
            </a:solidFill>
          </a:ln>
        </p:spPr>
      </p:pic>
      <p:grpSp>
        <p:nvGrpSpPr>
          <p:cNvPr id="25" name="Group 24">
            <a:extLst>
              <a:ext uri="{FF2B5EF4-FFF2-40B4-BE49-F238E27FC236}">
                <a16:creationId xmlns:a16="http://schemas.microsoft.com/office/drawing/2014/main" id="{08DB86DD-F3FE-EFC9-5467-85BDC42A2C01}"/>
              </a:ext>
              <a:ext uri="{C183D7F6-B498-43B3-948B-1728B52AA6E4}">
                <adec:decorative xmlns:adec="http://schemas.microsoft.com/office/drawing/2017/decorative" val="1"/>
              </a:ext>
            </a:extLst>
          </p:cNvPr>
          <p:cNvGrpSpPr/>
          <p:nvPr/>
        </p:nvGrpSpPr>
        <p:grpSpPr>
          <a:xfrm>
            <a:off x="588261" y="1608283"/>
            <a:ext cx="427739" cy="381595"/>
            <a:chOff x="634743" y="1608283"/>
            <a:chExt cx="464822" cy="464822"/>
          </a:xfrm>
        </p:grpSpPr>
        <p:sp>
          <p:nvSpPr>
            <p:cNvPr id="7" name="Oval 6">
              <a:extLst>
                <a:ext uri="{FF2B5EF4-FFF2-40B4-BE49-F238E27FC236}">
                  <a16:creationId xmlns:a16="http://schemas.microsoft.com/office/drawing/2014/main" id="{C8173411-0324-38C1-D12F-7E32C7BD6E54}"/>
                </a:ext>
              </a:extLst>
            </p:cNvPr>
            <p:cNvSpPr>
              <a:spLocks noChangeAspect="1"/>
            </p:cNvSpPr>
            <p:nvPr/>
          </p:nvSpPr>
          <p:spPr bwMode="auto">
            <a:xfrm>
              <a:off x="634743" y="1608283"/>
              <a:ext cx="464822" cy="464822"/>
            </a:xfrm>
            <a:prstGeom prst="ellips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3600" dirty="0">
                <a:solidFill>
                  <a:srgbClr val="FFFFFF"/>
                </a:solidFill>
                <a:latin typeface="+mj-lt"/>
                <a:ea typeface="Segoe UI" pitchFamily="34" charset="0"/>
                <a:cs typeface="Segoe UI" pitchFamily="34" charset="0"/>
              </a:endParaRPr>
            </a:p>
          </p:txBody>
        </p:sp>
        <p:sp>
          <p:nvSpPr>
            <p:cNvPr id="4" name="Digital_Transformation" title="Icon of a cloud of which half is made of dots">
              <a:extLst>
                <a:ext uri="{FF2B5EF4-FFF2-40B4-BE49-F238E27FC236}">
                  <a16:creationId xmlns:a16="http://schemas.microsoft.com/office/drawing/2014/main" id="{A5BFC365-3C4F-3DAE-F444-6E9806C4FC44}"/>
                </a:ext>
              </a:extLst>
            </p:cNvPr>
            <p:cNvSpPr>
              <a:spLocks noChangeAspect="1" noEditPoints="1"/>
            </p:cNvSpPr>
            <p:nvPr/>
          </p:nvSpPr>
          <p:spPr bwMode="auto">
            <a:xfrm>
              <a:off x="725476" y="1764849"/>
              <a:ext cx="283355" cy="151690"/>
            </a:xfrm>
            <a:custGeom>
              <a:avLst/>
              <a:gdLst>
                <a:gd name="T0" fmla="*/ 0 w 357"/>
                <a:gd name="T1" fmla="*/ 95 h 190"/>
                <a:gd name="T2" fmla="*/ 7 w 357"/>
                <a:gd name="T3" fmla="*/ 95 h 190"/>
                <a:gd name="T4" fmla="*/ 0 w 357"/>
                <a:gd name="T5" fmla="*/ 143 h 190"/>
                <a:gd name="T6" fmla="*/ 7 w 357"/>
                <a:gd name="T7" fmla="*/ 143 h 190"/>
                <a:gd name="T8" fmla="*/ 47 w 357"/>
                <a:gd name="T9" fmla="*/ 190 h 190"/>
                <a:gd name="T10" fmla="*/ 54 w 357"/>
                <a:gd name="T11" fmla="*/ 190 h 190"/>
                <a:gd name="T12" fmla="*/ 47 w 357"/>
                <a:gd name="T13" fmla="*/ 47 h 190"/>
                <a:gd name="T14" fmla="*/ 54 w 357"/>
                <a:gd name="T15" fmla="*/ 47 h 190"/>
                <a:gd name="T16" fmla="*/ 47 w 357"/>
                <a:gd name="T17" fmla="*/ 95 h 190"/>
                <a:gd name="T18" fmla="*/ 54 w 357"/>
                <a:gd name="T19" fmla="*/ 95 h 190"/>
                <a:gd name="T20" fmla="*/ 47 w 357"/>
                <a:gd name="T21" fmla="*/ 143 h 190"/>
                <a:gd name="T22" fmla="*/ 54 w 357"/>
                <a:gd name="T23" fmla="*/ 143 h 190"/>
                <a:gd name="T24" fmla="*/ 141 w 357"/>
                <a:gd name="T25" fmla="*/ 0 h 190"/>
                <a:gd name="T26" fmla="*/ 148 w 357"/>
                <a:gd name="T27" fmla="*/ 0 h 190"/>
                <a:gd name="T28" fmla="*/ 141 w 357"/>
                <a:gd name="T29" fmla="*/ 95 h 190"/>
                <a:gd name="T30" fmla="*/ 148 w 357"/>
                <a:gd name="T31" fmla="*/ 95 h 190"/>
                <a:gd name="T32" fmla="*/ 141 w 357"/>
                <a:gd name="T33" fmla="*/ 143 h 190"/>
                <a:gd name="T34" fmla="*/ 148 w 357"/>
                <a:gd name="T35" fmla="*/ 143 h 190"/>
                <a:gd name="T36" fmla="*/ 94 w 357"/>
                <a:gd name="T37" fmla="*/ 190 h 190"/>
                <a:gd name="T38" fmla="*/ 101 w 357"/>
                <a:gd name="T39" fmla="*/ 190 h 190"/>
                <a:gd name="T40" fmla="*/ 94 w 357"/>
                <a:gd name="T41" fmla="*/ 47 h 190"/>
                <a:gd name="T42" fmla="*/ 101 w 357"/>
                <a:gd name="T43" fmla="*/ 47 h 190"/>
                <a:gd name="T44" fmla="*/ 94 w 357"/>
                <a:gd name="T45" fmla="*/ 95 h 190"/>
                <a:gd name="T46" fmla="*/ 101 w 357"/>
                <a:gd name="T47" fmla="*/ 95 h 190"/>
                <a:gd name="T48" fmla="*/ 94 w 357"/>
                <a:gd name="T49" fmla="*/ 143 h 190"/>
                <a:gd name="T50" fmla="*/ 101 w 357"/>
                <a:gd name="T51" fmla="*/ 143 h 190"/>
                <a:gd name="T52" fmla="*/ 132 w 357"/>
                <a:gd name="T53" fmla="*/ 190 h 190"/>
                <a:gd name="T54" fmla="*/ 298 w 357"/>
                <a:gd name="T55" fmla="*/ 190 h 190"/>
                <a:gd name="T56" fmla="*/ 357 w 357"/>
                <a:gd name="T57" fmla="*/ 131 h 190"/>
                <a:gd name="T58" fmla="*/ 298 w 357"/>
                <a:gd name="T59" fmla="*/ 71 h 190"/>
                <a:gd name="T60" fmla="*/ 285 w 357"/>
                <a:gd name="T61" fmla="*/ 73 h 190"/>
                <a:gd name="T62" fmla="*/ 192 w 357"/>
                <a:gd name="T63" fmla="*/ 0 h 190"/>
                <a:gd name="T64" fmla="*/ 179 w 357"/>
                <a:gd name="T65"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7" h="190">
                  <a:moveTo>
                    <a:pt x="0" y="95"/>
                  </a:moveTo>
                  <a:cubicBezTo>
                    <a:pt x="7" y="95"/>
                    <a:pt x="7" y="95"/>
                    <a:pt x="7" y="95"/>
                  </a:cubicBezTo>
                  <a:moveTo>
                    <a:pt x="0" y="143"/>
                  </a:moveTo>
                  <a:cubicBezTo>
                    <a:pt x="7" y="143"/>
                    <a:pt x="7" y="143"/>
                    <a:pt x="7" y="143"/>
                  </a:cubicBezTo>
                  <a:moveTo>
                    <a:pt x="47" y="190"/>
                  </a:moveTo>
                  <a:cubicBezTo>
                    <a:pt x="54" y="190"/>
                    <a:pt x="54" y="190"/>
                    <a:pt x="54" y="190"/>
                  </a:cubicBezTo>
                  <a:moveTo>
                    <a:pt x="47" y="47"/>
                  </a:moveTo>
                  <a:cubicBezTo>
                    <a:pt x="54" y="47"/>
                    <a:pt x="54" y="47"/>
                    <a:pt x="54" y="47"/>
                  </a:cubicBezTo>
                  <a:moveTo>
                    <a:pt x="47" y="95"/>
                  </a:moveTo>
                  <a:cubicBezTo>
                    <a:pt x="54" y="95"/>
                    <a:pt x="54" y="95"/>
                    <a:pt x="54" y="95"/>
                  </a:cubicBezTo>
                  <a:moveTo>
                    <a:pt x="47" y="143"/>
                  </a:moveTo>
                  <a:cubicBezTo>
                    <a:pt x="54" y="143"/>
                    <a:pt x="54" y="143"/>
                    <a:pt x="54" y="143"/>
                  </a:cubicBezTo>
                  <a:moveTo>
                    <a:pt x="141" y="0"/>
                  </a:moveTo>
                  <a:cubicBezTo>
                    <a:pt x="148" y="0"/>
                    <a:pt x="148" y="0"/>
                    <a:pt x="148" y="0"/>
                  </a:cubicBezTo>
                  <a:moveTo>
                    <a:pt x="141" y="95"/>
                  </a:moveTo>
                  <a:cubicBezTo>
                    <a:pt x="148" y="95"/>
                    <a:pt x="148" y="95"/>
                    <a:pt x="148" y="95"/>
                  </a:cubicBezTo>
                  <a:moveTo>
                    <a:pt x="141" y="143"/>
                  </a:moveTo>
                  <a:cubicBezTo>
                    <a:pt x="148" y="143"/>
                    <a:pt x="148" y="143"/>
                    <a:pt x="148" y="143"/>
                  </a:cubicBezTo>
                  <a:moveTo>
                    <a:pt x="94" y="190"/>
                  </a:moveTo>
                  <a:cubicBezTo>
                    <a:pt x="101" y="190"/>
                    <a:pt x="101" y="190"/>
                    <a:pt x="101" y="190"/>
                  </a:cubicBezTo>
                  <a:moveTo>
                    <a:pt x="94" y="47"/>
                  </a:moveTo>
                  <a:cubicBezTo>
                    <a:pt x="101" y="47"/>
                    <a:pt x="101" y="47"/>
                    <a:pt x="101" y="47"/>
                  </a:cubicBezTo>
                  <a:moveTo>
                    <a:pt x="94" y="95"/>
                  </a:moveTo>
                  <a:cubicBezTo>
                    <a:pt x="101" y="95"/>
                    <a:pt x="101" y="95"/>
                    <a:pt x="101" y="95"/>
                  </a:cubicBezTo>
                  <a:moveTo>
                    <a:pt x="94" y="143"/>
                  </a:moveTo>
                  <a:cubicBezTo>
                    <a:pt x="101" y="143"/>
                    <a:pt x="101" y="143"/>
                    <a:pt x="101" y="143"/>
                  </a:cubicBezTo>
                  <a:moveTo>
                    <a:pt x="132" y="190"/>
                  </a:moveTo>
                  <a:cubicBezTo>
                    <a:pt x="155" y="190"/>
                    <a:pt x="279" y="190"/>
                    <a:pt x="298" y="190"/>
                  </a:cubicBezTo>
                  <a:cubicBezTo>
                    <a:pt x="330" y="190"/>
                    <a:pt x="357" y="163"/>
                    <a:pt x="357" y="131"/>
                  </a:cubicBezTo>
                  <a:cubicBezTo>
                    <a:pt x="357" y="98"/>
                    <a:pt x="330" y="71"/>
                    <a:pt x="298" y="71"/>
                  </a:cubicBezTo>
                  <a:cubicBezTo>
                    <a:pt x="293" y="71"/>
                    <a:pt x="289" y="72"/>
                    <a:pt x="285" y="73"/>
                  </a:cubicBezTo>
                  <a:cubicBezTo>
                    <a:pt x="275" y="31"/>
                    <a:pt x="237" y="0"/>
                    <a:pt x="192" y="0"/>
                  </a:cubicBezTo>
                  <a:cubicBezTo>
                    <a:pt x="179" y="0"/>
                    <a:pt x="179" y="0"/>
                    <a:pt x="179" y="0"/>
                  </a:cubicBezTo>
                </a:path>
              </a:pathLst>
            </a:cu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grpSp>
      <p:sp>
        <p:nvSpPr>
          <p:cNvPr id="9" name="Rectangle 8">
            <a:extLst>
              <a:ext uri="{FF2B5EF4-FFF2-40B4-BE49-F238E27FC236}">
                <a16:creationId xmlns:a16="http://schemas.microsoft.com/office/drawing/2014/main" id="{4E6D74FC-754D-F80D-862C-5AC62947B017}"/>
              </a:ext>
            </a:extLst>
          </p:cNvPr>
          <p:cNvSpPr>
            <a:spLocks/>
          </p:cNvSpPr>
          <p:nvPr/>
        </p:nvSpPr>
        <p:spPr bwMode="auto">
          <a:xfrm>
            <a:off x="1127246" y="1608283"/>
            <a:ext cx="2720854" cy="184665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Aft>
                <a:spcPts val="200"/>
              </a:spcAft>
            </a:pPr>
            <a:r>
              <a:rPr lang="en-US" sz="2000" dirty="0">
                <a:solidFill>
                  <a:schemeClr val="tx1"/>
                </a:solidFill>
              </a:rPr>
              <a:t>Issues that Advanced Threat Protection identifies can be found in the “Microsoft Defender for Cloud” under “Security” section</a:t>
            </a:r>
          </a:p>
        </p:txBody>
      </p:sp>
      <p:grpSp>
        <p:nvGrpSpPr>
          <p:cNvPr id="27" name="Group 26">
            <a:extLst>
              <a:ext uri="{FF2B5EF4-FFF2-40B4-BE49-F238E27FC236}">
                <a16:creationId xmlns:a16="http://schemas.microsoft.com/office/drawing/2014/main" id="{E69FC1F2-C7DD-8834-4751-B6EADF5A92AB}"/>
              </a:ext>
              <a:ext uri="{C183D7F6-B498-43B3-948B-1728B52AA6E4}">
                <adec:decorative xmlns:adec="http://schemas.microsoft.com/office/drawing/2017/decorative" val="1"/>
              </a:ext>
            </a:extLst>
          </p:cNvPr>
          <p:cNvGrpSpPr/>
          <p:nvPr/>
        </p:nvGrpSpPr>
        <p:grpSpPr>
          <a:xfrm>
            <a:off x="588893" y="3814043"/>
            <a:ext cx="427739" cy="381595"/>
            <a:chOff x="634743" y="3491393"/>
            <a:chExt cx="464822" cy="464822"/>
          </a:xfrm>
        </p:grpSpPr>
        <p:sp>
          <p:nvSpPr>
            <p:cNvPr id="21" name="Oval 20">
              <a:extLst>
                <a:ext uri="{FF2B5EF4-FFF2-40B4-BE49-F238E27FC236}">
                  <a16:creationId xmlns:a16="http://schemas.microsoft.com/office/drawing/2014/main" id="{37E97675-70E9-96EF-FB42-154E7F27747F}"/>
                </a:ext>
              </a:extLst>
            </p:cNvPr>
            <p:cNvSpPr>
              <a:spLocks noChangeAspect="1"/>
            </p:cNvSpPr>
            <p:nvPr/>
          </p:nvSpPr>
          <p:spPr bwMode="auto">
            <a:xfrm>
              <a:off x="634743" y="3491393"/>
              <a:ext cx="464822" cy="464822"/>
            </a:xfrm>
            <a:prstGeom prst="ellips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3600" dirty="0">
                <a:solidFill>
                  <a:srgbClr val="FFFFFF"/>
                </a:solidFill>
                <a:latin typeface="+mj-lt"/>
                <a:ea typeface="Segoe UI" pitchFamily="34" charset="0"/>
                <a:cs typeface="Segoe UI" pitchFamily="34" charset="0"/>
              </a:endParaRPr>
            </a:p>
          </p:txBody>
        </p:sp>
        <p:sp>
          <p:nvSpPr>
            <p:cNvPr id="19" name="check 3" title="Icon of a checkmark with a circle around it">
              <a:extLst>
                <a:ext uri="{FF2B5EF4-FFF2-40B4-BE49-F238E27FC236}">
                  <a16:creationId xmlns:a16="http://schemas.microsoft.com/office/drawing/2014/main" id="{51815DAF-D771-8A6B-302A-3FA3260466F4}"/>
                </a:ext>
              </a:extLst>
            </p:cNvPr>
            <p:cNvSpPr>
              <a:spLocks noChangeAspect="1" noEditPoints="1"/>
            </p:cNvSpPr>
            <p:nvPr/>
          </p:nvSpPr>
          <p:spPr bwMode="auto">
            <a:xfrm>
              <a:off x="754947" y="3612247"/>
              <a:ext cx="224415" cy="223114"/>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en-US"/>
            </a:p>
          </p:txBody>
        </p:sp>
      </p:grpSp>
      <p:sp>
        <p:nvSpPr>
          <p:cNvPr id="23" name="Rectangle 22">
            <a:extLst>
              <a:ext uri="{FF2B5EF4-FFF2-40B4-BE49-F238E27FC236}">
                <a16:creationId xmlns:a16="http://schemas.microsoft.com/office/drawing/2014/main" id="{EE61EC71-FB4E-3FCE-BA90-FCF943DA4645}"/>
              </a:ext>
            </a:extLst>
          </p:cNvPr>
          <p:cNvSpPr>
            <a:spLocks/>
          </p:cNvSpPr>
          <p:nvPr/>
        </p:nvSpPr>
        <p:spPr bwMode="auto">
          <a:xfrm>
            <a:off x="1127246" y="3814043"/>
            <a:ext cx="2625829" cy="153888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200"/>
              </a:spcAft>
            </a:pPr>
            <a:r>
              <a:rPr lang="en-US" sz="2000" dirty="0">
                <a:solidFill>
                  <a:schemeClr val="tx1"/>
                </a:solidFill>
              </a:rPr>
              <a:t>Vulnerability assessment is available when scanning results are stored in a storage account</a:t>
            </a:r>
          </a:p>
        </p:txBody>
      </p:sp>
    </p:spTree>
    <p:extLst>
      <p:ext uri="{BB962C8B-B14F-4D97-AF65-F5344CB8AC3E}">
        <p14:creationId xmlns:p14="http://schemas.microsoft.com/office/powerpoint/2010/main" val="2387013176"/>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F71BB4E7-06BC-5732-FD1A-4C6E8D02887A}"/>
              </a:ext>
            </a:extLst>
          </p:cNvPr>
          <p:cNvSpPr>
            <a:spLocks noGrp="1"/>
          </p:cNvSpPr>
          <p:nvPr>
            <p:ph type="title"/>
          </p:nvPr>
        </p:nvSpPr>
        <p:spPr>
          <a:xfrm>
            <a:off x="588262" y="585216"/>
            <a:ext cx="11011600" cy="492443"/>
          </a:xfrm>
        </p:spPr>
        <p:txBody>
          <a:bodyPr/>
          <a:lstStyle/>
          <a:p>
            <a:r>
              <a:rPr lang="en-US"/>
              <a:t>Knowledge check  </a:t>
            </a:r>
            <a:endParaRPr lang="en-US" dirty="0"/>
          </a:p>
        </p:txBody>
      </p:sp>
      <p:pic>
        <p:nvPicPr>
          <p:cNvPr id="111" name="Picture 110" descr="Icon of a square with two smaller squares inside it">
            <a:extLst>
              <a:ext uri="{FF2B5EF4-FFF2-40B4-BE49-F238E27FC236}">
                <a16:creationId xmlns:a16="http://schemas.microsoft.com/office/drawing/2014/main" id="{B5D10902-0D30-289C-B9F9-2DE6B8CA6E60}"/>
              </a:ext>
            </a:extLst>
          </p:cNvPr>
          <p:cNvPicPr>
            <a:picLocks/>
          </p:cNvPicPr>
          <p:nvPr/>
        </p:nvPicPr>
        <p:blipFill>
          <a:blip r:embed="rId3">
            <a:duotone>
              <a:schemeClr val="accent2">
                <a:shade val="45000"/>
                <a:satMod val="135000"/>
              </a:schemeClr>
              <a:prstClr val="white"/>
            </a:duotone>
          </a:blip>
          <a:stretch>
            <a:fillRect/>
          </a:stretch>
        </p:blipFill>
        <p:spPr>
          <a:xfrm>
            <a:off x="711200" y="1519554"/>
            <a:ext cx="548640" cy="548640"/>
          </a:xfrm>
          <a:prstGeom prst="rect">
            <a:avLst/>
          </a:prstGeom>
        </p:spPr>
      </p:pic>
      <p:sp>
        <p:nvSpPr>
          <p:cNvPr id="35" name="Text Placeholder 44">
            <a:extLst>
              <a:ext uri="{FF2B5EF4-FFF2-40B4-BE49-F238E27FC236}">
                <a16:creationId xmlns:a16="http://schemas.microsoft.com/office/drawing/2014/main" id="{22D9A90E-5D39-CC18-8330-F450FED793E9}"/>
              </a:ext>
            </a:extLst>
          </p:cNvPr>
          <p:cNvSpPr>
            <a:spLocks noGrp="1"/>
          </p:cNvSpPr>
          <p:nvPr>
            <p:ph type="body" sz="quarter" idx="17"/>
          </p:nvPr>
        </p:nvSpPr>
        <p:spPr>
          <a:xfrm>
            <a:off x="1409700" y="1655375"/>
            <a:ext cx="8991600" cy="276999"/>
          </a:xfrm>
        </p:spPr>
        <p:txBody>
          <a:bodyPr anchor="ctr"/>
          <a:lstStyle/>
          <a:p>
            <a:r>
              <a:rPr lang="en-US" sz="1800" dirty="0"/>
              <a:t>Where is the data from data classification stored in SQL Server 2019? </a:t>
            </a:r>
          </a:p>
        </p:txBody>
      </p:sp>
      <p:sp>
        <p:nvSpPr>
          <p:cNvPr id="36" name="Text Placeholder 43">
            <a:extLst>
              <a:ext uri="{FF2B5EF4-FFF2-40B4-BE49-F238E27FC236}">
                <a16:creationId xmlns:a16="http://schemas.microsoft.com/office/drawing/2014/main" id="{5B288884-9DF0-D797-C59D-4518712229EA}"/>
              </a:ext>
            </a:extLst>
          </p:cNvPr>
          <p:cNvSpPr>
            <a:spLocks noGrp="1"/>
          </p:cNvSpPr>
          <p:nvPr>
            <p:ph type="body" sz="quarter" idx="15"/>
          </p:nvPr>
        </p:nvSpPr>
        <p:spPr>
          <a:xfrm>
            <a:off x="1409700" y="1983174"/>
            <a:ext cx="8991600" cy="837152"/>
          </a:xfrm>
        </p:spPr>
        <p:txBody>
          <a:bodyPr/>
          <a:lstStyle/>
          <a:p>
            <a:pPr>
              <a:spcBef>
                <a:spcPts val="300"/>
              </a:spcBef>
            </a:pPr>
            <a:r>
              <a:rPr lang="en-US" sz="1600" dirty="0"/>
              <a:t>In the extended properties for each object</a:t>
            </a:r>
          </a:p>
          <a:p>
            <a:pPr>
              <a:spcBef>
                <a:spcPts val="300"/>
              </a:spcBef>
            </a:pPr>
            <a:r>
              <a:rPr lang="en-US" sz="1600" dirty="0"/>
              <a:t>In the </a:t>
            </a:r>
            <a:r>
              <a:rPr lang="en-US" sz="1600" dirty="0" err="1"/>
              <a:t>sys.sensitivity_classifications</a:t>
            </a:r>
            <a:r>
              <a:rPr lang="en-US" sz="1600" dirty="0"/>
              <a:t> catalog view </a:t>
            </a:r>
          </a:p>
          <a:p>
            <a:pPr>
              <a:spcBef>
                <a:spcPts val="300"/>
              </a:spcBef>
            </a:pPr>
            <a:r>
              <a:rPr lang="en-US" sz="1600" dirty="0"/>
              <a:t>In the </a:t>
            </a:r>
            <a:r>
              <a:rPr lang="en-US" sz="1600" dirty="0" err="1"/>
              <a:t>sys.all_columns</a:t>
            </a:r>
            <a:r>
              <a:rPr lang="en-US" sz="1600" dirty="0"/>
              <a:t> catalog view </a:t>
            </a:r>
          </a:p>
        </p:txBody>
      </p:sp>
      <p:sp>
        <p:nvSpPr>
          <p:cNvPr id="37" name="Graphic 26">
            <a:extLst>
              <a:ext uri="{FF2B5EF4-FFF2-40B4-BE49-F238E27FC236}">
                <a16:creationId xmlns:a16="http://schemas.microsoft.com/office/drawing/2014/main" id="{00C6078A-22D0-115A-43E8-1D7705D6D992}"/>
              </a:ext>
              <a:ext uri="{C183D7F6-B498-43B3-948B-1728B52AA6E4}">
                <adec:decorative xmlns:adec="http://schemas.microsoft.com/office/drawing/2017/decorative" val="1"/>
              </a:ext>
            </a:extLst>
          </p:cNvPr>
          <p:cNvSpPr/>
          <p:nvPr/>
        </p:nvSpPr>
        <p:spPr>
          <a:xfrm>
            <a:off x="1431120" y="228271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pic>
        <p:nvPicPr>
          <p:cNvPr id="112" name="Picture 111" descr="Icon of three concentric arcs">
            <a:extLst>
              <a:ext uri="{FF2B5EF4-FFF2-40B4-BE49-F238E27FC236}">
                <a16:creationId xmlns:a16="http://schemas.microsoft.com/office/drawing/2014/main" id="{1DD57774-74B3-1A36-81E2-A6673223C6C6}"/>
              </a:ext>
            </a:extLst>
          </p:cNvPr>
          <p:cNvPicPr>
            <a:picLocks/>
          </p:cNvPicPr>
          <p:nvPr/>
        </p:nvPicPr>
        <p:blipFill>
          <a:blip r:embed="rId4">
            <a:duotone>
              <a:schemeClr val="accent2">
                <a:shade val="45000"/>
                <a:satMod val="135000"/>
              </a:schemeClr>
              <a:prstClr val="white"/>
            </a:duotone>
          </a:blip>
          <a:stretch>
            <a:fillRect/>
          </a:stretch>
        </p:blipFill>
        <p:spPr>
          <a:xfrm>
            <a:off x="711200" y="2907417"/>
            <a:ext cx="548640" cy="548640"/>
          </a:xfrm>
          <a:prstGeom prst="rect">
            <a:avLst/>
          </a:prstGeom>
        </p:spPr>
      </p:pic>
      <p:sp>
        <p:nvSpPr>
          <p:cNvPr id="2" name="Text Placeholder 1">
            <a:extLst>
              <a:ext uri="{FF2B5EF4-FFF2-40B4-BE49-F238E27FC236}">
                <a16:creationId xmlns:a16="http://schemas.microsoft.com/office/drawing/2014/main" id="{2A7AE0A7-B120-7682-FBFC-7EE7651EA785}"/>
              </a:ext>
            </a:extLst>
          </p:cNvPr>
          <p:cNvSpPr>
            <a:spLocks noGrp="1"/>
          </p:cNvSpPr>
          <p:nvPr>
            <p:ph type="body" sz="quarter" idx="22"/>
          </p:nvPr>
        </p:nvSpPr>
        <p:spPr>
          <a:xfrm>
            <a:off x="1409700" y="3043238"/>
            <a:ext cx="8991600" cy="276999"/>
          </a:xfrm>
        </p:spPr>
        <p:txBody>
          <a:bodyPr/>
          <a:lstStyle/>
          <a:p>
            <a:r>
              <a:rPr lang="en-US" sz="1800"/>
              <a:t>Which is NOT an option to store vulnerability assessment data?</a:t>
            </a:r>
          </a:p>
        </p:txBody>
      </p:sp>
      <p:sp>
        <p:nvSpPr>
          <p:cNvPr id="3" name="Text Placeholder 2">
            <a:extLst>
              <a:ext uri="{FF2B5EF4-FFF2-40B4-BE49-F238E27FC236}">
                <a16:creationId xmlns:a16="http://schemas.microsoft.com/office/drawing/2014/main" id="{51FEB0BD-6133-E609-0BF5-B2A763CC0BFC}"/>
              </a:ext>
            </a:extLst>
          </p:cNvPr>
          <p:cNvSpPr>
            <a:spLocks noGrp="1"/>
          </p:cNvSpPr>
          <p:nvPr>
            <p:ph type="body" sz="quarter" idx="23"/>
          </p:nvPr>
        </p:nvSpPr>
        <p:spPr>
          <a:xfrm>
            <a:off x="1409700" y="3371037"/>
            <a:ext cx="8991600" cy="837152"/>
          </a:xfrm>
        </p:spPr>
        <p:txBody>
          <a:bodyPr/>
          <a:lstStyle/>
          <a:p>
            <a:pPr>
              <a:spcBef>
                <a:spcPts val="300"/>
              </a:spcBef>
            </a:pPr>
            <a:r>
              <a:rPr lang="en-US" sz="1600"/>
              <a:t>Storage Account</a:t>
            </a:r>
          </a:p>
          <a:p>
            <a:pPr>
              <a:spcBef>
                <a:spcPts val="300"/>
              </a:spcBef>
            </a:pPr>
            <a:r>
              <a:rPr lang="en-US" sz="1600"/>
              <a:t>Physical disk</a:t>
            </a:r>
          </a:p>
          <a:p>
            <a:pPr>
              <a:spcBef>
                <a:spcPts val="300"/>
              </a:spcBef>
            </a:pPr>
            <a:r>
              <a:rPr lang="en-US" sz="1600"/>
              <a:t>Log Analytics</a:t>
            </a:r>
            <a:endParaRPr lang="en-US" sz="1600" dirty="0"/>
          </a:p>
        </p:txBody>
      </p:sp>
      <p:sp>
        <p:nvSpPr>
          <p:cNvPr id="41" name="Graphic 26">
            <a:extLst>
              <a:ext uri="{FF2B5EF4-FFF2-40B4-BE49-F238E27FC236}">
                <a16:creationId xmlns:a16="http://schemas.microsoft.com/office/drawing/2014/main" id="{48FC883A-24E1-429C-AB44-78BC77C23021}"/>
              </a:ext>
              <a:ext uri="{C183D7F6-B498-43B3-948B-1728B52AA6E4}">
                <adec:decorative xmlns:adec="http://schemas.microsoft.com/office/drawing/2017/decorative" val="1"/>
              </a:ext>
            </a:extLst>
          </p:cNvPr>
          <p:cNvSpPr/>
          <p:nvPr/>
        </p:nvSpPr>
        <p:spPr>
          <a:xfrm>
            <a:off x="1431120" y="367648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pic>
        <p:nvPicPr>
          <p:cNvPr id="113" name="Picture 112" descr="Icon of a wave connected by circles and lines at both end">
            <a:extLst>
              <a:ext uri="{FF2B5EF4-FFF2-40B4-BE49-F238E27FC236}">
                <a16:creationId xmlns:a16="http://schemas.microsoft.com/office/drawing/2014/main" id="{653E6924-EA19-038F-0D4A-741709905A07}"/>
              </a:ext>
            </a:extLst>
          </p:cNvPr>
          <p:cNvPicPr>
            <a:picLocks/>
          </p:cNvPicPr>
          <p:nvPr/>
        </p:nvPicPr>
        <p:blipFill>
          <a:blip r:embed="rId5">
            <a:duotone>
              <a:schemeClr val="accent2">
                <a:shade val="45000"/>
                <a:satMod val="135000"/>
              </a:schemeClr>
              <a:prstClr val="white"/>
            </a:duotone>
          </a:blip>
          <a:stretch>
            <a:fillRect/>
          </a:stretch>
        </p:blipFill>
        <p:spPr>
          <a:xfrm>
            <a:off x="711200" y="4421506"/>
            <a:ext cx="548640" cy="548640"/>
          </a:xfrm>
          <a:prstGeom prst="rect">
            <a:avLst/>
          </a:prstGeom>
        </p:spPr>
      </p:pic>
      <p:sp>
        <p:nvSpPr>
          <p:cNvPr id="43" name="Text Placeholder 45">
            <a:extLst>
              <a:ext uri="{FF2B5EF4-FFF2-40B4-BE49-F238E27FC236}">
                <a16:creationId xmlns:a16="http://schemas.microsoft.com/office/drawing/2014/main" id="{4956B5D3-584A-5107-A908-3F9BD68F995F}"/>
              </a:ext>
            </a:extLst>
          </p:cNvPr>
          <p:cNvSpPr>
            <a:spLocks noGrp="1"/>
          </p:cNvSpPr>
          <p:nvPr>
            <p:ph type="body" sz="quarter" idx="20"/>
          </p:nvPr>
        </p:nvSpPr>
        <p:spPr>
          <a:xfrm>
            <a:off x="1409700" y="4418827"/>
            <a:ext cx="8991600" cy="553998"/>
          </a:xfrm>
        </p:spPr>
        <p:txBody>
          <a:bodyPr anchor="ctr"/>
          <a:lstStyle/>
          <a:p>
            <a:r>
              <a:rPr lang="en-US" sz="1800" dirty="0"/>
              <a:t>Which of the following features automate data discovery through the provision of data scanning and classification as a service?</a:t>
            </a:r>
          </a:p>
        </p:txBody>
      </p:sp>
      <p:sp>
        <p:nvSpPr>
          <p:cNvPr id="44" name="Text Placeholder 46">
            <a:extLst>
              <a:ext uri="{FF2B5EF4-FFF2-40B4-BE49-F238E27FC236}">
                <a16:creationId xmlns:a16="http://schemas.microsoft.com/office/drawing/2014/main" id="{F5CAF667-CF0B-D6E1-4985-63E3187B01C4}"/>
              </a:ext>
            </a:extLst>
          </p:cNvPr>
          <p:cNvSpPr>
            <a:spLocks noGrp="1"/>
          </p:cNvSpPr>
          <p:nvPr>
            <p:ph type="body" sz="quarter" idx="21"/>
          </p:nvPr>
        </p:nvSpPr>
        <p:spPr>
          <a:xfrm>
            <a:off x="1409700" y="5023625"/>
            <a:ext cx="8991600" cy="837152"/>
          </a:xfrm>
        </p:spPr>
        <p:txBody>
          <a:bodyPr/>
          <a:lstStyle/>
          <a:p>
            <a:pPr>
              <a:spcBef>
                <a:spcPts val="300"/>
              </a:spcBef>
            </a:pPr>
            <a:r>
              <a:rPr lang="en-US" sz="1600" dirty="0"/>
              <a:t>Database auditing</a:t>
            </a:r>
          </a:p>
          <a:p>
            <a:pPr>
              <a:spcBef>
                <a:spcPts val="300"/>
              </a:spcBef>
            </a:pPr>
            <a:r>
              <a:rPr lang="en-US" sz="1600" dirty="0"/>
              <a:t>Dynamic Data Masking</a:t>
            </a:r>
          </a:p>
          <a:p>
            <a:pPr>
              <a:spcBef>
                <a:spcPts val="300"/>
              </a:spcBef>
            </a:pPr>
            <a:r>
              <a:rPr lang="en-US" sz="1600" dirty="0"/>
              <a:t>Azure Purview</a:t>
            </a:r>
          </a:p>
        </p:txBody>
      </p:sp>
      <p:sp>
        <p:nvSpPr>
          <p:cNvPr id="45" name="Graphic 26">
            <a:extLst>
              <a:ext uri="{FF2B5EF4-FFF2-40B4-BE49-F238E27FC236}">
                <a16:creationId xmlns:a16="http://schemas.microsoft.com/office/drawing/2014/main" id="{B518DBEC-F9FB-50DD-DC39-3CAAB4FE73AF}"/>
              </a:ext>
              <a:ext uri="{C183D7F6-B498-43B3-948B-1728B52AA6E4}">
                <adec:decorative xmlns:adec="http://schemas.microsoft.com/office/drawing/2017/decorative" val="1"/>
              </a:ext>
            </a:extLst>
          </p:cNvPr>
          <p:cNvSpPr/>
          <p:nvPr/>
        </p:nvSpPr>
        <p:spPr>
          <a:xfrm>
            <a:off x="1431120" y="5613294"/>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3047740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1" grpId="0" animBg="1"/>
      <p:bldP spid="4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3FA2BE-07A4-88FF-907D-B4B63BA1C395}"/>
              </a:ext>
            </a:extLst>
          </p:cNvPr>
          <p:cNvSpPr>
            <a:spLocks noGrp="1"/>
          </p:cNvSpPr>
          <p:nvPr>
            <p:ph type="title"/>
          </p:nvPr>
        </p:nvSpPr>
        <p:spPr>
          <a:xfrm>
            <a:off x="588261" y="585216"/>
            <a:ext cx="11011601" cy="369332"/>
          </a:xfrm>
        </p:spPr>
        <p:txBody>
          <a:bodyPr/>
          <a:lstStyle/>
          <a:p>
            <a:r>
              <a:rPr lang="en-US" altLang="zh-CN" dirty="0"/>
              <a:t>Instructor led labs: </a:t>
            </a:r>
            <a:r>
              <a:rPr lang="en-US" dirty="0"/>
              <a:t>Enable Microsoft Defender for SQL and Data Classification</a:t>
            </a:r>
          </a:p>
        </p:txBody>
      </p:sp>
      <p:sp>
        <p:nvSpPr>
          <p:cNvPr id="3" name="Rectangle 2">
            <a:extLst>
              <a:ext uri="{FF2B5EF4-FFF2-40B4-BE49-F238E27FC236}">
                <a16:creationId xmlns:a16="http://schemas.microsoft.com/office/drawing/2014/main" id="{A9A275BB-CF21-C63F-4BFC-D9CC3CAFDD5B}"/>
              </a:ext>
              <a:ext uri="{C183D7F6-B498-43B3-948B-1728B52AA6E4}">
                <adec:decorative xmlns:adec="http://schemas.microsoft.com/office/drawing/2017/decorative" val="1"/>
              </a:ext>
            </a:extLst>
          </p:cNvPr>
          <p:cNvSpPr>
            <a:spLocks/>
          </p:cNvSpPr>
          <p:nvPr/>
        </p:nvSpPr>
        <p:spPr bwMode="auto">
          <a:xfrm>
            <a:off x="588260" y="1698170"/>
            <a:ext cx="11011602" cy="4574613"/>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F2A1721B-7D6A-8D92-E0EE-8A260E8FEBCD}"/>
              </a:ext>
            </a:extLst>
          </p:cNvPr>
          <p:cNvSpPr txBox="1">
            <a:spLocks/>
          </p:cNvSpPr>
          <p:nvPr/>
        </p:nvSpPr>
        <p:spPr>
          <a:xfrm>
            <a:off x="967672" y="3477644"/>
            <a:ext cx="10252778" cy="1015663"/>
          </a:xfrm>
          <a:prstGeom prst="rect">
            <a:avLst/>
          </a:prstGeom>
        </p:spPr>
        <p:txBody>
          <a:bodyPr vert="horz" wrap="square" lIns="0" tIns="0" rIns="0" bIns="0" rtlCol="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1200"/>
              </a:spcBef>
              <a:buNone/>
            </a:pPr>
            <a:r>
              <a:rPr lang="en-US" dirty="0">
                <a:latin typeface="+mj-lt"/>
              </a:rPr>
              <a:t>Enable Microsoft Defender for Azure SQL Database</a:t>
            </a:r>
          </a:p>
          <a:p>
            <a:pPr marL="0" indent="0" algn="ctr">
              <a:spcBef>
                <a:spcPts val="1200"/>
              </a:spcBef>
              <a:buNone/>
            </a:pPr>
            <a:r>
              <a:rPr lang="en-US" dirty="0">
                <a:latin typeface="+mj-lt"/>
              </a:rPr>
              <a:t>Configure data classification and masking</a:t>
            </a:r>
          </a:p>
        </p:txBody>
      </p:sp>
    </p:spTree>
    <p:extLst>
      <p:ext uri="{BB962C8B-B14F-4D97-AF65-F5344CB8AC3E}">
        <p14:creationId xmlns:p14="http://schemas.microsoft.com/office/powerpoint/2010/main" val="2787545039"/>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4DF0AD8E-F94F-4E7B-F56C-EFDEACBE7C67}"/>
              </a:ext>
            </a:extLst>
          </p:cNvPr>
          <p:cNvSpPr>
            <a:spLocks noGrp="1"/>
          </p:cNvSpPr>
          <p:nvPr>
            <p:ph type="title"/>
          </p:nvPr>
        </p:nvSpPr>
        <p:spPr>
          <a:xfrm>
            <a:off x="588262" y="585216"/>
            <a:ext cx="11011600" cy="492443"/>
          </a:xfrm>
        </p:spPr>
        <p:txBody>
          <a:bodyPr/>
          <a:lstStyle/>
          <a:p>
            <a:r>
              <a:rPr lang="en-US" dirty="0"/>
              <a:t>References</a:t>
            </a:r>
          </a:p>
        </p:txBody>
      </p:sp>
      <p:sp>
        <p:nvSpPr>
          <p:cNvPr id="20" name="Text Placeholder 11">
            <a:extLst>
              <a:ext uri="{FF2B5EF4-FFF2-40B4-BE49-F238E27FC236}">
                <a16:creationId xmlns:a16="http://schemas.microsoft.com/office/drawing/2014/main" id="{A7B5D0C9-A4A1-7DA9-5499-B709B3E8AD64}"/>
              </a:ext>
            </a:extLst>
          </p:cNvPr>
          <p:cNvSpPr txBox="1">
            <a:spLocks/>
          </p:cNvSpPr>
          <p:nvPr/>
        </p:nvSpPr>
        <p:spPr>
          <a:xfrm>
            <a:off x="584199" y="1594154"/>
            <a:ext cx="3523787" cy="3681109"/>
          </a:xfrm>
          <a:prstGeom prst="rect">
            <a:avLst/>
          </a:prstGeom>
          <a:ln w="38100">
            <a:solidFill>
              <a:srgbClr val="C73ECC"/>
            </a:solidFill>
          </a:ln>
        </p:spPr>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en-US" dirty="0"/>
              <a:t>Always Encrypted:</a:t>
            </a:r>
          </a:p>
          <a:p>
            <a:pPr>
              <a:spcAft>
                <a:spcPts val="600"/>
              </a:spcAft>
            </a:pPr>
            <a:endParaRPr lang="en-US" dirty="0"/>
          </a:p>
        </p:txBody>
      </p:sp>
      <p:sp>
        <p:nvSpPr>
          <p:cNvPr id="3" name="Text Placeholder 28">
            <a:extLst>
              <a:ext uri="{FF2B5EF4-FFF2-40B4-BE49-F238E27FC236}">
                <a16:creationId xmlns:a16="http://schemas.microsoft.com/office/drawing/2014/main" id="{C67949AF-2F26-8C56-5B9A-ED775A3D3D95}"/>
              </a:ext>
            </a:extLst>
          </p:cNvPr>
          <p:cNvSpPr txBox="1">
            <a:spLocks/>
          </p:cNvSpPr>
          <p:nvPr/>
        </p:nvSpPr>
        <p:spPr>
          <a:xfrm>
            <a:off x="711303" y="3091376"/>
            <a:ext cx="3227056" cy="138499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800" dirty="0">
                <a:hlinkClick r:id="rId3"/>
              </a:rPr>
              <a:t>https://learn.microsoft.com/sql/relationaldatabases/security/encryption/always-encrypted-database-engine?view=sql-server-ver15</a:t>
            </a:r>
            <a:endParaRPr lang="en-US" sz="1800" dirty="0"/>
          </a:p>
        </p:txBody>
      </p:sp>
      <p:sp>
        <p:nvSpPr>
          <p:cNvPr id="21" name="Text Placeholder 11">
            <a:extLst>
              <a:ext uri="{FF2B5EF4-FFF2-40B4-BE49-F238E27FC236}">
                <a16:creationId xmlns:a16="http://schemas.microsoft.com/office/drawing/2014/main" id="{26CD74CB-A032-E759-5C3F-BD1E8356DB3F}"/>
              </a:ext>
            </a:extLst>
          </p:cNvPr>
          <p:cNvSpPr txBox="1">
            <a:spLocks/>
          </p:cNvSpPr>
          <p:nvPr/>
        </p:nvSpPr>
        <p:spPr>
          <a:xfrm>
            <a:off x="4330137" y="1594155"/>
            <a:ext cx="3523787" cy="3681108"/>
          </a:xfrm>
          <a:prstGeom prst="rect">
            <a:avLst/>
          </a:prstGeom>
          <a:ln w="38100">
            <a:solidFill>
              <a:srgbClr val="C73ECC"/>
            </a:solidFill>
          </a:ln>
        </p:spPr>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What is Azure Key Vault?</a:t>
            </a:r>
          </a:p>
        </p:txBody>
      </p:sp>
      <p:sp>
        <p:nvSpPr>
          <p:cNvPr id="5" name="Text Placeholder 31">
            <a:extLst>
              <a:ext uri="{FF2B5EF4-FFF2-40B4-BE49-F238E27FC236}">
                <a16:creationId xmlns:a16="http://schemas.microsoft.com/office/drawing/2014/main" id="{78350910-4D2B-8F7B-76DF-88924965AA1B}"/>
              </a:ext>
            </a:extLst>
          </p:cNvPr>
          <p:cNvSpPr txBox="1">
            <a:spLocks/>
          </p:cNvSpPr>
          <p:nvPr/>
        </p:nvSpPr>
        <p:spPr>
          <a:xfrm>
            <a:off x="4484676" y="3091376"/>
            <a:ext cx="3227734" cy="830997"/>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800" dirty="0">
                <a:hlinkClick r:id="rId4"/>
              </a:rPr>
              <a:t>https://learn.microsoft.com/azure/key-vault/general/basic-concepts</a:t>
            </a:r>
            <a:endParaRPr lang="en-US" sz="1800" dirty="0"/>
          </a:p>
        </p:txBody>
      </p:sp>
      <p:sp>
        <p:nvSpPr>
          <p:cNvPr id="22" name="Text Placeholder 11">
            <a:extLst>
              <a:ext uri="{FF2B5EF4-FFF2-40B4-BE49-F238E27FC236}">
                <a16:creationId xmlns:a16="http://schemas.microsoft.com/office/drawing/2014/main" id="{3B37D3F3-5085-5A27-F6D8-0CE1C8E97A20}"/>
              </a:ext>
            </a:extLst>
          </p:cNvPr>
          <p:cNvSpPr txBox="1">
            <a:spLocks/>
          </p:cNvSpPr>
          <p:nvPr/>
        </p:nvSpPr>
        <p:spPr>
          <a:xfrm>
            <a:off x="8076075" y="1594155"/>
            <a:ext cx="3523787" cy="3681108"/>
          </a:xfrm>
          <a:prstGeom prst="rect">
            <a:avLst/>
          </a:prstGeom>
          <a:ln w="38100">
            <a:solidFill>
              <a:srgbClr val="C73ECC"/>
            </a:solidFill>
          </a:ln>
        </p:spPr>
        <p:txBody>
          <a:bodyPr vert="horz" wrap="square" lIns="137160" tIns="91440" rIns="137160" bIns="9144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2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Advanced Threat Protection for Azure </a:t>
            </a:r>
            <a:br>
              <a:rPr lang="en-US" sz="2200" dirty="0"/>
            </a:br>
            <a:r>
              <a:rPr lang="en-US" sz="2200" dirty="0"/>
              <a:t>SQL Database:</a:t>
            </a:r>
          </a:p>
        </p:txBody>
      </p:sp>
      <p:sp>
        <p:nvSpPr>
          <p:cNvPr id="7" name="Text Placeholder 33">
            <a:extLst>
              <a:ext uri="{FF2B5EF4-FFF2-40B4-BE49-F238E27FC236}">
                <a16:creationId xmlns:a16="http://schemas.microsoft.com/office/drawing/2014/main" id="{4B599E08-B5CF-7E36-84F0-25A97C83A23A}"/>
              </a:ext>
            </a:extLst>
          </p:cNvPr>
          <p:cNvSpPr txBox="1">
            <a:spLocks/>
          </p:cNvSpPr>
          <p:nvPr/>
        </p:nvSpPr>
        <p:spPr>
          <a:xfrm>
            <a:off x="8258023" y="3091376"/>
            <a:ext cx="3227734" cy="830997"/>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800" dirty="0">
                <a:hlinkClick r:id="rId5"/>
              </a:rPr>
              <a:t>https://learn.microsoft.com/azure/sql-database/sql-database-threat-detection-overview</a:t>
            </a:r>
            <a:endParaRPr lang="en-US" sz="1800" dirty="0"/>
          </a:p>
        </p:txBody>
      </p:sp>
    </p:spTree>
    <p:extLst>
      <p:ext uri="{BB962C8B-B14F-4D97-AF65-F5344CB8AC3E}">
        <p14:creationId xmlns:p14="http://schemas.microsoft.com/office/powerpoint/2010/main" val="1693065420"/>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758F5-C35D-A291-068D-13C0D6581723}"/>
              </a:ext>
            </a:extLst>
          </p:cNvPr>
          <p:cNvSpPr>
            <a:spLocks noGrp="1"/>
          </p:cNvSpPr>
          <p:nvPr>
            <p:ph type="title"/>
          </p:nvPr>
        </p:nvSpPr>
        <p:spPr/>
        <p:txBody>
          <a:bodyPr/>
          <a:lstStyle/>
          <a:p>
            <a:r>
              <a:rPr lang="en-US" dirty="0"/>
              <a:t>Learning Path Recap</a:t>
            </a:r>
          </a:p>
        </p:txBody>
      </p:sp>
      <p:sp>
        <p:nvSpPr>
          <p:cNvPr id="5" name="TextBox 4">
            <a:extLst>
              <a:ext uri="{FF2B5EF4-FFF2-40B4-BE49-F238E27FC236}">
                <a16:creationId xmlns:a16="http://schemas.microsoft.com/office/drawing/2014/main" id="{C6774742-B51A-7AB0-5C2C-8C2CFAC7FA4A}"/>
              </a:ext>
            </a:extLst>
          </p:cNvPr>
          <p:cNvSpPr txBox="1"/>
          <p:nvPr/>
        </p:nvSpPr>
        <p:spPr>
          <a:xfrm>
            <a:off x="585217" y="1247804"/>
            <a:ext cx="11031840" cy="430887"/>
          </a:xfrm>
          <a:prstGeom prst="rect">
            <a:avLst/>
          </a:prstGeom>
          <a:noFill/>
        </p:spPr>
        <p:txBody>
          <a:bodyPr wrap="square" lIns="0" tIns="45720" rIns="91440" bIns="45720" anchor="t">
            <a:spAutoFit/>
          </a:bodyPr>
          <a:lstStyle/>
          <a:p>
            <a:r>
              <a:rPr lang="en-US" sz="2200" dirty="0">
                <a:solidFill>
                  <a:schemeClr val="accent2"/>
                </a:solidFill>
                <a:latin typeface="+mj-lt"/>
                <a:cs typeface="Segoe UI Semibold" panose="020B0502040204020203" pitchFamily="34" charset="0"/>
              </a:rPr>
              <a:t>In this learning path, we:</a:t>
            </a:r>
          </a:p>
        </p:txBody>
      </p:sp>
      <p:sp>
        <p:nvSpPr>
          <p:cNvPr id="13" name="Rounded Rectangle 3_1">
            <a:extLst>
              <a:ext uri="{FF2B5EF4-FFF2-40B4-BE49-F238E27FC236}">
                <a16:creationId xmlns:a16="http://schemas.microsoft.com/office/drawing/2014/main" id="{C2C305D4-EFF2-1747-FE82-9AA47D27A3F9}"/>
              </a:ext>
            </a:extLst>
          </p:cNvPr>
          <p:cNvSpPr/>
          <p:nvPr/>
        </p:nvSpPr>
        <p:spPr>
          <a:xfrm>
            <a:off x="856343" y="2048539"/>
            <a:ext cx="10174514" cy="2246769"/>
          </a:xfrm>
          <a:prstGeom prst="rect">
            <a:avLst/>
          </a:prstGeom>
          <a:no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numCol="1" spcCol="457200" rtlCol="0" anchor="t">
            <a:spAutoFit/>
          </a:bodyPr>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r>
              <a:rPr lang="en-US" sz="1800" dirty="0">
                <a:solidFill>
                  <a:srgbClr val="000000"/>
                </a:solidFill>
                <a:cs typeface="Segoe UI" panose="020B0502040204020203" pitchFamily="34" charset="0"/>
              </a:rPr>
              <a:t>Learned to configure database authentication and authorization, including Azure SQL Database authentication options, security principals, and roles in Azure SQL Database and SQL Server.</a:t>
            </a:r>
          </a:p>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r>
              <a:rPr lang="en-US" sz="1800" dirty="0">
                <a:solidFill>
                  <a:srgbClr val="000000"/>
                </a:solidFill>
                <a:cs typeface="Segoe UI" panose="020B0502040204020203" pitchFamily="34" charset="0"/>
              </a:rPr>
              <a:t>You also learned to protect data in-transit and at-rest by implementing Transparent Data Encryption, Always Encrypted, Dynamic Data Masking, and managing firewalls in Azure SQL Database.</a:t>
            </a:r>
          </a:p>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r>
              <a:rPr lang="en-US" sz="1800" dirty="0">
                <a:solidFill>
                  <a:srgbClr val="000000"/>
                </a:solidFill>
                <a:cs typeface="Segoe UI" panose="020B0502040204020203" pitchFamily="34" charset="0"/>
              </a:rPr>
              <a:t>Lastly, you explored implementing compliance controls for sensitive data, including data classification, Dynamic Data Masking, Advanced Threat Detection, Azure SQL Database Ledger, and Azure Purview.</a:t>
            </a:r>
            <a:endParaRPr kumimoji="0" lang="en-US" sz="1800" b="0" i="0" u="none" strike="noStrike" kern="1200" cap="none" spc="0" normalizeH="0" baseline="0" noProof="0" dirty="0">
              <a:ln>
                <a:noFill/>
              </a:ln>
              <a:solidFill>
                <a:srgbClr val="000000"/>
              </a:solidFill>
              <a:effectLst/>
              <a:uLnTx/>
              <a:uFillTx/>
              <a:ea typeface="+mn-ea"/>
              <a:cs typeface="Segoe UI" panose="020B0502040204020203" pitchFamily="34" charset="0"/>
            </a:endParaRPr>
          </a:p>
        </p:txBody>
      </p:sp>
    </p:spTree>
    <p:extLst>
      <p:ext uri="{BB962C8B-B14F-4D97-AF65-F5344CB8AC3E}">
        <p14:creationId xmlns:p14="http://schemas.microsoft.com/office/powerpoint/2010/main" val="3740924630"/>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B5A98F-F7EA-8763-080E-AF7DE9C27305}"/>
              </a:ext>
            </a:extLst>
          </p:cNvPr>
          <p:cNvSpPr>
            <a:spLocks noGrp="1"/>
          </p:cNvSpPr>
          <p:nvPr>
            <p:ph type="title"/>
          </p:nvPr>
        </p:nvSpPr>
        <p:spPr>
          <a:xfrm>
            <a:off x="588262" y="-612577"/>
            <a:ext cx="8193024" cy="307777"/>
          </a:xfrm>
        </p:spPr>
        <p:txBody>
          <a:bodyPr/>
          <a:lstStyle/>
          <a:p>
            <a:r>
              <a:rPr lang="en-US" dirty="0"/>
              <a:t>Closing slide</a:t>
            </a:r>
          </a:p>
        </p:txBody>
      </p:sp>
    </p:spTree>
    <p:extLst>
      <p:ext uri="{BB962C8B-B14F-4D97-AF65-F5344CB8AC3E}">
        <p14:creationId xmlns:p14="http://schemas.microsoft.com/office/powerpoint/2010/main" val="449534531"/>
      </p:ext>
    </p:extLst>
  </p:cSld>
  <p:clrMapOvr>
    <a:masterClrMapping/>
  </p:clrMapOvr>
  <p:transition>
    <p:fade/>
  </p:transition>
</p:sld>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7EC088F4D2974C9244144D3FA78CFC" ma:contentTypeVersion="8" ma:contentTypeDescription="Create a new document." ma:contentTypeScope="" ma:versionID="e1c38cc7a2baa39586734f3e69393826">
  <xsd:schema xmlns:xsd="http://www.w3.org/2001/XMLSchema" xmlns:xs="http://www.w3.org/2001/XMLSchema" xmlns:p="http://schemas.microsoft.com/office/2006/metadata/properties" xmlns:ns1="http://schemas.microsoft.com/sharepoint/v3" xmlns:ns2="92a942ff-a7ab-46b5-9ede-efd58ff8e61c" xmlns:ns3="a51c428d-9d60-41bd-8e8b-21795199cb1f" targetNamespace="http://schemas.microsoft.com/office/2006/metadata/properties" ma:root="true" ma:fieldsID="0b740379ab64b4056a59037551413ce9" ns1:_="" ns2:_="" ns3:_="">
    <xsd:import namespace="http://schemas.microsoft.com/sharepoint/v3"/>
    <xsd:import namespace="92a942ff-a7ab-46b5-9ede-efd58ff8e61c"/>
    <xsd:import namespace="a51c428d-9d60-41bd-8e8b-21795199cb1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a942ff-a7ab-46b5-9ede-efd58ff8e6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51c428d-9d60-41bd-8e8b-21795199cb1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0BDD64-65B2-4D78-8068-92DE048E1675}">
  <ds:schemaRefs>
    <ds:schemaRef ds:uri="http://schemas.microsoft.com/sharepoint/v3/contenttype/forms"/>
  </ds:schemaRefs>
</ds:datastoreItem>
</file>

<file path=customXml/itemProps2.xml><?xml version="1.0" encoding="utf-8"?>
<ds:datastoreItem xmlns:ds="http://schemas.openxmlformats.org/officeDocument/2006/customXml" ds:itemID="{A7A21F46-0AF3-4490-97E8-BB53D7FBBC06}">
  <ds:schemaRefs>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447132CF-994A-40DE-9946-6C16067825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2a942ff-a7ab-46b5-9ede-efd58ff8e61c"/>
    <ds:schemaRef ds:uri="a51c428d-9d60-41bd-8e8b-21795199cb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408</TotalTime>
  <Words>14533</Words>
  <Application>Microsoft Office PowerPoint</Application>
  <PresentationFormat>Widescreen</PresentationFormat>
  <Paragraphs>1099</Paragraphs>
  <Slides>71</Slides>
  <Notes>71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71</vt:i4>
      </vt:variant>
    </vt:vector>
  </HeadingPairs>
  <TitlesOfParts>
    <vt:vector size="80" baseType="lpstr">
      <vt:lpstr>Arial</vt:lpstr>
      <vt:lpstr>Consolas</vt:lpstr>
      <vt:lpstr>Courier New</vt:lpstr>
      <vt:lpstr>Segoe UI</vt:lpstr>
      <vt:lpstr>Segoe UI Black</vt:lpstr>
      <vt:lpstr>Segoe UI Light</vt:lpstr>
      <vt:lpstr>Segoe UI Semibold</vt:lpstr>
      <vt:lpstr>Wingdings</vt:lpstr>
      <vt:lpstr>LIGHT MODE</vt:lpstr>
      <vt:lpstr>DP-300  Implement scalable database solutions using Azure SQL</vt:lpstr>
      <vt:lpstr>Implement a secure environment for a database service </vt:lpstr>
      <vt:lpstr>Objectives</vt:lpstr>
      <vt:lpstr>Configure database authentication and authorization</vt:lpstr>
      <vt:lpstr>Objectives </vt:lpstr>
      <vt:lpstr>Azure AD authentication options</vt:lpstr>
      <vt:lpstr>What’s the difference between Active Directory and Microsoft Entra ID?</vt:lpstr>
      <vt:lpstr>Authentication and identities</vt:lpstr>
      <vt:lpstr>Microsoft Entra admin configuration</vt:lpstr>
      <vt:lpstr>Demo: Configure Azure AD admin</vt:lpstr>
      <vt:lpstr>SQL Server Security overview</vt:lpstr>
      <vt:lpstr>Security principals</vt:lpstr>
      <vt:lpstr>Securables and schemas</vt:lpstr>
      <vt:lpstr>Logins and users</vt:lpstr>
      <vt:lpstr>Built-in roles</vt:lpstr>
      <vt:lpstr>Database roles in SQL Server vs. Azure SQL Database</vt:lpstr>
      <vt:lpstr>Built-in Database Roles </vt:lpstr>
      <vt:lpstr>Database and object permissions explained</vt:lpstr>
      <vt:lpstr>Database and object permissions explained </vt:lpstr>
      <vt:lpstr>GRANT/DENY example</vt:lpstr>
      <vt:lpstr>EXECUTE AS USER/EXECUTE AS LOGIN definition</vt:lpstr>
      <vt:lpstr>Ownership chains</vt:lpstr>
      <vt:lpstr>Demo: Permission chaining </vt:lpstr>
      <vt:lpstr>Dynamic SQL</vt:lpstr>
      <vt:lpstr>Least privilege</vt:lpstr>
      <vt:lpstr>Identify authentication and authorization failures</vt:lpstr>
      <vt:lpstr>Knowledge check</vt:lpstr>
      <vt:lpstr>Instructor led labs: Authorize access to Azure SQL Database with Microsoft Entra ID</vt:lpstr>
      <vt:lpstr>Protect data in-transit  and at rest</vt:lpstr>
      <vt:lpstr>Objectives  </vt:lpstr>
      <vt:lpstr>Encryption at rest</vt:lpstr>
      <vt:lpstr>Data at rest vs. Data in transit</vt:lpstr>
      <vt:lpstr>Transparent Data Encryption architecture</vt:lpstr>
      <vt:lpstr>Managing TDE</vt:lpstr>
      <vt:lpstr>Configure server and database firewall rules</vt:lpstr>
      <vt:lpstr>Server and database firewall rules</vt:lpstr>
      <vt:lpstr>Virtual network endpoints</vt:lpstr>
      <vt:lpstr>Private link</vt:lpstr>
      <vt:lpstr>Object level encryption</vt:lpstr>
      <vt:lpstr>Always Encrypted benefits</vt:lpstr>
      <vt:lpstr>Always Encrypted encryption types</vt:lpstr>
      <vt:lpstr>What are secure enclaves?</vt:lpstr>
      <vt:lpstr>Demo: Always Encrypted </vt:lpstr>
      <vt:lpstr>Enable encrypted connections on SQL Server</vt:lpstr>
      <vt:lpstr>What is SQL Injection?</vt:lpstr>
      <vt:lpstr>What is Azure Key Vault?</vt:lpstr>
      <vt:lpstr>Knowledge check </vt:lpstr>
      <vt:lpstr>Instructor led labs: Configure Azure SQL Database firewall rules</vt:lpstr>
      <vt:lpstr>Implement compliance controls for sensitive data</vt:lpstr>
      <vt:lpstr>Objectives   </vt:lpstr>
      <vt:lpstr>Data classification </vt:lpstr>
      <vt:lpstr>How your data should be classified </vt:lpstr>
      <vt:lpstr>Explore server and database audit</vt:lpstr>
      <vt:lpstr>Explore server and database audit cont’d</vt:lpstr>
      <vt:lpstr>Explore server and database audit cont’d </vt:lpstr>
      <vt:lpstr>Dynamic Data Masking</vt:lpstr>
      <vt:lpstr>Dynamic Data Masking implementation</vt:lpstr>
      <vt:lpstr>Row level security</vt:lpstr>
      <vt:lpstr>Row level security use cases and best practices</vt:lpstr>
      <vt:lpstr>Microsoft Defender for SQL</vt:lpstr>
      <vt:lpstr>Azure SQL Database Ledger</vt:lpstr>
      <vt:lpstr>Enable Azure SQL Database Ledger</vt:lpstr>
      <vt:lpstr>Microsoft Purview</vt:lpstr>
      <vt:lpstr>Microsoft Purview </vt:lpstr>
      <vt:lpstr>Microsoft Purview  </vt:lpstr>
      <vt:lpstr>How to check for vulnerabilities in Azure SQL Database</vt:lpstr>
      <vt:lpstr>Knowledge check  </vt:lpstr>
      <vt:lpstr>Instructor led labs: Enable Microsoft Defender for SQL and Data Classification</vt:lpstr>
      <vt:lpstr>References</vt:lpstr>
      <vt:lpstr>Learning Path Recap</vt:lpstr>
      <vt:lpstr>Closing slide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Robert Levay</cp:lastModifiedBy>
  <cp:revision>3</cp:revision>
  <dcterms:created xsi:type="dcterms:W3CDTF">2023-10-23T13:50:42Z</dcterms:created>
  <dcterms:modified xsi:type="dcterms:W3CDTF">2026-02-09T19:41:19Z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policyId">
    <vt:lpwstr>0x01010070AB3889E58DB141A6E1281B02136174|-369733750</vt:lpwstr>
  </property>
  <property fmtid="{D5CDD505-2E9C-101B-9397-08002B2CF9AE}" pid="3" name="MSIP_Label_f42aa342-8706-4288-bd11-ebb85995028c_Enabled">
    <vt:lpwstr>true</vt:lpwstr>
  </property>
  <property fmtid="{D5CDD505-2E9C-101B-9397-08002B2CF9AE}" pid="4" name="MediaServiceImageTags">
    <vt:lpwstr/>
  </property>
  <property fmtid="{D5CDD505-2E9C-101B-9397-08002B2CF9AE}" pid="5" name="ContentTypeId">
    <vt:lpwstr>0x010100EC7EC088F4D2974C9244144D3FA78CFC</vt:lpwstr>
  </property>
  <property fmtid="{D5CDD505-2E9C-101B-9397-08002B2CF9AE}" pid="6"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7" name="MSIP_Label_f42aa342-8706-4288-bd11-ebb85995028c_SetDate">
    <vt:lpwstr>2021-10-11T19:40:14Z</vt:lpwstr>
  </property>
  <property fmtid="{D5CDD505-2E9C-101B-9397-08002B2CF9AE}" pid="8" name="MSIP_Label_f42aa342-8706-4288-bd11-ebb85995028c_Method">
    <vt:lpwstr>Standard</vt:lpwstr>
  </property>
  <property fmtid="{D5CDD505-2E9C-101B-9397-08002B2CF9AE}" pid="9" name="MSIP_Label_f42aa342-8706-4288-bd11-ebb85995028c_Name">
    <vt:lpwstr>Internal</vt:lpwstr>
  </property>
  <property fmtid="{D5CDD505-2E9C-101B-9397-08002B2CF9AE}" pid="10" name="MSIP_Label_f42aa342-8706-4288-bd11-ebb85995028c_SiteId">
    <vt:lpwstr>72f988bf-86f1-41af-91ab-2d7cd011db47</vt:lpwstr>
  </property>
  <property fmtid="{D5CDD505-2E9C-101B-9397-08002B2CF9AE}" pid="11" name="MSIP_Label_f42aa342-8706-4288-bd11-ebb85995028c_ContentBits">
    <vt:lpwstr>0</vt:lpwstr>
  </property>
  <property fmtid="{D5CDD505-2E9C-101B-9397-08002B2CF9AE}" pid="12" name="MSIP_Label_f42aa342-8706-4288-bd11-ebb85995028c_ActionId">
    <vt:lpwstr>deff66c8-7610-4262-b493-d9bdc5fb1988</vt:lpwstr>
  </property>
</Properties>
</file>